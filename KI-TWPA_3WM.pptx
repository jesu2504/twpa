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74" r:id="rId21"/>
    <p:sldId id="277" r:id="rId22"/>
    <p:sldId id="278" r:id="rId23"/>
    <p:sldId id="279" r:id="rId24"/>
    <p:sldId id="280" r:id="rId25"/>
    <p:sldId id="275" r:id="rId26"/>
  </p:sldIdLst>
  <p:sldSz cx="12192000" cy="6858000"/>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24"/>
    <p:restoredTop sz="74795"/>
  </p:normalViewPr>
  <p:slideViewPr>
    <p:cSldViewPr snapToGrid="0" snapToObjects="1">
      <p:cViewPr varScale="1">
        <p:scale>
          <a:sx n="93" d="100"/>
          <a:sy n="93" d="100"/>
        </p:scale>
        <p:origin x="1736"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Paper</c:v>
          </c:tx>
          <c:spPr>
            <a:ln w="23813">
              <a:solidFill>
                <a:srgbClr val="5B95DE"/>
              </a:solidFill>
              <a:prstDash val="solid"/>
            </a:ln>
          </c:spPr>
          <c:marker>
            <c:symbol val="none"/>
          </c:marker>
          <c:xVal>
            <c:numLit>
              <c:formatCode>General</c:formatCode>
              <c:ptCount val="262"/>
              <c:pt idx="0">
                <c:v>0.53490000000000004</c:v>
              </c:pt>
              <c:pt idx="1">
                <c:v>0.84050000000000002</c:v>
              </c:pt>
              <c:pt idx="2">
                <c:v>1.1460999999999999</c:v>
              </c:pt>
              <c:pt idx="3">
                <c:v>1.4518</c:v>
              </c:pt>
              <c:pt idx="4">
                <c:v>1.7574000000000001</c:v>
              </c:pt>
              <c:pt idx="5">
                <c:v>2.0630000000000002</c:v>
              </c:pt>
              <c:pt idx="6">
                <c:v>2.3687</c:v>
              </c:pt>
              <c:pt idx="7">
                <c:v>2.6743000000000001</c:v>
              </c:pt>
              <c:pt idx="8">
                <c:v>2.9799000000000002</c:v>
              </c:pt>
              <c:pt idx="9">
                <c:v>3.2856000000000001</c:v>
              </c:pt>
              <c:pt idx="10">
                <c:v>3.5912000000000002</c:v>
              </c:pt>
              <c:pt idx="11">
                <c:v>3.8967999999999998</c:v>
              </c:pt>
              <c:pt idx="12">
                <c:v>4.2024999999999997</c:v>
              </c:pt>
              <c:pt idx="13">
                <c:v>4.5080999999999998</c:v>
              </c:pt>
              <c:pt idx="14">
                <c:v>4.8137999999999996</c:v>
              </c:pt>
              <c:pt idx="15">
                <c:v>5.1193999999999997</c:v>
              </c:pt>
              <c:pt idx="16">
                <c:v>5.4249999999999998</c:v>
              </c:pt>
              <c:pt idx="17">
                <c:v>5.7306999999999997</c:v>
              </c:pt>
              <c:pt idx="18">
                <c:v>6.0362999999999998</c:v>
              </c:pt>
              <c:pt idx="19">
                <c:v>6.3418999999999999</c:v>
              </c:pt>
              <c:pt idx="20">
                <c:v>6.6475999999999997</c:v>
              </c:pt>
              <c:pt idx="21">
                <c:v>6.9531999999999998</c:v>
              </c:pt>
              <c:pt idx="22">
                <c:v>7.2587999999999999</c:v>
              </c:pt>
              <c:pt idx="23">
                <c:v>7.5644999999999998</c:v>
              </c:pt>
              <c:pt idx="24">
                <c:v>7.8700999999999999</c:v>
              </c:pt>
              <c:pt idx="25">
                <c:v>8.1757000000000009</c:v>
              </c:pt>
              <c:pt idx="26">
                <c:v>8.4814000000000007</c:v>
              </c:pt>
              <c:pt idx="27">
                <c:v>8.7870000000000008</c:v>
              </c:pt>
              <c:pt idx="28">
                <c:v>9.0925999999999991</c:v>
              </c:pt>
              <c:pt idx="29">
                <c:v>9.3983000000000008</c:v>
              </c:pt>
              <c:pt idx="30">
                <c:v>9.7039000000000009</c:v>
              </c:pt>
              <c:pt idx="31">
                <c:v>10.009600000000001</c:v>
              </c:pt>
              <c:pt idx="32">
                <c:v>10.315200000000001</c:v>
              </c:pt>
              <c:pt idx="33">
                <c:v>10.620799999999999</c:v>
              </c:pt>
              <c:pt idx="34">
                <c:v>10.926500000000001</c:v>
              </c:pt>
              <c:pt idx="35">
                <c:v>11.232100000000001</c:v>
              </c:pt>
              <c:pt idx="36">
                <c:v>11.537699999999999</c:v>
              </c:pt>
              <c:pt idx="37">
                <c:v>11.843400000000001</c:v>
              </c:pt>
              <c:pt idx="38">
                <c:v>12.148999999999999</c:v>
              </c:pt>
              <c:pt idx="39">
                <c:v>12.454599999999999</c:v>
              </c:pt>
              <c:pt idx="40">
                <c:v>12.760300000000001</c:v>
              </c:pt>
              <c:pt idx="41">
                <c:v>13.065899999999999</c:v>
              </c:pt>
              <c:pt idx="42">
                <c:v>13.371499999999999</c:v>
              </c:pt>
              <c:pt idx="43">
                <c:v>13.677199999999999</c:v>
              </c:pt>
              <c:pt idx="44">
                <c:v>13.982799999999999</c:v>
              </c:pt>
              <c:pt idx="45">
                <c:v>14.288399999999999</c:v>
              </c:pt>
              <c:pt idx="46">
                <c:v>14.594099999999999</c:v>
              </c:pt>
              <c:pt idx="47">
                <c:v>14.899699999999999</c:v>
              </c:pt>
              <c:pt idx="48">
                <c:v>15.205299999999999</c:v>
              </c:pt>
              <c:pt idx="49">
                <c:v>15.510999999999999</c:v>
              </c:pt>
              <c:pt idx="50">
                <c:v>15.816599999999999</c:v>
              </c:pt>
              <c:pt idx="51">
                <c:v>16.122299999999999</c:v>
              </c:pt>
              <c:pt idx="52">
                <c:v>16.427900000000001</c:v>
              </c:pt>
              <c:pt idx="53">
                <c:v>16.733499999999999</c:v>
              </c:pt>
              <c:pt idx="54">
                <c:v>17.039200000000001</c:v>
              </c:pt>
              <c:pt idx="55">
                <c:v>17.344799999999999</c:v>
              </c:pt>
              <c:pt idx="56">
                <c:v>17.650400000000001</c:v>
              </c:pt>
              <c:pt idx="57">
                <c:v>17.956099999999999</c:v>
              </c:pt>
              <c:pt idx="58">
                <c:v>18.261700000000001</c:v>
              </c:pt>
              <c:pt idx="59">
                <c:v>18.567299999999999</c:v>
              </c:pt>
              <c:pt idx="60">
                <c:v>18.873000000000001</c:v>
              </c:pt>
              <c:pt idx="61">
                <c:v>19.178599999999999</c:v>
              </c:pt>
              <c:pt idx="62">
                <c:v>19.484200000000001</c:v>
              </c:pt>
              <c:pt idx="63">
                <c:v>19.789899999999999</c:v>
              </c:pt>
              <c:pt idx="64">
                <c:v>20.095500000000001</c:v>
              </c:pt>
              <c:pt idx="65">
                <c:v>20.4011</c:v>
              </c:pt>
              <c:pt idx="66">
                <c:v>20.706800000000001</c:v>
              </c:pt>
              <c:pt idx="67">
                <c:v>21.0124</c:v>
              </c:pt>
              <c:pt idx="68">
                <c:v>21.318100000000001</c:v>
              </c:pt>
              <c:pt idx="69">
                <c:v>21.623699999999999</c:v>
              </c:pt>
              <c:pt idx="70">
                <c:v>21.929300000000001</c:v>
              </c:pt>
              <c:pt idx="71">
                <c:v>22.234999999999999</c:v>
              </c:pt>
              <c:pt idx="72">
                <c:v>22.540600000000001</c:v>
              </c:pt>
              <c:pt idx="73">
                <c:v>22.8462</c:v>
              </c:pt>
              <c:pt idx="74">
                <c:v>23.151900000000001</c:v>
              </c:pt>
              <c:pt idx="75">
                <c:v>23.4575</c:v>
              </c:pt>
              <c:pt idx="76">
                <c:v>23.763100000000001</c:v>
              </c:pt>
              <c:pt idx="77">
                <c:v>24.0688</c:v>
              </c:pt>
              <c:pt idx="78">
                <c:v>24.374400000000001</c:v>
              </c:pt>
              <c:pt idx="79">
                <c:v>24.68</c:v>
              </c:pt>
              <c:pt idx="80">
                <c:v>24.985700000000001</c:v>
              </c:pt>
              <c:pt idx="81">
                <c:v>25.2913</c:v>
              </c:pt>
              <c:pt idx="82">
                <c:v>25.596900000000002</c:v>
              </c:pt>
              <c:pt idx="83">
                <c:v>25.9026</c:v>
              </c:pt>
              <c:pt idx="84">
                <c:v>26.208200000000001</c:v>
              </c:pt>
              <c:pt idx="85">
                <c:v>26.5138</c:v>
              </c:pt>
              <c:pt idx="86">
                <c:v>26.819500000000001</c:v>
              </c:pt>
              <c:pt idx="87">
                <c:v>27.1251</c:v>
              </c:pt>
              <c:pt idx="88">
                <c:v>27.430800000000001</c:v>
              </c:pt>
              <c:pt idx="89">
                <c:v>27.7364</c:v>
              </c:pt>
              <c:pt idx="90">
                <c:v>28.042000000000002</c:v>
              </c:pt>
              <c:pt idx="91">
                <c:v>28.3477</c:v>
              </c:pt>
              <c:pt idx="92">
                <c:v>28.653300000000002</c:v>
              </c:pt>
              <c:pt idx="93">
                <c:v>28.9589</c:v>
              </c:pt>
              <c:pt idx="94">
                <c:v>29.264600000000002</c:v>
              </c:pt>
              <c:pt idx="95">
                <c:v>29.5702</c:v>
              </c:pt>
              <c:pt idx="96">
                <c:v>29.875800000000002</c:v>
              </c:pt>
              <c:pt idx="97">
                <c:v>30.1815</c:v>
              </c:pt>
              <c:pt idx="98">
                <c:v>30.487100000000002</c:v>
              </c:pt>
              <c:pt idx="99">
                <c:v>30.7927</c:v>
              </c:pt>
              <c:pt idx="100">
                <c:v>31.098400000000002</c:v>
              </c:pt>
              <c:pt idx="101">
                <c:v>31.404</c:v>
              </c:pt>
              <c:pt idx="102">
                <c:v>31.709599999999998</c:v>
              </c:pt>
              <c:pt idx="103">
                <c:v>32.015300000000003</c:v>
              </c:pt>
              <c:pt idx="104">
                <c:v>32.320900000000002</c:v>
              </c:pt>
              <c:pt idx="105">
                <c:v>32.626600000000003</c:v>
              </c:pt>
              <c:pt idx="106">
                <c:v>32.932200000000002</c:v>
              </c:pt>
              <c:pt idx="107">
                <c:v>33.2378</c:v>
              </c:pt>
              <c:pt idx="108">
                <c:v>33.543500000000002</c:v>
              </c:pt>
              <c:pt idx="109">
                <c:v>33.8491</c:v>
              </c:pt>
              <c:pt idx="110">
                <c:v>34.154699999999998</c:v>
              </c:pt>
              <c:pt idx="111">
                <c:v>34.4604</c:v>
              </c:pt>
              <c:pt idx="112">
                <c:v>34.765999999999998</c:v>
              </c:pt>
              <c:pt idx="113">
                <c:v>35.071599999999997</c:v>
              </c:pt>
              <c:pt idx="114">
                <c:v>35.377299999999998</c:v>
              </c:pt>
              <c:pt idx="115">
                <c:v>35.682899999999997</c:v>
              </c:pt>
              <c:pt idx="116">
                <c:v>35.988500000000002</c:v>
              </c:pt>
              <c:pt idx="117">
                <c:v>36.294199999999996</c:v>
              </c:pt>
              <c:pt idx="118">
                <c:v>36.599800000000002</c:v>
              </c:pt>
              <c:pt idx="119">
                <c:v>36.9054</c:v>
              </c:pt>
              <c:pt idx="120">
                <c:v>37.211100000000002</c:v>
              </c:pt>
              <c:pt idx="121">
                <c:v>37.5167</c:v>
              </c:pt>
              <c:pt idx="122">
                <c:v>37.822299999999998</c:v>
              </c:pt>
              <c:pt idx="123">
                <c:v>38.128</c:v>
              </c:pt>
              <c:pt idx="124">
                <c:v>38.433599999999998</c:v>
              </c:pt>
              <c:pt idx="125">
                <c:v>38.7393</c:v>
              </c:pt>
              <c:pt idx="126">
                <c:v>39.044899999999998</c:v>
              </c:pt>
              <c:pt idx="127">
                <c:v>39.350499999999997</c:v>
              </c:pt>
              <c:pt idx="128">
                <c:v>39.656199999999998</c:v>
              </c:pt>
              <c:pt idx="129">
                <c:v>39.961799999999997</c:v>
              </c:pt>
              <c:pt idx="130">
                <c:v>40.267400000000002</c:v>
              </c:pt>
              <c:pt idx="131">
                <c:v>40.573099999999997</c:v>
              </c:pt>
              <c:pt idx="132">
                <c:v>40.878700000000002</c:v>
              </c:pt>
              <c:pt idx="133">
                <c:v>41.1843</c:v>
              </c:pt>
              <c:pt idx="134">
                <c:v>41.49</c:v>
              </c:pt>
              <c:pt idx="135">
                <c:v>41.7956</c:v>
              </c:pt>
              <c:pt idx="136">
                <c:v>42.101199999999999</c:v>
              </c:pt>
              <c:pt idx="137">
                <c:v>42.4069</c:v>
              </c:pt>
              <c:pt idx="138">
                <c:v>42.712499999999999</c:v>
              </c:pt>
              <c:pt idx="139">
                <c:v>43.018099999999997</c:v>
              </c:pt>
              <c:pt idx="140">
                <c:v>43.323799999999999</c:v>
              </c:pt>
              <c:pt idx="141">
                <c:v>43.629399999999997</c:v>
              </c:pt>
              <c:pt idx="142">
                <c:v>43.935099999999998</c:v>
              </c:pt>
              <c:pt idx="143">
                <c:v>44.240699999999997</c:v>
              </c:pt>
              <c:pt idx="144">
                <c:v>44.546300000000002</c:v>
              </c:pt>
              <c:pt idx="145">
                <c:v>44.851999999999997</c:v>
              </c:pt>
              <c:pt idx="146">
                <c:v>45.157600000000002</c:v>
              </c:pt>
              <c:pt idx="147">
                <c:v>45.463200000000001</c:v>
              </c:pt>
              <c:pt idx="148">
                <c:v>45.768900000000002</c:v>
              </c:pt>
              <c:pt idx="149">
                <c:v>46.0745</c:v>
              </c:pt>
              <c:pt idx="150">
                <c:v>46.380099999999999</c:v>
              </c:pt>
              <c:pt idx="151">
                <c:v>46.6858</c:v>
              </c:pt>
              <c:pt idx="152">
                <c:v>46.991399999999999</c:v>
              </c:pt>
              <c:pt idx="153">
                <c:v>47.296999999999997</c:v>
              </c:pt>
              <c:pt idx="154">
                <c:v>47.602699999999999</c:v>
              </c:pt>
              <c:pt idx="155">
                <c:v>47.908299999999997</c:v>
              </c:pt>
              <c:pt idx="156">
                <c:v>48.213900000000002</c:v>
              </c:pt>
              <c:pt idx="157">
                <c:v>48.519599999999997</c:v>
              </c:pt>
              <c:pt idx="158">
                <c:v>48.825200000000002</c:v>
              </c:pt>
              <c:pt idx="159">
                <c:v>49.130899999999997</c:v>
              </c:pt>
              <c:pt idx="160">
                <c:v>49.436500000000002</c:v>
              </c:pt>
              <c:pt idx="161">
                <c:v>49.742100000000001</c:v>
              </c:pt>
              <c:pt idx="162">
                <c:v>50.047800000000002</c:v>
              </c:pt>
              <c:pt idx="163">
                <c:v>50.353400000000001</c:v>
              </c:pt>
              <c:pt idx="164">
                <c:v>50.658999999999999</c:v>
              </c:pt>
              <c:pt idx="165">
                <c:v>50.964700000000001</c:v>
              </c:pt>
              <c:pt idx="166">
                <c:v>51.270299999999999</c:v>
              </c:pt>
              <c:pt idx="167">
                <c:v>51.575899999999997</c:v>
              </c:pt>
              <c:pt idx="168">
                <c:v>51.881599999999999</c:v>
              </c:pt>
              <c:pt idx="169">
                <c:v>52.187199999999997</c:v>
              </c:pt>
              <c:pt idx="170">
                <c:v>52.492800000000003</c:v>
              </c:pt>
              <c:pt idx="171">
                <c:v>52.798499999999997</c:v>
              </c:pt>
              <c:pt idx="172">
                <c:v>53.104100000000003</c:v>
              </c:pt>
              <c:pt idx="173">
                <c:v>53.409700000000001</c:v>
              </c:pt>
              <c:pt idx="174">
                <c:v>53.715400000000002</c:v>
              </c:pt>
              <c:pt idx="175">
                <c:v>54.021000000000001</c:v>
              </c:pt>
              <c:pt idx="176">
                <c:v>54.326599999999999</c:v>
              </c:pt>
              <c:pt idx="177">
                <c:v>54.632300000000001</c:v>
              </c:pt>
              <c:pt idx="178">
                <c:v>54.937899999999999</c:v>
              </c:pt>
              <c:pt idx="179">
                <c:v>55.243600000000001</c:v>
              </c:pt>
              <c:pt idx="180">
                <c:v>55.549199999999999</c:v>
              </c:pt>
              <c:pt idx="181">
                <c:v>55.854799999999997</c:v>
              </c:pt>
              <c:pt idx="182">
                <c:v>56.160499999999999</c:v>
              </c:pt>
              <c:pt idx="183">
                <c:v>56.466099999999997</c:v>
              </c:pt>
              <c:pt idx="184">
                <c:v>56.771700000000003</c:v>
              </c:pt>
              <c:pt idx="185">
                <c:v>57.077399999999997</c:v>
              </c:pt>
              <c:pt idx="186">
                <c:v>57.383000000000003</c:v>
              </c:pt>
              <c:pt idx="187">
                <c:v>57.688600000000001</c:v>
              </c:pt>
              <c:pt idx="188">
                <c:v>57.994300000000003</c:v>
              </c:pt>
              <c:pt idx="189">
                <c:v>58.299900000000001</c:v>
              </c:pt>
              <c:pt idx="190">
                <c:v>58.605499999999999</c:v>
              </c:pt>
              <c:pt idx="191">
                <c:v>58.911200000000001</c:v>
              </c:pt>
              <c:pt idx="192">
                <c:v>59.216799999999999</c:v>
              </c:pt>
              <c:pt idx="193">
                <c:v>59.522399999999998</c:v>
              </c:pt>
              <c:pt idx="194">
                <c:v>59.828099999999999</c:v>
              </c:pt>
              <c:pt idx="195">
                <c:v>60.133699999999997</c:v>
              </c:pt>
              <c:pt idx="196">
                <c:v>60.439399999999999</c:v>
              </c:pt>
              <c:pt idx="197">
                <c:v>60.744999999999997</c:v>
              </c:pt>
              <c:pt idx="198">
                <c:v>61.050600000000003</c:v>
              </c:pt>
              <c:pt idx="199">
                <c:v>61.356299999999997</c:v>
              </c:pt>
              <c:pt idx="200">
                <c:v>61.661900000000003</c:v>
              </c:pt>
              <c:pt idx="201">
                <c:v>61.967500000000001</c:v>
              </c:pt>
              <c:pt idx="202">
                <c:v>62.273200000000003</c:v>
              </c:pt>
              <c:pt idx="203">
                <c:v>62.578800000000001</c:v>
              </c:pt>
              <c:pt idx="204">
                <c:v>62.884399999999999</c:v>
              </c:pt>
              <c:pt idx="205">
                <c:v>63.190100000000001</c:v>
              </c:pt>
              <c:pt idx="206">
                <c:v>63.495699999999999</c:v>
              </c:pt>
              <c:pt idx="207">
                <c:v>63.801299999999998</c:v>
              </c:pt>
              <c:pt idx="208">
                <c:v>64.106999999999999</c:v>
              </c:pt>
              <c:pt idx="209">
                <c:v>64.412599999999998</c:v>
              </c:pt>
              <c:pt idx="210">
                <c:v>64.718199999999996</c:v>
              </c:pt>
              <c:pt idx="211">
                <c:v>65.023899999999998</c:v>
              </c:pt>
              <c:pt idx="212">
                <c:v>65.329499999999996</c:v>
              </c:pt>
              <c:pt idx="213">
                <c:v>65.635099999999994</c:v>
              </c:pt>
              <c:pt idx="214">
                <c:v>65.940799999999996</c:v>
              </c:pt>
              <c:pt idx="215">
                <c:v>66.246399999999994</c:v>
              </c:pt>
              <c:pt idx="216">
                <c:v>66.552099999999996</c:v>
              </c:pt>
              <c:pt idx="217">
                <c:v>66.857699999999994</c:v>
              </c:pt>
              <c:pt idx="218">
                <c:v>67.163300000000007</c:v>
              </c:pt>
              <c:pt idx="219">
                <c:v>67.468999999999994</c:v>
              </c:pt>
              <c:pt idx="220">
                <c:v>67.774600000000007</c:v>
              </c:pt>
              <c:pt idx="221">
                <c:v>68.080200000000005</c:v>
              </c:pt>
              <c:pt idx="222">
                <c:v>68.385900000000007</c:v>
              </c:pt>
              <c:pt idx="223">
                <c:v>68.691500000000005</c:v>
              </c:pt>
              <c:pt idx="224">
                <c:v>68.997100000000003</c:v>
              </c:pt>
              <c:pt idx="225">
                <c:v>69.302800000000005</c:v>
              </c:pt>
              <c:pt idx="226">
                <c:v>69.608400000000003</c:v>
              </c:pt>
              <c:pt idx="227">
                <c:v>69.914000000000001</c:v>
              </c:pt>
              <c:pt idx="228">
                <c:v>70.219700000000003</c:v>
              </c:pt>
              <c:pt idx="229">
                <c:v>70.525300000000001</c:v>
              </c:pt>
              <c:pt idx="230">
                <c:v>70.8309</c:v>
              </c:pt>
              <c:pt idx="231">
                <c:v>71.136600000000001</c:v>
              </c:pt>
              <c:pt idx="232">
                <c:v>71.4422</c:v>
              </c:pt>
              <c:pt idx="233">
                <c:v>71.747900000000001</c:v>
              </c:pt>
              <c:pt idx="234">
                <c:v>72.0535</c:v>
              </c:pt>
              <c:pt idx="235">
                <c:v>72.359099999999998</c:v>
              </c:pt>
              <c:pt idx="236">
                <c:v>72.6648</c:v>
              </c:pt>
              <c:pt idx="237">
                <c:v>72.970399999999998</c:v>
              </c:pt>
              <c:pt idx="238">
                <c:v>73.275999999999996</c:v>
              </c:pt>
              <c:pt idx="239">
                <c:v>73.581699999999998</c:v>
              </c:pt>
              <c:pt idx="240">
                <c:v>73.887299999999996</c:v>
              </c:pt>
              <c:pt idx="241">
                <c:v>74.192899999999995</c:v>
              </c:pt>
              <c:pt idx="242">
                <c:v>74.498599999999996</c:v>
              </c:pt>
              <c:pt idx="243">
                <c:v>74.804199999999994</c:v>
              </c:pt>
              <c:pt idx="244">
                <c:v>75.109800000000007</c:v>
              </c:pt>
              <c:pt idx="245">
                <c:v>75.415499999999994</c:v>
              </c:pt>
              <c:pt idx="246">
                <c:v>75.721100000000007</c:v>
              </c:pt>
              <c:pt idx="247">
                <c:v>76.026700000000005</c:v>
              </c:pt>
              <c:pt idx="248">
                <c:v>76.332400000000007</c:v>
              </c:pt>
              <c:pt idx="249">
                <c:v>76.638000000000005</c:v>
              </c:pt>
              <c:pt idx="250">
                <c:v>76.943600000000004</c:v>
              </c:pt>
              <c:pt idx="251">
                <c:v>77.249300000000005</c:v>
              </c:pt>
              <c:pt idx="252">
                <c:v>77.554900000000004</c:v>
              </c:pt>
              <c:pt idx="253">
                <c:v>77.860600000000005</c:v>
              </c:pt>
              <c:pt idx="254">
                <c:v>78.166200000000003</c:v>
              </c:pt>
              <c:pt idx="255">
                <c:v>78.471800000000002</c:v>
              </c:pt>
              <c:pt idx="256">
                <c:v>78.777500000000003</c:v>
              </c:pt>
              <c:pt idx="257">
                <c:v>79.083100000000002</c:v>
              </c:pt>
              <c:pt idx="258">
                <c:v>79.3887</c:v>
              </c:pt>
              <c:pt idx="259">
                <c:v>79.694400000000002</c:v>
              </c:pt>
              <c:pt idx="260">
                <c:v>80</c:v>
              </c:pt>
              <c:pt idx="261">
                <c:v>80.076400000000007</c:v>
              </c:pt>
            </c:numLit>
          </c:xVal>
          <c:yVal>
            <c:numLit>
              <c:formatCode>0</c:formatCode>
              <c:ptCount val="262"/>
              <c:pt idx="0">
                <c:v>122.36499999999999</c:v>
              </c:pt>
              <c:pt idx="1">
                <c:v>122.121</c:v>
              </c:pt>
              <c:pt idx="2">
                <c:v>118.69499999999999</c:v>
              </c:pt>
              <c:pt idx="3">
                <c:v>112.00700000000001</c:v>
              </c:pt>
              <c:pt idx="4">
                <c:v>105.726</c:v>
              </c:pt>
              <c:pt idx="5">
                <c:v>100.098</c:v>
              </c:pt>
              <c:pt idx="6">
                <c:v>95.122</c:v>
              </c:pt>
              <c:pt idx="7">
                <c:v>90.718000000000004</c:v>
              </c:pt>
              <c:pt idx="8">
                <c:v>86.965999999999994</c:v>
              </c:pt>
              <c:pt idx="9">
                <c:v>83.866</c:v>
              </c:pt>
              <c:pt idx="10">
                <c:v>80.603999999999999</c:v>
              </c:pt>
              <c:pt idx="11">
                <c:v>76.852000000000004</c:v>
              </c:pt>
              <c:pt idx="12">
                <c:v>75.709999999999994</c:v>
              </c:pt>
              <c:pt idx="13">
                <c:v>73.751999999999995</c:v>
              </c:pt>
              <c:pt idx="14">
                <c:v>71.55</c:v>
              </c:pt>
              <c:pt idx="15">
                <c:v>70.325999999999993</c:v>
              </c:pt>
              <c:pt idx="16">
                <c:v>68.94</c:v>
              </c:pt>
              <c:pt idx="17">
                <c:v>66.819000000000003</c:v>
              </c:pt>
              <c:pt idx="18">
                <c:v>65.350999999999999</c:v>
              </c:pt>
              <c:pt idx="19">
                <c:v>63.963999999999999</c:v>
              </c:pt>
              <c:pt idx="20">
                <c:v>62.088000000000001</c:v>
              </c:pt>
              <c:pt idx="21">
                <c:v>61.353999999999999</c:v>
              </c:pt>
              <c:pt idx="22">
                <c:v>60.537999999999997</c:v>
              </c:pt>
              <c:pt idx="23">
                <c:v>59.152000000000001</c:v>
              </c:pt>
              <c:pt idx="24">
                <c:v>58.091000000000001</c:v>
              </c:pt>
              <c:pt idx="25">
                <c:v>57.194000000000003</c:v>
              </c:pt>
              <c:pt idx="26">
                <c:v>56.296999999999997</c:v>
              </c:pt>
              <c:pt idx="27">
                <c:v>55.155000000000001</c:v>
              </c:pt>
              <c:pt idx="28">
                <c:v>54.584000000000003</c:v>
              </c:pt>
              <c:pt idx="29">
                <c:v>54.258000000000003</c:v>
              </c:pt>
              <c:pt idx="30">
                <c:v>52.953000000000003</c:v>
              </c:pt>
              <c:pt idx="31">
                <c:v>52.219000000000001</c:v>
              </c:pt>
              <c:pt idx="32">
                <c:v>51.566000000000003</c:v>
              </c:pt>
              <c:pt idx="33">
                <c:v>50.423999999999999</c:v>
              </c:pt>
              <c:pt idx="34">
                <c:v>50.179000000000002</c:v>
              </c:pt>
              <c:pt idx="35">
                <c:v>49.771999999999998</c:v>
              </c:pt>
              <c:pt idx="36">
                <c:v>48.956000000000003</c:v>
              </c:pt>
              <c:pt idx="37">
                <c:v>48.302999999999997</c:v>
              </c:pt>
              <c:pt idx="38">
                <c:v>47.814</c:v>
              </c:pt>
              <c:pt idx="39">
                <c:v>47.161999999999999</c:v>
              </c:pt>
              <c:pt idx="40">
                <c:v>46.509</c:v>
              </c:pt>
              <c:pt idx="41">
                <c:v>46.100999999999999</c:v>
              </c:pt>
              <c:pt idx="42">
                <c:v>46.02</c:v>
              </c:pt>
              <c:pt idx="43">
                <c:v>45.284999999999997</c:v>
              </c:pt>
              <c:pt idx="44">
                <c:v>44.795999999999999</c:v>
              </c:pt>
              <c:pt idx="45">
                <c:v>44.307000000000002</c:v>
              </c:pt>
              <c:pt idx="46">
                <c:v>43.491</c:v>
              </c:pt>
              <c:pt idx="47">
                <c:v>43.573</c:v>
              </c:pt>
              <c:pt idx="48">
                <c:v>43.164999999999999</c:v>
              </c:pt>
              <c:pt idx="49">
                <c:v>42.674999999999997</c:v>
              </c:pt>
              <c:pt idx="50">
                <c:v>42.268000000000001</c:v>
              </c:pt>
              <c:pt idx="51">
                <c:v>41.86</c:v>
              </c:pt>
              <c:pt idx="52">
                <c:v>41.533000000000001</c:v>
              </c:pt>
              <c:pt idx="53">
                <c:v>41.043999999999997</c:v>
              </c:pt>
              <c:pt idx="54">
                <c:v>40.962000000000003</c:v>
              </c:pt>
              <c:pt idx="55">
                <c:v>40.718000000000004</c:v>
              </c:pt>
              <c:pt idx="56">
                <c:v>40.146999999999998</c:v>
              </c:pt>
              <c:pt idx="57">
                <c:v>39.820999999999998</c:v>
              </c:pt>
              <c:pt idx="58">
                <c:v>39.576000000000001</c:v>
              </c:pt>
              <c:pt idx="59">
                <c:v>39.005000000000003</c:v>
              </c:pt>
              <c:pt idx="60">
                <c:v>38.923000000000002</c:v>
              </c:pt>
              <c:pt idx="61">
                <c:v>38.597000000000001</c:v>
              </c:pt>
              <c:pt idx="62">
                <c:v>38.351999999999997</c:v>
              </c:pt>
              <c:pt idx="63">
                <c:v>38.026000000000003</c:v>
              </c:pt>
              <c:pt idx="64">
                <c:v>37.780999999999999</c:v>
              </c:pt>
              <c:pt idx="65">
                <c:v>37.454999999999998</c:v>
              </c:pt>
              <c:pt idx="66">
                <c:v>37.046999999999997</c:v>
              </c:pt>
              <c:pt idx="67">
                <c:v>36.884</c:v>
              </c:pt>
              <c:pt idx="68">
                <c:v>36.884</c:v>
              </c:pt>
              <c:pt idx="69">
                <c:v>36.475999999999999</c:v>
              </c:pt>
              <c:pt idx="70">
                <c:v>36.231999999999999</c:v>
              </c:pt>
              <c:pt idx="71">
                <c:v>35.905000000000001</c:v>
              </c:pt>
              <c:pt idx="72">
                <c:v>35.661000000000001</c:v>
              </c:pt>
              <c:pt idx="73">
                <c:v>35.497999999999998</c:v>
              </c:pt>
              <c:pt idx="74">
                <c:v>35.334000000000003</c:v>
              </c:pt>
              <c:pt idx="75">
                <c:v>35.170999999999999</c:v>
              </c:pt>
              <c:pt idx="76">
                <c:v>34.762999999999998</c:v>
              </c:pt>
              <c:pt idx="77">
                <c:v>34.6</c:v>
              </c:pt>
              <c:pt idx="78">
                <c:v>34.436999999999998</c:v>
              </c:pt>
              <c:pt idx="79">
                <c:v>34.029000000000003</c:v>
              </c:pt>
              <c:pt idx="80">
                <c:v>34.029000000000003</c:v>
              </c:pt>
              <c:pt idx="81">
                <c:v>34.029000000000003</c:v>
              </c:pt>
              <c:pt idx="82">
                <c:v>33.622</c:v>
              </c:pt>
              <c:pt idx="83">
                <c:v>33.457999999999998</c:v>
              </c:pt>
              <c:pt idx="84">
                <c:v>33.295000000000002</c:v>
              </c:pt>
              <c:pt idx="85">
                <c:v>33.051000000000002</c:v>
              </c:pt>
              <c:pt idx="86">
                <c:v>32.887</c:v>
              </c:pt>
              <c:pt idx="87">
                <c:v>32.643000000000001</c:v>
              </c:pt>
              <c:pt idx="88">
                <c:v>32.643000000000001</c:v>
              </c:pt>
              <c:pt idx="89">
                <c:v>32.316000000000003</c:v>
              </c:pt>
              <c:pt idx="90">
                <c:v>32.152999999999999</c:v>
              </c:pt>
              <c:pt idx="91">
                <c:v>31.99</c:v>
              </c:pt>
              <c:pt idx="92">
                <c:v>31.664000000000001</c:v>
              </c:pt>
              <c:pt idx="93">
                <c:v>31.664000000000001</c:v>
              </c:pt>
              <c:pt idx="94">
                <c:v>31.501000000000001</c:v>
              </c:pt>
              <c:pt idx="95">
                <c:v>31.338000000000001</c:v>
              </c:pt>
              <c:pt idx="96">
                <c:v>31.175000000000001</c:v>
              </c:pt>
              <c:pt idx="97">
                <c:v>31.010999999999999</c:v>
              </c:pt>
              <c:pt idx="98">
                <c:v>30.847999999999999</c:v>
              </c:pt>
              <c:pt idx="99">
                <c:v>30.684999999999999</c:v>
              </c:pt>
              <c:pt idx="100">
                <c:v>30.521999999999998</c:v>
              </c:pt>
              <c:pt idx="101">
                <c:v>30.603999999999999</c:v>
              </c:pt>
              <c:pt idx="102">
                <c:v>30.359000000000002</c:v>
              </c:pt>
              <c:pt idx="103">
                <c:v>30.196000000000002</c:v>
              </c:pt>
              <c:pt idx="104">
                <c:v>30.033000000000001</c:v>
              </c:pt>
              <c:pt idx="105">
                <c:v>29.788</c:v>
              </c:pt>
              <c:pt idx="106">
                <c:v>29.788</c:v>
              </c:pt>
              <c:pt idx="107">
                <c:v>29.625</c:v>
              </c:pt>
              <c:pt idx="108">
                <c:v>29.542999999999999</c:v>
              </c:pt>
              <c:pt idx="109">
                <c:v>29.38</c:v>
              </c:pt>
              <c:pt idx="110">
                <c:v>29.216999999999999</c:v>
              </c:pt>
              <c:pt idx="111">
                <c:v>29.053999999999998</c:v>
              </c:pt>
              <c:pt idx="112">
                <c:v>28.972000000000001</c:v>
              </c:pt>
              <c:pt idx="113">
                <c:v>28.890999999999998</c:v>
              </c:pt>
              <c:pt idx="114">
                <c:v>28.890999999999998</c:v>
              </c:pt>
              <c:pt idx="115">
                <c:v>28.564</c:v>
              </c:pt>
              <c:pt idx="116">
                <c:v>28.564</c:v>
              </c:pt>
              <c:pt idx="117">
                <c:v>28.401</c:v>
              </c:pt>
              <c:pt idx="118">
                <c:v>28.157</c:v>
              </c:pt>
              <c:pt idx="119">
                <c:v>28.238</c:v>
              </c:pt>
              <c:pt idx="120">
                <c:v>28.157</c:v>
              </c:pt>
              <c:pt idx="121">
                <c:v>27.911999999999999</c:v>
              </c:pt>
              <c:pt idx="122">
                <c:v>27.83</c:v>
              </c:pt>
              <c:pt idx="123">
                <c:v>27.748999999999999</c:v>
              </c:pt>
              <c:pt idx="124">
                <c:v>27.585999999999999</c:v>
              </c:pt>
              <c:pt idx="125">
                <c:v>27.504000000000001</c:v>
              </c:pt>
              <c:pt idx="126">
                <c:v>27.422999999999998</c:v>
              </c:pt>
              <c:pt idx="127">
                <c:v>27.422999999999998</c:v>
              </c:pt>
              <c:pt idx="128">
                <c:v>27.259</c:v>
              </c:pt>
              <c:pt idx="129">
                <c:v>27.096</c:v>
              </c:pt>
              <c:pt idx="130">
                <c:v>26.933</c:v>
              </c:pt>
              <c:pt idx="131">
                <c:v>26.852</c:v>
              </c:pt>
              <c:pt idx="132">
                <c:v>26.687999999999999</c:v>
              </c:pt>
              <c:pt idx="133">
                <c:v>26.687999999999999</c:v>
              </c:pt>
              <c:pt idx="134">
                <c:v>26.606999999999999</c:v>
              </c:pt>
              <c:pt idx="135">
                <c:v>26.443999999999999</c:v>
              </c:pt>
              <c:pt idx="136">
                <c:v>26.443999999999999</c:v>
              </c:pt>
              <c:pt idx="137">
                <c:v>26.280999999999999</c:v>
              </c:pt>
              <c:pt idx="138">
                <c:v>26.199000000000002</c:v>
              </c:pt>
              <c:pt idx="139">
                <c:v>26.117000000000001</c:v>
              </c:pt>
              <c:pt idx="140">
                <c:v>26.199000000000002</c:v>
              </c:pt>
              <c:pt idx="141">
                <c:v>25.954000000000001</c:v>
              </c:pt>
              <c:pt idx="142">
                <c:v>25.873000000000001</c:v>
              </c:pt>
              <c:pt idx="143">
                <c:v>25.791</c:v>
              </c:pt>
              <c:pt idx="144">
                <c:v>25.71</c:v>
              </c:pt>
              <c:pt idx="145">
                <c:v>25.628</c:v>
              </c:pt>
              <c:pt idx="146">
                <c:v>25.545999999999999</c:v>
              </c:pt>
              <c:pt idx="147">
                <c:v>25.545999999999999</c:v>
              </c:pt>
              <c:pt idx="148">
                <c:v>25.302</c:v>
              </c:pt>
              <c:pt idx="149">
                <c:v>25.302</c:v>
              </c:pt>
              <c:pt idx="150">
                <c:v>25.138999999999999</c:v>
              </c:pt>
              <c:pt idx="151">
                <c:v>25.056999999999999</c:v>
              </c:pt>
              <c:pt idx="152">
                <c:v>25.056999999999999</c:v>
              </c:pt>
              <c:pt idx="153">
                <c:v>25.056999999999999</c:v>
              </c:pt>
              <c:pt idx="154">
                <c:v>24.812000000000001</c:v>
              </c:pt>
              <c:pt idx="155">
                <c:v>24.812000000000001</c:v>
              </c:pt>
              <c:pt idx="156">
                <c:v>24.649000000000001</c:v>
              </c:pt>
              <c:pt idx="157">
                <c:v>24.649000000000001</c:v>
              </c:pt>
              <c:pt idx="158">
                <c:v>24.568000000000001</c:v>
              </c:pt>
              <c:pt idx="159">
                <c:v>24.568000000000001</c:v>
              </c:pt>
              <c:pt idx="160">
                <c:v>24.486000000000001</c:v>
              </c:pt>
              <c:pt idx="161">
                <c:v>24.323</c:v>
              </c:pt>
              <c:pt idx="162">
                <c:v>24.323</c:v>
              </c:pt>
              <c:pt idx="163">
                <c:v>24.16</c:v>
              </c:pt>
              <c:pt idx="164">
                <c:v>23.997</c:v>
              </c:pt>
              <c:pt idx="165">
                <c:v>24.077999999999999</c:v>
              </c:pt>
              <c:pt idx="166">
                <c:v>23.914999999999999</c:v>
              </c:pt>
              <c:pt idx="167">
                <c:v>23.914999999999999</c:v>
              </c:pt>
              <c:pt idx="168">
                <c:v>23.834</c:v>
              </c:pt>
              <c:pt idx="169">
                <c:v>23.834</c:v>
              </c:pt>
              <c:pt idx="170">
                <c:v>23.751999999999999</c:v>
              </c:pt>
              <c:pt idx="171">
                <c:v>23.67</c:v>
              </c:pt>
              <c:pt idx="172">
                <c:v>23.67</c:v>
              </c:pt>
              <c:pt idx="173">
                <c:v>23.588999999999999</c:v>
              </c:pt>
              <c:pt idx="174">
                <c:v>23.507000000000001</c:v>
              </c:pt>
              <c:pt idx="175">
                <c:v>23.344000000000001</c:v>
              </c:pt>
              <c:pt idx="176">
                <c:v>23.344000000000001</c:v>
              </c:pt>
              <c:pt idx="177">
                <c:v>23.1</c:v>
              </c:pt>
              <c:pt idx="178">
                <c:v>23.181000000000001</c:v>
              </c:pt>
              <c:pt idx="179">
                <c:v>23.1</c:v>
              </c:pt>
              <c:pt idx="180">
                <c:v>23.1</c:v>
              </c:pt>
              <c:pt idx="181">
                <c:v>23.018000000000001</c:v>
              </c:pt>
              <c:pt idx="182">
                <c:v>22.936</c:v>
              </c:pt>
              <c:pt idx="183">
                <c:v>22.855</c:v>
              </c:pt>
              <c:pt idx="184">
                <c:v>22.773</c:v>
              </c:pt>
              <c:pt idx="185">
                <c:v>22.855</c:v>
              </c:pt>
              <c:pt idx="186">
                <c:v>22.773</c:v>
              </c:pt>
              <c:pt idx="187">
                <c:v>22.692</c:v>
              </c:pt>
              <c:pt idx="188">
                <c:v>22.529</c:v>
              </c:pt>
              <c:pt idx="189">
                <c:v>22.529</c:v>
              </c:pt>
              <c:pt idx="190">
                <c:v>22.364999999999998</c:v>
              </c:pt>
              <c:pt idx="191">
                <c:v>22.446999999999999</c:v>
              </c:pt>
              <c:pt idx="192">
                <c:v>22.364999999999998</c:v>
              </c:pt>
              <c:pt idx="193">
                <c:v>22.283999999999999</c:v>
              </c:pt>
              <c:pt idx="194">
                <c:v>22.202000000000002</c:v>
              </c:pt>
              <c:pt idx="195">
                <c:v>22.202000000000002</c:v>
              </c:pt>
              <c:pt idx="196">
                <c:v>22.120999999999999</c:v>
              </c:pt>
              <c:pt idx="197">
                <c:v>22.120999999999999</c:v>
              </c:pt>
              <c:pt idx="198">
                <c:v>22.039000000000001</c:v>
              </c:pt>
              <c:pt idx="199">
                <c:v>22.039000000000001</c:v>
              </c:pt>
              <c:pt idx="200">
                <c:v>21.876000000000001</c:v>
              </c:pt>
              <c:pt idx="201">
                <c:v>21.876000000000001</c:v>
              </c:pt>
              <c:pt idx="202">
                <c:v>21.876000000000001</c:v>
              </c:pt>
              <c:pt idx="203">
                <c:v>21.713000000000001</c:v>
              </c:pt>
              <c:pt idx="204">
                <c:v>21.631</c:v>
              </c:pt>
              <c:pt idx="205">
                <c:v>21.631</c:v>
              </c:pt>
              <c:pt idx="206">
                <c:v>21.631</c:v>
              </c:pt>
              <c:pt idx="207">
                <c:v>21.55</c:v>
              </c:pt>
              <c:pt idx="208">
                <c:v>21.55</c:v>
              </c:pt>
              <c:pt idx="209">
                <c:v>21.387</c:v>
              </c:pt>
              <c:pt idx="210">
                <c:v>21.305</c:v>
              </c:pt>
              <c:pt idx="211">
                <c:v>21.305</c:v>
              </c:pt>
              <c:pt idx="212">
                <c:v>21.305</c:v>
              </c:pt>
              <c:pt idx="213">
                <c:v>21.222999999999999</c:v>
              </c:pt>
              <c:pt idx="214">
                <c:v>21.222999999999999</c:v>
              </c:pt>
              <c:pt idx="215">
                <c:v>21.222999999999999</c:v>
              </c:pt>
              <c:pt idx="216">
                <c:v>21.141999999999999</c:v>
              </c:pt>
              <c:pt idx="217">
                <c:v>21.141999999999999</c:v>
              </c:pt>
              <c:pt idx="218">
                <c:v>21.06</c:v>
              </c:pt>
              <c:pt idx="219">
                <c:v>20.978999999999999</c:v>
              </c:pt>
              <c:pt idx="220">
                <c:v>20.896999999999998</c:v>
              </c:pt>
              <c:pt idx="221">
                <c:v>20.896999999999998</c:v>
              </c:pt>
              <c:pt idx="222">
                <c:v>20.896999999999998</c:v>
              </c:pt>
              <c:pt idx="223">
                <c:v>20.815999999999999</c:v>
              </c:pt>
              <c:pt idx="224">
                <c:v>20.815999999999999</c:v>
              </c:pt>
              <c:pt idx="225">
                <c:v>20.896999999999998</c:v>
              </c:pt>
              <c:pt idx="226">
                <c:v>20.571000000000002</c:v>
              </c:pt>
              <c:pt idx="227">
                <c:v>20.571000000000002</c:v>
              </c:pt>
              <c:pt idx="228">
                <c:v>20.571000000000002</c:v>
              </c:pt>
              <c:pt idx="229">
                <c:v>20.489000000000001</c:v>
              </c:pt>
              <c:pt idx="230">
                <c:v>20.571000000000002</c:v>
              </c:pt>
              <c:pt idx="231">
                <c:v>20.408000000000001</c:v>
              </c:pt>
              <c:pt idx="232">
                <c:v>20.408000000000001</c:v>
              </c:pt>
              <c:pt idx="233">
                <c:v>20.245000000000001</c:v>
              </c:pt>
              <c:pt idx="234">
                <c:v>20.245000000000001</c:v>
              </c:pt>
              <c:pt idx="235">
                <c:v>20.245000000000001</c:v>
              </c:pt>
              <c:pt idx="236">
                <c:v>20.163</c:v>
              </c:pt>
              <c:pt idx="237">
                <c:v>20.163</c:v>
              </c:pt>
              <c:pt idx="238">
                <c:v>20.082000000000001</c:v>
              </c:pt>
              <c:pt idx="239">
                <c:v>20.082000000000001</c:v>
              </c:pt>
              <c:pt idx="240">
                <c:v>20.082000000000001</c:v>
              </c:pt>
              <c:pt idx="241">
                <c:v>20.082000000000001</c:v>
              </c:pt>
              <c:pt idx="242">
                <c:v>20</c:v>
              </c:pt>
              <c:pt idx="243">
                <c:v>19.917999999999999</c:v>
              </c:pt>
              <c:pt idx="244">
                <c:v>19.837</c:v>
              </c:pt>
              <c:pt idx="245">
                <c:v>19.917999999999999</c:v>
              </c:pt>
              <c:pt idx="246">
                <c:v>19.754999999999999</c:v>
              </c:pt>
              <c:pt idx="247">
                <c:v>19.754999999999999</c:v>
              </c:pt>
              <c:pt idx="248">
                <c:v>19.754999999999999</c:v>
              </c:pt>
              <c:pt idx="249">
                <c:v>19.673999999999999</c:v>
              </c:pt>
              <c:pt idx="250">
                <c:v>19.673999999999999</c:v>
              </c:pt>
              <c:pt idx="251">
                <c:v>19.591999999999999</c:v>
              </c:pt>
              <c:pt idx="252">
                <c:v>19.591999999999999</c:v>
              </c:pt>
              <c:pt idx="253">
                <c:v>19.591999999999999</c:v>
              </c:pt>
              <c:pt idx="254">
                <c:v>19.510999999999999</c:v>
              </c:pt>
              <c:pt idx="255">
                <c:v>19.428999999999998</c:v>
              </c:pt>
              <c:pt idx="256">
                <c:v>19.347000000000001</c:v>
              </c:pt>
              <c:pt idx="257">
                <c:v>19.265999999999998</c:v>
              </c:pt>
              <c:pt idx="258">
                <c:v>19.265999999999998</c:v>
              </c:pt>
              <c:pt idx="259">
                <c:v>19.184000000000001</c:v>
              </c:pt>
              <c:pt idx="260">
                <c:v>19.265999999999998</c:v>
              </c:pt>
              <c:pt idx="261">
                <c:v>19.265999999999998</c:v>
              </c:pt>
            </c:numLit>
          </c:yVal>
          <c:smooth val="1"/>
          <c:extLst>
            <c:ext xmlns:c16="http://schemas.microsoft.com/office/drawing/2014/chart" uri="{C3380CC4-5D6E-409C-BE32-E72D297353CC}">
              <c16:uniqueId val="{00000000-E47F-B74A-8D74-9A1C5F0BA9B5}"/>
            </c:ext>
          </c:extLst>
        </c:ser>
        <c:ser>
          <c:idx val="1"/>
          <c:order val="1"/>
          <c:tx>
            <c:v>HFSS points</c:v>
          </c:tx>
          <c:spPr>
            <a:ln w="0">
              <a:noFill/>
              <a:prstDash val="solid"/>
            </a:ln>
          </c:spPr>
          <c:marker>
            <c:symbol val="circle"/>
            <c:size val="7"/>
            <c:spPr>
              <a:solidFill>
                <a:srgbClr val="ED6A2C"/>
              </a:solidFill>
            </c:spPr>
          </c:marker>
          <c:xVal>
            <c:numLit>
              <c:formatCode>General</c:formatCode>
              <c:ptCount val="12"/>
              <c:pt idx="0">
                <c:v>2.5</c:v>
              </c:pt>
              <c:pt idx="1">
                <c:v>3</c:v>
              </c:pt>
              <c:pt idx="2">
                <c:v>3.9</c:v>
              </c:pt>
              <c:pt idx="3">
                <c:v>7</c:v>
              </c:pt>
              <c:pt idx="4">
                <c:v>8</c:v>
              </c:pt>
              <c:pt idx="5">
                <c:v>9</c:v>
              </c:pt>
              <c:pt idx="6">
                <c:v>10</c:v>
              </c:pt>
              <c:pt idx="7">
                <c:v>11</c:v>
              </c:pt>
              <c:pt idx="8">
                <c:v>12</c:v>
              </c:pt>
              <c:pt idx="9">
                <c:v>40</c:v>
              </c:pt>
              <c:pt idx="10">
                <c:v>50</c:v>
              </c:pt>
              <c:pt idx="11">
                <c:v>60</c:v>
              </c:pt>
            </c:numLit>
          </c:xVal>
          <c:yVal>
            <c:numLit>
              <c:formatCode>0</c:formatCode>
              <c:ptCount val="12"/>
              <c:pt idx="0">
                <c:v>83.168970972260425</c:v>
              </c:pt>
              <c:pt idx="1">
                <c:v>77.407884022951578</c:v>
              </c:pt>
              <c:pt idx="2">
                <c:v>70.201007277354478</c:v>
              </c:pt>
              <c:pt idx="3">
                <c:v>53.884881313576244</c:v>
              </c:pt>
              <c:pt idx="4">
                <c:v>50.902988410339923</c:v>
              </c:pt>
              <c:pt idx="5">
                <c:v>48.239916292364164</c:v>
              </c:pt>
              <c:pt idx="6">
                <c:v>46.980856206044557</c:v>
              </c:pt>
              <c:pt idx="7">
                <c:v>44.962368952712701</c:v>
              </c:pt>
              <c:pt idx="8">
                <c:v>43.089253478291234</c:v>
              </c:pt>
              <c:pt idx="9">
                <c:v>23.875398826899108</c:v>
              </c:pt>
              <c:pt idx="10">
                <c:v>21.643719699716673</c:v>
              </c:pt>
              <c:pt idx="11">
                <c:v>21.462747151682397</c:v>
              </c:pt>
            </c:numLit>
          </c:yVal>
          <c:smooth val="1"/>
          <c:extLst>
            <c:ext xmlns:c16="http://schemas.microsoft.com/office/drawing/2014/chart" uri="{C3380CC4-5D6E-409C-BE32-E72D297353CC}">
              <c16:uniqueId val="{00000001-E47F-B74A-8D74-9A1C5F0BA9B5}"/>
            </c:ext>
          </c:extLst>
        </c:ser>
        <c:ser>
          <c:idx val="2"/>
          <c:order val="2"/>
          <c:tx>
            <c:v>HFSS fit</c:v>
          </c:tx>
          <c:spPr>
            <a:ln w="28575">
              <a:solidFill>
                <a:srgbClr val="ED6A2C"/>
              </a:solidFill>
              <a:prstDash val="solid"/>
            </a:ln>
          </c:spPr>
          <c:marker>
            <c:symbol val="none"/>
          </c:marker>
          <c:xVal>
            <c:numLit>
              <c:formatCode>General</c:formatCode>
              <c:ptCount val="231"/>
              <c:pt idx="0">
                <c:v>2.5</c:v>
              </c:pt>
              <c:pt idx="1">
                <c:v>2.75</c:v>
              </c:pt>
              <c:pt idx="2">
                <c:v>3</c:v>
              </c:pt>
              <c:pt idx="3">
                <c:v>3.25</c:v>
              </c:pt>
              <c:pt idx="4">
                <c:v>3.5</c:v>
              </c:pt>
              <c:pt idx="5">
                <c:v>3.75</c:v>
              </c:pt>
              <c:pt idx="6">
                <c:v>4</c:v>
              </c:pt>
              <c:pt idx="7">
                <c:v>4.25</c:v>
              </c:pt>
              <c:pt idx="8">
                <c:v>4.5</c:v>
              </c:pt>
              <c:pt idx="9">
                <c:v>4.75</c:v>
              </c:pt>
              <c:pt idx="10">
                <c:v>5</c:v>
              </c:pt>
              <c:pt idx="11">
                <c:v>5.25</c:v>
              </c:pt>
              <c:pt idx="12">
                <c:v>5.5</c:v>
              </c:pt>
              <c:pt idx="13">
                <c:v>5.75</c:v>
              </c:pt>
              <c:pt idx="14">
                <c:v>6</c:v>
              </c:pt>
              <c:pt idx="15">
                <c:v>6.25</c:v>
              </c:pt>
              <c:pt idx="16">
                <c:v>6.5</c:v>
              </c:pt>
              <c:pt idx="17">
                <c:v>6.75</c:v>
              </c:pt>
              <c:pt idx="18">
                <c:v>7</c:v>
              </c:pt>
              <c:pt idx="19">
                <c:v>7.25</c:v>
              </c:pt>
              <c:pt idx="20">
                <c:v>7.5</c:v>
              </c:pt>
              <c:pt idx="21">
                <c:v>7.75</c:v>
              </c:pt>
              <c:pt idx="22">
                <c:v>8</c:v>
              </c:pt>
              <c:pt idx="23">
                <c:v>8.25</c:v>
              </c:pt>
              <c:pt idx="24">
                <c:v>8.5</c:v>
              </c:pt>
              <c:pt idx="25">
                <c:v>8.75</c:v>
              </c:pt>
              <c:pt idx="26">
                <c:v>9</c:v>
              </c:pt>
              <c:pt idx="27">
                <c:v>9.25</c:v>
              </c:pt>
              <c:pt idx="28">
                <c:v>9.5</c:v>
              </c:pt>
              <c:pt idx="29">
                <c:v>9.75</c:v>
              </c:pt>
              <c:pt idx="30">
                <c:v>10</c:v>
              </c:pt>
              <c:pt idx="31">
                <c:v>10.25</c:v>
              </c:pt>
              <c:pt idx="32">
                <c:v>10.5</c:v>
              </c:pt>
              <c:pt idx="33">
                <c:v>10.75</c:v>
              </c:pt>
              <c:pt idx="34">
                <c:v>11</c:v>
              </c:pt>
              <c:pt idx="35">
                <c:v>11.25</c:v>
              </c:pt>
              <c:pt idx="36">
                <c:v>11.5</c:v>
              </c:pt>
              <c:pt idx="37">
                <c:v>11.75</c:v>
              </c:pt>
              <c:pt idx="38">
                <c:v>12</c:v>
              </c:pt>
              <c:pt idx="39">
                <c:v>12.25</c:v>
              </c:pt>
              <c:pt idx="40">
                <c:v>12.5</c:v>
              </c:pt>
              <c:pt idx="41">
                <c:v>12.75</c:v>
              </c:pt>
              <c:pt idx="42">
                <c:v>13</c:v>
              </c:pt>
              <c:pt idx="43">
                <c:v>13.25</c:v>
              </c:pt>
              <c:pt idx="44">
                <c:v>13.5</c:v>
              </c:pt>
              <c:pt idx="45">
                <c:v>13.75</c:v>
              </c:pt>
              <c:pt idx="46">
                <c:v>14</c:v>
              </c:pt>
              <c:pt idx="47">
                <c:v>14.25</c:v>
              </c:pt>
              <c:pt idx="48">
                <c:v>14.5</c:v>
              </c:pt>
              <c:pt idx="49">
                <c:v>14.75</c:v>
              </c:pt>
              <c:pt idx="50">
                <c:v>15</c:v>
              </c:pt>
              <c:pt idx="51">
                <c:v>15.25</c:v>
              </c:pt>
              <c:pt idx="52">
                <c:v>15.5</c:v>
              </c:pt>
              <c:pt idx="53">
                <c:v>15.75</c:v>
              </c:pt>
              <c:pt idx="54">
                <c:v>16</c:v>
              </c:pt>
              <c:pt idx="55">
                <c:v>16.25</c:v>
              </c:pt>
              <c:pt idx="56">
                <c:v>16.5</c:v>
              </c:pt>
              <c:pt idx="57">
                <c:v>16.75</c:v>
              </c:pt>
              <c:pt idx="58">
                <c:v>17</c:v>
              </c:pt>
              <c:pt idx="59">
                <c:v>17.25</c:v>
              </c:pt>
              <c:pt idx="60">
                <c:v>17.5</c:v>
              </c:pt>
              <c:pt idx="61">
                <c:v>17.75</c:v>
              </c:pt>
              <c:pt idx="62">
                <c:v>18</c:v>
              </c:pt>
              <c:pt idx="63">
                <c:v>18.25</c:v>
              </c:pt>
              <c:pt idx="64">
                <c:v>18.5</c:v>
              </c:pt>
              <c:pt idx="65">
                <c:v>18.75</c:v>
              </c:pt>
              <c:pt idx="66">
                <c:v>19</c:v>
              </c:pt>
              <c:pt idx="67">
                <c:v>19.25</c:v>
              </c:pt>
              <c:pt idx="68">
                <c:v>19.5</c:v>
              </c:pt>
              <c:pt idx="69">
                <c:v>19.75</c:v>
              </c:pt>
              <c:pt idx="70">
                <c:v>20</c:v>
              </c:pt>
              <c:pt idx="71">
                <c:v>20.25</c:v>
              </c:pt>
              <c:pt idx="72">
                <c:v>20.5</c:v>
              </c:pt>
              <c:pt idx="73">
                <c:v>20.75</c:v>
              </c:pt>
              <c:pt idx="74">
                <c:v>21</c:v>
              </c:pt>
              <c:pt idx="75">
                <c:v>21.25</c:v>
              </c:pt>
              <c:pt idx="76">
                <c:v>21.5</c:v>
              </c:pt>
              <c:pt idx="77">
                <c:v>21.75</c:v>
              </c:pt>
              <c:pt idx="78">
                <c:v>22</c:v>
              </c:pt>
              <c:pt idx="79">
                <c:v>22.25</c:v>
              </c:pt>
              <c:pt idx="80">
                <c:v>22.5</c:v>
              </c:pt>
              <c:pt idx="81">
                <c:v>22.75</c:v>
              </c:pt>
              <c:pt idx="82">
                <c:v>23</c:v>
              </c:pt>
              <c:pt idx="83">
                <c:v>23.25</c:v>
              </c:pt>
              <c:pt idx="84">
                <c:v>23.5</c:v>
              </c:pt>
              <c:pt idx="85">
                <c:v>23.75</c:v>
              </c:pt>
              <c:pt idx="86">
                <c:v>24</c:v>
              </c:pt>
              <c:pt idx="87">
                <c:v>24.25</c:v>
              </c:pt>
              <c:pt idx="88">
                <c:v>24.5</c:v>
              </c:pt>
              <c:pt idx="89">
                <c:v>24.75</c:v>
              </c:pt>
              <c:pt idx="90">
                <c:v>25</c:v>
              </c:pt>
              <c:pt idx="91">
                <c:v>25.25</c:v>
              </c:pt>
              <c:pt idx="92">
                <c:v>25.5</c:v>
              </c:pt>
              <c:pt idx="93">
                <c:v>25.75</c:v>
              </c:pt>
              <c:pt idx="94">
                <c:v>26</c:v>
              </c:pt>
              <c:pt idx="95">
                <c:v>26.25</c:v>
              </c:pt>
              <c:pt idx="96">
                <c:v>26.5</c:v>
              </c:pt>
              <c:pt idx="97">
                <c:v>26.75</c:v>
              </c:pt>
              <c:pt idx="98">
                <c:v>27</c:v>
              </c:pt>
              <c:pt idx="99">
                <c:v>27.25</c:v>
              </c:pt>
              <c:pt idx="100">
                <c:v>27.5</c:v>
              </c:pt>
              <c:pt idx="101">
                <c:v>27.75</c:v>
              </c:pt>
              <c:pt idx="102">
                <c:v>28</c:v>
              </c:pt>
              <c:pt idx="103">
                <c:v>28.25</c:v>
              </c:pt>
              <c:pt idx="104">
                <c:v>28.5</c:v>
              </c:pt>
              <c:pt idx="105">
                <c:v>28.75</c:v>
              </c:pt>
              <c:pt idx="106">
                <c:v>29</c:v>
              </c:pt>
              <c:pt idx="107">
                <c:v>29.25</c:v>
              </c:pt>
              <c:pt idx="108">
                <c:v>29.5</c:v>
              </c:pt>
              <c:pt idx="109">
                <c:v>29.75</c:v>
              </c:pt>
              <c:pt idx="110">
                <c:v>30</c:v>
              </c:pt>
              <c:pt idx="111">
                <c:v>30.25</c:v>
              </c:pt>
              <c:pt idx="112">
                <c:v>30.5</c:v>
              </c:pt>
              <c:pt idx="113">
                <c:v>30.75</c:v>
              </c:pt>
              <c:pt idx="114">
                <c:v>31</c:v>
              </c:pt>
              <c:pt idx="115">
                <c:v>31.25</c:v>
              </c:pt>
              <c:pt idx="116">
                <c:v>31.5</c:v>
              </c:pt>
              <c:pt idx="117">
                <c:v>31.75</c:v>
              </c:pt>
              <c:pt idx="118">
                <c:v>32</c:v>
              </c:pt>
              <c:pt idx="119">
                <c:v>32.25</c:v>
              </c:pt>
              <c:pt idx="120">
                <c:v>32.5</c:v>
              </c:pt>
              <c:pt idx="121">
                <c:v>32.75</c:v>
              </c:pt>
              <c:pt idx="122">
                <c:v>33</c:v>
              </c:pt>
              <c:pt idx="123">
                <c:v>33.25</c:v>
              </c:pt>
              <c:pt idx="124">
                <c:v>33.5</c:v>
              </c:pt>
              <c:pt idx="125">
                <c:v>33.75</c:v>
              </c:pt>
              <c:pt idx="126">
                <c:v>34</c:v>
              </c:pt>
              <c:pt idx="127">
                <c:v>34.25</c:v>
              </c:pt>
              <c:pt idx="128">
                <c:v>34.5</c:v>
              </c:pt>
              <c:pt idx="129">
                <c:v>34.75</c:v>
              </c:pt>
              <c:pt idx="130">
                <c:v>35</c:v>
              </c:pt>
              <c:pt idx="131">
                <c:v>35.25</c:v>
              </c:pt>
              <c:pt idx="132">
                <c:v>35.5</c:v>
              </c:pt>
              <c:pt idx="133">
                <c:v>35.75</c:v>
              </c:pt>
              <c:pt idx="134">
                <c:v>36</c:v>
              </c:pt>
              <c:pt idx="135">
                <c:v>36.25</c:v>
              </c:pt>
              <c:pt idx="136">
                <c:v>36.5</c:v>
              </c:pt>
              <c:pt idx="137">
                <c:v>36.75</c:v>
              </c:pt>
              <c:pt idx="138">
                <c:v>37</c:v>
              </c:pt>
              <c:pt idx="139">
                <c:v>37.25</c:v>
              </c:pt>
              <c:pt idx="140">
                <c:v>37.5</c:v>
              </c:pt>
              <c:pt idx="141">
                <c:v>37.75</c:v>
              </c:pt>
              <c:pt idx="142">
                <c:v>38</c:v>
              </c:pt>
              <c:pt idx="143">
                <c:v>38.25</c:v>
              </c:pt>
              <c:pt idx="144">
                <c:v>38.5</c:v>
              </c:pt>
              <c:pt idx="145">
                <c:v>38.75</c:v>
              </c:pt>
              <c:pt idx="146">
                <c:v>39</c:v>
              </c:pt>
              <c:pt idx="147">
                <c:v>39.25</c:v>
              </c:pt>
              <c:pt idx="148">
                <c:v>39.5</c:v>
              </c:pt>
              <c:pt idx="149">
                <c:v>39.75</c:v>
              </c:pt>
              <c:pt idx="150">
                <c:v>40</c:v>
              </c:pt>
              <c:pt idx="151">
                <c:v>40.25</c:v>
              </c:pt>
              <c:pt idx="152">
                <c:v>40.5</c:v>
              </c:pt>
              <c:pt idx="153">
                <c:v>40.75</c:v>
              </c:pt>
              <c:pt idx="154">
                <c:v>41</c:v>
              </c:pt>
              <c:pt idx="155">
                <c:v>41.25</c:v>
              </c:pt>
              <c:pt idx="156">
                <c:v>41.5</c:v>
              </c:pt>
              <c:pt idx="157">
                <c:v>41.75</c:v>
              </c:pt>
              <c:pt idx="158">
                <c:v>42</c:v>
              </c:pt>
              <c:pt idx="159">
                <c:v>42.25</c:v>
              </c:pt>
              <c:pt idx="160">
                <c:v>42.5</c:v>
              </c:pt>
              <c:pt idx="161">
                <c:v>42.75</c:v>
              </c:pt>
              <c:pt idx="162">
                <c:v>43</c:v>
              </c:pt>
              <c:pt idx="163">
                <c:v>43.25</c:v>
              </c:pt>
              <c:pt idx="164">
                <c:v>43.5</c:v>
              </c:pt>
              <c:pt idx="165">
                <c:v>43.75</c:v>
              </c:pt>
              <c:pt idx="166">
                <c:v>44</c:v>
              </c:pt>
              <c:pt idx="167">
                <c:v>44.25</c:v>
              </c:pt>
              <c:pt idx="168">
                <c:v>44.5</c:v>
              </c:pt>
              <c:pt idx="169">
                <c:v>44.75</c:v>
              </c:pt>
              <c:pt idx="170">
                <c:v>45</c:v>
              </c:pt>
              <c:pt idx="171">
                <c:v>45.25</c:v>
              </c:pt>
              <c:pt idx="172">
                <c:v>45.5</c:v>
              </c:pt>
              <c:pt idx="173">
                <c:v>45.75</c:v>
              </c:pt>
              <c:pt idx="174">
                <c:v>46</c:v>
              </c:pt>
              <c:pt idx="175">
                <c:v>46.25</c:v>
              </c:pt>
              <c:pt idx="176">
                <c:v>46.5</c:v>
              </c:pt>
              <c:pt idx="177">
                <c:v>46.75</c:v>
              </c:pt>
              <c:pt idx="178">
                <c:v>47</c:v>
              </c:pt>
              <c:pt idx="179">
                <c:v>47.25</c:v>
              </c:pt>
              <c:pt idx="180">
                <c:v>47.5</c:v>
              </c:pt>
              <c:pt idx="181">
                <c:v>47.75</c:v>
              </c:pt>
              <c:pt idx="182">
                <c:v>48</c:v>
              </c:pt>
              <c:pt idx="183">
                <c:v>48.25</c:v>
              </c:pt>
              <c:pt idx="184">
                <c:v>48.5</c:v>
              </c:pt>
              <c:pt idx="185">
                <c:v>48.75</c:v>
              </c:pt>
              <c:pt idx="186">
                <c:v>49</c:v>
              </c:pt>
              <c:pt idx="187">
                <c:v>49.25</c:v>
              </c:pt>
              <c:pt idx="188">
                <c:v>49.5</c:v>
              </c:pt>
              <c:pt idx="189">
                <c:v>49.75</c:v>
              </c:pt>
              <c:pt idx="190">
                <c:v>50</c:v>
              </c:pt>
              <c:pt idx="191">
                <c:v>50.25</c:v>
              </c:pt>
              <c:pt idx="192">
                <c:v>50.5</c:v>
              </c:pt>
              <c:pt idx="193">
                <c:v>50.75</c:v>
              </c:pt>
              <c:pt idx="194">
                <c:v>51</c:v>
              </c:pt>
              <c:pt idx="195">
                <c:v>51.25</c:v>
              </c:pt>
              <c:pt idx="196">
                <c:v>51.5</c:v>
              </c:pt>
              <c:pt idx="197">
                <c:v>51.75</c:v>
              </c:pt>
              <c:pt idx="198">
                <c:v>52</c:v>
              </c:pt>
              <c:pt idx="199">
                <c:v>52.25</c:v>
              </c:pt>
              <c:pt idx="200">
                <c:v>52.5</c:v>
              </c:pt>
              <c:pt idx="201">
                <c:v>52.75</c:v>
              </c:pt>
              <c:pt idx="202">
                <c:v>53</c:v>
              </c:pt>
              <c:pt idx="203">
                <c:v>53.25</c:v>
              </c:pt>
              <c:pt idx="204">
                <c:v>53.5</c:v>
              </c:pt>
              <c:pt idx="205">
                <c:v>53.75</c:v>
              </c:pt>
              <c:pt idx="206">
                <c:v>54</c:v>
              </c:pt>
              <c:pt idx="207">
                <c:v>54.25</c:v>
              </c:pt>
              <c:pt idx="208">
                <c:v>54.5</c:v>
              </c:pt>
              <c:pt idx="209">
                <c:v>54.75</c:v>
              </c:pt>
              <c:pt idx="210">
                <c:v>55</c:v>
              </c:pt>
              <c:pt idx="211">
                <c:v>55.25</c:v>
              </c:pt>
              <c:pt idx="212">
                <c:v>55.5</c:v>
              </c:pt>
              <c:pt idx="213">
                <c:v>55.75</c:v>
              </c:pt>
              <c:pt idx="214">
                <c:v>56</c:v>
              </c:pt>
              <c:pt idx="215">
                <c:v>56.25</c:v>
              </c:pt>
              <c:pt idx="216">
                <c:v>56.5</c:v>
              </c:pt>
              <c:pt idx="217">
                <c:v>56.75</c:v>
              </c:pt>
              <c:pt idx="218">
                <c:v>57</c:v>
              </c:pt>
              <c:pt idx="219">
                <c:v>57.25</c:v>
              </c:pt>
              <c:pt idx="220">
                <c:v>57.5</c:v>
              </c:pt>
              <c:pt idx="221">
                <c:v>57.75</c:v>
              </c:pt>
              <c:pt idx="222">
                <c:v>58</c:v>
              </c:pt>
              <c:pt idx="223">
                <c:v>58.25</c:v>
              </c:pt>
              <c:pt idx="224">
                <c:v>58.5</c:v>
              </c:pt>
              <c:pt idx="225">
                <c:v>58.75</c:v>
              </c:pt>
              <c:pt idx="226">
                <c:v>59</c:v>
              </c:pt>
              <c:pt idx="227">
                <c:v>59.25</c:v>
              </c:pt>
              <c:pt idx="228">
                <c:v>59.5</c:v>
              </c:pt>
              <c:pt idx="229">
                <c:v>59.75</c:v>
              </c:pt>
              <c:pt idx="230">
                <c:v>60</c:v>
              </c:pt>
            </c:numLit>
          </c:xVal>
          <c:yVal>
            <c:numLit>
              <c:formatCode>0</c:formatCode>
              <c:ptCount val="231"/>
              <c:pt idx="0">
                <c:v>83.190170348284752</c:v>
              </c:pt>
              <c:pt idx="1">
                <c:v>80.214610432033481</c:v>
              </c:pt>
              <c:pt idx="2">
                <c:v>77.542577341933935</c:v>
              </c:pt>
              <c:pt idx="3">
                <c:v>75.125745804361614</c:v>
              </c:pt>
              <c:pt idx="4">
                <c:v>72.925918719200766</c:v>
              </c:pt>
              <c:pt idx="5">
                <c:v>70.912451830876719</c:v>
              </c:pt>
              <c:pt idx="6">
                <c:v>69.060436041519353</c:v>
              </c:pt>
              <c:pt idx="7">
                <c:v>67.349387295956404</c:v>
              </c:pt>
              <c:pt idx="8">
                <c:v>65.762284612080421</c:v>
              </c:pt>
              <c:pt idx="9">
                <c:v>64.284851950776073</c:v>
              </c:pt>
              <c:pt idx="10">
                <c:v>62.905014091778135</c:v>
              </c:pt>
              <c:pt idx="11">
                <c:v>61.612478786261001</c:v>
              </c:pt>
              <c:pt idx="12">
                <c:v>60.398411952378183</c:v>
              </c:pt>
              <c:pt idx="13">
                <c:v>59.255182380010851</c:v>
              </c:pt>
              <c:pt idx="14">
                <c:v>58.176159022369411</c:v>
              </c:pt>
              <c:pt idx="15">
                <c:v>57.155548534370951</c:v>
              </c:pt>
              <c:pt idx="16">
                <c:v>56.18826394268757</c:v>
              </c:pt>
              <c:pt idx="17">
                <c:v>55.269817634258388</c:v>
              </c:pt>
              <c:pt idx="18">
                <c:v>54.396233514566745</c:v>
              </c:pt>
              <c:pt idx="19">
                <c:v>53.563974405143732</c:v>
              </c:pt>
              <c:pt idx="20">
                <c:v>52.769881651255915</c:v>
              </c:pt>
              <c:pt idx="21">
                <c:v>52.011124584844261</c:v>
              </c:pt>
              <c:pt idx="22">
                <c:v>51.285157996758791</c:v>
              </c:pt>
              <c:pt idx="23">
                <c:v>50.589686160126028</c:v>
              </c:pt>
              <c:pt idx="24">
                <c:v>49.922632244662417</c:v>
              </c:pt>
              <c:pt idx="25">
                <c:v>49.282112192542009</c:v>
              </c:pt>
              <c:pt idx="26">
                <c:v>48.666412306530454</c:v>
              </c:pt>
              <c:pt idx="27">
                <c:v>48.073969942641973</c:v>
              </c:pt>
              <c:pt idx="28">
                <c:v>47.503356811560067</c:v>
              </c:pt>
              <c:pt idx="29">
                <c:v>46.953264482221634</c:v>
              </c:pt>
              <c:pt idx="30">
                <c:v>46.422491752375521</c:v>
              </c:pt>
              <c:pt idx="31">
                <c:v>45.909933608448888</c:v>
              </c:pt>
              <c:pt idx="32">
                <c:v>45.414571543638758</c:v>
              </c:pt>
              <c:pt idx="33">
                <c:v>44.935465041067253</c:v>
              </c:pt>
              <c:pt idx="34">
                <c:v>44.471744059857464</c:v>
              </c:pt>
              <c:pt idx="35">
                <c:v>44.022602387479111</c:v>
              </c:pt>
              <c:pt idx="36">
                <c:v>43.58729174275571</c:v>
              </c:pt>
              <c:pt idx="37">
                <c:v>43.16511653136957</c:v>
              </c:pt>
              <c:pt idx="38">
                <c:v>42.755429170220445</c:v>
              </c:pt>
              <c:pt idx="39">
                <c:v>42.357625909126902</c:v>
              </c:pt>
              <c:pt idx="40">
                <c:v>41.971143088535229</c:v>
              </c:pt>
              <c:pt idx="41">
                <c:v>41.59545378046657</c:v>
              </c:pt>
              <c:pt idx="42">
                <c:v>41.230064767167185</c:v>
              </c:pt>
              <c:pt idx="43">
                <c:v>40.874513818057707</c:v>
              </c:pt>
              <c:pt idx="44">
                <c:v>40.528367230788739</c:v>
              </c:pt>
              <c:pt idx="45">
                <c:v>40.191217606654241</c:v>
              </c:pt>
              <c:pt idx="46">
                <c:v>39.86268183441468</c:v>
              </c:pt>
              <c:pt idx="47">
                <c:v>39.542399259841275</c:v>
              </c:pt>
              <c:pt idx="48">
                <c:v>39.230030021095999</c:v>
              </c:pt>
              <c:pt idx="49">
                <c:v>38.925253532478692</c:v>
              </c:pt>
              <c:pt idx="50">
                <c:v>38.627767101162057</c:v>
              </c:pt>
              <c:pt idx="51">
                <c:v>38.33728466334599</c:v>
              </c:pt>
              <c:pt idx="52">
                <c:v>38.053535627835203</c:v>
              </c:pt>
              <c:pt idx="53">
                <c:v>37.776263816413483</c:v>
              </c:pt>
              <c:pt idx="54">
                <c:v>37.505226491582732</c:v>
              </c:pt>
              <c:pt idx="55">
                <c:v>37.24019346327956</c:v>
              </c:pt>
              <c:pt idx="56">
                <c:v>36.98094626709802</c:v>
              </c:pt>
              <c:pt idx="57">
                <c:v>36.72727740735067</c:v>
              </c:pt>
              <c:pt idx="58">
                <c:v>36.478989659007482</c:v>
              </c:pt>
              <c:pt idx="59">
                <c:v>36.235895423175769</c:v>
              </c:pt>
              <c:pt idx="60">
                <c:v>35.997816131334417</c:v>
              </c:pt>
              <c:pt idx="61">
                <c:v>35.764581694023121</c:v>
              </c:pt>
              <c:pt idx="62">
                <c:v>35.536029990118742</c:v>
              </c:pt>
              <c:pt idx="63">
                <c:v>35.312006393214105</c:v>
              </c:pt>
              <c:pt idx="64">
                <c:v>35.092363331955418</c:v>
              </c:pt>
              <c:pt idx="65">
                <c:v>34.876959881497655</c:v>
              </c:pt>
              <c:pt idx="66">
                <c:v>34.66566138350813</c:v>
              </c:pt>
              <c:pt idx="67">
                <c:v>34.458339092390304</c:v>
              </c:pt>
              <c:pt idx="68">
                <c:v>34.254869845616014</c:v>
              </c:pt>
              <c:pt idx="69">
                <c:v>34.055135756248305</c:v>
              </c:pt>
              <c:pt idx="70">
                <c:v>33.859023925911039</c:v>
              </c:pt>
              <c:pt idx="71">
                <c:v>33.666426176617357</c:v>
              </c:pt>
              <c:pt idx="72">
                <c:v>33.477238800010078</c:v>
              </c:pt>
              <c:pt idx="73">
                <c:v>33.291362322693466</c:v>
              </c:pt>
              <c:pt idx="74">
                <c:v>33.108701286450099</c:v>
              </c:pt>
              <c:pt idx="75">
                <c:v>32.929164042239712</c:v>
              </c:pt>
              <c:pt idx="76">
                <c:v>32.752662556970186</c:v>
              </c:pt>
              <c:pt idx="77">
                <c:v>32.57911223211525</c:v>
              </c:pt>
              <c:pt idx="78">
                <c:v>32.408431733329962</c:v>
              </c:pt>
              <c:pt idx="79">
                <c:v>32.240542830284511</c:v>
              </c:pt>
              <c:pt idx="80">
                <c:v>32.07537024599992</c:v>
              </c:pt>
              <c:pt idx="81">
                <c:v>31.912841515026535</c:v>
              </c:pt>
              <c:pt idx="82">
                <c:v>31.752886849858374</c:v>
              </c:pt>
              <c:pt idx="83">
                <c:v>31.59543901502418</c:v>
              </c:pt>
              <c:pt idx="84">
                <c:v>31.44043320833892</c:v>
              </c:pt>
              <c:pt idx="85">
                <c:v>31.287806948839712</c:v>
              </c:pt>
              <c:pt idx="86">
                <c:v>31.137499970965713</c:v>
              </c:pt>
              <c:pt idx="87">
                <c:v>30.989454124575154</c:v>
              </c:pt>
              <c:pt idx="88">
                <c:v>30.843613280422662</c:v>
              </c:pt>
              <c:pt idx="89">
                <c:v>30.699923240747925</c:v>
              </c:pt>
              <c:pt idx="90">
                <c:v>30.558331654652285</c:v>
              </c:pt>
              <c:pt idx="91">
                <c:v>30.418787937963074</c:v>
              </c:pt>
              <c:pt idx="92">
                <c:v>30.281243197307241</c:v>
              </c:pt>
              <c:pt idx="93">
                <c:v>30.14565015813529</c:v>
              </c:pt>
              <c:pt idx="94">
                <c:v>30.011963096455077</c:v>
              </c:pt>
              <c:pt idx="95">
                <c:v>29.880137774051388</c:v>
              </c:pt>
              <c:pt idx="96">
                <c:v>29.750131376983074</c:v>
              </c:pt>
              <c:pt idx="97">
                <c:v>29.621902457163412</c:v>
              </c:pt>
              <c:pt idx="98">
                <c:v>29.495410876842691</c:v>
              </c:pt>
              <c:pt idx="99">
                <c:v>29.370617755824274</c:v>
              </c:pt>
              <c:pt idx="100">
                <c:v>29.24748542125629</c:v>
              </c:pt>
              <c:pt idx="101">
                <c:v>29.125977359851923</c:v>
              </c:pt>
              <c:pt idx="102">
                <c:v>29.006058172400529</c:v>
              </c:pt>
              <c:pt idx="103">
                <c:v>28.887693530441016</c:v>
              </c:pt>
              <c:pt idx="104">
                <c:v>28.770850134976964</c:v>
              </c:pt>
              <c:pt idx="105">
                <c:v>28.655495677120797</c:v>
              </c:pt>
              <c:pt idx="106">
                <c:v>28.541598800561363</c:v>
              </c:pt>
              <c:pt idx="107">
                <c:v>28.429129065755927</c:v>
              </c:pt>
              <c:pt idx="108">
                <c:v>28.318056915753679</c:v>
              </c:pt>
              <c:pt idx="109">
                <c:v>28.208353643563697</c:v>
              </c:pt>
              <c:pt idx="110">
                <c:v>28.09999136098547</c:v>
              </c:pt>
              <c:pt idx="111">
                <c:v>27.992942968825204</c:v>
              </c:pt>
              <c:pt idx="112">
                <c:v>27.88718212842566</c:v>
              </c:pt>
              <c:pt idx="113">
                <c:v>27.782683234441578</c:v>
              </c:pt>
              <c:pt idx="114">
                <c:v>27.67942138879684</c:v>
              </c:pt>
              <c:pt idx="115">
                <c:v>27.577372375763179</c:v>
              </c:pt>
              <c:pt idx="116">
                <c:v>27.476512638103831</c:v>
              </c:pt>
              <c:pt idx="117">
                <c:v>27.376819254228739</c:v>
              </c:pt>
              <c:pt idx="118">
                <c:v>27.278269916311022</c:v>
              </c:pt>
              <c:pt idx="119">
                <c:v>27.180842909317256</c:v>
              </c:pt>
              <c:pt idx="120">
                <c:v>27.084517090906832</c:v>
              </c:pt>
              <c:pt idx="121">
                <c:v>26.989271872158106</c:v>
              </c:pt>
              <c:pt idx="122">
                <c:v>26.895087199081484</c:v>
              </c:pt>
              <c:pt idx="123">
                <c:v>26.801943534881723</c:v>
              </c:pt>
              <c:pt idx="124">
                <c:v>26.709821842933859</c:v>
              </c:pt>
              <c:pt idx="125">
                <c:v>26.618703570439035</c:v>
              </c:pt>
              <c:pt idx="126">
                <c:v>26.528570632728403</c:v>
              </c:pt>
              <c:pt idx="127">
                <c:v>26.439405398184931</c:v>
              </c:pt>
              <c:pt idx="128">
                <c:v>26.35119067375458</c:v>
              </c:pt>
              <c:pt idx="129">
                <c:v>26.263909691019816</c:v>
              </c:pt>
              <c:pt idx="130">
                <c:v>26.177546092809838</c:v>
              </c:pt>
              <c:pt idx="131">
                <c:v>26.092083920323255</c:v>
              </c:pt>
              <c:pt idx="132">
                <c:v>26.00750760074019</c:v>
              </c:pt>
              <c:pt idx="133">
                <c:v>25.923801935301981</c:v>
              </c:pt>
              <c:pt idx="134">
                <c:v>25.840952087837739</c:v>
              </c:pt>
              <c:pt idx="135">
                <c:v>25.758943573718163</c:v>
              </c:pt>
              <c:pt idx="136">
                <c:v>25.677762249217853</c:v>
              </c:pt>
              <c:pt idx="137">
                <c:v>25.597394301268434</c:v>
              </c:pt>
              <c:pt idx="138">
                <c:v>25.517826237585648</c:v>
              </c:pt>
              <c:pt idx="139">
                <c:v>25.439044877154352</c:v>
              </c:pt>
              <c:pt idx="140">
                <c:v>25.361037341056196</c:v>
              </c:pt>
              <c:pt idx="141">
                <c:v>25.283791043625541</c:v>
              </c:pt>
              <c:pt idx="142">
                <c:v>25.207293683919744</c:v>
              </c:pt>
              <c:pt idx="143">
                <c:v>25.131533237490746</c:v>
              </c:pt>
              <c:pt idx="144">
                <c:v>25.056497948445468</c:v>
              </c:pt>
              <c:pt idx="145">
                <c:v>24.982176321783044</c:v>
              </c:pt>
              <c:pt idx="146">
                <c:v>24.908557115997645</c:v>
              </c:pt>
              <c:pt idx="147">
                <c:v>24.835629335936048</c:v>
              </c:pt>
              <c:pt idx="148">
                <c:v>24.76338222589958</c:v>
              </c:pt>
              <c:pt idx="149">
                <c:v>24.69180526298074</c:v>
              </c:pt>
              <c:pt idx="150">
                <c:v>24.620888150625031</c:v>
              </c:pt>
              <c:pt idx="151">
                <c:v>24.55062081240909</c:v>
              </c:pt>
              <c:pt idx="152">
                <c:v>24.480993386026562</c:v>
              </c:pt>
              <c:pt idx="153">
                <c:v>24.411996217473614</c:v>
              </c:pt>
              <c:pt idx="154">
                <c:v>24.343619855426272</c:v>
              </c:pt>
              <c:pt idx="155">
                <c:v>24.275855045802114</c:v>
              </c:pt>
              <c:pt idx="156">
                <c:v>24.208692726499315</c:v>
              </c:pt>
              <c:pt idx="157">
                <c:v>24.142124022306113</c:v>
              </c:pt>
              <c:pt idx="158">
                <c:v>24.076140239974364</c:v>
              </c:pt>
              <c:pt idx="159">
                <c:v>24.010732863450833</c:v>
              </c:pt>
              <c:pt idx="160">
                <c:v>23.945893549260372</c:v>
              </c:pt>
              <c:pt idx="161">
                <c:v>23.881614122035273</c:v>
              </c:pt>
              <c:pt idx="162">
                <c:v>23.817886570185347</c:v>
              </c:pt>
              <c:pt idx="163">
                <c:v>23.754703041703561</c:v>
              </c:pt>
              <c:pt idx="164">
                <c:v>23.692055840102185</c:v>
              </c:pt>
              <c:pt idx="165">
                <c:v>23.629937420474747</c:v>
              </c:pt>
              <c:pt idx="166">
                <c:v>23.568340385679178</c:v>
              </c:pt>
              <c:pt idx="167">
                <c:v>23.507257482637744</c:v>
              </c:pt>
              <c:pt idx="168">
                <c:v>23.446681598749613</c:v>
              </c:pt>
              <c:pt idx="169">
                <c:v>23.386605758412024</c:v>
              </c:pt>
              <c:pt idx="170">
                <c:v>23.327023119646135</c:v>
              </c:pt>
              <c:pt idx="171">
                <c:v>23.267926970823908</c:v>
              </c:pt>
              <c:pt idx="172">
                <c:v>23.209310727492472</c:v>
              </c:pt>
              <c:pt idx="173">
                <c:v>23.151167929292505</c:v>
              </c:pt>
              <c:pt idx="174">
                <c:v>23.09349223696741</c:v>
              </c:pt>
              <c:pt idx="175">
                <c:v>23.036277429460117</c:v>
              </c:pt>
              <c:pt idx="176">
                <c:v>22.979517401094505</c:v>
              </c:pt>
              <c:pt idx="177">
                <c:v>22.923206158838536</c:v>
              </c:pt>
              <c:pt idx="178">
                <c:v>22.867337819646309</c:v>
              </c:pt>
              <c:pt idx="179">
                <c:v>22.811906607876384</c:v>
              </c:pt>
              <c:pt idx="180">
                <c:v>22.756906852783789</c:v>
              </c:pt>
              <c:pt idx="181">
                <c:v>22.702332986083196</c:v>
              </c:pt>
              <c:pt idx="182">
                <c:v>22.648179539580994</c:v>
              </c:pt>
              <c:pt idx="183">
                <c:v>22.594441142873865</c:v>
              </c:pt>
              <c:pt idx="184">
                <c:v>22.541112521111703</c:v>
              </c:pt>
              <c:pt idx="185">
                <c:v>22.48818849282279</c:v>
              </c:pt>
              <c:pt idx="186">
                <c:v>22.435663967799158</c:v>
              </c:pt>
              <c:pt idx="187">
                <c:v>22.383533945040178</c:v>
              </c:pt>
              <c:pt idx="188">
                <c:v>22.331793510752501</c:v>
              </c:pt>
              <c:pt idx="189">
                <c:v>22.28043783640457</c:v>
              </c:pt>
              <c:pt idx="190">
                <c:v>22.229462176833852</c:v>
              </c:pt>
              <c:pt idx="191">
                <c:v>22.178861868405232</c:v>
              </c:pt>
              <c:pt idx="192">
                <c:v>22.128632327218856</c:v>
              </c:pt>
              <c:pt idx="193">
                <c:v>22.078769047365892</c:v>
              </c:pt>
              <c:pt idx="194">
                <c:v>22.02926759923071</c:v>
              </c:pt>
              <c:pt idx="195">
                <c:v>21.980123627838022</c:v>
              </c:pt>
              <c:pt idx="196">
                <c:v>21.931332851243543</c:v>
              </c:pt>
              <c:pt idx="197">
                <c:v>21.882891058966923</c:v>
              </c:pt>
              <c:pt idx="198">
                <c:v>21.834794110465513</c:v>
              </c:pt>
              <c:pt idx="199">
                <c:v>21.787037933647841</c:v>
              </c:pt>
              <c:pt idx="200">
                <c:v>21.739618523425477</c:v>
              </c:pt>
              <c:pt idx="201">
                <c:v>21.692531940302203</c:v>
              </c:pt>
              <c:pt idx="202">
                <c:v>21.64577430899929</c:v>
              </c:pt>
              <c:pt idx="203">
                <c:v>21.599341817115864</c:v>
              </c:pt>
              <c:pt idx="204">
                <c:v>21.553230713823233</c:v>
              </c:pt>
              <c:pt idx="205">
                <c:v>21.507437308592223</c:v>
              </c:pt>
              <c:pt idx="206">
                <c:v>21.461957969952515</c:v>
              </c:pt>
              <c:pt idx="207">
                <c:v>21.416789124283035</c:v>
              </c:pt>
              <c:pt idx="208">
                <c:v>21.371927254632471</c:v>
              </c:pt>
              <c:pt idx="209">
                <c:v>21.327368899569098</c:v>
              </c:pt>
              <c:pt idx="210">
                <c:v>21.283110652058944</c:v>
              </c:pt>
              <c:pt idx="211">
                <c:v>21.239149158371593</c:v>
              </c:pt>
              <c:pt idx="212">
                <c:v>21.195481117012722</c:v>
              </c:pt>
              <c:pt idx="213">
                <c:v>21.152103277682691</c:v>
              </c:pt>
              <c:pt idx="214">
                <c:v>21.109012440260368</c:v>
              </c:pt>
              <c:pt idx="215">
                <c:v>21.066205453811516</c:v>
              </c:pt>
              <c:pt idx="216">
                <c:v>21.023679215621002</c:v>
              </c:pt>
              <c:pt idx="217">
                <c:v>20.981430670248216</c:v>
              </c:pt>
              <c:pt idx="218">
                <c:v>20.939456808604977</c:v>
              </c:pt>
              <c:pt idx="219">
                <c:v>20.897754667055327</c:v>
              </c:pt>
              <c:pt idx="220">
                <c:v>20.85632132653663</c:v>
              </c:pt>
              <c:pt idx="221">
                <c:v>20.815153911701316</c:v>
              </c:pt>
              <c:pt idx="222">
                <c:v>20.774249590078753</c:v>
              </c:pt>
              <c:pt idx="223">
                <c:v>20.733605571256707</c:v>
              </c:pt>
              <c:pt idx="224">
                <c:v>20.693219106081752</c:v>
              </c:pt>
              <c:pt idx="225">
                <c:v>20.653087485878245</c:v>
              </c:pt>
              <c:pt idx="226">
                <c:v>20.613208041685262</c:v>
              </c:pt>
              <c:pt idx="227">
                <c:v>20.57357814351105</c:v>
              </c:pt>
              <c:pt idx="228">
                <c:v>20.534195199604522</c:v>
              </c:pt>
              <c:pt idx="229">
                <c:v>20.495056655743305</c:v>
              </c:pt>
              <c:pt idx="230">
                <c:v>20.456159994537959</c:v>
              </c:pt>
            </c:numLit>
          </c:yVal>
          <c:smooth val="1"/>
          <c:extLst>
            <c:ext xmlns:c16="http://schemas.microsoft.com/office/drawing/2014/chart" uri="{C3380CC4-5D6E-409C-BE32-E72D297353CC}">
              <c16:uniqueId val="{00000002-E47F-B74A-8D74-9A1C5F0BA9B5}"/>
            </c:ext>
          </c:extLst>
        </c:ser>
        <c:dLbls>
          <c:showLegendKey val="0"/>
          <c:showVal val="0"/>
          <c:showCatName val="0"/>
          <c:showSerName val="0"/>
          <c:showPercent val="0"/>
          <c:showBubbleSize val="0"/>
        </c:dLbls>
        <c:axId val="48650112"/>
        <c:axId val="48672768"/>
      </c:scatterChart>
      <c:valAx>
        <c:axId val="48672768"/>
        <c:scaling>
          <c:orientation val="minMax"/>
          <c:max val="125"/>
          <c:min val="15"/>
        </c:scaling>
        <c:delete val="0"/>
        <c:axPos val="l"/>
        <c:majorGridlines>
          <c:spPr>
            <a:ln w="9525">
              <a:solidFill>
                <a:srgbClr val="D9D9D9"/>
              </a:solidFill>
              <a:prstDash val="solid"/>
            </a:ln>
          </c:spPr>
        </c:majorGridlines>
        <c:title>
          <c:tx>
            <c:rich>
              <a:bodyPr/>
              <a:lstStyle/>
              <a:p>
                <a:r>
                  <a:rPr lang="en-US" sz="900">
                    <a:solidFill>
                      <a:srgbClr val="333333"/>
                    </a:solidFill>
                  </a:rPr>
                  <a:t>Characteristic impedance, Z₀ (</a:t>
                </a:r>
                <a:r>
                  <a:rPr lang="el-GR" sz="900">
                    <a:solidFill>
                      <a:srgbClr val="333333"/>
                    </a:solidFill>
                  </a:rPr>
                  <a:t>Ω)</a:t>
                </a:r>
              </a:p>
            </c:rich>
          </c:tx>
          <c:overlay val="0"/>
        </c:title>
        <c:numFmt formatCode="0" sourceLinked="1"/>
        <c:majorTickMark val="none"/>
        <c:minorTickMark val="none"/>
        <c:tickLblPos val="nextTo"/>
        <c:spPr>
          <a:ln w="9525">
            <a:solidFill>
              <a:srgbClr val="333333"/>
            </a:solidFill>
            <a:prstDash val="solid"/>
          </a:ln>
        </c:spPr>
        <c:txPr>
          <a:bodyPr anchorCtr="1"/>
          <a:lstStyle/>
          <a:p>
            <a:pPr>
              <a:defRPr sz="825">
                <a:solidFill>
                  <a:srgbClr val="333333"/>
                </a:solidFill>
              </a:defRPr>
            </a:pPr>
            <a:endParaRPr lang="en-JP"/>
          </a:p>
        </c:txPr>
        <c:crossAx val="48650112"/>
        <c:crosses val="autoZero"/>
        <c:crossBetween val="midCat"/>
        <c:majorUnit val="20"/>
      </c:valAx>
      <c:valAx>
        <c:axId val="48650112"/>
        <c:scaling>
          <c:orientation val="minMax"/>
          <c:max val="60"/>
          <c:min val="2.5"/>
        </c:scaling>
        <c:delete val="0"/>
        <c:axPos val="b"/>
        <c:majorGridlines>
          <c:spPr>
            <a:ln w="9525">
              <a:solidFill>
                <a:srgbClr val="D9D9D9"/>
              </a:solidFill>
              <a:prstDash val="solid"/>
            </a:ln>
          </c:spPr>
        </c:majorGridlines>
        <c:title>
          <c:tx>
            <c:rich>
              <a:bodyPr/>
              <a:lstStyle/>
              <a:p>
                <a:r>
                  <a:rPr lang="en-US" sz="900">
                    <a:solidFill>
                      <a:srgbClr val="333333"/>
                    </a:solidFill>
                  </a:rPr>
                  <a:t>Stub length (µm)</a:t>
                </a:r>
              </a:p>
            </c:rich>
          </c:tx>
          <c:overlay val="0"/>
        </c:title>
        <c:numFmt formatCode="General" sourceLinked="1"/>
        <c:majorTickMark val="none"/>
        <c:minorTickMark val="none"/>
        <c:tickLblPos val="nextTo"/>
        <c:spPr>
          <a:ln w="9525">
            <a:solidFill>
              <a:srgbClr val="333333"/>
            </a:solidFill>
            <a:prstDash val="solid"/>
          </a:ln>
        </c:spPr>
        <c:txPr>
          <a:bodyPr anchorCtr="1"/>
          <a:lstStyle/>
          <a:p>
            <a:pPr>
              <a:defRPr sz="825">
                <a:solidFill>
                  <a:srgbClr val="333333"/>
                </a:solidFill>
              </a:defRPr>
            </a:pPr>
            <a:endParaRPr lang="en-JP"/>
          </a:p>
        </c:txPr>
        <c:crossAx val="48672768"/>
        <c:crosses val="autoZero"/>
        <c:crossBetween val="midCat"/>
        <c:majorUnit val="10"/>
      </c:valAx>
      <c:spPr>
        <a:solidFill>
          <a:srgbClr val="FFFFFF"/>
        </a:solidFill>
        <a:ln w="6668">
          <a:solidFill>
            <a:srgbClr val="B5B5B5"/>
          </a:solidFill>
          <a:prstDash val="solid"/>
        </a:ln>
      </c:spPr>
    </c:plotArea>
    <c:legend>
      <c:legendPos val="t"/>
      <c:overlay val="0"/>
      <c:spPr>
        <a:noFill/>
      </c:spPr>
      <c:txPr>
        <a:bodyPr anchorCtr="1"/>
        <a:lstStyle/>
        <a:p>
          <a:pPr>
            <a:defRPr sz="900">
              <a:solidFill>
                <a:srgbClr val="333333"/>
              </a:solidFill>
            </a:defRPr>
          </a:pPr>
          <a:endParaRPr lang="en-JP"/>
        </a:p>
      </c:txPr>
    </c:legend>
    <c:plotVisOnly val="1"/>
    <c:dispBlanksAs val="zero"/>
    <c:showDLblsOverMax val="1"/>
  </c:chart>
  <c:spPr>
    <a:solidFill>
      <a:srgbClr val="FFFFFF"/>
    </a:solid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Paper experiment</c:v>
          </c:tx>
          <c:spPr>
            <a:ln w="28575">
              <a:solidFill>
                <a:srgbClr val="F000F0"/>
              </a:solidFill>
              <a:prstDash val="solid"/>
            </a:ln>
          </c:spPr>
          <c:marker>
            <c:symbol val="none"/>
          </c:marker>
          <c:xVal>
            <c:numLit>
              <c:formatCode>General</c:formatCode>
              <c:ptCount val="281"/>
              <c:pt idx="0">
                <c:v>2</c:v>
              </c:pt>
              <c:pt idx="1">
                <c:v>2.1509310547101044</c:v>
              </c:pt>
              <c:pt idx="2">
                <c:v>2.2628206870375158</c:v>
              </c:pt>
              <c:pt idx="3">
                <c:v>2.3319610775521085</c:v>
              </c:pt>
              <c:pt idx="4">
                <c:v>2.3819078953421648</c:v>
              </c:pt>
              <c:pt idx="5">
                <c:v>2.4469042303048849</c:v>
              </c:pt>
              <c:pt idx="6">
                <c:v>2.4909621363406558</c:v>
              </c:pt>
              <c:pt idx="7">
                <c:v>2.5489789802802982</c:v>
              </c:pt>
              <c:pt idx="8">
                <c:v>2.6159382784707326</c:v>
              </c:pt>
              <c:pt idx="9">
                <c:v>2.7439679410261735</c:v>
              </c:pt>
              <c:pt idx="10">
                <c:v>2.7891163821884528</c:v>
              </c:pt>
              <c:pt idx="11">
                <c:v>2.8669810978573937</c:v>
              </c:pt>
              <c:pt idx="12">
                <c:v>2.9049319851135778</c:v>
              </c:pt>
              <c:pt idx="13">
                <c:v>3.0139862040409264</c:v>
              </c:pt>
              <c:pt idx="14">
                <c:v>3.0800730741301541</c:v>
              </c:pt>
              <c:pt idx="15">
                <c:v>3.1679707791763949</c:v>
              </c:pt>
              <c:pt idx="16">
                <c:v>3.3609967546234141</c:v>
              </c:pt>
              <c:pt idx="17">
                <c:v>3.4410425626165129</c:v>
              </c:pt>
              <c:pt idx="18">
                <c:v>3.5729981736985246</c:v>
              </c:pt>
              <c:pt idx="19">
                <c:v>3.7730036180974791</c:v>
              </c:pt>
              <c:pt idx="20">
                <c:v>3.8700618844198136</c:v>
              </c:pt>
              <c:pt idx="21">
                <c:v>3.9141197904555849</c:v>
              </c:pt>
              <c:pt idx="22">
                <c:v>3.9549060690406899</c:v>
              </c:pt>
              <c:pt idx="23">
                <c:v>4.0251369946817901</c:v>
              </c:pt>
              <c:pt idx="24">
                <c:v>4.06003436151261</c:v>
              </c:pt>
              <c:pt idx="25">
                <c:v>4.0968946695000019</c:v>
              </c:pt>
              <c:pt idx="26">
                <c:v>4.1549115355107862</c:v>
              </c:pt>
              <c:pt idx="27">
                <c:v>4.202022961971922</c:v>
              </c:pt>
              <c:pt idx="28">
                <c:v>4.3339785730539342</c:v>
              </c:pt>
              <c:pt idx="29">
                <c:v>4.4039913916697326</c:v>
              </c:pt>
              <c:pt idx="30">
                <c:v>4.4388887364294103</c:v>
              </c:pt>
              <c:pt idx="31">
                <c:v>4.4659341841359463</c:v>
              </c:pt>
              <c:pt idx="32">
                <c:v>4.5169715591236521</c:v>
              </c:pt>
              <c:pt idx="33">
                <c:v>4.62209982952443</c:v>
              </c:pt>
              <c:pt idx="34">
                <c:v>4.64696420697795</c:v>
              </c:pt>
              <c:pt idx="35">
                <c:v>4.7339894839229846</c:v>
              </c:pt>
              <c:pt idx="36">
                <c:v>4.752964905479935</c:v>
              </c:pt>
              <c:pt idx="37">
                <c:v>4.762997894857234</c:v>
              </c:pt>
              <c:pt idx="38">
                <c:v>4.7789198180599621</c:v>
              </c:pt>
              <c:pt idx="39">
                <c:v>4.7920063278626266</c:v>
              </c:pt>
              <c:pt idx="40">
                <c:v>4.8149077200172901</c:v>
              </c:pt>
              <c:pt idx="41">
                <c:v>4.8890645941849611</c:v>
              </c:pt>
              <c:pt idx="42">
                <c:v>4.9069494806154035</c:v>
              </c:pt>
              <c:pt idx="43">
                <c:v>4.9239619389446396</c:v>
              </c:pt>
              <c:pt idx="44">
                <c:v>4.9409743972738731</c:v>
              </c:pt>
              <c:pt idx="45">
                <c:v>4.9579868556031093</c:v>
              </c:pt>
              <c:pt idx="46">
                <c:v>4.9758717420335525</c:v>
              </c:pt>
              <c:pt idx="47">
                <c:v>5.0020447616388815</c:v>
              </c:pt>
              <c:pt idx="48">
                <c:v>5.014040736315037</c:v>
              </c:pt>
              <c:pt idx="49">
                <c:v>5.0238556186670369</c:v>
              </c:pt>
              <c:pt idx="50">
                <c:v>5.0399956268239237</c:v>
              </c:pt>
              <c:pt idx="51">
                <c:v>5.0489380810747155</c:v>
              </c:pt>
              <c:pt idx="52">
                <c:v>5.0609340557508711</c:v>
              </c:pt>
              <c:pt idx="53">
                <c:v>5.0698764879305216</c:v>
              </c:pt>
              <c:pt idx="54">
                <c:v>5.0829629977331869</c:v>
              </c:pt>
              <c:pt idx="55">
                <c:v>5.0919054519839779</c:v>
              </c:pt>
              <c:pt idx="56">
                <c:v>5.1030289764877859</c:v>
              </c:pt>
              <c:pt idx="57">
                <c:v>5.1119714307385777</c:v>
              </c:pt>
              <c:pt idx="58">
                <c:v>5.1259303686424493</c:v>
              </c:pt>
              <c:pt idx="59">
                <c:v>5.1350909299185439</c:v>
              </c:pt>
              <c:pt idx="60">
                <c:v>5.1470868825235581</c:v>
              </c:pt>
              <c:pt idx="61">
                <c:v>5.156029336774349</c:v>
              </c:pt>
              <c:pt idx="62">
                <c:v>5.1649717689539996</c:v>
              </c:pt>
              <c:pt idx="63">
                <c:v>5.178058278756664</c:v>
              </c:pt>
              <c:pt idx="64">
                <c:v>5.1900542534328205</c:v>
              </c:pt>
              <c:pt idx="65">
                <c:v>5.202922656210184</c:v>
              </c:pt>
              <c:pt idx="66">
                <c:v>5.2120831954151345</c:v>
              </c:pt>
              <c:pt idx="67">
                <c:v>5.2221161847924353</c:v>
              </c:pt>
              <c:pt idx="68">
                <c:v>5.2330216243420846</c:v>
              </c:pt>
              <c:pt idx="69">
                <c:v>5.2430546137193836</c:v>
              </c:pt>
              <c:pt idx="70">
                <c:v>5.255922994425605</c:v>
              </c:pt>
              <c:pt idx="71">
                <c:v>5.2650835557016986</c:v>
              </c:pt>
              <c:pt idx="72">
                <c:v>5.277079530377855</c:v>
              </c:pt>
              <c:pt idx="73">
                <c:v>5.2899479331552177</c:v>
              </c:pt>
              <c:pt idx="74">
                <c:v>5.2991084723601691</c:v>
              </c:pt>
              <c:pt idx="75">
                <c:v>5.3069603914844539</c:v>
              </c:pt>
              <c:pt idx="76">
                <c:v>5.3169933808617547</c:v>
              </c:pt>
              <c:pt idx="77">
                <c:v>5.328989333466768</c:v>
              </c:pt>
              <c:pt idx="78">
                <c:v>5.3390223228440687</c:v>
              </c:pt>
              <c:pt idx="79">
                <c:v>5.3510182975202243</c:v>
              </c:pt>
              <c:pt idx="80">
                <c:v>5.3641048073228896</c:v>
              </c:pt>
              <c:pt idx="81">
                <c:v>5.380899158626824</c:v>
              </c:pt>
              <c:pt idx="82">
                <c:v>5.3970391667837108</c:v>
              </c:pt>
              <c:pt idx="83">
                <c:v>5.4140516251129469</c:v>
              </c:pt>
              <c:pt idx="84">
                <c:v>5.4271381349156105</c:v>
              </c:pt>
              <c:pt idx="85">
                <c:v>5.4570189960222084</c:v>
              </c:pt>
              <c:pt idx="86">
                <c:v>5.4851550009263947</c:v>
              </c:pt>
              <c:pt idx="87">
                <c:v>5.5139453048353442</c:v>
              </c:pt>
              <c:pt idx="88">
                <c:v>5.5320482982910866</c:v>
              </c:pt>
              <c:pt idx="89">
                <c:v>5.544044272967243</c:v>
              </c:pt>
              <c:pt idx="90">
                <c:v>5.5638921446965419</c:v>
              </c:pt>
              <c:pt idx="91">
                <c:v>5.5839581234511426</c:v>
              </c:pt>
              <c:pt idx="92">
                <c:v>5.6129665343853921</c:v>
              </c:pt>
              <c:pt idx="93">
                <c:v>5.6480820082415137</c:v>
              </c:pt>
              <c:pt idx="94">
                <c:v>5.6670574518696055</c:v>
              </c:pt>
              <c:pt idx="95">
                <c:v>5.6838517811023976</c:v>
              </c:pt>
              <c:pt idx="96">
                <c:v>5.7008642615027751</c:v>
              </c:pt>
              <c:pt idx="97">
                <c:v>5.7139507492342974</c:v>
              </c:pt>
              <c:pt idx="98">
                <c:v>5.7270372590369636</c:v>
              </c:pt>
              <c:pt idx="99">
                <c:v>5.7401237688396272</c:v>
              </c:pt>
              <c:pt idx="100">
                <c:v>5.7521197435157845</c:v>
              </c:pt>
              <c:pt idx="101">
                <c:v>5.7700046299462251</c:v>
              </c:pt>
              <c:pt idx="102">
                <c:v>5.7830911397488896</c:v>
              </c:pt>
              <c:pt idx="103">
                <c:v>5.7970500776527611</c:v>
              </c:pt>
              <c:pt idx="104">
                <c:v>5.8110090155566319</c:v>
              </c:pt>
              <c:pt idx="105">
                <c:v>5.8260585106581537</c:v>
              </c:pt>
              <c:pt idx="106">
                <c:v>5.8360915000354527</c:v>
              </c:pt>
              <c:pt idx="107">
                <c:v>5.8480874526404678</c:v>
              </c:pt>
              <c:pt idx="108">
                <c:v>5.8609558554178314</c:v>
              </c:pt>
              <c:pt idx="109">
                <c:v>5.8701164166939241</c:v>
              </c:pt>
              <c:pt idx="110">
                <c:v>5.8829848194712877</c:v>
              </c:pt>
              <c:pt idx="111">
                <c:v>5.8980342925016664</c:v>
              </c:pt>
              <c:pt idx="112">
                <c:v>5.9119932304055371</c:v>
              </c:pt>
              <c:pt idx="113">
                <c:v>5.9220262197828379</c:v>
              </c:pt>
              <c:pt idx="114">
                <c:v>5.9379481429855652</c:v>
              </c:pt>
              <c:pt idx="115">
                <c:v>5.9521251879147385</c:v>
              </c:pt>
              <c:pt idx="116">
                <c:v>5.9719730596440366</c:v>
              </c:pt>
              <c:pt idx="117">
                <c:v>5.9870225326744144</c:v>
              </c:pt>
              <c:pt idx="118">
                <c:v>6.0110144820267291</c:v>
              </c:pt>
              <c:pt idx="119">
                <c:v>6.0291174754824715</c:v>
              </c:pt>
              <c:pt idx="120">
                <c:v>6.0731753815182428</c:v>
              </c:pt>
              <c:pt idx="121">
                <c:v>6.0921508251463354</c:v>
              </c:pt>
              <c:pt idx="122">
                <c:v>6.120941129055284</c:v>
              </c:pt>
              <c:pt idx="123">
                <c:v>6.1499495620606766</c:v>
              </c:pt>
              <c:pt idx="124">
                <c:v>6.1750320244683552</c:v>
              </c:pt>
              <c:pt idx="125">
                <c:v>6.1970609885218115</c:v>
              </c:pt>
              <c:pt idx="126">
                <c:v>6.2319583332814892</c:v>
              </c:pt>
              <c:pt idx="127">
                <c:v>6.2559502605626607</c:v>
              </c:pt>
              <c:pt idx="128">
                <c:v>6.2729627188918959</c:v>
              </c:pt>
              <c:pt idx="129">
                <c:v>6.2860492286945604</c:v>
              </c:pt>
              <c:pt idx="130">
                <c:v>6.2989176314719231</c:v>
              </c:pt>
              <c:pt idx="131">
                <c:v>6.3159300898011583</c:v>
              </c:pt>
              <c:pt idx="132">
                <c:v>6.3379590538546164</c:v>
              </c:pt>
              <c:pt idx="133">
                <c:v>6.3630415162622942</c:v>
              </c:pt>
              <c:pt idx="134">
                <c:v>6.3761280260649595</c:v>
              </c:pt>
              <c:pt idx="135">
                <c:v>6.3889964288423222</c:v>
              </c:pt>
              <c:pt idx="136">
                <c:v>6.4009923814473373</c:v>
              </c:pt>
              <c:pt idx="137">
                <c:v>6.414951319351208</c:v>
              </c:pt>
              <c:pt idx="138">
                <c:v>6.4409062319312351</c:v>
              </c:pt>
              <c:pt idx="139">
                <c:v>6.4740587204884994</c:v>
              </c:pt>
              <c:pt idx="140">
                <c:v>6.486927123265863</c:v>
              </c:pt>
              <c:pt idx="141">
                <c:v>6.5069931020204637</c:v>
              </c:pt>
              <c:pt idx="142">
                <c:v>6.5360015129547131</c:v>
              </c:pt>
              <c:pt idx="143">
                <c:v>6.5519234361574412</c:v>
              </c:pt>
              <c:pt idx="144">
                <c:v>6.5789688838639764</c:v>
              </c:pt>
              <c:pt idx="145">
                <c:v>6.5951089140920054</c:v>
              </c:pt>
              <c:pt idx="146">
                <c:v>6.6149567858213043</c:v>
              </c:pt>
              <c:pt idx="147">
                <c:v>6.6341503364746979</c:v>
              </c:pt>
              <c:pt idx="148">
                <c:v>6.6550887433305048</c:v>
              </c:pt>
              <c:pt idx="149">
                <c:v>6.665994160809011</c:v>
              </c:pt>
              <c:pt idx="150">
                <c:v>6.6751547220851037</c:v>
              </c:pt>
              <c:pt idx="151">
                <c:v>6.6849696044371028</c:v>
              </c:pt>
              <c:pt idx="152">
                <c:v>6.6980561142397672</c:v>
              </c:pt>
              <c:pt idx="153">
                <c:v>6.7089615317182734</c:v>
              </c:pt>
              <c:pt idx="154">
                <c:v>6.7189945210955742</c:v>
              </c:pt>
              <c:pt idx="155">
                <c:v>6.7270645251740175</c:v>
              </c:pt>
              <c:pt idx="156">
                <c:v>6.7410234630778891</c:v>
              </c:pt>
              <c:pt idx="157">
                <c:v>6.7530194377540447</c:v>
              </c:pt>
              <c:pt idx="158">
                <c:v>6.7711224312097889</c:v>
              </c:pt>
              <c:pt idx="159">
                <c:v>6.7839908339871515</c:v>
              </c:pt>
              <c:pt idx="160">
                <c:v>6.8010032923163868</c:v>
              </c:pt>
              <c:pt idx="161">
                <c:v>6.8140898021190512</c:v>
              </c:pt>
              <c:pt idx="162">
                <c:v>6.824122791496352</c:v>
              </c:pt>
              <c:pt idx="163">
                <c:v>6.8400447146990793</c:v>
              </c:pt>
              <c:pt idx="164">
                <c:v>6.8550941877294589</c:v>
              </c:pt>
              <c:pt idx="165">
                <c:v>6.8710161109321861</c:v>
              </c:pt>
              <c:pt idx="166">
                <c:v>6.8849750488360568</c:v>
              </c:pt>
              <c:pt idx="167">
                <c:v>6.912020496542592</c:v>
              </c:pt>
              <c:pt idx="168">
                <c:v>6.9371029589502715</c:v>
              </c:pt>
              <c:pt idx="169">
                <c:v>6.9610949083025853</c:v>
              </c:pt>
              <c:pt idx="170">
                <c:v>6.9881403560091204</c:v>
              </c:pt>
              <c:pt idx="171">
                <c:v>7.012132283290291</c:v>
              </c:pt>
              <c:pt idx="172">
                <c:v>7.0280541844218778</c:v>
              </c:pt>
              <c:pt idx="173">
                <c:v>7.0411406942245414</c:v>
              </c:pt>
              <c:pt idx="174">
                <c:v>7.0609885659538403</c:v>
              </c:pt>
              <c:pt idx="175">
                <c:v>7.069931020204633</c:v>
              </c:pt>
              <c:pt idx="176">
                <c:v>7.0869434785338683</c:v>
              </c:pt>
              <c:pt idx="177">
                <c:v>7.0969764679111682</c:v>
              </c:pt>
              <c:pt idx="178">
                <c:v>7.1100629777138318</c:v>
              </c:pt>
              <c:pt idx="179">
                <c:v>7.1421249090734475</c:v>
              </c:pt>
              <c:pt idx="180">
                <c:v>7.1530303486230959</c:v>
              </c:pt>
              <c:pt idx="181">
                <c:v>7.165026301228111</c:v>
              </c:pt>
              <c:pt idx="182">
                <c:v>7.1789852391319817</c:v>
              </c:pt>
              <c:pt idx="183">
                <c:v>7.1920717489346462</c:v>
              </c:pt>
              <c:pt idx="184">
                <c:v>7.2180266615146742</c:v>
              </c:pt>
              <c:pt idx="185">
                <c:v>7.2311131713173378</c:v>
              </c:pt>
              <c:pt idx="186">
                <c:v>7.2439815740947004</c:v>
              </c:pt>
              <c:pt idx="187">
                <c:v>7.2581586190238738</c:v>
              </c:pt>
              <c:pt idx="188">
                <c:v>7.2721175569277445</c:v>
              </c:pt>
              <c:pt idx="189">
                <c:v>7.2841135095327596</c:v>
              </c:pt>
              <c:pt idx="190">
                <c:v>7.296109484208916</c:v>
              </c:pt>
              <c:pt idx="191">
                <c:v>7.3061424735862159</c:v>
              </c:pt>
              <c:pt idx="192">
                <c:v>7.3190108763635786</c:v>
              </c:pt>
              <c:pt idx="193">
                <c:v>7.3310068289685937</c:v>
              </c:pt>
              <c:pt idx="194">
                <c:v>7.3410398183458945</c:v>
              </c:pt>
              <c:pt idx="195">
                <c:v>7.3491098444954792</c:v>
              </c:pt>
              <c:pt idx="196">
                <c:v>7.3611057971004934</c:v>
              </c:pt>
              <c:pt idx="197">
                <c:v>7.3700482513512853</c:v>
              </c:pt>
              <c:pt idx="198">
                <c:v>7.3831347611539497</c:v>
              </c:pt>
              <c:pt idx="199">
                <c:v>7.3960031639313133</c:v>
              </c:pt>
              <c:pt idx="200">
                <c:v>7.4040731680097567</c:v>
              </c:pt>
              <c:pt idx="201">
                <c:v>7.4130156222605494</c:v>
              </c:pt>
              <c:pt idx="202">
                <c:v>7.4271926671897219</c:v>
              </c:pt>
              <c:pt idx="203">
                <c:v>7.4361351214405129</c:v>
              </c:pt>
              <c:pt idx="204">
                <c:v>7.4450775536201634</c:v>
              </c:pt>
              <c:pt idx="205">
                <c:v>7.4562011001951136</c:v>
              </c:pt>
              <c:pt idx="206">
                <c:v>7.4660159604759704</c:v>
              </c:pt>
              <c:pt idx="207">
                <c:v>7.4780119351521259</c:v>
              </c:pt>
              <c:pt idx="208">
                <c:v>7.4880449245294267</c:v>
              </c:pt>
              <c:pt idx="209">
                <c:v>7.500040899205584</c:v>
              </c:pt>
              <c:pt idx="210">
                <c:v>7.5089833313852328</c:v>
              </c:pt>
              <c:pt idx="211">
                <c:v>7.5209793060613901</c:v>
              </c:pt>
              <c:pt idx="212">
                <c:v>7.5351563509905626</c:v>
              </c:pt>
              <c:pt idx="213">
                <c:v>7.5491152888944333</c:v>
              </c:pt>
              <c:pt idx="214">
                <c:v>7.5622017986970977</c:v>
              </c:pt>
              <c:pt idx="215">
                <c:v>7.5731072161756039</c:v>
              </c:pt>
              <c:pt idx="216">
                <c:v>7.5870661540794755</c:v>
              </c:pt>
              <c:pt idx="217">
                <c:v>7.605169169606361</c:v>
              </c:pt>
              <c:pt idx="218">
                <c:v>7.6171651222113761</c:v>
              </c:pt>
              <c:pt idx="219">
                <c:v>7.6400665143660387</c:v>
              </c:pt>
              <c:pt idx="220">
                <c:v>7.6509719318445448</c:v>
              </c:pt>
              <c:pt idx="221">
                <c:v>7.6651489988448596</c:v>
              </c:pt>
              <c:pt idx="222">
                <c:v>7.6780173795510809</c:v>
              </c:pt>
              <c:pt idx="223">
                <c:v>7.7050628272576169</c:v>
              </c:pt>
              <c:pt idx="224">
                <c:v>7.7181493370602805</c:v>
              </c:pt>
              <c:pt idx="225">
                <c:v>7.7301453117364378</c:v>
              </c:pt>
              <c:pt idx="226">
                <c:v>7.757190759442973</c:v>
              </c:pt>
              <c:pt idx="227">
                <c:v>7.7809645796988427</c:v>
              </c:pt>
              <c:pt idx="228">
                <c:v>7.8071375993041716</c:v>
              </c:pt>
              <c:pt idx="229">
                <c:v>7.8320019546865485</c:v>
              </c:pt>
              <c:pt idx="230">
                <c:v>7.8420349440638493</c:v>
              </c:pt>
              <c:pt idx="231">
                <c:v>7.8520679334411492</c:v>
              </c:pt>
              <c:pt idx="232">
                <c:v>7.86210092281845</c:v>
              </c:pt>
              <c:pt idx="233">
                <c:v>7.8760598607223207</c:v>
              </c:pt>
              <c:pt idx="234">
                <c:v>7.8871833852261295</c:v>
              </c:pt>
              <c:pt idx="235">
                <c:v>7.9020147733023478</c:v>
              </c:pt>
              <c:pt idx="236">
                <c:v>7.9131382978061557</c:v>
              </c:pt>
              <c:pt idx="237">
                <c:v>7.9270972357100273</c:v>
              </c:pt>
              <c:pt idx="238">
                <c:v>7.9399656384873909</c:v>
              </c:pt>
              <c:pt idx="239">
                <c:v>7.9931841057992559</c:v>
              </c:pt>
              <c:pt idx="240">
                <c:v>8.0261184873312175</c:v>
              </c:pt>
              <c:pt idx="241">
                <c:v>8.0601434039896898</c:v>
              </c:pt>
              <c:pt idx="242">
                <c:v>8.1089996866532381</c:v>
              </c:pt>
              <c:pt idx="243">
                <c:v>8.1572016703120234</c:v>
              </c:pt>
              <c:pt idx="244">
                <c:v>8.2562228998620721</c:v>
              </c:pt>
              <c:pt idx="245">
                <c:v>8.3301616670044432</c:v>
              </c:pt>
              <c:pt idx="246">
                <c:v>8.3840344553922126</c:v>
              </c:pt>
              <c:pt idx="247">
                <c:v>8.4280923614279839</c:v>
              </c:pt>
              <c:pt idx="248">
                <c:v>8.6880776350654365</c:v>
              </c:pt>
              <c:pt idx="249">
                <c:v>8.7781564324358357</c:v>
              </c:pt>
              <c:pt idx="250">
                <c:v>8.8100002567701488</c:v>
              </c:pt>
              <c:pt idx="251">
                <c:v>8.837045704476683</c:v>
              </c:pt>
              <c:pt idx="252">
                <c:v>8.9040050026671178</c:v>
              </c:pt>
              <c:pt idx="253">
                <c:v>8.9522069863259048</c:v>
              </c:pt>
              <c:pt idx="254">
                <c:v>9.0459936031264299</c:v>
              </c:pt>
              <c:pt idx="255">
                <c:v>9.2390196006445908</c:v>
              </c:pt>
              <c:pt idx="256">
                <c:v>9.2702091039029995</c:v>
              </c:pt>
              <c:pt idx="257">
                <c:v>9.2880939903334401</c:v>
              </c:pt>
              <c:pt idx="258">
                <c:v>9.3051064486626771</c:v>
              </c:pt>
              <c:pt idx="259">
                <c:v>9.3221189069919124</c:v>
              </c:pt>
              <c:pt idx="260">
                <c:v>9.3380408301946396</c:v>
              </c:pt>
              <c:pt idx="261">
                <c:v>9.3550532885238749</c:v>
              </c:pt>
              <c:pt idx="262">
                <c:v>9.3801357730026957</c:v>
              </c:pt>
              <c:pt idx="263">
                <c:v>9.4331361112181185</c:v>
              </c:pt>
              <c:pt idx="264">
                <c:v>9.471086998474302</c:v>
              </c:pt>
              <c:pt idx="265">
                <c:v>9.4900624200312524</c:v>
              </c:pt>
              <c:pt idx="266">
                <c:v>9.5070748783604877</c:v>
              </c:pt>
              <c:pt idx="267">
                <c:v>9.5330297909405157</c:v>
              </c:pt>
              <c:pt idx="268">
                <c:v>9.550042249269751</c:v>
              </c:pt>
              <c:pt idx="269">
                <c:v>9.5751247116774287</c:v>
              </c:pt>
              <c:pt idx="270">
                <c:v>9.5960631406043788</c:v>
              </c:pt>
              <c:pt idx="271">
                <c:v>9.6152566691866301</c:v>
              </c:pt>
              <c:pt idx="272">
                <c:v>9.6370675262147856</c:v>
              </c:pt>
              <c:pt idx="273">
                <c:v>9.651244571143959</c:v>
              </c:pt>
              <c:pt idx="274">
                <c:v>9.6741459632986206</c:v>
              </c:pt>
              <c:pt idx="275">
                <c:v>9.6970473554532841</c:v>
              </c:pt>
              <c:pt idx="276">
                <c:v>9.7201668546332485</c:v>
              </c:pt>
              <c:pt idx="277">
                <c:v>9.7301998440105493</c:v>
              </c:pt>
              <c:pt idx="278">
                <c:v>9.7452493170409262</c:v>
              </c:pt>
              <c:pt idx="279">
                <c:v>9.7650971887702269</c:v>
              </c:pt>
              <c:pt idx="280">
                <c:v>9.8019575188287611</c:v>
              </c:pt>
            </c:numLit>
          </c:xVal>
          <c:yVal>
            <c:numLit>
              <c:formatCode>0</c:formatCode>
              <c:ptCount val="281"/>
              <c:pt idx="0">
                <c:v>-3.3127519198992346</c:v>
              </c:pt>
              <c:pt idx="1">
                <c:v>-3.6879341067145939</c:v>
              </c:pt>
              <c:pt idx="2">
                <c:v>-3.4156589508921122</c:v>
              </c:pt>
              <c:pt idx="3">
                <c:v>-2.9332818225487354</c:v>
              </c:pt>
              <c:pt idx="4">
                <c:v>-2.5709631502733785</c:v>
              </c:pt>
              <c:pt idx="5">
                <c:v>-2.223651513674739</c:v>
              </c:pt>
              <c:pt idx="6">
                <c:v>-2.1078809681418589</c:v>
              </c:pt>
              <c:pt idx="7">
                <c:v>-2.1571906369034428</c:v>
              </c:pt>
              <c:pt idx="8">
                <c:v>-2.4509046942053585</c:v>
              </c:pt>
              <c:pt idx="9">
                <c:v>-2.9354257778163118</c:v>
              </c:pt>
              <c:pt idx="10">
                <c:v>-2.9590086345633093</c:v>
              </c:pt>
              <c:pt idx="11">
                <c:v>-2.9804477531081739</c:v>
              </c:pt>
              <c:pt idx="12">
                <c:v>-2.9975987440524672</c:v>
              </c:pt>
              <c:pt idx="13">
                <c:v>-2.8839721537871514</c:v>
              </c:pt>
              <c:pt idx="14">
                <c:v>-2.5966897452225215</c:v>
              </c:pt>
              <c:pt idx="15">
                <c:v>-1.8699082283388133</c:v>
              </c:pt>
              <c:pt idx="16">
                <c:v>0.78209410844869343</c:v>
              </c:pt>
              <c:pt idx="17">
                <c:v>2.1906353839896848</c:v>
              </c:pt>
              <c:pt idx="18">
                <c:v>4.7997599178183368</c:v>
              </c:pt>
              <c:pt idx="19">
                <c:v>8.1356659685306969</c:v>
              </c:pt>
              <c:pt idx="20">
                <c:v>9.7736043798698713</c:v>
              </c:pt>
              <c:pt idx="21">
                <c:v>10.650458858305903</c:v>
              </c:pt>
              <c:pt idx="22">
                <c:v>11.482291361450063</c:v>
              </c:pt>
              <c:pt idx="23">
                <c:v>13.06448845529037</c:v>
              </c:pt>
              <c:pt idx="24">
                <c:v>13.853443155475663</c:v>
              </c:pt>
              <c:pt idx="25">
                <c:v>14.691707307357113</c:v>
              </c:pt>
              <c:pt idx="26">
                <c:v>15.960895180618213</c:v>
              </c:pt>
              <c:pt idx="27">
                <c:v>16.938512951844977</c:v>
              </c:pt>
              <c:pt idx="28">
                <c:v>19.281793978588432</c:v>
              </c:pt>
              <c:pt idx="29">
                <c:v>20.330160320056205</c:v>
              </c:pt>
              <c:pt idx="30">
                <c:v>20.827544701141733</c:v>
              </c:pt>
              <c:pt idx="31">
                <c:v>21.192007545750091</c:v>
              </c:pt>
              <c:pt idx="32">
                <c:v>21.867335438604648</c:v>
              </c:pt>
              <c:pt idx="33">
                <c:v>23.15153078167333</c:v>
              </c:pt>
              <c:pt idx="34">
                <c:v>23.417374071693093</c:v>
              </c:pt>
              <c:pt idx="35">
                <c:v>24.073407018335793</c:v>
              </c:pt>
              <c:pt idx="36">
                <c:v>24.165594707121667</c:v>
              </c:pt>
              <c:pt idx="37">
                <c:v>24.197753167873532</c:v>
              </c:pt>
              <c:pt idx="38">
                <c:v>24.255638440639974</c:v>
              </c:pt>
              <c:pt idx="39">
                <c:v>24.249206791902683</c:v>
              </c:pt>
              <c:pt idx="40">
                <c:v>24.298516460664267</c:v>
              </c:pt>
              <c:pt idx="41">
                <c:v>24.373552724374996</c:v>
              </c:pt>
              <c:pt idx="42">
                <c:v>24.435725907676577</c:v>
              </c:pt>
              <c:pt idx="43">
                <c:v>24.47860392770087</c:v>
              </c:pt>
              <c:pt idx="44">
                <c:v>24.545064804472172</c:v>
              </c:pt>
              <c:pt idx="45">
                <c:v>24.600806121971036</c:v>
              </c:pt>
              <c:pt idx="46">
                <c:v>24.682274251484479</c:v>
              </c:pt>
              <c:pt idx="47">
                <c:v>24.840922599976231</c:v>
              </c:pt>
              <c:pt idx="48">
                <c:v>24.918103036019957</c:v>
              </c:pt>
              <c:pt idx="49">
                <c:v>24.978132264053965</c:v>
              </c:pt>
              <c:pt idx="50">
                <c:v>25.102478196526274</c:v>
              </c:pt>
              <c:pt idx="51">
                <c:v>25.147500171818145</c:v>
              </c:pt>
              <c:pt idx="52">
                <c:v>25.201097534049438</c:v>
              </c:pt>
              <c:pt idx="53">
                <c:v>25.254695113346163</c:v>
              </c:pt>
              <c:pt idx="54">
                <c:v>25.376897307616332</c:v>
              </c:pt>
              <c:pt idx="55">
                <c:v>25.430494669847622</c:v>
              </c:pt>
              <c:pt idx="56">
                <c:v>25.44335818438763</c:v>
              </c:pt>
              <c:pt idx="57">
                <c:v>25.501243457154072</c:v>
              </c:pt>
              <c:pt idx="58">
                <c:v>25.649172463438809</c:v>
              </c:pt>
              <c:pt idx="59">
                <c:v>25.65774806744367</c:v>
              </c:pt>
              <c:pt idx="60">
                <c:v>25.689906528195536</c:v>
              </c:pt>
              <c:pt idx="61">
                <c:v>25.737072241689539</c:v>
              </c:pt>
              <c:pt idx="62">
                <c:v>25.792813559188406</c:v>
              </c:pt>
              <c:pt idx="63">
                <c:v>25.889288941444001</c:v>
              </c:pt>
              <c:pt idx="64">
                <c:v>25.887145203241854</c:v>
              </c:pt>
              <c:pt idx="65">
                <c:v>25.987908278967165</c:v>
              </c:pt>
              <c:pt idx="66">
                <c:v>26.022210694986597</c:v>
              </c:pt>
              <c:pt idx="67">
                <c:v>26.039361902996319</c:v>
              </c:pt>
              <c:pt idx="68">
                <c:v>26.026498605521748</c:v>
              </c:pt>
              <c:pt idx="69">
                <c:v>26.039361902996319</c:v>
              </c:pt>
              <c:pt idx="70">
                <c:v>26.103678824500044</c:v>
              </c:pt>
              <c:pt idx="71">
                <c:v>26.110110473237331</c:v>
              </c:pt>
              <c:pt idx="72">
                <c:v>26.058657066273607</c:v>
              </c:pt>
              <c:pt idx="73">
                <c:v>26.133693547049763</c:v>
              </c:pt>
              <c:pt idx="74">
                <c:v>26.152988493261621</c:v>
              </c:pt>
              <c:pt idx="75">
                <c:v>26.146556844524337</c:v>
              </c:pt>
              <c:pt idx="76">
                <c:v>26.159420141998908</c:v>
              </c:pt>
              <c:pt idx="77">
                <c:v>26.120830032509762</c:v>
              </c:pt>
              <c:pt idx="78">
                <c:v>26.157276403796768</c:v>
              </c:pt>
              <c:pt idx="79">
                <c:v>26.204442117290775</c:v>
              </c:pt>
              <c:pt idx="80">
                <c:v>26.176571350008626</c:v>
              </c:pt>
              <c:pt idx="81">
                <c:v>26.193722558018344</c:v>
              </c:pt>
              <c:pt idx="82">
                <c:v>26.219449370032923</c:v>
              </c:pt>
              <c:pt idx="83">
                <c:v>26.234456622775067</c:v>
              </c:pt>
              <c:pt idx="84">
                <c:v>26.253751786052359</c:v>
              </c:pt>
              <c:pt idx="85">
                <c:v>26.305205410081513</c:v>
              </c:pt>
              <c:pt idx="86">
                <c:v>26.352371123575523</c:v>
              </c:pt>
              <c:pt idx="87">
                <c:v>26.390961233064665</c:v>
              </c:pt>
              <c:pt idx="88">
                <c:v>26.414544089811674</c:v>
              </c:pt>
              <c:pt idx="89">
                <c:v>26.457422109835967</c:v>
              </c:pt>
              <c:pt idx="90">
                <c:v>26.487436615320259</c:v>
              </c:pt>
              <c:pt idx="91">
                <c:v>26.517451337869979</c:v>
              </c:pt>
              <c:pt idx="92">
                <c:v>26.654660784882292</c:v>
              </c:pt>
              <c:pt idx="93">
                <c:v>26.781150889687606</c:v>
              </c:pt>
              <c:pt idx="94">
                <c:v>26.858331108665901</c:v>
              </c:pt>
              <c:pt idx="95">
                <c:v>26.937655282911773</c:v>
              </c:pt>
              <c:pt idx="96">
                <c:v>26.999828466213362</c:v>
              </c:pt>
              <c:pt idx="97">
                <c:v>27.023411322960371</c:v>
              </c:pt>
              <c:pt idx="98">
                <c:v>27.072720991721944</c:v>
              </c:pt>
              <c:pt idx="99">
                <c:v>27.0577137389798</c:v>
              </c:pt>
              <c:pt idx="100">
                <c:v>27.130606264488385</c:v>
              </c:pt>
              <c:pt idx="101">
                <c:v>27.130606264488385</c:v>
              </c:pt>
              <c:pt idx="102">
                <c:v>27.102735497206233</c:v>
              </c:pt>
              <c:pt idx="103">
                <c:v>27.117742749948377</c:v>
              </c:pt>
              <c:pt idx="104">
                <c:v>27.10487945247381</c:v>
              </c:pt>
              <c:pt idx="105">
                <c:v>27.05556978371223</c:v>
              </c:pt>
              <c:pt idx="106">
                <c:v>27.072720991721944</c:v>
              </c:pt>
              <c:pt idx="107">
                <c:v>27.06628934298466</c:v>
              </c:pt>
              <c:pt idx="108">
                <c:v>27.034130882232795</c:v>
              </c:pt>
              <c:pt idx="109">
                <c:v>27.036274620434938</c:v>
              </c:pt>
              <c:pt idx="110">
                <c:v>27.044850224439791</c:v>
              </c:pt>
              <c:pt idx="111">
                <c:v>27.036274620434938</c:v>
              </c:pt>
              <c:pt idx="112">
                <c:v>27.004116159683072</c:v>
              </c:pt>
              <c:pt idx="113">
                <c:v>27.014835718955503</c:v>
              </c:pt>
              <c:pt idx="114">
                <c:v>26.995540555678215</c:v>
              </c:pt>
              <c:pt idx="115">
                <c:v>27.01912362949065</c:v>
              </c:pt>
              <c:pt idx="116">
                <c:v>26.950518797451778</c:v>
              </c:pt>
              <c:pt idx="117">
                <c:v>26.963382094926349</c:v>
              </c:pt>
              <c:pt idx="118">
                <c:v>26.956950446189062</c:v>
              </c:pt>
              <c:pt idx="119">
                <c:v>26.961238356724209</c:v>
              </c:pt>
              <c:pt idx="120">
                <c:v>26.986964951673354</c:v>
              </c:pt>
              <c:pt idx="121">
                <c:v>27.008404070218219</c:v>
              </c:pt>
              <c:pt idx="122">
                <c:v>27.096303848468949</c:v>
              </c:pt>
              <c:pt idx="123">
                <c:v>27.179915933249966</c:v>
              </c:pt>
              <c:pt idx="124">
                <c:v>27.222793953274262</c:v>
              </c:pt>
              <c:pt idx="125">
                <c:v>27.269959666768273</c:v>
              </c:pt>
              <c:pt idx="126">
                <c:v>27.269959666768273</c:v>
              </c:pt>
              <c:pt idx="127">
                <c:v>27.263528018030982</c:v>
              </c:pt>
              <c:pt idx="128">
                <c:v>27.261384062763412</c:v>
              </c:pt>
              <c:pt idx="129">
                <c:v>27.259240107495835</c:v>
              </c:pt>
              <c:pt idx="130">
                <c:v>27.214218349269409</c:v>
              </c:pt>
              <c:pt idx="131">
                <c:v>27.184203626719679</c:v>
              </c:pt>
              <c:pt idx="132">
                <c:v>27.173484284512682</c:v>
              </c:pt>
              <c:pt idx="133">
                <c:v>27.1477574724981</c:v>
              </c:pt>
              <c:pt idx="134">
                <c:v>27.143469561962959</c:v>
              </c:pt>
              <c:pt idx="135">
                <c:v>27.167052418709964</c:v>
              </c:pt>
              <c:pt idx="136">
                <c:v>27.098447803736519</c:v>
              </c:pt>
              <c:pt idx="137">
                <c:v>27.122030660483524</c:v>
              </c:pt>
              <c:pt idx="138">
                <c:v>27.068433298252238</c:v>
              </c:pt>
              <c:pt idx="139">
                <c:v>26.963382094926349</c:v>
              </c:pt>
              <c:pt idx="140">
                <c:v>26.873338361408049</c:v>
              </c:pt>
              <c:pt idx="141">
                <c:v>26.888345614150193</c:v>
              </c:pt>
              <c:pt idx="142">
                <c:v>26.817597043909181</c:v>
              </c:pt>
              <c:pt idx="143">
                <c:v>26.832604296651329</c:v>
              </c:pt>
              <c:pt idx="144">
                <c:v>26.841179900656183</c:v>
              </c:pt>
              <c:pt idx="145">
                <c:v>26.866906712670765</c:v>
              </c:pt>
              <c:pt idx="146">
                <c:v>26.914072426164775</c:v>
              </c:pt>
              <c:pt idx="147">
                <c:v>26.961238356724209</c:v>
              </c:pt>
              <c:pt idx="148">
                <c:v>27.068433298252238</c:v>
              </c:pt>
              <c:pt idx="149">
                <c:v>27.081296595726805</c:v>
              </c:pt>
              <c:pt idx="150">
                <c:v>27.10702340774138</c:v>
              </c:pt>
              <c:pt idx="151">
                <c:v>27.182059888517536</c:v>
              </c:pt>
              <c:pt idx="152">
                <c:v>27.237801206016407</c:v>
              </c:pt>
              <c:pt idx="153">
                <c:v>27.237801206016407</c:v>
              </c:pt>
              <c:pt idx="154">
                <c:v>27.306405820989852</c:v>
              </c:pt>
              <c:pt idx="155">
                <c:v>27.319269335529853</c:v>
              </c:pt>
              <c:pt idx="156">
                <c:v>27.475773945819455</c:v>
              </c:pt>
              <c:pt idx="157">
                <c:v>27.430751970527581</c:v>
              </c:pt>
              <c:pt idx="158">
                <c:v>27.454334827274586</c:v>
              </c:pt>
              <c:pt idx="159">
                <c:v>27.49721284729889</c:v>
              </c:pt>
              <c:pt idx="160">
                <c:v>27.533659218585896</c:v>
              </c:pt>
              <c:pt idx="161">
                <c:v>27.522939659313465</c:v>
              </c:pt>
              <c:pt idx="162">
                <c:v>27.535802956788032</c:v>
              </c:pt>
              <c:pt idx="163">
                <c:v>27.574393283342616</c:v>
              </c:pt>
              <c:pt idx="164">
                <c:v>27.591544491352337</c:v>
              </c:pt>
              <c:pt idx="165">
                <c:v>27.627990645573909</c:v>
              </c:pt>
              <c:pt idx="166">
                <c:v>27.58725658081719</c:v>
              </c:pt>
              <c:pt idx="167">
                <c:v>27.510076361838891</c:v>
              </c:pt>
              <c:pt idx="168">
                <c:v>27.458622737809733</c:v>
              </c:pt>
              <c:pt idx="169">
                <c:v>27.340708237009288</c:v>
              </c:pt>
              <c:pt idx="170">
                <c:v>27.317125380262276</c:v>
              </c:pt>
              <c:pt idx="171">
                <c:v>27.214218349269409</c:v>
              </c:pt>
              <c:pt idx="172">
                <c:v>27.134893957958099</c:v>
              </c:pt>
              <c:pt idx="173">
                <c:v>27.094159893201379</c:v>
              </c:pt>
              <c:pt idx="174">
                <c:v>27.077008685191657</c:v>
              </c:pt>
              <c:pt idx="175">
                <c:v>27.102735497206233</c:v>
              </c:pt>
              <c:pt idx="176">
                <c:v>27.031986926965224</c:v>
              </c:pt>
              <c:pt idx="177">
                <c:v>27.010548025485797</c:v>
              </c:pt>
              <c:pt idx="178">
                <c:v>26.959094401456642</c:v>
              </c:pt>
              <c:pt idx="179">
                <c:v>26.926935940704777</c:v>
              </c:pt>
              <c:pt idx="180">
                <c:v>26.905496822159908</c:v>
              </c:pt>
              <c:pt idx="181">
                <c:v>26.894777479952918</c:v>
              </c:pt>
              <c:pt idx="182">
                <c:v>26.806877484636747</c:v>
              </c:pt>
              <c:pt idx="183">
                <c:v>26.873338361408049</c:v>
              </c:pt>
              <c:pt idx="184">
                <c:v>26.79615814242975</c:v>
              </c:pt>
              <c:pt idx="185">
                <c:v>26.699682760174159</c:v>
              </c:pt>
              <c:pt idx="186">
                <c:v>26.733984959128165</c:v>
              </c:pt>
              <c:pt idx="187">
                <c:v>26.663236388887153</c:v>
              </c:pt>
              <c:pt idx="188">
                <c:v>26.686819245634158</c:v>
              </c:pt>
              <c:pt idx="189">
                <c:v>26.613926720125573</c:v>
              </c:pt>
              <c:pt idx="190">
                <c:v>26.635365621605004</c:v>
              </c:pt>
              <c:pt idx="191">
                <c:v>26.609639026655852</c:v>
              </c:pt>
              <c:pt idx="192">
                <c:v>26.558185402626698</c:v>
              </c:pt>
              <c:pt idx="193">
                <c:v>26.641797487407722</c:v>
              </c:pt>
              <c:pt idx="194">
                <c:v>26.641797487407722</c:v>
              </c:pt>
              <c:pt idx="195">
                <c:v>26.652516829614726</c:v>
              </c:pt>
              <c:pt idx="196">
                <c:v>26.571048700101279</c:v>
              </c:pt>
              <c:pt idx="197">
                <c:v>26.526026941874843</c:v>
              </c:pt>
              <c:pt idx="198">
                <c:v>26.637509576872578</c:v>
              </c:pt>
              <c:pt idx="199">
                <c:v>26.545321888086697</c:v>
              </c:pt>
              <c:pt idx="200">
                <c:v>26.573192655368846</c:v>
              </c:pt>
              <c:pt idx="201">
                <c:v>26.590343863378568</c:v>
              </c:pt>
              <c:pt idx="202">
                <c:v>26.699682760174159</c:v>
              </c:pt>
              <c:pt idx="203">
                <c:v>26.684675290366584</c:v>
              </c:pt>
              <c:pt idx="204">
                <c:v>26.688963200901732</c:v>
              </c:pt>
              <c:pt idx="205">
                <c:v>26.641797487407722</c:v>
              </c:pt>
              <c:pt idx="206">
                <c:v>26.646085180877439</c:v>
              </c:pt>
              <c:pt idx="207">
                <c:v>26.646085180877439</c:v>
              </c:pt>
              <c:pt idx="208">
                <c:v>26.656804740149862</c:v>
              </c:pt>
              <c:pt idx="209">
                <c:v>26.613926720125573</c:v>
              </c:pt>
              <c:pt idx="210">
                <c:v>26.58605595284342</c:v>
              </c:pt>
              <c:pt idx="211">
                <c:v>26.641797487407722</c:v>
              </c:pt>
              <c:pt idx="212">
                <c:v>26.549609798621844</c:v>
              </c:pt>
              <c:pt idx="213">
                <c:v>26.519595293137556</c:v>
              </c:pt>
              <c:pt idx="214">
                <c:v>26.453134416366254</c:v>
              </c:pt>
              <c:pt idx="215">
                <c:v>26.431695297821388</c:v>
              </c:pt>
              <c:pt idx="216">
                <c:v>26.318068707556083</c:v>
              </c:pt>
              <c:pt idx="217">
                <c:v>26.213017721295639</c:v>
              </c:pt>
              <c:pt idx="218">
                <c:v>26.191578819816204</c:v>
              </c:pt>
              <c:pt idx="219">
                <c:v>26.050081462268754</c:v>
              </c:pt>
              <c:pt idx="220">
                <c:v>26.013635090981737</c:v>
              </c:pt>
              <c:pt idx="221">
                <c:v>25.889288941444001</c:v>
              </c:pt>
              <c:pt idx="222">
                <c:v>25.842123227949994</c:v>
              </c:pt>
              <c:pt idx="223">
                <c:v>25.625589606691808</c:v>
              </c:pt>
              <c:pt idx="224">
                <c:v>25.56984807212751</c:v>
              </c:pt>
              <c:pt idx="225">
                <c:v>25.531257962638364</c:v>
              </c:pt>
              <c:pt idx="226">
                <c:v>25.331875332324461</c:v>
              </c:pt>
              <c:pt idx="227">
                <c:v>25.203241489317008</c:v>
              </c:pt>
              <c:pt idx="228">
                <c:v>25.048880834294984</c:v>
              </c:pt>
              <c:pt idx="229">
                <c:v>24.900951828010239</c:v>
              </c:pt>
              <c:pt idx="230">
                <c:v>24.82805930250165</c:v>
              </c:pt>
              <c:pt idx="231">
                <c:v>24.789469193012504</c:v>
              </c:pt>
              <c:pt idx="232">
                <c:v>24.703713152963914</c:v>
              </c:pt>
              <c:pt idx="233">
                <c:v>24.579367003426171</c:v>
              </c:pt>
              <c:pt idx="234">
                <c:v>24.555784146679166</c:v>
              </c:pt>
              <c:pt idx="235">
                <c:v>24.457164809156009</c:v>
              </c:pt>
              <c:pt idx="236">
                <c:v>24.386416238914997</c:v>
              </c:pt>
              <c:pt idx="237">
                <c:v>24.199897123141106</c:v>
              </c:pt>
              <c:pt idx="238">
                <c:v>24.109853389622799</c:v>
              </c:pt>
              <c:pt idx="239">
                <c:v>23.563159122710264</c:v>
              </c:pt>
              <c:pt idx="240">
                <c:v>23.130091663128464</c:v>
              </c:pt>
              <c:pt idx="241">
                <c:v>22.675585302067237</c:v>
              </c:pt>
              <c:pt idx="242">
                <c:v>21.940227964113234</c:v>
              </c:pt>
              <c:pt idx="243">
                <c:v>21.138409966453363</c:v>
              </c:pt>
              <c:pt idx="244">
                <c:v>19.196037938539842</c:v>
              </c:pt>
              <c:pt idx="245">
                <c:v>17.433753594728362</c:v>
              </c:pt>
              <c:pt idx="246">
                <c:v>15.898722214382062</c:v>
              </c:pt>
              <c:pt idx="247">
                <c:v>14.530915003597794</c:v>
              </c:pt>
              <c:pt idx="248">
                <c:v>3.2068432647055989</c:v>
              </c:pt>
              <c:pt idx="249">
                <c:v>0.67489916692067542</c:v>
              </c:pt>
              <c:pt idx="250">
                <c:v>0.20324159784972462</c:v>
              </c:pt>
              <c:pt idx="251">
                <c:v>-3.4731141953320055E-2</c:v>
              </c:pt>
              <c:pt idx="252">
                <c:v>-0.20624300498505743</c:v>
              </c:pt>
              <c:pt idx="253">
                <c:v>-0.392762120758956</c:v>
              </c:pt>
              <c:pt idx="254">
                <c:v>-2.5795387542782406</c:v>
              </c:pt>
              <c:pt idx="255">
                <c:v>-10.258982915348582</c:v>
              </c:pt>
              <c:pt idx="256">
                <c:v>-10.818540479735695</c:v>
              </c:pt>
              <c:pt idx="257">
                <c:v>-11.022210803519304</c:v>
              </c:pt>
              <c:pt idx="258">
                <c:v>-11.223737172035348</c:v>
              </c:pt>
              <c:pt idx="259">
                <c:v>-11.440271010358959</c:v>
              </c:pt>
              <c:pt idx="260">
                <c:v>-11.725409463656014</c:v>
              </c:pt>
              <c:pt idx="261">
                <c:v>-12.104879561006513</c:v>
              </c:pt>
              <c:pt idx="262">
                <c:v>-12.741617344371928</c:v>
              </c:pt>
              <c:pt idx="263">
                <c:v>-13.603464570065803</c:v>
              </c:pt>
              <c:pt idx="264">
                <c:v>-14.113712465691332</c:v>
              </c:pt>
              <c:pt idx="265">
                <c:v>-14.351685205494377</c:v>
              </c:pt>
              <c:pt idx="266">
                <c:v>-14.542492014737984</c:v>
              </c:pt>
              <c:pt idx="267">
                <c:v>-14.851213541847478</c:v>
              </c:pt>
              <c:pt idx="268">
                <c:v>-14.868364532791771</c:v>
              </c:pt>
              <c:pt idx="269">
                <c:v>-14.694708931557876</c:v>
              </c:pt>
              <c:pt idx="270">
                <c:v>-14.780464754541041</c:v>
              </c:pt>
              <c:pt idx="271">
                <c:v>-14.450304543017545</c:v>
              </c:pt>
              <c:pt idx="272">
                <c:v>-14.501757949981263</c:v>
              </c:pt>
              <c:pt idx="273">
                <c:v>-14.559643222747708</c:v>
              </c:pt>
              <c:pt idx="274">
                <c:v>-14.377411800443532</c:v>
              </c:pt>
              <c:pt idx="275">
                <c:v>-14.41171421646297</c:v>
              </c:pt>
              <c:pt idx="276">
                <c:v>-14.634679703523867</c:v>
              </c:pt>
              <c:pt idx="277">
                <c:v>-14.701140580295162</c:v>
              </c:pt>
              <c:pt idx="278">
                <c:v>-15.095617930387808</c:v>
              </c:pt>
              <c:pt idx="279">
                <c:v>-15.562987805989053</c:v>
              </c:pt>
              <c:pt idx="280">
                <c:v>-17.376725773829676</c:v>
              </c:pt>
            </c:numLit>
          </c:yVal>
          <c:smooth val="1"/>
          <c:extLst>
            <c:ext xmlns:c16="http://schemas.microsoft.com/office/drawing/2014/chart" uri="{C3380CC4-5D6E-409C-BE32-E72D297353CC}">
              <c16:uniqueId val="{00000000-B82D-7F42-A823-8788DA2D3E26}"/>
            </c:ext>
          </c:extLst>
        </c:ser>
        <c:ser>
          <c:idx val="1"/>
          <c:order val="1"/>
          <c:tx>
            <c:v>Paper simulation</c:v>
          </c:tx>
          <c:spPr>
            <a:ln w="23813">
              <a:solidFill>
                <a:srgbClr val="747474"/>
              </a:solidFill>
              <a:prstDash val="solid"/>
            </a:ln>
          </c:spPr>
          <c:marker>
            <c:symbol val="none"/>
          </c:marker>
          <c:xVal>
            <c:numLit>
              <c:formatCode>General</c:formatCode>
              <c:ptCount val="175"/>
              <c:pt idx="0">
                <c:v>2.0181180662934537</c:v>
              </c:pt>
              <c:pt idx="1">
                <c:v>2.061306060236916</c:v>
              </c:pt>
              <c:pt idx="2">
                <c:v>2.0900981086216972</c:v>
              </c:pt>
              <c:pt idx="3">
                <c:v>2.1180903473049035</c:v>
              </c:pt>
              <c:pt idx="4">
                <c:v>2.160078705329715</c:v>
              </c:pt>
              <c:pt idx="5">
                <c:v>2.1872711867338186</c:v>
              </c:pt>
              <c:pt idx="6">
                <c:v>2.2152634254170254</c:v>
              </c:pt>
              <c:pt idx="7">
                <c:v>2.2712479552059133</c:v>
              </c:pt>
              <c:pt idx="8">
                <c:v>2.2940416143075328</c:v>
              </c:pt>
              <c:pt idx="9">
                <c:v>2.3160355161300528</c:v>
              </c:pt>
              <c:pt idx="10">
                <c:v>2.3680211546784831</c:v>
              </c:pt>
              <c:pt idx="11">
                <c:v>2.4060106214628338</c:v>
              </c:pt>
              <c:pt idx="12">
                <c:v>2.4280045232853542</c:v>
              </c:pt>
              <c:pt idx="13">
                <c:v>2.4763911492328781</c:v>
              </c:pt>
              <c:pt idx="14">
                <c:v>2.5003844966756268</c:v>
              </c:pt>
              <c:pt idx="15">
                <c:v>2.5311759906806368</c:v>
              </c:pt>
              <c:pt idx="16">
                <c:v>2.5523700828015792</c:v>
              </c:pt>
              <c:pt idx="17">
                <c:v>2.5923590476286362</c:v>
              </c:pt>
              <c:pt idx="18">
                <c:v>2.6311482716920898</c:v>
              </c:pt>
              <c:pt idx="19">
                <c:v>2.6591405103752965</c:v>
              </c:pt>
              <c:pt idx="20">
                <c:v>2.6803346549187133</c:v>
              </c:pt>
              <c:pt idx="21">
                <c:v>2.7011289208225797</c:v>
              </c:pt>
              <c:pt idx="22">
                <c:v>2.7203235673232928</c:v>
              </c:pt>
              <c:pt idx="23">
                <c:v>2.741117833227162</c:v>
              </c:pt>
              <c:pt idx="24">
                <c:v>2.8062997814156194</c:v>
              </c:pt>
              <c:pt idx="25">
                <c:v>2.8270939948970102</c:v>
              </c:pt>
              <c:pt idx="26">
                <c:v>2.8430896122813154</c:v>
              </c:pt>
              <c:pt idx="27">
                <c:v>2.8622842587820294</c:v>
              </c:pt>
              <c:pt idx="28">
                <c:v>2.8902764974652357</c:v>
              </c:pt>
              <c:pt idx="29">
                <c:v>2.942262136013666</c:v>
              </c:pt>
              <c:pt idx="30">
                <c:v>2.9802516027980195</c:v>
              </c:pt>
              <c:pt idx="31">
                <c:v>3.0002460590003079</c:v>
              </c:pt>
              <c:pt idx="32">
                <c:v>3.0162416239621415</c:v>
              </c:pt>
              <c:pt idx="33">
                <c:v>3.0382355257846614</c:v>
              </c:pt>
              <c:pt idx="34">
                <c:v>3.055430779087621</c:v>
              </c:pt>
              <c:pt idx="35">
                <c:v>3.1394075475597152</c:v>
              </c:pt>
              <c:pt idx="36">
                <c:v>3.1514042212810884</c:v>
              </c:pt>
              <c:pt idx="37">
                <c:v>3.164200652281564</c:v>
              </c:pt>
              <c:pt idx="38">
                <c:v>3.177397014344066</c:v>
              </c:pt>
              <c:pt idx="39">
                <c:v>3.2001906734456886</c:v>
              </c:pt>
              <c:pt idx="40">
                <c:v>3.3061613437403001</c:v>
              </c:pt>
              <c:pt idx="41">
                <c:v>3.3233565970432597</c:v>
              </c:pt>
              <c:pt idx="42">
                <c:v>3.3361530280437357</c:v>
              </c:pt>
              <c:pt idx="43">
                <c:v>3.3481497017651116</c:v>
              </c:pt>
              <c:pt idx="44">
                <c:v>3.3613460638276136</c:v>
              </c:pt>
              <c:pt idx="45">
                <c:v>3.3753421831692152</c:v>
              </c:pt>
              <c:pt idx="46">
                <c:v>3.4021347859337707</c:v>
              </c:pt>
              <c:pt idx="47">
                <c:v>3.4561198176799546</c:v>
              </c:pt>
              <c:pt idx="48">
                <c:v>3.4601187089204122</c:v>
              </c:pt>
              <c:pt idx="49">
                <c:v>3.462118154540641</c:v>
              </c:pt>
              <c:pt idx="50">
                <c:v>3.4701159370215562</c:v>
              </c:pt>
              <c:pt idx="51">
                <c:v>3.4821126107429325</c:v>
              </c:pt>
              <c:pt idx="52">
                <c:v>3.5093050921470357</c:v>
              </c:pt>
              <c:pt idx="53">
                <c:v>3.5652895695134492</c:v>
              </c:pt>
              <c:pt idx="54">
                <c:v>3.643268001124857</c:v>
              </c:pt>
              <c:pt idx="55">
                <c:v>3.7424405248572072</c:v>
              </c:pt>
              <c:pt idx="56">
                <c:v>3.8364145214304459</c:v>
              </c:pt>
              <c:pt idx="57">
                <c:v>3.8963978900373162</c:v>
              </c:pt>
              <c:pt idx="58">
                <c:v>3.9663785391678092</c:v>
              </c:pt>
              <c:pt idx="59">
                <c:v>4.0631517386403786</c:v>
              </c:pt>
              <c:pt idx="60">
                <c:v>4.1271339984877073</c:v>
              </c:pt>
              <c:pt idx="61">
                <c:v>4.2343043047009727</c:v>
              </c:pt>
              <c:pt idx="62">
                <c:v>4.3302777468944438</c:v>
              </c:pt>
              <c:pt idx="63">
                <c:v>4.4042572872653913</c:v>
              </c:pt>
              <c:pt idx="64">
                <c:v>4.4782367752138654</c:v>
              </c:pt>
              <c:pt idx="65">
                <c:v>4.5414192777820954</c:v>
              </c:pt>
              <c:pt idx="66">
                <c:v>4.6213971550137281</c:v>
              </c:pt>
              <c:pt idx="67">
                <c:v>4.692177509000846</c:v>
              </c:pt>
              <c:pt idx="68">
                <c:v>4.7613584008522363</c:v>
              </c:pt>
              <c:pt idx="69">
                <c:v>4.833338443180482</c:v>
              </c:pt>
              <c:pt idx="70">
                <c:v>4.9185148475712275</c:v>
              </c:pt>
              <c:pt idx="71">
                <c:v>4.9932941452212809</c:v>
              </c:pt>
              <c:pt idx="72">
                <c:v>5.1012642611361212</c:v>
              </c:pt>
              <c:pt idx="73">
                <c:v>5.2844135533405652</c:v>
              </c:pt>
              <c:pt idx="74">
                <c:v>5.4211756652177181</c:v>
              </c:pt>
              <c:pt idx="75">
                <c:v>5.5763326663164809</c:v>
              </c:pt>
              <c:pt idx="76">
                <c:v>5.7022977928133844</c:v>
              </c:pt>
              <c:pt idx="77">
                <c:v>5.8574548463346217</c:v>
              </c:pt>
              <c:pt idx="78">
                <c:v>6.0162108600342918</c:v>
              </c:pt>
              <c:pt idx="79">
                <c:v>6.267341355749001</c:v>
              </c:pt>
              <c:pt idx="80">
                <c:v>6.3133286050142665</c:v>
              </c:pt>
              <c:pt idx="81">
                <c:v>6.4172998296886528</c:v>
              </c:pt>
              <c:pt idx="82">
                <c:v>6.4732843070550654</c:v>
              </c:pt>
              <c:pt idx="83">
                <c:v>6.5252698931810196</c:v>
              </c:pt>
              <c:pt idx="84">
                <c:v>6.5984496238503931</c:v>
              </c:pt>
              <c:pt idx="85">
                <c:v>6.6616321264186213</c:v>
              </c:pt>
              <c:pt idx="86">
                <c:v>6.7384108696889005</c:v>
              </c:pt>
              <c:pt idx="87">
                <c:v>6.8123904100598507</c:v>
              </c:pt>
              <c:pt idx="88">
                <c:v>6.8803715611476362</c:v>
              </c:pt>
              <c:pt idx="89">
                <c:v>7.1602940528246544</c:v>
              </c:pt>
              <c:pt idx="90">
                <c:v>7.2686640473790458</c:v>
              </c:pt>
              <c:pt idx="91">
                <c:v>7.5325909740942301</c:v>
              </c:pt>
              <c:pt idx="92">
                <c:v>7.7613276369243858</c:v>
              </c:pt>
              <c:pt idx="93">
                <c:v>7.8984896274410898</c:v>
              </c:pt>
              <c:pt idx="94">
                <c:v>7.9724691678120383</c:v>
              </c:pt>
              <c:pt idx="95">
                <c:v>8.061644463443244</c:v>
              </c:pt>
              <c:pt idx="96">
                <c:v>8.1356239513917163</c:v>
              </c:pt>
              <c:pt idx="97">
                <c:v>8.2044049121810865</c:v>
              </c:pt>
              <c:pt idx="98">
                <c:v>8.2743855613115755</c:v>
              </c:pt>
              <c:pt idx="99">
                <c:v>8.3475652919809455</c:v>
              </c:pt>
              <c:pt idx="100">
                <c:v>8.4095481062080442</c:v>
              </c:pt>
              <c:pt idx="101">
                <c:v>8.4635331379542293</c:v>
              </c:pt>
              <c:pt idx="102">
                <c:v>8.5495093520465559</c:v>
              </c:pt>
              <c:pt idx="103">
                <c:v>8.6074932750331961</c:v>
              </c:pt>
              <c:pt idx="104">
                <c:v>8.652680767019362</c:v>
              </c:pt>
              <c:pt idx="105">
                <c:v>8.7406564267319133</c:v>
              </c:pt>
              <c:pt idx="106">
                <c:v>8.8314312893437972</c:v>
              </c:pt>
              <c:pt idx="107">
                <c:v>8.8986126831524821</c:v>
              </c:pt>
              <c:pt idx="108">
                <c:v>9.0017840981252899</c:v>
              </c:pt>
              <c:pt idx="109">
                <c:v>9.0377741192894145</c:v>
              </c:pt>
              <c:pt idx="110">
                <c:v>9.1117536596603603</c:v>
              </c:pt>
              <c:pt idx="111">
                <c:v>9.1665385011081231</c:v>
              </c:pt>
              <c:pt idx="112">
                <c:v>9.211725993094289</c:v>
              </c:pt>
              <c:pt idx="113">
                <c:v>9.2825063470814069</c:v>
              </c:pt>
              <c:pt idx="114">
                <c:v>9.3404903224905222</c:v>
              </c:pt>
              <c:pt idx="115">
                <c:v>9.3956750425778335</c:v>
              </c:pt>
              <c:pt idx="116">
                <c:v>9.4136700531598994</c:v>
              </c:pt>
              <c:pt idx="117">
                <c:v>9.4224675929199169</c:v>
              </c:pt>
              <c:pt idx="118">
                <c:v>9.4236672812610429</c:v>
              </c:pt>
              <c:pt idx="119">
                <c:v>9.4284659297806037</c:v>
              </c:pt>
              <c:pt idx="120">
                <c:v>9.4416622918431017</c:v>
              </c:pt>
              <c:pt idx="121">
                <c:v>9.4656556392858544</c:v>
              </c:pt>
              <c:pt idx="122">
                <c:v>9.4924482420504059</c:v>
              </c:pt>
              <c:pt idx="123">
                <c:v>9.52044048073361</c:v>
              </c:pt>
              <c:pt idx="124">
                <c:v>9.5404349369359061</c:v>
              </c:pt>
              <c:pt idx="125">
                <c:v>9.553631298998404</c:v>
              </c:pt>
              <c:pt idx="126">
                <c:v>9.56642772999888</c:v>
              </c:pt>
              <c:pt idx="127">
                <c:v>9.5844227405809388</c:v>
              </c:pt>
              <c:pt idx="128">
                <c:v>9.6196130044659611</c:v>
              </c:pt>
              <c:pt idx="129">
                <c:v>9.6548032683509835</c:v>
              </c:pt>
              <c:pt idx="130">
                <c:v>9.6975914360773725</c:v>
              </c:pt>
              <c:pt idx="131">
                <c:v>9.7215847835201181</c:v>
              </c:pt>
              <c:pt idx="132">
                <c:v>9.7355809028617202</c:v>
              </c:pt>
              <c:pt idx="133">
                <c:v>9.7475775765830974</c:v>
              </c:pt>
              <c:pt idx="134">
                <c:v>9.765572587165158</c:v>
              </c:pt>
              <c:pt idx="135">
                <c:v>9.7887661773288066</c:v>
              </c:pt>
              <c:pt idx="136">
                <c:v>9.8255560081945035</c:v>
              </c:pt>
              <c:pt idx="137">
                <c:v>9.850748991555907</c:v>
              </c:pt>
              <c:pt idx="138">
                <c:v>9.8795410399406869</c:v>
              </c:pt>
              <c:pt idx="139">
                <c:v>9.8987357388638806</c:v>
              </c:pt>
              <c:pt idx="140">
                <c:v>9.9155310611048115</c:v>
              </c:pt>
              <c:pt idx="141">
                <c:v>9.9435232997880156</c:v>
              </c:pt>
              <c:pt idx="142">
                <c:v>10.026700258558536</c:v>
              </c:pt>
              <c:pt idx="143">
                <c:v>10.053492861323088</c:v>
              </c:pt>
              <c:pt idx="144">
                <c:v>10.073487317525377</c:v>
              </c:pt>
              <c:pt idx="145">
                <c:v>10.09068257082834</c:v>
              </c:pt>
              <c:pt idx="146">
                <c:v>10.116675363891314</c:v>
              </c:pt>
              <c:pt idx="147">
                <c:v>10.153465194757016</c:v>
              </c:pt>
              <c:pt idx="148">
                <c:v>10.178658178118413</c:v>
              </c:pt>
              <c:pt idx="149">
                <c:v>10.208649914844326</c:v>
              </c:pt>
              <c:pt idx="150">
                <c:v>10.229844006965273</c:v>
              </c:pt>
              <c:pt idx="151">
                <c:v>10.25783629807095</c:v>
              </c:pt>
              <c:pt idx="152">
                <c:v>10.299824656095762</c:v>
              </c:pt>
              <c:pt idx="153">
                <c:v>10.32461776081761</c:v>
              </c:pt>
              <c:pt idx="154">
                <c:v>10.350610606303064</c:v>
              </c:pt>
              <c:pt idx="155">
                <c:v>10.373804144044232</c:v>
              </c:pt>
              <c:pt idx="156">
                <c:v>10.405795326390376</c:v>
              </c:pt>
              <c:pt idx="157">
                <c:v>10.458580669795429</c:v>
              </c:pt>
              <c:pt idx="158">
                <c:v>10.480574571617952</c:v>
              </c:pt>
              <c:pt idx="159">
                <c:v>10.505767607401827</c:v>
              </c:pt>
              <c:pt idx="160">
                <c:v>10.544556883887754</c:v>
              </c:pt>
              <c:pt idx="161">
                <c:v>10.569749919671633</c:v>
              </c:pt>
              <c:pt idx="162">
                <c:v>10.60573994083575</c:v>
              </c:pt>
              <c:pt idx="163">
                <c:v>10.628533599937372</c:v>
              </c:pt>
              <c:pt idx="164">
                <c:v>10.697714491788762</c:v>
              </c:pt>
              <c:pt idx="165">
                <c:v>10.722507596510612</c:v>
              </c:pt>
              <c:pt idx="166">
                <c:v>10.777692316597923</c:v>
              </c:pt>
              <c:pt idx="167">
                <c:v>10.797686772800215</c:v>
              </c:pt>
              <c:pt idx="168">
                <c:v>10.81888091734363</c:v>
              </c:pt>
              <c:pt idx="169">
                <c:v>10.842874264786381</c:v>
              </c:pt>
              <c:pt idx="170">
                <c:v>10.868867057849355</c:v>
              </c:pt>
              <c:pt idx="171">
                <c:v>10.89086095967188</c:v>
              </c:pt>
              <c:pt idx="172">
                <c:v>10.915654116816205</c:v>
              </c:pt>
              <c:pt idx="173">
                <c:v>10.953643583600552</c:v>
              </c:pt>
              <c:pt idx="174">
                <c:v>10.976837173764199</c:v>
              </c:pt>
            </c:numLit>
          </c:xVal>
          <c:yVal>
            <c:numLit>
              <c:formatCode>0</c:formatCode>
              <c:ptCount val="175"/>
              <c:pt idx="0">
                <c:v>1.1011572555503673</c:v>
              </c:pt>
              <c:pt idx="1">
                <c:v>0.9912488443434837</c:v>
              </c:pt>
              <c:pt idx="2">
                <c:v>0.9912488443434837</c:v>
              </c:pt>
              <c:pt idx="3">
                <c:v>1.0700511322109105</c:v>
              </c:pt>
              <c:pt idx="4">
                <c:v>1.1986229999398552</c:v>
              </c:pt>
              <c:pt idx="5">
                <c:v>1.2048443333485539</c:v>
              </c:pt>
              <c:pt idx="6">
                <c:v>1.1364107532609444</c:v>
              </c:pt>
              <c:pt idx="7">
                <c:v>0.98295382374922557</c:v>
              </c:pt>
              <c:pt idx="8">
                <c:v>0.99539649056662094</c:v>
              </c:pt>
              <c:pt idx="9">
                <c:v>1.0596824244310932</c:v>
              </c:pt>
              <c:pt idx="10">
                <c:v>1.2857203084015425</c:v>
              </c:pt>
              <c:pt idx="11">
                <c:v>1.3458588678948937</c:v>
              </c:pt>
              <c:pt idx="12">
                <c:v>1.3126790573698779</c:v>
              </c:pt>
              <c:pt idx="13">
                <c:v>1.1135996505157459</c:v>
              </c:pt>
              <c:pt idx="14">
                <c:v>1.0182075933118193</c:v>
              </c:pt>
              <c:pt idx="15">
                <c:v>0.98295382374922557</c:v>
              </c:pt>
              <c:pt idx="16">
                <c:v>1.0285763010916369</c:v>
              </c:pt>
              <c:pt idx="17">
                <c:v>1.2504668106909651</c:v>
              </c:pt>
              <c:pt idx="18">
                <c:v>1.4951681511834753</c:v>
              </c:pt>
              <c:pt idx="19">
                <c:v>1.6009291880192378</c:v>
              </c:pt>
              <c:pt idx="20">
                <c:v>1.6175189573557376</c:v>
              </c:pt>
              <c:pt idx="21">
                <c:v>1.5739704390509024</c:v>
              </c:pt>
              <c:pt idx="22">
                <c:v>1.4910207768123545</c:v>
              </c:pt>
              <c:pt idx="23">
                <c:v>1.3624486372313935</c:v>
              </c:pt>
              <c:pt idx="24">
                <c:v>0.99332253152904315</c:v>
              </c:pt>
              <c:pt idx="25">
                <c:v>0.98917515715792237</c:v>
              </c:pt>
              <c:pt idx="26">
                <c:v>1.0451660704281367</c:v>
              </c:pt>
              <c:pt idx="27">
                <c:v>1.1737382100090976</c:v>
              </c:pt>
              <c:pt idx="28">
                <c:v>1.4516196328786402</c:v>
              </c:pt>
              <c:pt idx="29">
                <c:v>2.0032351042466043</c:v>
              </c:pt>
              <c:pt idx="30">
                <c:v>2.2292729882170534</c:v>
              </c:pt>
              <c:pt idx="31">
                <c:v>2.2417153831824304</c:v>
              </c:pt>
              <c:pt idx="32">
                <c:v>2.194019490506478</c:v>
              </c:pt>
              <c:pt idx="33">
                <c:v>2.0509312687745771</c:v>
              </c:pt>
              <c:pt idx="34">
                <c:v>1.8808842980743401</c:v>
              </c:pt>
              <c:pt idx="35">
                <c:v>0.98917515715792237</c:v>
              </c:pt>
              <c:pt idx="36">
                <c:v>0.9871014699723627</c:v>
              </c:pt>
              <c:pt idx="37">
                <c:v>1.0534610910223945</c:v>
              </c:pt>
              <c:pt idx="38">
                <c:v>1.1903282511976137</c:v>
              </c:pt>
              <c:pt idx="39">
                <c:v>1.609224208613496</c:v>
              </c:pt>
              <c:pt idx="40">
                <c:v>3.9131518384748416</c:v>
              </c:pt>
              <c:pt idx="41">
                <c:v>4.0437973933893456</c:v>
              </c:pt>
              <c:pt idx="42">
                <c:v>4.0666087679865601</c:v>
              </c:pt>
              <c:pt idx="43">
                <c:v>4.0168389162730245</c:v>
              </c:pt>
              <c:pt idx="44">
                <c:v>3.8903404638776267</c:v>
              </c:pt>
              <c:pt idx="45">
                <c:v>3.6477128105706775</c:v>
              </c:pt>
              <c:pt idx="46">
                <c:v>2.8866492245687616</c:v>
              </c:pt>
              <c:pt idx="47">
                <c:v>0.9871014699723627</c:v>
              </c:pt>
              <c:pt idx="48">
                <c:v>0.98295382374922557</c:v>
              </c:pt>
              <c:pt idx="49">
                <c:v>0.99747017775218028</c:v>
              </c:pt>
              <c:pt idx="50">
                <c:v>1.1778855843802183</c:v>
              </c:pt>
              <c:pt idx="51">
                <c:v>1.8580731953291434</c:v>
              </c:pt>
              <c:pt idx="52">
                <c:v>4.5726017620121091</c:v>
              </c:pt>
              <c:pt idx="53">
                <c:v>10.868483246363702</c:v>
              </c:pt>
              <c:pt idx="54">
                <c:v>17.346854096380913</c:v>
              </c:pt>
              <c:pt idx="55">
                <c:v>23.049645550097289</c:v>
              </c:pt>
              <c:pt idx="56">
                <c:v>27.008419322210504</c:v>
              </c:pt>
              <c:pt idx="57">
                <c:v>29.032391842016747</c:v>
              </c:pt>
              <c:pt idx="58">
                <c:v>31.023184551297973</c:v>
              </c:pt>
              <c:pt idx="59">
                <c:v>33.260752288257265</c:v>
              </c:pt>
              <c:pt idx="60">
                <c:v>34.465596621605819</c:v>
              </c:pt>
              <c:pt idx="61">
                <c:v>36.101779307335633</c:v>
              </c:pt>
              <c:pt idx="62">
                <c:v>37.229895040002326</c:v>
              </c:pt>
              <c:pt idx="63">
                <c:v>37.916303712507926</c:v>
              </c:pt>
              <c:pt idx="64">
                <c:v>38.467919183875892</c:v>
              </c:pt>
              <c:pt idx="65">
                <c:v>38.843266622986938</c:v>
              </c:pt>
              <c:pt idx="66">
                <c:v>39.21031904150373</c:v>
              </c:pt>
              <c:pt idx="67">
                <c:v>39.448799320439548</c:v>
              </c:pt>
              <c:pt idx="68">
                <c:v>39.606403624322397</c:v>
              </c:pt>
              <c:pt idx="69">
                <c:v>39.708017014935017</c:v>
              </c:pt>
              <c:pt idx="70">
                <c:v>39.751565533239855</c:v>
              </c:pt>
              <c:pt idx="71">
                <c:v>39.732902076717792</c:v>
              </c:pt>
              <c:pt idx="72">
                <c:v>39.629214998919608</c:v>
              </c:pt>
              <c:pt idx="73">
                <c:v>39.299489765298958</c:v>
              </c:pt>
              <c:pt idx="74">
                <c:v>38.971838490715882</c:v>
              </c:pt>
              <c:pt idx="75">
                <c:v>38.563311241079816</c:v>
              </c:pt>
              <c:pt idx="76">
                <c:v>38.229438904940061</c:v>
              </c:pt>
              <c:pt idx="77">
                <c:v>37.847870132420319</c:v>
              </c:pt>
              <c:pt idx="78">
                <c:v>37.518145170651678</c:v>
              </c:pt>
              <c:pt idx="79">
                <c:v>37.184272834511923</c:v>
              </c:pt>
              <c:pt idx="80">
                <c:v>37.151092752134893</c:v>
              </c:pt>
              <c:pt idx="81">
                <c:v>37.115839254424309</c:v>
              </c:pt>
              <c:pt idx="82">
                <c:v>37.117912941609873</c:v>
              </c:pt>
              <c:pt idx="83">
                <c:v>37.130355336575249</c:v>
              </c:pt>
              <c:pt idx="84">
                <c:v>37.171830167694523</c:v>
              </c:pt>
              <c:pt idx="85">
                <c:v>37.227821352816754</c:v>
              </c:pt>
              <c:pt idx="86">
                <c:v>37.316992348464005</c:v>
              </c:pt>
              <c:pt idx="87">
                <c:v>37.428974446856444</c:v>
              </c:pt>
              <c:pt idx="88">
                <c:v>37.547177606805576</c:v>
              </c:pt>
              <c:pt idx="89">
                <c:v>38.183816427597648</c:v>
              </c:pt>
              <c:pt idx="90">
                <c:v>38.467919183875892</c:v>
              </c:pt>
              <c:pt idx="91">
                <c:v>39.152254169195928</c:v>
              </c:pt>
              <c:pt idx="92">
                <c:v>39.606403624322397</c:v>
              </c:pt>
              <c:pt idx="93">
                <c:v>39.739123138274472</c:v>
              </c:pt>
              <c:pt idx="94">
                <c:v>39.749491846054291</c:v>
              </c:pt>
              <c:pt idx="95">
                <c:v>39.693500932784076</c:v>
              </c:pt>
              <c:pt idx="96">
                <c:v>39.575297500982934</c:v>
              </c:pt>
              <c:pt idx="97">
                <c:v>39.401103155911578</c:v>
              </c:pt>
              <c:pt idx="98">
                <c:v>39.152254169195928</c:v>
              </c:pt>
              <c:pt idx="99">
                <c:v>38.799717832830076</c:v>
              </c:pt>
              <c:pt idx="100">
                <c:v>38.422296978385489</c:v>
              </c:pt>
              <c:pt idx="101">
                <c:v>38.022064477491668</c:v>
              </c:pt>
              <c:pt idx="102">
                <c:v>37.240263747782137</c:v>
              </c:pt>
              <c:pt idx="103">
                <c:v>36.595329906395804</c:v>
              </c:pt>
              <c:pt idx="104">
                <c:v>36.020903332282643</c:v>
              </c:pt>
              <c:pt idx="105">
                <c:v>34.68956081839071</c:v>
              </c:pt>
              <c:pt idx="106">
                <c:v>32.966280824199202</c:v>
              </c:pt>
              <c:pt idx="107">
                <c:v>31.427564154710897</c:v>
              </c:pt>
              <c:pt idx="108">
                <c:v>28.48699770405748</c:v>
              </c:pt>
              <c:pt idx="109">
                <c:v>27.253120934555032</c:v>
              </c:pt>
              <c:pt idx="110">
                <c:v>24.31048079671605</c:v>
              </c:pt>
              <c:pt idx="111">
                <c:v>21.629132040558108</c:v>
              </c:pt>
              <c:pt idx="112">
                <c:v>19.057691423755021</c:v>
              </c:pt>
              <c:pt idx="113">
                <c:v>13.891999631107685</c:v>
              </c:pt>
              <c:pt idx="114">
                <c:v>8.2120195519885275</c:v>
              </c:pt>
              <c:pt idx="115">
                <c:v>2.106922182044789</c:v>
              </c:pt>
              <c:pt idx="116">
                <c:v>1.0907885477705477</c:v>
              </c:pt>
              <c:pt idx="117">
                <c:v>0.98088013656366413</c:v>
              </c:pt>
              <c:pt idx="118">
                <c:v>0.98295382374922557</c:v>
              </c:pt>
              <c:pt idx="119">
                <c:v>1.0347973626483171</c:v>
              </c:pt>
              <c:pt idx="120">
                <c:v>1.3977024067939872</c:v>
              </c:pt>
              <c:pt idx="121">
                <c:v>2.3702875227633915</c:v>
              </c:pt>
              <c:pt idx="122">
                <c:v>3.3262825975442833</c:v>
              </c:pt>
              <c:pt idx="123">
                <c:v>3.9027831306950196</c:v>
              </c:pt>
              <c:pt idx="124">
                <c:v>4.0583137473923019</c:v>
              </c:pt>
              <c:pt idx="125">
                <c:v>4.0583137473923019</c:v>
              </c:pt>
              <c:pt idx="126">
                <c:v>3.9878064801191311</c:v>
              </c:pt>
              <c:pt idx="127">
                <c:v>3.78457969889388</c:v>
              </c:pt>
              <c:pt idx="128">
                <c:v>3.1147610675767909</c:v>
              </c:pt>
              <c:pt idx="129">
                <c:v>2.2251256138459308</c:v>
              </c:pt>
              <c:pt idx="130">
                <c:v>1.2857203084015425</c:v>
              </c:pt>
              <c:pt idx="131">
                <c:v>1.0182075933118193</c:v>
              </c:pt>
              <c:pt idx="132">
                <c:v>0.98088013656366413</c:v>
              </c:pt>
              <c:pt idx="133">
                <c:v>1.0099125727175593</c:v>
              </c:pt>
              <c:pt idx="134">
                <c:v>1.1447057738552024</c:v>
              </c:pt>
              <c:pt idx="135">
                <c:v>1.4184398223536241</c:v>
              </c:pt>
              <c:pt idx="136">
                <c:v>1.8808842980743401</c:v>
              </c:pt>
              <c:pt idx="137">
                <c:v>2.1152172026390472</c:v>
              </c:pt>
              <c:pt idx="138">
                <c:v>2.2417153831824304</c:v>
              </c:pt>
              <c:pt idx="139">
                <c:v>2.2334206344401886</c:v>
              </c:pt>
              <c:pt idx="140">
                <c:v>2.1670607415381409</c:v>
              </c:pt>
              <c:pt idx="141">
                <c:v>1.9576128987562074</c:v>
              </c:pt>
              <c:pt idx="142">
                <c:v>1.1115259633301866</c:v>
              </c:pt>
              <c:pt idx="143">
                <c:v>0.98917515715792237</c:v>
              </c:pt>
              <c:pt idx="144">
                <c:v>0.9912488443434837</c:v>
              </c:pt>
              <c:pt idx="145">
                <c:v>1.0493137166512736</c:v>
              </c:pt>
              <c:pt idx="146">
                <c:v>1.200696958977433</c:v>
              </c:pt>
              <c:pt idx="147">
                <c:v>1.4495459456930786</c:v>
              </c:pt>
              <c:pt idx="148">
                <c:v>1.5718967518653428</c:v>
              </c:pt>
              <c:pt idx="149">
                <c:v>1.6175189573557376</c:v>
              </c:pt>
              <c:pt idx="150">
                <c:v>1.5801917724596011</c:v>
              </c:pt>
              <c:pt idx="151">
                <c:v>1.4516196328786402</c:v>
              </c:pt>
              <c:pt idx="152">
                <c:v>1.1778855843802183</c:v>
              </c:pt>
              <c:pt idx="153">
                <c:v>1.0472400294657143</c:v>
              </c:pt>
              <c:pt idx="154">
                <c:v>0.98088013656366413</c:v>
              </c:pt>
              <c:pt idx="155">
                <c:v>0.99954386493774172</c:v>
              </c:pt>
              <c:pt idx="156">
                <c:v>1.1198209839244446</c:v>
              </c:pt>
              <c:pt idx="157">
                <c:v>1.3251214523352568</c:v>
              </c:pt>
              <c:pt idx="158">
                <c:v>1.3479325550804533</c:v>
              </c:pt>
              <c:pt idx="159">
                <c:v>1.3085314111467388</c:v>
              </c:pt>
              <c:pt idx="160">
                <c:v>1.1488534200783396</c:v>
              </c:pt>
              <c:pt idx="161">
                <c:v>1.0430923832425769</c:v>
              </c:pt>
              <c:pt idx="162">
                <c:v>0.98088013656366413</c:v>
              </c:pt>
              <c:pt idx="163">
                <c:v>1.01405994708868</c:v>
              </c:pt>
              <c:pt idx="164">
                <c:v>1.2089917077196748</c:v>
              </c:pt>
              <c:pt idx="165">
                <c:v>1.1944756255687345</c:v>
              </c:pt>
              <c:pt idx="166">
                <c:v>1.0244286548684995</c:v>
              </c:pt>
              <c:pt idx="167">
                <c:v>0.98295382374922557</c:v>
              </c:pt>
              <c:pt idx="168">
                <c:v>0.98917515715792237</c:v>
              </c:pt>
              <c:pt idx="169">
                <c:v>1.0430923832425769</c:v>
              </c:pt>
              <c:pt idx="170">
                <c:v>1.1115259633301866</c:v>
              </c:pt>
              <c:pt idx="171">
                <c:v>1.1364107532609444</c:v>
              </c:pt>
              <c:pt idx="172">
                <c:v>1.0990835683648075</c:v>
              </c:pt>
              <c:pt idx="173">
                <c:v>0.99539649056662094</c:v>
              </c:pt>
              <c:pt idx="174">
                <c:v>0.98295382374922557</c:v>
              </c:pt>
            </c:numLit>
          </c:yVal>
          <c:smooth val="1"/>
          <c:extLst>
            <c:ext xmlns:c16="http://schemas.microsoft.com/office/drawing/2014/chart" uri="{C3380CC4-5D6E-409C-BE32-E72D297353CC}">
              <c16:uniqueId val="{00000001-B82D-7F42-A823-8788DA2D3E26}"/>
            </c:ext>
          </c:extLst>
        </c:ser>
        <c:ser>
          <c:idx val="2"/>
          <c:order val="2"/>
          <c:tx>
            <c:v>Our model (13.865 GHz)</c:v>
          </c:tx>
          <c:spPr>
            <a:ln w="28575">
              <a:solidFill>
                <a:srgbClr val="1775B5"/>
              </a:solidFill>
              <a:prstDash val="solid"/>
            </a:ln>
          </c:spPr>
          <c:marker>
            <c:symbol val="none"/>
          </c:marker>
          <c:xVal>
            <c:numLit>
              <c:formatCode>General</c:formatCode>
              <c:ptCount val="181"/>
              <c:pt idx="0">
                <c:v>2.5</c:v>
              </c:pt>
              <c:pt idx="1">
                <c:v>2.5499999999999989</c:v>
              </c:pt>
              <c:pt idx="2">
                <c:v>2.5999999999999979</c:v>
              </c:pt>
              <c:pt idx="3">
                <c:v>2.6499999999999968</c:v>
              </c:pt>
              <c:pt idx="4">
                <c:v>2.6999999999999957</c:v>
              </c:pt>
              <c:pt idx="5">
                <c:v>2.7499999999999947</c:v>
              </c:pt>
              <c:pt idx="6">
                <c:v>2.7999999999999936</c:v>
              </c:pt>
              <c:pt idx="7">
                <c:v>2.8499999999999925</c:v>
              </c:pt>
              <c:pt idx="8">
                <c:v>2.8999999999999915</c:v>
              </c:pt>
              <c:pt idx="9">
                <c:v>2.9499999999999904</c:v>
              </c:pt>
              <c:pt idx="10">
                <c:v>2.9999999999999893</c:v>
              </c:pt>
              <c:pt idx="11">
                <c:v>3.0499999999999883</c:v>
              </c:pt>
              <c:pt idx="12">
                <c:v>3.0999999999999872</c:v>
              </c:pt>
              <c:pt idx="13">
                <c:v>3.1499999999999861</c:v>
              </c:pt>
              <c:pt idx="14">
                <c:v>3.1999999999999851</c:v>
              </c:pt>
              <c:pt idx="15">
                <c:v>3.249999999999984</c:v>
              </c:pt>
              <c:pt idx="16">
                <c:v>3.2999999999999829</c:v>
              </c:pt>
              <c:pt idx="17">
                <c:v>3.3499999999999819</c:v>
              </c:pt>
              <c:pt idx="18">
                <c:v>3.3999999999999808</c:v>
              </c:pt>
              <c:pt idx="19">
                <c:v>3.4499999999999797</c:v>
              </c:pt>
              <c:pt idx="20">
                <c:v>3.4999999999999787</c:v>
              </c:pt>
              <c:pt idx="21">
                <c:v>3.5499999999999776</c:v>
              </c:pt>
              <c:pt idx="22">
                <c:v>3.5999999999999766</c:v>
              </c:pt>
              <c:pt idx="23">
                <c:v>3.6499999999999755</c:v>
              </c:pt>
              <c:pt idx="24">
                <c:v>3.6999999999999744</c:v>
              </c:pt>
              <c:pt idx="25">
                <c:v>3.7499999999999734</c:v>
              </c:pt>
              <c:pt idx="26">
                <c:v>3.7999999999999723</c:v>
              </c:pt>
              <c:pt idx="27">
                <c:v>3.8499999999999712</c:v>
              </c:pt>
              <c:pt idx="28">
                <c:v>3.8999999999999702</c:v>
              </c:pt>
              <c:pt idx="29">
                <c:v>3.9499999999999691</c:v>
              </c:pt>
              <c:pt idx="30">
                <c:v>3.999999999999968</c:v>
              </c:pt>
              <c:pt idx="31">
                <c:v>4.049999999999967</c:v>
              </c:pt>
              <c:pt idx="32">
                <c:v>4.0999999999999659</c:v>
              </c:pt>
              <c:pt idx="33">
                <c:v>4.1499999999999648</c:v>
              </c:pt>
              <c:pt idx="34">
                <c:v>4.1999999999999638</c:v>
              </c:pt>
              <c:pt idx="35">
                <c:v>4.2499999999999627</c:v>
              </c:pt>
              <c:pt idx="36">
                <c:v>4.2999999999999616</c:v>
              </c:pt>
              <c:pt idx="37">
                <c:v>4.3499999999999606</c:v>
              </c:pt>
              <c:pt idx="38">
                <c:v>4.3999999999999595</c:v>
              </c:pt>
              <c:pt idx="39">
                <c:v>4.4499999999999584</c:v>
              </c:pt>
              <c:pt idx="40">
                <c:v>4.4999999999999574</c:v>
              </c:pt>
              <c:pt idx="41">
                <c:v>4.5499999999999563</c:v>
              </c:pt>
              <c:pt idx="42">
                <c:v>4.5999999999999552</c:v>
              </c:pt>
              <c:pt idx="43">
                <c:v>4.6499999999999542</c:v>
              </c:pt>
              <c:pt idx="44">
                <c:v>4.6999999999999531</c:v>
              </c:pt>
              <c:pt idx="45">
                <c:v>4.749999999999952</c:v>
              </c:pt>
              <c:pt idx="46">
                <c:v>4.799999999999951</c:v>
              </c:pt>
              <c:pt idx="47">
                <c:v>4.8499999999999499</c:v>
              </c:pt>
              <c:pt idx="48">
                <c:v>4.8999999999999488</c:v>
              </c:pt>
              <c:pt idx="49">
                <c:v>4.9499999999999478</c:v>
              </c:pt>
              <c:pt idx="50">
                <c:v>4.9999999999999467</c:v>
              </c:pt>
              <c:pt idx="51">
                <c:v>5.0499999999999456</c:v>
              </c:pt>
              <c:pt idx="52">
                <c:v>5.0999999999999446</c:v>
              </c:pt>
              <c:pt idx="53">
                <c:v>5.1499999999999435</c:v>
              </c:pt>
              <c:pt idx="54">
                <c:v>5.1999999999999424</c:v>
              </c:pt>
              <c:pt idx="55">
                <c:v>5.2499999999999414</c:v>
              </c:pt>
              <c:pt idx="56">
                <c:v>5.2999999999999403</c:v>
              </c:pt>
              <c:pt idx="57">
                <c:v>5.3499999999999392</c:v>
              </c:pt>
              <c:pt idx="58">
                <c:v>5.3999999999999382</c:v>
              </c:pt>
              <c:pt idx="59">
                <c:v>5.4499999999999371</c:v>
              </c:pt>
              <c:pt idx="60">
                <c:v>5.4999999999999361</c:v>
              </c:pt>
              <c:pt idx="61">
                <c:v>5.549999999999935</c:v>
              </c:pt>
              <c:pt idx="62">
                <c:v>5.5999999999999339</c:v>
              </c:pt>
              <c:pt idx="63">
                <c:v>5.6499999999999329</c:v>
              </c:pt>
              <c:pt idx="64">
                <c:v>5.6999999999999318</c:v>
              </c:pt>
              <c:pt idx="65">
                <c:v>5.7499999999999307</c:v>
              </c:pt>
              <c:pt idx="66">
                <c:v>5.7999999999999297</c:v>
              </c:pt>
              <c:pt idx="67">
                <c:v>5.8499999999999286</c:v>
              </c:pt>
              <c:pt idx="68">
                <c:v>5.8999999999999275</c:v>
              </c:pt>
              <c:pt idx="69">
                <c:v>5.9499999999999265</c:v>
              </c:pt>
              <c:pt idx="70">
                <c:v>5.9999999999999254</c:v>
              </c:pt>
              <c:pt idx="71">
                <c:v>6.0499999999999243</c:v>
              </c:pt>
              <c:pt idx="72">
                <c:v>6.0999999999999233</c:v>
              </c:pt>
              <c:pt idx="73">
                <c:v>6.1499999999999222</c:v>
              </c:pt>
              <c:pt idx="74">
                <c:v>6.1999999999999211</c:v>
              </c:pt>
              <c:pt idx="75">
                <c:v>6.2499999999999201</c:v>
              </c:pt>
              <c:pt idx="76">
                <c:v>6.299999999999919</c:v>
              </c:pt>
              <c:pt idx="77">
                <c:v>6.3499999999999179</c:v>
              </c:pt>
              <c:pt idx="78">
                <c:v>6.3999999999999169</c:v>
              </c:pt>
              <c:pt idx="79">
                <c:v>6.4499999999999158</c:v>
              </c:pt>
              <c:pt idx="80">
                <c:v>6.4999999999999147</c:v>
              </c:pt>
              <c:pt idx="81">
                <c:v>6.5499999999999137</c:v>
              </c:pt>
              <c:pt idx="82">
                <c:v>6.5999999999999126</c:v>
              </c:pt>
              <c:pt idx="83">
                <c:v>6.6499999999999115</c:v>
              </c:pt>
              <c:pt idx="84">
                <c:v>6.6999999999999105</c:v>
              </c:pt>
              <c:pt idx="85">
                <c:v>6.7499999999999094</c:v>
              </c:pt>
              <c:pt idx="86">
                <c:v>6.7999999999999083</c:v>
              </c:pt>
              <c:pt idx="87">
                <c:v>6.8499999999999073</c:v>
              </c:pt>
              <c:pt idx="88">
                <c:v>6.8999999999999062</c:v>
              </c:pt>
              <c:pt idx="89">
                <c:v>6.9499999999999051</c:v>
              </c:pt>
              <c:pt idx="90">
                <c:v>6.9999999999999041</c:v>
              </c:pt>
              <c:pt idx="91">
                <c:v>7.049999999999903</c:v>
              </c:pt>
              <c:pt idx="92">
                <c:v>7.0999999999999019</c:v>
              </c:pt>
              <c:pt idx="93">
                <c:v>7.1499999999999009</c:v>
              </c:pt>
              <c:pt idx="94">
                <c:v>7.1999999999998998</c:v>
              </c:pt>
              <c:pt idx="95">
                <c:v>7.2499999999998987</c:v>
              </c:pt>
              <c:pt idx="96">
                <c:v>7.2999999999998977</c:v>
              </c:pt>
              <c:pt idx="97">
                <c:v>7.3499999999998966</c:v>
              </c:pt>
              <c:pt idx="98">
                <c:v>7.3999999999998956</c:v>
              </c:pt>
              <c:pt idx="99">
                <c:v>7.4499999999998945</c:v>
              </c:pt>
              <c:pt idx="100">
                <c:v>7.4999999999998934</c:v>
              </c:pt>
              <c:pt idx="101">
                <c:v>7.5499999999998924</c:v>
              </c:pt>
              <c:pt idx="102">
                <c:v>7.5999999999998913</c:v>
              </c:pt>
              <c:pt idx="103">
                <c:v>7.6499999999998902</c:v>
              </c:pt>
              <c:pt idx="104">
                <c:v>7.6999999999998892</c:v>
              </c:pt>
              <c:pt idx="105">
                <c:v>7.7499999999998881</c:v>
              </c:pt>
              <c:pt idx="106">
                <c:v>7.799999999999887</c:v>
              </c:pt>
              <c:pt idx="107">
                <c:v>7.849999999999886</c:v>
              </c:pt>
              <c:pt idx="108">
                <c:v>7.8999999999998849</c:v>
              </c:pt>
              <c:pt idx="109">
                <c:v>7.9499999999998838</c:v>
              </c:pt>
              <c:pt idx="110">
                <c:v>7.9999999999998828</c:v>
              </c:pt>
              <c:pt idx="111">
                <c:v>8.0499999999998817</c:v>
              </c:pt>
              <c:pt idx="112">
                <c:v>8.0999999999998806</c:v>
              </c:pt>
              <c:pt idx="113">
                <c:v>8.1499999999998796</c:v>
              </c:pt>
              <c:pt idx="114">
                <c:v>8.1999999999998785</c:v>
              </c:pt>
              <c:pt idx="115">
                <c:v>8.2499999999998774</c:v>
              </c:pt>
              <c:pt idx="116">
                <c:v>8.2999999999998764</c:v>
              </c:pt>
              <c:pt idx="117">
                <c:v>8.3499999999998753</c:v>
              </c:pt>
              <c:pt idx="118">
                <c:v>8.3999999999998742</c:v>
              </c:pt>
              <c:pt idx="119">
                <c:v>8.4499999999998732</c:v>
              </c:pt>
              <c:pt idx="120">
                <c:v>8.4999999999998721</c:v>
              </c:pt>
              <c:pt idx="121">
                <c:v>8.549999999999871</c:v>
              </c:pt>
              <c:pt idx="122">
                <c:v>8.59999999999987</c:v>
              </c:pt>
              <c:pt idx="123">
                <c:v>8.6499999999998689</c:v>
              </c:pt>
              <c:pt idx="124">
                <c:v>8.6999999999998678</c:v>
              </c:pt>
              <c:pt idx="125">
                <c:v>8.7499999999998668</c:v>
              </c:pt>
              <c:pt idx="126">
                <c:v>8.7999999999998657</c:v>
              </c:pt>
              <c:pt idx="127">
                <c:v>8.8499999999998646</c:v>
              </c:pt>
              <c:pt idx="128">
                <c:v>8.8999999999998636</c:v>
              </c:pt>
              <c:pt idx="129">
                <c:v>8.9499999999998625</c:v>
              </c:pt>
              <c:pt idx="130">
                <c:v>8.9999999999998614</c:v>
              </c:pt>
              <c:pt idx="131">
                <c:v>9.0499999999998604</c:v>
              </c:pt>
              <c:pt idx="132">
                <c:v>9.0999999999998593</c:v>
              </c:pt>
              <c:pt idx="133">
                <c:v>9.1499999999998582</c:v>
              </c:pt>
              <c:pt idx="134">
                <c:v>9.1999999999998572</c:v>
              </c:pt>
              <c:pt idx="135">
                <c:v>9.2499999999998561</c:v>
              </c:pt>
              <c:pt idx="136">
                <c:v>9.299999999999855</c:v>
              </c:pt>
              <c:pt idx="137">
                <c:v>9.349999999999854</c:v>
              </c:pt>
              <c:pt idx="138">
                <c:v>9.3999999999998529</c:v>
              </c:pt>
              <c:pt idx="139">
                <c:v>9.4499999999998519</c:v>
              </c:pt>
              <c:pt idx="140">
                <c:v>9.4999999999998508</c:v>
              </c:pt>
              <c:pt idx="141">
                <c:v>9.5499999999998497</c:v>
              </c:pt>
              <c:pt idx="142">
                <c:v>9.5999999999998487</c:v>
              </c:pt>
              <c:pt idx="143">
                <c:v>9.6499999999998476</c:v>
              </c:pt>
              <c:pt idx="144">
                <c:v>9.6999999999998465</c:v>
              </c:pt>
              <c:pt idx="145">
                <c:v>9.7499999999998455</c:v>
              </c:pt>
              <c:pt idx="146">
                <c:v>9.7999999999998444</c:v>
              </c:pt>
              <c:pt idx="147">
                <c:v>9.8499999999998433</c:v>
              </c:pt>
              <c:pt idx="148">
                <c:v>9.8999999999998423</c:v>
              </c:pt>
              <c:pt idx="149">
                <c:v>9.9499999999998412</c:v>
              </c:pt>
              <c:pt idx="150">
                <c:v>9.9999999999998401</c:v>
              </c:pt>
              <c:pt idx="151">
                <c:v>10.049999999999839</c:v>
              </c:pt>
              <c:pt idx="152">
                <c:v>10.099999999999838</c:v>
              </c:pt>
              <c:pt idx="153">
                <c:v>10.149999999999837</c:v>
              </c:pt>
              <c:pt idx="154">
                <c:v>10.199999999999836</c:v>
              </c:pt>
              <c:pt idx="155">
                <c:v>10.249999999999835</c:v>
              </c:pt>
              <c:pt idx="156">
                <c:v>10.299999999999834</c:v>
              </c:pt>
              <c:pt idx="157">
                <c:v>10.349999999999833</c:v>
              </c:pt>
              <c:pt idx="158">
                <c:v>10.399999999999832</c:v>
              </c:pt>
              <c:pt idx="159">
                <c:v>10.449999999999831</c:v>
              </c:pt>
              <c:pt idx="160">
                <c:v>10.499999999999829</c:v>
              </c:pt>
              <c:pt idx="161">
                <c:v>10.549999999999828</c:v>
              </c:pt>
              <c:pt idx="162">
                <c:v>10.599999999999827</c:v>
              </c:pt>
              <c:pt idx="163">
                <c:v>10.649999999999826</c:v>
              </c:pt>
              <c:pt idx="164">
                <c:v>10.699999999999825</c:v>
              </c:pt>
              <c:pt idx="165">
                <c:v>10.749999999999824</c:v>
              </c:pt>
              <c:pt idx="166">
                <c:v>10.799999999999823</c:v>
              </c:pt>
              <c:pt idx="167">
                <c:v>10.849999999999822</c:v>
              </c:pt>
              <c:pt idx="168">
                <c:v>10.899999999999821</c:v>
              </c:pt>
              <c:pt idx="169">
                <c:v>10.94999999999982</c:v>
              </c:pt>
              <c:pt idx="170">
                <c:v>10.999999999999819</c:v>
              </c:pt>
              <c:pt idx="171">
                <c:v>11.049999999999818</c:v>
              </c:pt>
              <c:pt idx="172">
                <c:v>11.099999999999817</c:v>
              </c:pt>
              <c:pt idx="173">
                <c:v>11.149999999999816</c:v>
              </c:pt>
              <c:pt idx="174">
                <c:v>11.199999999999815</c:v>
              </c:pt>
              <c:pt idx="175">
                <c:v>11.249999999999813</c:v>
              </c:pt>
              <c:pt idx="176">
                <c:v>11.299999999999812</c:v>
              </c:pt>
              <c:pt idx="177">
                <c:v>11.349999999999811</c:v>
              </c:pt>
              <c:pt idx="178">
                <c:v>11.39999999999981</c:v>
              </c:pt>
              <c:pt idx="179">
                <c:v>11.449999999999809</c:v>
              </c:pt>
              <c:pt idx="180">
                <c:v>11.499999999999808</c:v>
              </c:pt>
            </c:numLit>
          </c:xVal>
          <c:yVal>
            <c:numLit>
              <c:formatCode>0</c:formatCode>
              <c:ptCount val="181"/>
              <c:pt idx="0">
                <c:v>6.0443546726725236E-2</c:v>
              </c:pt>
              <c:pt idx="1">
                <c:v>8.0604207454195526E-2</c:v>
              </c:pt>
              <c:pt idx="2">
                <c:v>7.2847551285648543E-2</c:v>
              </c:pt>
              <c:pt idx="3">
                <c:v>0.19347726170108098</c:v>
              </c:pt>
              <c:pt idx="4">
                <c:v>1.7144056357175697E-3</c:v>
              </c:pt>
              <c:pt idx="5">
                <c:v>0.19279491996400105</c:v>
              </c:pt>
              <c:pt idx="6">
                <c:v>0.29247055879468453</c:v>
              </c:pt>
              <c:pt idx="7">
                <c:v>5.8090724967566565E-2</c:v>
              </c:pt>
              <c:pt idx="8">
                <c:v>5.2815301076887873E-2</c:v>
              </c:pt>
              <c:pt idx="9">
                <c:v>0.35469558627419018</c:v>
              </c:pt>
              <c:pt idx="10">
                <c:v>0.47069671665196533</c:v>
              </c:pt>
              <c:pt idx="11">
                <c:v>0.25078365443441619</c:v>
              </c:pt>
              <c:pt idx="12">
                <c:v>1.3766598590656931E-2</c:v>
              </c:pt>
              <c:pt idx="13">
                <c:v>0.11449161234789634</c:v>
              </c:pt>
              <c:pt idx="14">
                <c:v>0.48106192364978101</c:v>
              </c:pt>
              <c:pt idx="15">
                <c:v>0.77369288970888528</c:v>
              </c:pt>
              <c:pt idx="16">
                <c:v>0.7623188663122461</c:v>
              </c:pt>
              <c:pt idx="17">
                <c:v>0.46468616612090341</c:v>
              </c:pt>
              <c:pt idx="18">
                <c:v>0.1120967034040059</c:v>
              </c:pt>
              <c:pt idx="19">
                <c:v>1.4193905942103902E-2</c:v>
              </c:pt>
              <c:pt idx="20">
                <c:v>0.32100628979686963</c:v>
              </c:pt>
              <c:pt idx="21">
                <c:v>0.86592710810392048</c:v>
              </c:pt>
              <c:pt idx="22">
                <c:v>1.3430860434631691</c:v>
              </c:pt>
              <c:pt idx="23">
                <c:v>1.565361231918454</c:v>
              </c:pt>
              <c:pt idx="24">
                <c:v>1.4501715219439502</c:v>
              </c:pt>
              <c:pt idx="25">
                <c:v>1.0214251581451381</c:v>
              </c:pt>
              <c:pt idx="26">
                <c:v>0.4416318295167927</c:v>
              </c:pt>
              <c:pt idx="27">
                <c:v>2.7279931324862623E-2</c:v>
              </c:pt>
              <c:pt idx="28">
                <c:v>0.1704218003793756</c:v>
              </c:pt>
              <c:pt idx="29">
                <c:v>0.93840626259136606</c:v>
              </c:pt>
              <c:pt idx="30">
                <c:v>1.9745851037945081</c:v>
              </c:pt>
              <c:pt idx="31">
                <c:v>2.9207622193626843</c:v>
              </c:pt>
              <c:pt idx="32">
                <c:v>3.5306219269310004</c:v>
              </c:pt>
              <c:pt idx="33">
                <c:v>3.689110621304414</c:v>
              </c:pt>
              <c:pt idx="34">
                <c:v>3.2935972404423079</c:v>
              </c:pt>
              <c:pt idx="35">
                <c:v>2.2439769522466642</c:v>
              </c:pt>
              <c:pt idx="36">
                <c:v>0.69477888893119899</c:v>
              </c:pt>
              <c:pt idx="37">
                <c:v>0.12697757082549566</c:v>
              </c:pt>
              <c:pt idx="38">
                <c:v>2.7566726605939218</c:v>
              </c:pt>
              <c:pt idx="39">
                <c:v>6.663306249327289</c:v>
              </c:pt>
              <c:pt idx="40">
                <c:v>10.126484643736047</c:v>
              </c:pt>
              <c:pt idx="41">
                <c:v>13.05021905505761</c:v>
              </c:pt>
              <c:pt idx="42">
                <c:v>15.492105502030578</c:v>
              </c:pt>
              <c:pt idx="43">
                <c:v>17.588900573553968</c:v>
              </c:pt>
              <c:pt idx="44">
                <c:v>19.392550204576754</c:v>
              </c:pt>
              <c:pt idx="45">
                <c:v>20.972725298767926</c:v>
              </c:pt>
              <c:pt idx="46">
                <c:v>22.356289184674431</c:v>
              </c:pt>
              <c:pt idx="47">
                <c:v>23.580999545697164</c:v>
              </c:pt>
              <c:pt idx="48">
                <c:v>24.661331920112083</c:v>
              </c:pt>
              <c:pt idx="49">
                <c:v>25.622603717908206</c:v>
              </c:pt>
              <c:pt idx="50">
                <c:v>26.472072451168064</c:v>
              </c:pt>
              <c:pt idx="51">
                <c:v>27.228585695079989</c:v>
              </c:pt>
              <c:pt idx="52">
                <c:v>27.89760833801941</c:v>
              </c:pt>
              <c:pt idx="53">
                <c:v>28.493032703387691</c:v>
              </c:pt>
              <c:pt idx="54">
                <c:v>29.019559438852301</c:v>
              </c:pt>
              <c:pt idx="55">
                <c:v>29.487034288982695</c:v>
              </c:pt>
              <c:pt idx="56">
                <c:v>29.899891501776892</c:v>
              </c:pt>
              <c:pt idx="57">
                <c:v>30.266159754898535</c:v>
              </c:pt>
              <c:pt idx="58">
                <c:v>30.589859378367741</c:v>
              </c:pt>
              <c:pt idx="59">
                <c:v>30.876185446395613</c:v>
              </c:pt>
              <c:pt idx="60">
                <c:v>31.130086855475916</c:v>
              </c:pt>
              <c:pt idx="61">
                <c:v>31.354538456848999</c:v>
              </c:pt>
              <c:pt idx="62">
                <c:v>31.553323917407823</c:v>
              </c:pt>
              <c:pt idx="63">
                <c:v>31.729788636354762</c:v>
              </c:pt>
              <c:pt idx="64">
                <c:v>31.886481502706037</c:v>
              </c:pt>
              <c:pt idx="65">
                <c:v>32.02608136571385</c:v>
              </c:pt>
              <c:pt idx="66">
                <c:v>32.150906112984131</c:v>
              </c:pt>
              <c:pt idx="67">
                <c:v>32.262364516501698</c:v>
              </c:pt>
              <c:pt idx="68">
                <c:v>32.362797710119111</c:v>
              </c:pt>
              <c:pt idx="69">
                <c:v>32.453266037193821</c:v>
              </c:pt>
              <c:pt idx="70">
                <c:v>32.535458736011897</c:v>
              </c:pt>
              <c:pt idx="71">
                <c:v>32.610202024938701</c:v>
              </c:pt>
              <c:pt idx="72">
                <c:v>32.678988076045734</c:v>
              </c:pt>
              <c:pt idx="73">
                <c:v>32.742257485214083</c:v>
              </c:pt>
              <c:pt idx="74">
                <c:v>32.801143143006804</c:v>
              </c:pt>
              <c:pt idx="75">
                <c:v>32.856015609833335</c:v>
              </c:pt>
              <c:pt idx="76">
                <c:v>32.907902563718793</c:v>
              </c:pt>
              <c:pt idx="77">
                <c:v>32.956825801606598</c:v>
              </c:pt>
              <c:pt idx="78">
                <c:v>33.003699318023465</c:v>
              </c:pt>
              <c:pt idx="79">
                <c:v>33.048483247563652</c:v>
              </c:pt>
              <c:pt idx="80">
                <c:v>33.091837614386073</c:v>
              </c:pt>
              <c:pt idx="81">
                <c:v>33.133703190234044</c:v>
              </c:pt>
              <c:pt idx="82">
                <c:v>33.174662107879072</c:v>
              </c:pt>
              <c:pt idx="83">
                <c:v>33.214500376376257</c:v>
              </c:pt>
              <c:pt idx="84">
                <c:v>33.253703508679571</c:v>
              </c:pt>
              <c:pt idx="85">
                <c:v>33.292009580687044</c:v>
              </c:pt>
              <c:pt idx="86">
                <c:v>33.329807267922455</c:v>
              </c:pt>
              <c:pt idx="87">
                <c:v>33.366753400832309</c:v>
              </c:pt>
              <c:pt idx="88">
                <c:v>33.403249301438237</c:v>
              </c:pt>
              <c:pt idx="89">
                <c:v>33.438769098787958</c:v>
              </c:pt>
              <c:pt idx="90">
                <c:v>33.473730949367628</c:v>
              </c:pt>
              <c:pt idx="91">
                <c:v>33.507488671052535</c:v>
              </c:pt>
              <c:pt idx="92">
                <c:v>33.540408998528505</c:v>
              </c:pt>
              <c:pt idx="93">
                <c:v>33.571741264365926</c:v>
              </c:pt>
              <c:pt idx="94">
                <c:v>33.601873493473306</c:v>
              </c:pt>
              <c:pt idx="95">
                <c:v>33.629837283448907</c:v>
              </c:pt>
              <c:pt idx="96">
                <c:v>33.656063082572068</c:v>
              </c:pt>
              <c:pt idx="97">
                <c:v>33.679337037289869</c:v>
              </c:pt>
              <c:pt idx="98">
                <c:v>33.700200266250306</c:v>
              </c:pt>
              <c:pt idx="99">
                <c:v>33.717096205189392</c:v>
              </c:pt>
              <c:pt idx="100">
                <c:v>33.730724210036193</c:v>
              </c:pt>
              <c:pt idx="101">
                <c:v>33.739041544490675</c:v>
              </c:pt>
              <c:pt idx="102">
                <c:v>33.742888852094609</c:v>
              </c:pt>
              <c:pt idx="103">
                <c:v>33.739901601256307</c:v>
              </c:pt>
              <c:pt idx="104">
                <c:v>33.731084541130009</c:v>
              </c:pt>
              <c:pt idx="105">
                <c:v>33.713195540938251</c:v>
              </c:pt>
              <c:pt idx="106">
                <c:v>33.687860981711644</c:v>
              </c:pt>
              <c:pt idx="107">
                <c:v>33.650923361589157</c:v>
              </c:pt>
              <c:pt idx="108">
                <c:v>33.604302874533396</c:v>
              </c:pt>
              <c:pt idx="109">
                <c:v>33.54284950212633</c:v>
              </c:pt>
              <c:pt idx="110">
                <c:v>33.469181209213552</c:v>
              </c:pt>
              <c:pt idx="111">
                <c:v>33.376602668145509</c:v>
              </c:pt>
              <c:pt idx="112">
                <c:v>33.268904459698419</c:v>
              </c:pt>
              <c:pt idx="113">
                <c:v>33.137512814338706</c:v>
              </c:pt>
              <c:pt idx="114">
                <c:v>32.987087250161963</c:v>
              </c:pt>
              <c:pt idx="115">
                <c:v>32.80719483188512</c:v>
              </c:pt>
              <c:pt idx="116">
                <c:v>32.603987226204993</c:v>
              </c:pt>
              <c:pt idx="117">
                <c:v>32.363791285275603</c:v>
              </c:pt>
              <c:pt idx="118">
                <c:v>32.095223860673471</c:v>
              </c:pt>
              <c:pt idx="119">
                <c:v>31.781700140608361</c:v>
              </c:pt>
              <c:pt idx="120">
                <c:v>31.433468675604047</c:v>
              </c:pt>
              <c:pt idx="121">
                <c:v>31.0303726363178</c:v>
              </c:pt>
              <c:pt idx="122">
                <c:v>30.585430129874467</c:v>
              </c:pt>
              <c:pt idx="123">
                <c:v>30.073931463235709</c:v>
              </c:pt>
              <c:pt idx="124">
                <c:v>29.51177659601219</c:v>
              </c:pt>
              <c:pt idx="125">
                <c:v>28.868178969878411</c:v>
              </c:pt>
              <c:pt idx="126">
                <c:v>28.164432049000499</c:v>
              </c:pt>
              <c:pt idx="127">
                <c:v>27.360370485462138</c:v>
              </c:pt>
              <c:pt idx="128">
                <c:v>26.483430156095341</c:v>
              </c:pt>
              <c:pt idx="129">
                <c:v>25.481604797600404</c:v>
              </c:pt>
              <c:pt idx="130">
                <c:v>24.389632444239666</c:v>
              </c:pt>
              <c:pt idx="131">
                <c:v>23.137203510362028</c:v>
              </c:pt>
              <c:pt idx="132">
                <c:v>21.765072842601096</c:v>
              </c:pt>
              <c:pt idx="133">
                <c:v>20.18184673118575</c:v>
              </c:pt>
              <c:pt idx="134">
                <c:v>18.425770595900786</c:v>
              </c:pt>
              <c:pt idx="135">
                <c:v>16.364247821164653</c:v>
              </c:pt>
              <c:pt idx="136">
                <c:v>14.032132188940414</c:v>
              </c:pt>
              <c:pt idx="137">
                <c:v>11.21456905298492</c:v>
              </c:pt>
              <c:pt idx="138">
                <c:v>7.9353469896660691</c:v>
              </c:pt>
              <c:pt idx="139">
                <c:v>4.0236857779231974</c:v>
              </c:pt>
              <c:pt idx="140">
                <c:v>0.66425438299178485</c:v>
              </c:pt>
              <c:pt idx="141">
                <c:v>0.26569826399314334</c:v>
              </c:pt>
              <c:pt idx="142">
                <c:v>1.7715308594600181</c:v>
              </c:pt>
              <c:pt idx="143">
                <c:v>3.0411669770919931</c:v>
              </c:pt>
              <c:pt idx="144">
                <c:v>3.6262093903108026</c:v>
              </c:pt>
              <c:pt idx="145">
                <c:v>3.6317579677386242</c:v>
              </c:pt>
              <c:pt idx="146">
                <c:v>3.1564567733560112</c:v>
              </c:pt>
              <c:pt idx="147">
                <c:v>2.2855622827575641</c:v>
              </c:pt>
              <c:pt idx="148">
                <c:v>1.257538730925829</c:v>
              </c:pt>
              <c:pt idx="149">
                <c:v>0.34674284775351494</c:v>
              </c:pt>
              <c:pt idx="150">
                <c:v>1.8769125900169306E-4</c:v>
              </c:pt>
              <c:pt idx="151">
                <c:v>0.27963143995773365</c:v>
              </c:pt>
              <c:pt idx="152">
                <c:v>0.8429254222549637</c:v>
              </c:pt>
              <c:pt idx="153">
                <c:v>1.3505787239020075</c:v>
              </c:pt>
              <c:pt idx="154">
                <c:v>1.5654054568498244</c:v>
              </c:pt>
              <c:pt idx="155">
                <c:v>1.4427567206364664</c:v>
              </c:pt>
              <c:pt idx="156">
                <c:v>1.0353637441802839</c:v>
              </c:pt>
              <c:pt idx="157">
                <c:v>0.47235014327389158</c:v>
              </c:pt>
              <c:pt idx="158">
                <c:v>7.0796605226756237E-2</c:v>
              </c:pt>
              <c:pt idx="159">
                <c:v>4.2759060874929984E-2</c:v>
              </c:pt>
              <c:pt idx="160">
                <c:v>0.34406926328660559</c:v>
              </c:pt>
              <c:pt idx="161">
                <c:v>0.69772422034015236</c:v>
              </c:pt>
              <c:pt idx="162">
                <c:v>0.80578424156844886</c:v>
              </c:pt>
              <c:pt idx="163">
                <c:v>0.59095096880278719</c:v>
              </c:pt>
              <c:pt idx="164">
                <c:v>0.21897622216739399</c:v>
              </c:pt>
              <c:pt idx="165">
                <c:v>3.2487885267155767E-4</c:v>
              </c:pt>
              <c:pt idx="166">
                <c:v>0.15490333971940892</c:v>
              </c:pt>
              <c:pt idx="167">
                <c:v>0.43425671247980469</c:v>
              </c:pt>
              <c:pt idx="168">
                <c:v>0.43022942317811541</c:v>
              </c:pt>
              <c:pt idx="169">
                <c:v>0.12964936754658196</c:v>
              </c:pt>
              <c:pt idx="170">
                <c:v>8.2835830658226101E-3</c:v>
              </c:pt>
              <c:pt idx="171">
                <c:v>0.23979691203671408</c:v>
              </c:pt>
              <c:pt idx="172">
                <c:v>0.2711167284367117</c:v>
              </c:pt>
              <c:pt idx="173">
                <c:v>1.4044929563489109E-2</c:v>
              </c:pt>
              <c:pt idx="174">
                <c:v>0.12251144839213202</c:v>
              </c:pt>
              <c:pt idx="175">
                <c:v>0.15168863882409722</c:v>
              </c:pt>
              <c:pt idx="176">
                <c:v>1.1027970668496388E-2</c:v>
              </c:pt>
              <c:pt idx="177">
                <c:v>0.13246457333293937</c:v>
              </c:pt>
              <c:pt idx="178">
                <c:v>2.8225373872105858E-2</c:v>
              </c:pt>
              <c:pt idx="179">
                <c:v>9.488163534895162E-3</c:v>
              </c:pt>
              <c:pt idx="180">
                <c:v>7.1085357131454668E-2</c:v>
              </c:pt>
            </c:numLit>
          </c:yVal>
          <c:smooth val="1"/>
          <c:extLst>
            <c:ext xmlns:c16="http://schemas.microsoft.com/office/drawing/2014/chart" uri="{C3380CC4-5D6E-409C-BE32-E72D297353CC}">
              <c16:uniqueId val="{00000002-B82D-7F42-A823-8788DA2D3E26}"/>
            </c:ext>
          </c:extLst>
        </c:ser>
        <c:dLbls>
          <c:showLegendKey val="0"/>
          <c:showVal val="0"/>
          <c:showCatName val="0"/>
          <c:showSerName val="0"/>
          <c:showPercent val="0"/>
          <c:showBubbleSize val="0"/>
        </c:dLbls>
        <c:axId val="48650112"/>
        <c:axId val="48672768"/>
      </c:scatterChart>
      <c:valAx>
        <c:axId val="48672768"/>
        <c:scaling>
          <c:orientation val="minMax"/>
          <c:max val="45"/>
          <c:min val="-20"/>
        </c:scaling>
        <c:delete val="0"/>
        <c:axPos val="l"/>
        <c:majorGridlines>
          <c:spPr>
            <a:ln w="7144">
              <a:solidFill>
                <a:srgbClr val="E1E1E1"/>
              </a:solidFill>
              <a:prstDash val="solid"/>
            </a:ln>
          </c:spPr>
        </c:majorGridlines>
        <c:title>
          <c:tx>
            <c:rich>
              <a:bodyPr/>
              <a:lstStyle/>
              <a:p>
                <a:r>
                  <a:rPr lang="en-US" sz="1200">
                    <a:solidFill>
                      <a:srgbClr val="111111"/>
                    </a:solidFill>
                  </a:rPr>
                  <a:t>Gain [dB]</a:t>
                </a:r>
              </a:p>
            </c:rich>
          </c:tx>
          <c:overlay val="0"/>
        </c:title>
        <c:numFmt formatCode="0" sourceLinked="1"/>
        <c:majorTickMark val="none"/>
        <c:minorTickMark val="none"/>
        <c:tickLblPos val="nextTo"/>
        <c:spPr>
          <a:ln w="9525">
            <a:solidFill>
              <a:srgbClr val="444444"/>
            </a:solidFill>
            <a:prstDash val="solid"/>
          </a:ln>
        </c:spPr>
        <c:txPr>
          <a:bodyPr anchorCtr="1"/>
          <a:lstStyle/>
          <a:p>
            <a:pPr>
              <a:defRPr sz="1200">
                <a:solidFill>
                  <a:srgbClr val="111111"/>
                </a:solidFill>
              </a:defRPr>
            </a:pPr>
            <a:endParaRPr lang="en-JP"/>
          </a:p>
        </c:txPr>
        <c:crossAx val="48650112"/>
        <c:crosses val="autoZero"/>
        <c:crossBetween val="midCat"/>
        <c:majorUnit val="10"/>
      </c:valAx>
      <c:valAx>
        <c:axId val="48650112"/>
        <c:scaling>
          <c:orientation val="minMax"/>
          <c:max val="11"/>
          <c:min val="2"/>
        </c:scaling>
        <c:delete val="0"/>
        <c:axPos val="b"/>
        <c:title>
          <c:tx>
            <c:rich>
              <a:bodyPr/>
              <a:lstStyle/>
              <a:p>
                <a:r>
                  <a:rPr lang="en-US" sz="1200">
                    <a:solidFill>
                      <a:srgbClr val="111111"/>
                    </a:solidFill>
                  </a:rPr>
                  <a:t>Signal frequency [GHz]</a:t>
                </a:r>
              </a:p>
            </c:rich>
          </c:tx>
          <c:overlay val="0"/>
        </c:title>
        <c:numFmt formatCode="General" sourceLinked="1"/>
        <c:majorTickMark val="none"/>
        <c:minorTickMark val="none"/>
        <c:tickLblPos val="nextTo"/>
        <c:spPr>
          <a:ln w="9525">
            <a:solidFill>
              <a:srgbClr val="444444"/>
            </a:solidFill>
            <a:prstDash val="solid"/>
          </a:ln>
        </c:spPr>
        <c:txPr>
          <a:bodyPr anchorCtr="1"/>
          <a:lstStyle/>
          <a:p>
            <a:pPr>
              <a:defRPr sz="1200">
                <a:solidFill>
                  <a:srgbClr val="111111"/>
                </a:solidFill>
              </a:defRPr>
            </a:pPr>
            <a:endParaRPr lang="en-JP"/>
          </a:p>
        </c:txPr>
        <c:crossAx val="48672768"/>
        <c:crosses val="autoZero"/>
        <c:crossBetween val="midCat"/>
        <c:majorUnit val="1"/>
      </c:valAx>
      <c:spPr>
        <a:solidFill>
          <a:srgbClr val="FFFFFF"/>
        </a:solidFill>
        <a:ln w="7144">
          <a:solidFill>
            <a:srgbClr val="B5B5B5"/>
          </a:solidFill>
          <a:prstDash val="solid"/>
        </a:ln>
      </c:spPr>
    </c:plotArea>
    <c:legend>
      <c:legendPos val="b"/>
      <c:overlay val="0"/>
      <c:spPr>
        <a:noFill/>
      </c:spPr>
      <c:txPr>
        <a:bodyPr anchorCtr="1"/>
        <a:lstStyle/>
        <a:p>
          <a:pPr>
            <a:defRPr sz="1050">
              <a:solidFill>
                <a:srgbClr val="111111"/>
              </a:solidFill>
            </a:defRPr>
          </a:pPr>
          <a:endParaRPr lang="en-JP"/>
        </a:p>
      </c:txPr>
    </c:legend>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Today I will present our work on kinetic-inductance traveling-wave parametric amplifiers. The goal was to understand whether we can reproduce a broadband amplifier using HFSS and TWPAlab. I will begin with the amplification physics, then follow the modelling workflow from geometry to gain, and finish with our results and the changes needed for the next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outline. First, I will explain the requirement: low-noise, broadband first-stage amplification. Second, I will introduce three-wave mixing and the idler. Third, I will explain why phase matching is needed for gain. Then I will show the validation workflow, beginning with the passive HFSS response and ending with the nonlinear prediction. Finally, I will interpret the remaining frequency offset and reflection-induced ripple.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a:t>
            </a:r>
            <a:r>
              <a:rPr lang="en-US" dirty="0"/>
              <a:t>KI-TWPA</a:t>
            </a:r>
            <a:r>
              <a:rPr dirty="0"/>
              <a:t> turns a weak signal into one we can measure. Reading the diagram from left to right, step one is the weak signal entering the device. It carries our information, but its amplitude is very small. In step two, we apply a strong pump, which supplies energy to the nonlinear KI-TWPA. In step three, the signal leaves with a larger amplitude and becomes easier to distinguish from noise. The teal wave is the idler, a companion wave created during this process.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Many readout tones need one wide, low-noise amplifier. At the top left, multiplexed readout means that many qubits use different frequencies on the same microwave line. Bandwidth is simply the frequency range over which the amplifier provides useful gain. On the right, a resonant JPA is very low-noise but typically covers only about one hundred megahertz. A KI-TWPA spreads the interaction along a transmission line and can cover more than three gigahertz, so it can amplify many readout tones together.</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Nonlinear coupling lets pump energy amplify the signal. The diagram on the right shows the pump entering the nonlinear kinetic inductance and producing an amplified signal together with the idler. On the left, energy conservation is omega p equals omega s plus omega </a:t>
            </a:r>
            <a:r>
              <a:rPr dirty="0" err="1"/>
              <a:t>i</a:t>
            </a:r>
            <a:r>
              <a:rPr dirty="0"/>
              <a:t>. Momentum conservation appears as delta beta approximately equal to zero. The key sentence on the slide is that a linear element keeps the waves separate. The nonlinear inductance couples them, and phase matching keeps the energy transfer adding along the line.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Pump-signal multiplication creates the idler. On the left, the two inputs are the signal, A s cosine omega s t, and the pump, A p cosine omega p t. A linear element can only scale them. On the right, the nonlinear response contains their product. Applying the product-to-sum identity creates a difference term and a sum term. The result at the bottom highlights the important one: cosine of omega p minus omega s. Its frequency is omega </a:t>
            </a:r>
            <a:r>
              <a:rPr dirty="0" err="1"/>
              <a:t>i</a:t>
            </a:r>
            <a:r>
              <a:rPr dirty="0"/>
              <a:t>, so the idler is created inside the nonlinear device rather than supplied as another input.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DC bias activates three-wave mixing in the kinetic inductance. </a:t>
            </a:r>
            <a:endParaRPr lang="en-US" dirty="0"/>
          </a:p>
          <a:p>
            <a:endParaRPr lang="en-JP" dirty="0"/>
          </a:p>
          <a:p>
            <a:r>
              <a:rPr dirty="0"/>
              <a:t>On the left, kinetic inductance increases approximately with current squared, which is an even nonlinearity. </a:t>
            </a:r>
            <a:endParaRPr lang="en-US" dirty="0"/>
          </a:p>
          <a:p>
            <a:r>
              <a:rPr dirty="0"/>
              <a:t>On the right, we bias the line around a nonzero operating point by writing the current as I DC plus the microwave current. </a:t>
            </a:r>
            <a:endParaRPr lang="en-US" dirty="0"/>
          </a:p>
          <a:p>
            <a:r>
              <a:rPr dirty="0"/>
              <a:t>After expanding around that point, the coefficient epsilon becomes nonzero. The conclusion shown at the bottom is the important one: when I DC is not zero, epsilon is not zero, and three-wave mixing is allowed.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Three-wave mixing separates the pump from the amplified signal band. In the left column, one pump photon produces a signal and an idler, so omega p equals omega s plus omega </a:t>
            </a:r>
            <a:r>
              <a:rPr dirty="0" err="1"/>
              <a:t>i</a:t>
            </a:r>
            <a:r>
              <a:rPr dirty="0"/>
              <a:t>. The signal band can therefore lie near half the pump frequency. In the right column, four-wave mixing uses two pump photons, and the signal and idler lie around the pump itself. The takeaway at the bottom is that three-wave mixing permits a lower pump frequency for a given signal band and makes filtering the strong pump easier.</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Phase matching keeps every small contribution adding to the signal. In the upper picture, delta beta is close to zero, the crests stay aligned, and each section adds constructively. In the lower picture, delta beta is not zero, the phase drifts, and later contributions partly cancel earlier ones. The design goal written on the right is therefore to engineer the dispersion so delta beta stays near zero across the useful signal band. That is what motivates the periodic structure on the next slide.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Periodic loading supplies the dispersion required for phase matching. The geometry on the right alternates unloaded cells with a group of loaded cells. </a:t>
            </a:r>
            <a:endParaRPr lang="en-US" dirty="0"/>
          </a:p>
          <a:p>
            <a:endParaRPr lang="en-JP" dirty="0"/>
          </a:p>
          <a:p>
            <a:r>
              <a:rPr dirty="0"/>
              <a:t>The paper's design targets are about forty-eight ohms for the unloaded cells and seventy-eight ohms for the loaded cells. Repeating this impedance contrast opens a bandgap near the pump. </a:t>
            </a:r>
            <a:endParaRPr lang="en-US" dirty="0"/>
          </a:p>
          <a:p>
            <a:endParaRPr lang="en-JP" dirty="0"/>
          </a:p>
          <a:p>
            <a:r>
              <a:rPr dirty="0"/>
              <a:t>Around the bandgap edge, the propagation constant changes rapidly with frequency, providing the dispersion needed to compensate the phase mismatch.</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HFSS captures field coupling and the superconducting surface impedance. Starting with the stack on the left and reading from bottom to top, we have the silicon substrate, the </a:t>
            </a:r>
            <a:r>
              <a:rPr dirty="0" err="1"/>
              <a:t>NbTiN</a:t>
            </a:r>
            <a:r>
              <a:rPr dirty="0"/>
              <a:t> signal, the amorphous-silicon dielectric, and the niobium ground. The </a:t>
            </a:r>
            <a:r>
              <a:rPr dirty="0" err="1"/>
              <a:t>NbTiN</a:t>
            </a:r>
            <a:r>
              <a:rPr dirty="0"/>
              <a:t> is represented by the complex surface impedance shown on the slide. For our lossless baseline, R s is zero and the sheet kinetic inductance is thirty picohenries per square. At the top right is the extraction workflow: two-port HFSS gives S of f, we convert S to ABCD, fit L, C, and L f, calculate Z zero, and then select the stub lengths.</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compares the paper targets with our HFSS extraction. The paper uses approximately forty-eight ohms for the unloaded section and seventy-eight ohms for the loaded section. With the same nominal geometry, our values are forty-three point zero nine and seventy point two ohms. On the right is the single-cell HFSS geometry and the lossless superconductor boundary. The chain at the bottom summarizes why this matters: geometry determines k of f, k determines delta beta, and delta beta determines the gain bandwidth.</a:t>
            </a:r>
            <a:endParaRPr lang="en-US" dirty="0"/>
          </a:p>
          <a:p>
            <a:endParaRPr lang="en-JP" dirty="0"/>
          </a:p>
          <a:p>
            <a:endParaRPr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HFSS cell simulations link loading geometry to effective impedance. </a:t>
            </a:r>
            <a:endParaRPr lang="en-US" dirty="0"/>
          </a:p>
          <a:p>
            <a:endParaRPr lang="en-JP" dirty="0"/>
          </a:p>
          <a:p>
            <a:r>
              <a:rPr dirty="0"/>
              <a:t>In the graph, stub length is on the horizontal axis and effective impedance is on the vertical axis. The orange points are our HFSS samples, the orange curve is their fitted trend, and the blue curve is the reference from the paper. On the right, the two selected points are called out directly: three point nine </a:t>
            </a:r>
            <a:r>
              <a:rPr dirty="0" err="1"/>
              <a:t>micrometres</a:t>
            </a:r>
            <a:r>
              <a:rPr dirty="0"/>
              <a:t> gives seventy point two ohms for the short loaded cell, while about twelve </a:t>
            </a:r>
            <a:r>
              <a:rPr dirty="0" err="1"/>
              <a:t>micrometres</a:t>
            </a:r>
            <a:r>
              <a:rPr dirty="0"/>
              <a:t> gives forty-three point zero nine ohms for the long unloaded cell.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HFSS turns the device geometry into a microwave response. </a:t>
            </a:r>
            <a:endParaRPr lang="en-US" dirty="0"/>
          </a:p>
          <a:p>
            <a:endParaRPr lang="en-JP" dirty="0"/>
          </a:p>
          <a:p>
            <a:r>
              <a:rPr dirty="0"/>
              <a:t>First, we model the cell between two fifty-ohm ports. </a:t>
            </a:r>
            <a:endParaRPr lang="en-US" dirty="0"/>
          </a:p>
          <a:p>
            <a:endParaRPr lang="en-JP" dirty="0"/>
          </a:p>
          <a:p>
            <a:r>
              <a:rPr dirty="0"/>
              <a:t>Second, HFSS solves the microwave fields. </a:t>
            </a:r>
            <a:endParaRPr lang="en-US" dirty="0"/>
          </a:p>
          <a:p>
            <a:endParaRPr lang="en-JP" dirty="0"/>
          </a:p>
          <a:p>
            <a:r>
              <a:rPr dirty="0"/>
              <a:t>Third, we export all four S-parameters over frequency. That is the raw HFSS output. </a:t>
            </a:r>
            <a:endParaRPr lang="en-US" dirty="0"/>
          </a:p>
          <a:p>
            <a:endParaRPr lang="en-JP" dirty="0"/>
          </a:p>
          <a:p>
            <a:r>
              <a:rPr dirty="0"/>
              <a:t>Below, the single-cell response gives L, C, L</a:t>
            </a:r>
            <a:r>
              <a:rPr lang="en-US" dirty="0"/>
              <a:t>(</a:t>
            </a:r>
            <a:r>
              <a:rPr dirty="0"/>
              <a:t>f</a:t>
            </a:r>
            <a:r>
              <a:rPr lang="en-US" dirty="0"/>
              <a:t>)</a:t>
            </a:r>
            <a:r>
              <a:rPr dirty="0"/>
              <a:t>, and the validation value Z zero. The supercell response gives k B, alpha B, Z B, and then Gamma B. The final sentence is important: HFSS remains passive. It predicts propagation and reflection, not parametric gain.</a:t>
            </a:r>
            <a:endParaRPr lang="en-US" dirty="0"/>
          </a:p>
          <a:p>
            <a:endParaRPr lang="en-JP" dirty="0"/>
          </a:p>
          <a:p>
            <a:r>
              <a:rPr lang="en-US" b="1" dirty="0" err="1"/>
              <a:t>k^B</a:t>
            </a:r>
            <a:r>
              <a:rPr lang="en-US" b="1" dirty="0"/>
              <a:t>(f): Bloch phase constant</a:t>
            </a:r>
          </a:p>
          <a:p>
            <a:endParaRPr lang="en-US" dirty="0"/>
          </a:p>
          <a:p>
            <a:r>
              <a:rPr lang="en-US" dirty="0"/>
              <a:t>how much phase the wave accumulates as it moves through each cell.</a:t>
            </a:r>
          </a:p>
          <a:p>
            <a:endParaRPr lang="en-US" dirty="0"/>
          </a:p>
          <a:p>
            <a:r>
              <a:rPr lang="en-US" b="1" dirty="0" err="1"/>
              <a:t>alpha^B</a:t>
            </a:r>
            <a:r>
              <a:rPr lang="en-US" b="1" dirty="0"/>
              <a:t>(f): Bloch attenuation or evanescence:</a:t>
            </a:r>
          </a:p>
          <a:p>
            <a:endParaRPr lang="en-US" dirty="0"/>
          </a:p>
          <a:p>
            <a:r>
              <a:rPr lang="en-US" dirty="0"/>
              <a:t>This describes how the amplitude changes as the wave moves from cell to cell</a:t>
            </a:r>
          </a:p>
          <a:p>
            <a:endParaRPr lang="en-US" dirty="0"/>
          </a:p>
          <a:p>
            <a:r>
              <a:rPr lang="en-US" b="1" dirty="0"/>
              <a:t>Z^B(f): Bloch impedance</a:t>
            </a:r>
          </a:p>
          <a:p>
            <a:endParaRPr lang="en-US" b="1" dirty="0"/>
          </a:p>
          <a:p>
            <a:r>
              <a:rPr lang="en-US" dirty="0"/>
              <a:t>voltage-to-current ratio of the forward Bloch mode: Z^B=V/I</a:t>
            </a:r>
          </a:p>
          <a:p>
            <a:endParaRPr lang="en-US" dirty="0"/>
          </a:p>
          <a:p>
            <a:r>
              <a:rPr lang="en-US" b="1" dirty="0" err="1"/>
              <a:t>Gamma^B</a:t>
            </a:r>
            <a:r>
              <a:rPr lang="en-US" b="1" dirty="0"/>
              <a:t>(f): boundary reflection coefficient</a:t>
            </a:r>
          </a:p>
          <a:p>
            <a:endParaRPr lang="en-US" b="1" dirty="0"/>
          </a:p>
          <a:p>
            <a:r>
              <a:rPr lang="en-US" dirty="0"/>
              <a:t>how much of the Bloch wave is reflected when it encounters a 50 </a:t>
            </a:r>
            <a:r>
              <a:rPr lang="el-GR" dirty="0"/>
              <a:t>Ω </a:t>
            </a:r>
            <a:r>
              <a:rPr lang="en-US" dirty="0"/>
              <a:t>boundary</a:t>
            </a:r>
            <a:endParaRPr lang="en-US" b="1" dirty="0"/>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TWPAlab</a:t>
            </a:r>
            <a:r>
              <a:rPr dirty="0"/>
              <a:t> combines the HFSS data with the operating point to predict gain. </a:t>
            </a:r>
            <a:endParaRPr lang="en-US" dirty="0"/>
          </a:p>
          <a:p>
            <a:endParaRPr lang="en-JP" dirty="0"/>
          </a:p>
          <a:p>
            <a:r>
              <a:rPr lang="en-US" dirty="0"/>
              <a:t>T</a:t>
            </a:r>
            <a:r>
              <a:rPr dirty="0"/>
              <a:t>he HFSS propagation input is k B together with Gamma B. The cell model supplies L, C, and L f. The operating point supplies I DC, pump current, I star, and the number of cells. </a:t>
            </a:r>
            <a:endParaRPr lang="en-US" dirty="0"/>
          </a:p>
          <a:p>
            <a:endParaRPr lang="en-JP" dirty="0"/>
          </a:p>
          <a:p>
            <a:r>
              <a:rPr dirty="0"/>
              <a:t>These enter the </a:t>
            </a:r>
            <a:r>
              <a:rPr dirty="0" err="1"/>
              <a:t>TWPAlab</a:t>
            </a:r>
            <a:r>
              <a:rPr dirty="0"/>
              <a:t> coupled-mode solver. The lower row then shows what we predict: gain versus signal frequency, bandwidth and phase matching, and ripple from reflections. Z B is already included through Gamma B, and because the HFSS baseline is lossless, the solver's dissipative alpha is set to zero.</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HFSS supercell places the engineered stopband near twelve gigahertz. </a:t>
            </a:r>
            <a:endParaRPr lang="en-US" dirty="0"/>
          </a:p>
          <a:p>
            <a:endParaRPr lang="en-JP" dirty="0"/>
          </a:p>
          <a:p>
            <a:r>
              <a:rPr dirty="0"/>
              <a:t>The transmission plot on the left shows the frequency region where propagation is suppressed. </a:t>
            </a:r>
            <a:endParaRPr lang="en-US" dirty="0"/>
          </a:p>
          <a:p>
            <a:endParaRPr lang="en-JP" dirty="0"/>
          </a:p>
          <a:p>
            <a:r>
              <a:rPr lang="en-US" dirty="0"/>
              <a:t>The right graph, measures the deviation of the propagation phase per cell from an ideal linear transmission line; therefore, it directly shows the dispersion. The bare line has smooth dispersion, while periodic loading creates sharp changes near the stopbands around 12 and 24 GHz. The strong dispersion near the first stopband helps phase-match the pump, signal and idler, allowing gain to accumulate.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 predicted gain follows a U-shaped phase-matched region. The horizontal axis of the colour map is signal frequency, the vertical axis is pump frequency, and the colour represents predicted gain. Bright colours mean high gain, while black means low gain or an invalid calculation region. The cyan line is the effective phase-matching contour, where delta k is zero. The bright region follows that contour, which connects phase matching directly to gain. The caveat on the right is that the narrow feature near twelve to twelve point five gigahertz is treated as an artifact, not validated physical gain.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Pump tuning brings our model to a three point one six gigahertz bandwidth. The numbers on the left give the comparison. Our model peaks at thirty-three point seven four decibels, which is about six decibels above the experiment. For bandwidth, however, our three point one six gigahertz nearly matches the paper's three point one five. The graph on the right shows the three curves after selecting a pump at thirteen point eight six five gigahertz. The conclusion at the bottom is that pump tuning matches the width, while peak gain and absolute pump frequency remain offset.</a:t>
            </a:r>
            <a:endParaRPr lang="en-US" dirty="0"/>
          </a:p>
          <a:p>
            <a:endParaRPr lang="en-JP" dirty="0"/>
          </a:p>
          <a:p>
            <a:endParaRPr lang="en-JP" dirty="0"/>
          </a:p>
          <a:p>
            <a:r>
              <a:rPr lang="en-US" dirty="0"/>
              <a:t>In the paper, they sweep the pump frequency near the photonic-bandgap edge and measure the gain spectrum for every pump setting. For each spectrum they calculate the 3 dB bandwidth and the gain–bandwidth product, then select the pump that maximizes the gain–bandwidth product.</a:t>
            </a:r>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your attention. The appendix contains the mathematical extraction and the exact HFSS-to-TWPAlab handoff. Do you have any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appendix shows how the single-cell S-matrix gives L, C, and L f. Step one is on the left. We convert S of f into an ABCD matrix. At low frequency, B is approximately j omega L, so L is the average of the imaginary part of B divided by omega. Step two is on the right. We calculate an effective capacitance and fit its inverse against omega squared. The intercept gives C, and the slope gives L f. The bottom line then gives Z zero as the square root of L over 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appendix shows how the supercell eigenmode gives the Bloch quantities. In step one, the ABCD matrix acting on voltage and current gives the Bloch eigenvalue lambda B. Its phase gives k B, and its magnitude gives alpha B; both are divided by the thirty-four cells in the supercell. In step two, the eigenvector gives the Bloch impedance Z B as voltage over current. In step three, we compare Z B with fifty ohms to obtain Gamma B. If Z B equals fifty ohms, Gamma B is zero and there is no boundary mismatch.</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final appendix shows the exact HFSS-to-</a:t>
            </a:r>
            <a:r>
              <a:rPr dirty="0" err="1"/>
              <a:t>TWPAlab</a:t>
            </a:r>
            <a:r>
              <a:rPr dirty="0"/>
              <a:t> handoff. In the left column, L, C, and L f create the cell model, while Z zero remains a validation value. The propagation arrays receive k B and Gamma B. In the right column, the zero-loss policy sets the solver's dissipative alpha to zero, while alpha B is stored separately as Bloch evanescence. Z B enters through Gamma B rather than directly. The line at the bottom gives the final step: add I DC, pump current, I star, and the number of cells, then solve the coupled pump, signal, and idler modes.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reflection study shows that lower ripple does not guarantee better gain. On the left, the baseline has Gamma near zero point zero one nine, four point one decibels of ripple, and about thirty-two point four decibels of mean gain. The stub-only redesign has a larger Gamma, around zero point zero seven three. Its ripple is lower, at two point seven four decibels, but its mean gain falls to twenty-three point five decibels. The plot on the right shows those frequency-dependent oscillations. The key result is the red sentence: lower ripple coincides with about nine decibels less mean gain.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tx2"/>
        </a:solidFill>
        <a:effectLst/>
      </p:bgPr>
    </p:bg>
    <p:spTree>
      <p:nvGrpSpPr>
        <p:cNvPr id="1" name=""/>
        <p:cNvGrpSpPr/>
        <p:nvPr/>
      </p:nvGrpSpPr>
      <p:grpSpPr>
        <a:xfrm>
          <a:off x="0" y="0"/>
          <a:ext cx="0" cy="0"/>
          <a:chOff x="0" y="0"/>
          <a:chExt cx="0" cy="0"/>
        </a:xfrm>
      </p:grpSpPr>
      <p:sp>
        <p:nvSpPr>
          <p:cNvPr id="41" name="Espace réservé pour une image  40">
            <a:extLst>
              <a:ext uri="{FF2B5EF4-FFF2-40B4-BE49-F238E27FC236}">
                <a16:creationId xmlns:a16="http://schemas.microsoft.com/office/drawing/2014/main" id="{92070D8D-CA3B-F9F3-4459-889D0035ACAF}"/>
              </a:ext>
            </a:extLst>
          </p:cNvPr>
          <p:cNvSpPr>
            <a:spLocks noGrp="1"/>
          </p:cNvSpPr>
          <p:nvPr>
            <p:ph type="pic" idx="10"/>
          </p:nvPr>
        </p:nvSpPr>
        <p:spPr>
          <a:xfrm>
            <a:off x="2" y="0"/>
            <a:ext cx="12191998" cy="6858000"/>
          </a:xfrm>
          <a:custGeom>
            <a:avLst/>
            <a:gdLst>
              <a:gd name="connsiteX0" fmla="*/ 1047876 w 12191998"/>
              <a:gd name="connsiteY0" fmla="*/ 414079 h 6858000"/>
              <a:gd name="connsiteX1" fmla="*/ 1124412 w 12191998"/>
              <a:gd name="connsiteY1" fmla="*/ 414079 h 6858000"/>
              <a:gd name="connsiteX2" fmla="*/ 1157024 w 12191998"/>
              <a:gd name="connsiteY2" fmla="*/ 415945 h 6858000"/>
              <a:gd name="connsiteX3" fmla="*/ 1184611 w 12191998"/>
              <a:gd name="connsiteY3" fmla="*/ 423190 h 6858000"/>
              <a:gd name="connsiteX4" fmla="*/ 1203730 w 12191998"/>
              <a:gd name="connsiteY4" fmla="*/ 438343 h 6858000"/>
              <a:gd name="connsiteX5" fmla="*/ 1210935 w 12191998"/>
              <a:gd name="connsiteY5" fmla="*/ 463999 h 6858000"/>
              <a:gd name="connsiteX6" fmla="*/ 1203730 w 12191998"/>
              <a:gd name="connsiteY6" fmla="*/ 489655 h 6858000"/>
              <a:gd name="connsiteX7" fmla="*/ 1184611 w 12191998"/>
              <a:gd name="connsiteY7" fmla="*/ 504809 h 6858000"/>
              <a:gd name="connsiteX8" fmla="*/ 1157024 w 12191998"/>
              <a:gd name="connsiteY8" fmla="*/ 512053 h 6858000"/>
              <a:gd name="connsiteX9" fmla="*/ 1124412 w 12191998"/>
              <a:gd name="connsiteY9" fmla="*/ 513919 h 6858000"/>
              <a:gd name="connsiteX10" fmla="*/ 1047876 w 12191998"/>
              <a:gd name="connsiteY10" fmla="*/ 513919 h 6858000"/>
              <a:gd name="connsiteX11" fmla="*/ 1761701 w 12191998"/>
              <a:gd name="connsiteY11" fmla="*/ 331195 h 6858000"/>
              <a:gd name="connsiteX12" fmla="*/ 1761701 w 12191998"/>
              <a:gd name="connsiteY12" fmla="*/ 779561 h 6858000"/>
              <a:gd name="connsiteX13" fmla="*/ 2085670 w 12191998"/>
              <a:gd name="connsiteY13" fmla="*/ 779561 h 6858000"/>
              <a:gd name="connsiteX14" fmla="*/ 2085670 w 12191998"/>
              <a:gd name="connsiteY14" fmla="*/ 696645 h 6858000"/>
              <a:gd name="connsiteX15" fmla="*/ 1858272 w 12191998"/>
              <a:gd name="connsiteY15" fmla="*/ 696645 h 6858000"/>
              <a:gd name="connsiteX16" fmla="*/ 1858272 w 12191998"/>
              <a:gd name="connsiteY16" fmla="*/ 331195 h 6858000"/>
              <a:gd name="connsiteX17" fmla="*/ 1367737 w 12191998"/>
              <a:gd name="connsiteY17" fmla="*/ 331195 h 6858000"/>
              <a:gd name="connsiteX18" fmla="*/ 1367737 w 12191998"/>
              <a:gd name="connsiteY18" fmla="*/ 513920 h 6858000"/>
              <a:gd name="connsiteX19" fmla="*/ 1464340 w 12191998"/>
              <a:gd name="connsiteY19" fmla="*/ 513920 h 6858000"/>
              <a:gd name="connsiteX20" fmla="*/ 1464340 w 12191998"/>
              <a:gd name="connsiteY20" fmla="*/ 596804 h 6858000"/>
              <a:gd name="connsiteX21" fmla="*/ 1367737 w 12191998"/>
              <a:gd name="connsiteY21" fmla="*/ 596804 h 6858000"/>
              <a:gd name="connsiteX22" fmla="*/ 1367737 w 12191998"/>
              <a:gd name="connsiteY22" fmla="*/ 779529 h 6858000"/>
              <a:gd name="connsiteX23" fmla="*/ 1464340 w 12191998"/>
              <a:gd name="connsiteY23" fmla="*/ 779529 h 6858000"/>
              <a:gd name="connsiteX24" fmla="*/ 1464340 w 12191998"/>
              <a:gd name="connsiteY24" fmla="*/ 596804 h 6858000"/>
              <a:gd name="connsiteX25" fmla="*/ 1672304 w 12191998"/>
              <a:gd name="connsiteY25" fmla="*/ 596804 h 6858000"/>
              <a:gd name="connsiteX26" fmla="*/ 1672304 w 12191998"/>
              <a:gd name="connsiteY26" fmla="*/ 513920 h 6858000"/>
              <a:gd name="connsiteX27" fmla="*/ 1464340 w 12191998"/>
              <a:gd name="connsiteY27" fmla="*/ 513920 h 6858000"/>
              <a:gd name="connsiteX28" fmla="*/ 1464340 w 12191998"/>
              <a:gd name="connsiteY28" fmla="*/ 414079 h 6858000"/>
              <a:gd name="connsiteX29" fmla="*/ 1691738 w 12191998"/>
              <a:gd name="connsiteY29" fmla="*/ 414079 h 6858000"/>
              <a:gd name="connsiteX30" fmla="*/ 1691738 w 12191998"/>
              <a:gd name="connsiteY30" fmla="*/ 331195 h 6858000"/>
              <a:gd name="connsiteX31" fmla="*/ 544446 w 12191998"/>
              <a:gd name="connsiteY31" fmla="*/ 331195 h 6858000"/>
              <a:gd name="connsiteX32" fmla="*/ 544446 w 12191998"/>
              <a:gd name="connsiteY32" fmla="*/ 513920 h 6858000"/>
              <a:gd name="connsiteX33" fmla="*/ 641049 w 12191998"/>
              <a:gd name="connsiteY33" fmla="*/ 513920 h 6858000"/>
              <a:gd name="connsiteX34" fmla="*/ 641049 w 12191998"/>
              <a:gd name="connsiteY34" fmla="*/ 596804 h 6858000"/>
              <a:gd name="connsiteX35" fmla="*/ 544446 w 12191998"/>
              <a:gd name="connsiteY35" fmla="*/ 596804 h 6858000"/>
              <a:gd name="connsiteX36" fmla="*/ 544446 w 12191998"/>
              <a:gd name="connsiteY36" fmla="*/ 779560 h 6858000"/>
              <a:gd name="connsiteX37" fmla="*/ 868447 w 12191998"/>
              <a:gd name="connsiteY37" fmla="*/ 779560 h 6858000"/>
              <a:gd name="connsiteX38" fmla="*/ 868447 w 12191998"/>
              <a:gd name="connsiteY38" fmla="*/ 696645 h 6858000"/>
              <a:gd name="connsiteX39" fmla="*/ 641049 w 12191998"/>
              <a:gd name="connsiteY39" fmla="*/ 696645 h 6858000"/>
              <a:gd name="connsiteX40" fmla="*/ 641049 w 12191998"/>
              <a:gd name="connsiteY40" fmla="*/ 596804 h 6858000"/>
              <a:gd name="connsiteX41" fmla="*/ 849013 w 12191998"/>
              <a:gd name="connsiteY41" fmla="*/ 596804 h 6858000"/>
              <a:gd name="connsiteX42" fmla="*/ 849013 w 12191998"/>
              <a:gd name="connsiteY42" fmla="*/ 513920 h 6858000"/>
              <a:gd name="connsiteX43" fmla="*/ 641049 w 12191998"/>
              <a:gd name="connsiteY43" fmla="*/ 513920 h 6858000"/>
              <a:gd name="connsiteX44" fmla="*/ 641049 w 12191998"/>
              <a:gd name="connsiteY44" fmla="*/ 414079 h 6858000"/>
              <a:gd name="connsiteX45" fmla="*/ 868447 w 12191998"/>
              <a:gd name="connsiteY45" fmla="*/ 414079 h 6858000"/>
              <a:gd name="connsiteX46" fmla="*/ 868447 w 12191998"/>
              <a:gd name="connsiteY46" fmla="*/ 331195 h 6858000"/>
              <a:gd name="connsiteX47" fmla="*/ 951241 w 12191998"/>
              <a:gd name="connsiteY47" fmla="*/ 331163 h 6858000"/>
              <a:gd name="connsiteX48" fmla="*/ 951241 w 12191998"/>
              <a:gd name="connsiteY48" fmla="*/ 779529 h 6858000"/>
              <a:gd name="connsiteX49" fmla="*/ 1047844 w 12191998"/>
              <a:gd name="connsiteY49" fmla="*/ 779529 h 6858000"/>
              <a:gd name="connsiteX50" fmla="*/ 1047844 w 12191998"/>
              <a:gd name="connsiteY50" fmla="*/ 596772 h 6858000"/>
              <a:gd name="connsiteX51" fmla="*/ 1151336 w 12191998"/>
              <a:gd name="connsiteY51" fmla="*/ 596772 h 6858000"/>
              <a:gd name="connsiteX52" fmla="*/ 1222848 w 12191998"/>
              <a:gd name="connsiteY52" fmla="*/ 585478 h 6858000"/>
              <a:gd name="connsiteX53" fmla="*/ 1270850 w 12191998"/>
              <a:gd name="connsiteY53" fmla="*/ 555615 h 6858000"/>
              <a:gd name="connsiteX54" fmla="*/ 1297836 w 12191998"/>
              <a:gd name="connsiteY54" fmla="*/ 513002 h 6858000"/>
              <a:gd name="connsiteX55" fmla="*/ 1306305 w 12191998"/>
              <a:gd name="connsiteY55" fmla="*/ 463999 h 6858000"/>
              <a:gd name="connsiteX56" fmla="*/ 1297836 w 12191998"/>
              <a:gd name="connsiteY56" fmla="*/ 414712 h 6858000"/>
              <a:gd name="connsiteX57" fmla="*/ 1270850 w 12191998"/>
              <a:gd name="connsiteY57" fmla="*/ 372384 h 6858000"/>
              <a:gd name="connsiteX58" fmla="*/ 1270850 w 12191998"/>
              <a:gd name="connsiteY58" fmla="*/ 372352 h 6858000"/>
              <a:gd name="connsiteX59" fmla="*/ 1222848 w 12191998"/>
              <a:gd name="connsiteY59" fmla="*/ 342488 h 6858000"/>
              <a:gd name="connsiteX60" fmla="*/ 1151336 w 12191998"/>
              <a:gd name="connsiteY60" fmla="*/ 331163 h 6858000"/>
              <a:gd name="connsiteX61" fmla="*/ 0 w 12191998"/>
              <a:gd name="connsiteY61" fmla="*/ 0 h 6858000"/>
              <a:gd name="connsiteX62" fmla="*/ 12191998 w 12191998"/>
              <a:gd name="connsiteY62" fmla="*/ 0 h 6858000"/>
              <a:gd name="connsiteX63" fmla="*/ 12191998 w 12191998"/>
              <a:gd name="connsiteY63" fmla="*/ 6858000 h 6858000"/>
              <a:gd name="connsiteX64" fmla="*/ 0 w 12191998"/>
              <a:gd name="connsiteY64" fmla="*/ 6858000 h 6858000"/>
            </a:gdLst>
            <a:ahLst/>
            <a:cxnLst/>
            <a:rect l="l" t="t" r="r" b="b"/>
            <a:pathLst>
              <a:path w="12191998" h="6858000">
                <a:moveTo>
                  <a:pt x="1047876" y="414079"/>
                </a:moveTo>
                <a:lnTo>
                  <a:pt x="1124412" y="414079"/>
                </a:lnTo>
                <a:cubicBezTo>
                  <a:pt x="1135694" y="414079"/>
                  <a:pt x="1146564" y="414712"/>
                  <a:pt x="1157024" y="415945"/>
                </a:cubicBezTo>
                <a:cubicBezTo>
                  <a:pt x="1167484" y="417179"/>
                  <a:pt x="1176680" y="419615"/>
                  <a:pt x="1184611" y="423190"/>
                </a:cubicBezTo>
                <a:cubicBezTo>
                  <a:pt x="1192543" y="426765"/>
                  <a:pt x="1198927" y="431826"/>
                  <a:pt x="1203730" y="438343"/>
                </a:cubicBezTo>
                <a:cubicBezTo>
                  <a:pt x="1208533" y="444860"/>
                  <a:pt x="1210935" y="453433"/>
                  <a:pt x="1210935" y="463999"/>
                </a:cubicBezTo>
                <a:cubicBezTo>
                  <a:pt x="1210935" y="474565"/>
                  <a:pt x="1208533" y="483138"/>
                  <a:pt x="1203730" y="489655"/>
                </a:cubicBezTo>
                <a:cubicBezTo>
                  <a:pt x="1198927" y="496172"/>
                  <a:pt x="1192543" y="501234"/>
                  <a:pt x="1184611" y="504809"/>
                </a:cubicBezTo>
                <a:cubicBezTo>
                  <a:pt x="1176648" y="508383"/>
                  <a:pt x="1167452" y="510788"/>
                  <a:pt x="1157024" y="512053"/>
                </a:cubicBezTo>
                <a:cubicBezTo>
                  <a:pt x="1146564" y="513287"/>
                  <a:pt x="1135694" y="513919"/>
                  <a:pt x="1124412" y="513919"/>
                </a:cubicBezTo>
                <a:lnTo>
                  <a:pt x="1047876" y="513919"/>
                </a:lnTo>
                <a:close/>
                <a:moveTo>
                  <a:pt x="1761701" y="331195"/>
                </a:moveTo>
                <a:lnTo>
                  <a:pt x="1761701" y="779561"/>
                </a:lnTo>
                <a:lnTo>
                  <a:pt x="2085670" y="779561"/>
                </a:lnTo>
                <a:lnTo>
                  <a:pt x="2085670" y="696645"/>
                </a:lnTo>
                <a:lnTo>
                  <a:pt x="1858272" y="696645"/>
                </a:lnTo>
                <a:lnTo>
                  <a:pt x="1858272" y="331195"/>
                </a:lnTo>
                <a:close/>
                <a:moveTo>
                  <a:pt x="1367737" y="331195"/>
                </a:moveTo>
                <a:lnTo>
                  <a:pt x="1367737" y="513920"/>
                </a:lnTo>
                <a:lnTo>
                  <a:pt x="1464340" y="513920"/>
                </a:lnTo>
                <a:lnTo>
                  <a:pt x="1464340" y="596804"/>
                </a:lnTo>
                <a:lnTo>
                  <a:pt x="1367737" y="596804"/>
                </a:lnTo>
                <a:lnTo>
                  <a:pt x="1367737" y="779529"/>
                </a:lnTo>
                <a:lnTo>
                  <a:pt x="1464340" y="779529"/>
                </a:lnTo>
                <a:lnTo>
                  <a:pt x="1464340" y="596804"/>
                </a:lnTo>
                <a:lnTo>
                  <a:pt x="1672304" y="596804"/>
                </a:lnTo>
                <a:lnTo>
                  <a:pt x="1672304" y="513920"/>
                </a:lnTo>
                <a:lnTo>
                  <a:pt x="1464340" y="513920"/>
                </a:lnTo>
                <a:lnTo>
                  <a:pt x="1464340" y="414079"/>
                </a:lnTo>
                <a:lnTo>
                  <a:pt x="1691738" y="414079"/>
                </a:lnTo>
                <a:lnTo>
                  <a:pt x="1691738" y="331195"/>
                </a:lnTo>
                <a:close/>
                <a:moveTo>
                  <a:pt x="544446" y="331195"/>
                </a:moveTo>
                <a:lnTo>
                  <a:pt x="544446" y="513920"/>
                </a:lnTo>
                <a:lnTo>
                  <a:pt x="641049" y="513920"/>
                </a:lnTo>
                <a:lnTo>
                  <a:pt x="641049" y="596804"/>
                </a:lnTo>
                <a:lnTo>
                  <a:pt x="544446" y="596804"/>
                </a:lnTo>
                <a:lnTo>
                  <a:pt x="544446" y="779560"/>
                </a:lnTo>
                <a:lnTo>
                  <a:pt x="868447" y="779560"/>
                </a:lnTo>
                <a:lnTo>
                  <a:pt x="868447" y="696645"/>
                </a:lnTo>
                <a:lnTo>
                  <a:pt x="641049" y="696645"/>
                </a:lnTo>
                <a:lnTo>
                  <a:pt x="641049" y="596804"/>
                </a:lnTo>
                <a:lnTo>
                  <a:pt x="849013" y="596804"/>
                </a:lnTo>
                <a:lnTo>
                  <a:pt x="849013" y="513920"/>
                </a:lnTo>
                <a:lnTo>
                  <a:pt x="641049" y="513920"/>
                </a:lnTo>
                <a:lnTo>
                  <a:pt x="641049" y="414079"/>
                </a:lnTo>
                <a:lnTo>
                  <a:pt x="868447" y="414079"/>
                </a:lnTo>
                <a:lnTo>
                  <a:pt x="868447" y="331195"/>
                </a:lnTo>
                <a:close/>
                <a:moveTo>
                  <a:pt x="951241" y="331163"/>
                </a:moveTo>
                <a:lnTo>
                  <a:pt x="951241" y="779529"/>
                </a:lnTo>
                <a:lnTo>
                  <a:pt x="1047844" y="779529"/>
                </a:lnTo>
                <a:lnTo>
                  <a:pt x="1047844" y="596772"/>
                </a:lnTo>
                <a:lnTo>
                  <a:pt x="1151336" y="596772"/>
                </a:lnTo>
                <a:cubicBezTo>
                  <a:pt x="1179334" y="596772"/>
                  <a:pt x="1203193" y="593007"/>
                  <a:pt x="1222848" y="585478"/>
                </a:cubicBezTo>
                <a:cubicBezTo>
                  <a:pt x="1242504" y="577949"/>
                  <a:pt x="1258494" y="567984"/>
                  <a:pt x="1270850" y="555615"/>
                </a:cubicBezTo>
                <a:cubicBezTo>
                  <a:pt x="1283174" y="543245"/>
                  <a:pt x="1292180" y="529041"/>
                  <a:pt x="1297836" y="513002"/>
                </a:cubicBezTo>
                <a:cubicBezTo>
                  <a:pt x="1303493" y="496963"/>
                  <a:pt x="1306305" y="480639"/>
                  <a:pt x="1306305" y="463999"/>
                </a:cubicBezTo>
                <a:cubicBezTo>
                  <a:pt x="1306305" y="447359"/>
                  <a:pt x="1303493" y="430561"/>
                  <a:pt x="1297836" y="414712"/>
                </a:cubicBezTo>
                <a:cubicBezTo>
                  <a:pt x="1292180" y="398862"/>
                  <a:pt x="1283205" y="384753"/>
                  <a:pt x="1270850" y="372384"/>
                </a:cubicBezTo>
                <a:lnTo>
                  <a:pt x="1270850" y="372352"/>
                </a:lnTo>
                <a:cubicBezTo>
                  <a:pt x="1258494" y="359983"/>
                  <a:pt x="1242504" y="350018"/>
                  <a:pt x="1222848" y="342488"/>
                </a:cubicBezTo>
                <a:cubicBezTo>
                  <a:pt x="1203193" y="334959"/>
                  <a:pt x="1179334" y="331163"/>
                  <a:pt x="1151336" y="331163"/>
                </a:cubicBezTo>
                <a:close/>
                <a:moveTo>
                  <a:pt x="0" y="0"/>
                </a:moveTo>
                <a:lnTo>
                  <a:pt x="12191998" y="0"/>
                </a:lnTo>
                <a:lnTo>
                  <a:pt x="12191998" y="6858000"/>
                </a:lnTo>
                <a:lnTo>
                  <a:pt x="0" y="6858000"/>
                </a:lnTo>
                <a:close/>
              </a:path>
            </a:pathLst>
          </a:custGeom>
        </p:spPr>
        <p:txBody>
          <a:bodyPr wrap="square">
            <a:noAutofit/>
          </a:bodyPr>
          <a:lstStyle>
            <a:lvl1pPr marL="0" indent="0">
              <a:buNone/>
              <a:defRPr/>
            </a:lvl1pPr>
          </a:lstStyle>
          <a:p>
            <a:r>
              <a:t>Cliquez sur l'icône pour ajouter une image</a:t>
            </a:r>
          </a:p>
        </p:txBody>
      </p:sp>
      <p:sp>
        <p:nvSpPr>
          <p:cNvPr id="2" name="Title 1">
            <a:extLst>
              <a:ext uri="{FF2B5EF4-FFF2-40B4-BE49-F238E27FC236}">
                <a16:creationId xmlns:a16="http://schemas.microsoft.com/office/drawing/2014/main" id="{96A08356-F0A6-4F58-BCFB-5C92159B8C59}"/>
              </a:ext>
            </a:extLst>
          </p:cNvPr>
          <p:cNvSpPr>
            <a:spLocks noGrp="1"/>
          </p:cNvSpPr>
          <p:nvPr>
            <p:ph type="ctrTitle"/>
          </p:nvPr>
        </p:nvSpPr>
        <p:spPr>
          <a:xfrm>
            <a:off x="258563" y="2084388"/>
            <a:ext cx="9274175" cy="3476493"/>
          </a:xfrm>
          <a:prstGeom prst="rect">
            <a:avLst/>
          </a:prstGeom>
          <a:noFill/>
        </p:spPr>
        <p:txBody>
          <a:bodyPr lIns="216000" anchor="t">
            <a:normAutofit/>
          </a:bodyPr>
          <a:lstStyle>
            <a:lvl1pPr algn="l">
              <a:buNone/>
              <a:defRPr sz="8800" b="1" spc="-300">
                <a:solidFill>
                  <a:schemeClr val="bg1"/>
                </a:solidFill>
                <a:effectLst>
                  <a:outerShdw blurRad="50800" dist="38100" dir="2700000" algn="tl" rotWithShape="0">
                    <a:prstClr val="black">
                      <a:alpha val="40000"/>
                    </a:prstClr>
                  </a:outerShdw>
                </a:effectLst>
              </a:defRPr>
            </a:lvl1pPr>
          </a:lstStyle>
          <a:p>
            <a:r>
              <a:t>Modifiez le style du titre</a:t>
            </a:r>
          </a:p>
        </p:txBody>
      </p:sp>
      <p:sp>
        <p:nvSpPr>
          <p:cNvPr id="16" name="Espace réservé du texte 4">
            <a:extLst>
              <a:ext uri="{FF2B5EF4-FFF2-40B4-BE49-F238E27FC236}">
                <a16:creationId xmlns:a16="http://schemas.microsoft.com/office/drawing/2014/main" id="{01960462-6F28-0740-916D-499D3BEDB2BE}"/>
              </a:ext>
            </a:extLst>
          </p:cNvPr>
          <p:cNvSpPr>
            <a:spLocks noGrp="1"/>
          </p:cNvSpPr>
          <p:nvPr>
            <p:ph type="body" idx="11" hasCustomPrompt="1"/>
          </p:nvPr>
        </p:nvSpPr>
        <p:spPr>
          <a:xfrm>
            <a:off x="258562" y="1471092"/>
            <a:ext cx="7002451" cy="613833"/>
          </a:xfrm>
          <a:prstGeom prst="rect">
            <a:avLst/>
          </a:prstGeom>
          <a:noFill/>
        </p:spPr>
        <p:txBody>
          <a:bodyPr lIns="288000" anchor="ctr">
            <a:noAutofit/>
          </a:bodyPr>
          <a:lstStyle>
            <a:lvl1pPr marL="0" indent="0" algn="l" defTabSz="914377">
              <a:lnSpc>
                <a:spcPct val="90000"/>
              </a:lnSpc>
              <a:spcBef>
                <a:spcPts val="1000"/>
              </a:spcBef>
              <a:buClr>
                <a:schemeClr val="tx2"/>
              </a:buClr>
              <a:buSzPct val="90000"/>
              <a:buFont typeface="Wingdings"/>
              <a:buNone/>
              <a:defRPr sz="1200" b="0" i="0" kern="1200" spc="300">
                <a:solidFill>
                  <a:schemeClr val="bg1"/>
                </a:solidFill>
                <a:latin typeface="Arial"/>
                <a:ea typeface="Arial"/>
                <a:cs typeface="Arial"/>
              </a:defRPr>
            </a:lvl1pPr>
          </a:lstStyle>
          <a:p>
            <a:pPr lvl="0">
              <a:buNone/>
            </a:pPr>
            <a:r>
              <a:t>CLIQUEZ POUR MODIFIER LES STYLES DU TEXTE DU MASQUE</a:t>
            </a:r>
          </a:p>
        </p:txBody>
      </p:sp>
      <p:sp>
        <p:nvSpPr>
          <p:cNvPr id="43" name="Espace réservé du texte 42">
            <a:extLst>
              <a:ext uri="{FF2B5EF4-FFF2-40B4-BE49-F238E27FC236}">
                <a16:creationId xmlns:a16="http://schemas.microsoft.com/office/drawing/2014/main" id="{E530C81D-4372-96E0-73AD-09E3F978C21F}"/>
              </a:ext>
            </a:extLst>
          </p:cNvPr>
          <p:cNvSpPr>
            <a:spLocks noGrp="1"/>
          </p:cNvSpPr>
          <p:nvPr>
            <p:ph type="body" idx="12"/>
          </p:nvPr>
        </p:nvSpPr>
        <p:spPr>
          <a:xfrm>
            <a:off x="6167438" y="5479627"/>
            <a:ext cx="2652584" cy="1048173"/>
          </a:xfrm>
          <a:prstGeom prst="rect">
            <a:avLst/>
          </a:prstGeom>
          <a:solidFill>
            <a:schemeClr val="tx2"/>
          </a:solidFill>
          <a:effectLst>
            <a:outerShdw blurRad="50800" dist="38100" dir="2700000" algn="tl" rotWithShape="0">
              <a:prstClr val="black">
                <a:alpha val="40000"/>
              </a:prstClr>
            </a:outerShdw>
          </a:effectLst>
        </p:spPr>
        <p:txBody>
          <a:bodyPr vert="horz" lIns="108000" tIns="108000" rIns="108000" bIns="45720" anchor="t">
            <a:normAutofit/>
          </a:bodyPr>
          <a:lstStyle>
            <a:lvl1pPr>
              <a:buNone/>
              <a:defRPr sz="1400" b="1" i="0" kern="1200">
                <a:solidFill>
                  <a:schemeClr val="bg1"/>
                </a:solidFill>
                <a:latin typeface="Arial"/>
                <a:ea typeface="Arial"/>
                <a:cs typeface="Arial"/>
              </a:defRPr>
            </a:lvl1pPr>
          </a:lstStyle>
          <a:p>
            <a:pPr marL="0" lvl="0" indent="0" algn="r">
              <a:buClr>
                <a:schemeClr val="accent1"/>
              </a:buClr>
              <a:buNone/>
            </a:pPr>
            <a:r>
              <a:t>Cliquez pour modifier les styles du texte du masque</a:t>
            </a:r>
          </a:p>
        </p:txBody>
      </p:sp>
      <p:sp>
        <p:nvSpPr>
          <p:cNvPr id="44" name="Espace réservé du texte 42">
            <a:extLst>
              <a:ext uri="{FF2B5EF4-FFF2-40B4-BE49-F238E27FC236}">
                <a16:creationId xmlns:a16="http://schemas.microsoft.com/office/drawing/2014/main" id="{F2962BF5-AECB-05D4-B7BD-D343940A8FB9}"/>
              </a:ext>
            </a:extLst>
          </p:cNvPr>
          <p:cNvSpPr>
            <a:spLocks noGrp="1"/>
          </p:cNvSpPr>
          <p:nvPr>
            <p:ph type="body" idx="13"/>
          </p:nvPr>
        </p:nvSpPr>
        <p:spPr>
          <a:xfrm>
            <a:off x="8975725" y="5479627"/>
            <a:ext cx="2652584" cy="1048173"/>
          </a:xfrm>
          <a:prstGeom prst="rect">
            <a:avLst/>
          </a:prstGeom>
          <a:solidFill>
            <a:schemeClr val="tx2"/>
          </a:solidFill>
          <a:effectLst>
            <a:outerShdw blurRad="50800" dist="38100" dir="2700000" algn="tl" rotWithShape="0">
              <a:prstClr val="black">
                <a:alpha val="40000"/>
              </a:prstClr>
            </a:outerShdw>
          </a:effectLst>
        </p:spPr>
        <p:txBody>
          <a:bodyPr vert="horz" lIns="108000" tIns="108000" rIns="108000" bIns="45720" anchor="t">
            <a:normAutofit/>
          </a:bodyPr>
          <a:lstStyle>
            <a:lvl1pPr>
              <a:buNone/>
              <a:defRPr sz="1400" b="1" i="0" kern="1200">
                <a:solidFill>
                  <a:schemeClr val="bg1"/>
                </a:solidFill>
                <a:latin typeface="Arial"/>
                <a:ea typeface="Arial"/>
                <a:cs typeface="Arial"/>
              </a:defRPr>
            </a:lvl1pPr>
          </a:lstStyle>
          <a:p>
            <a:pPr marL="0" lvl="0" indent="0" algn="r">
              <a:buClr>
                <a:schemeClr val="accent1"/>
              </a:buClr>
              <a:buNone/>
            </a:pPr>
            <a:r>
              <a:t>Cliquez pour modifier les styles du texte du masque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bg>
      <p:bgPr>
        <a:gradFill>
          <a:gsLst>
            <a:gs pos="0">
              <a:schemeClr val="tx2">
                <a:lumMod val="50000"/>
              </a:schemeClr>
            </a:gs>
            <a:gs pos="32000">
              <a:schemeClr val="tx2"/>
            </a:gs>
            <a:gs pos="100000">
              <a:schemeClr val="tx2"/>
            </a:gs>
          </a:gsLst>
          <a:lin ang="5400000" scaled="1"/>
        </a:gradFill>
        <a:effectLst/>
      </p:bgPr>
    </p:bg>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4D387EDE-1B8D-E16E-86A5-AAF51018B2F4}"/>
              </a:ext>
            </a:extLst>
          </p:cNvPr>
          <p:cNvSpPr>
            <a:spLocks noGrp="1"/>
          </p:cNvSpPr>
          <p:nvPr>
            <p:ph type="pic" idx="17"/>
          </p:nvPr>
        </p:nvSpPr>
        <p:spPr>
          <a:xfrm>
            <a:off x="6167438" y="-12700"/>
            <a:ext cx="6024562" cy="6870700"/>
          </a:xfrm>
        </p:spPr>
        <p:txBody>
          <a:bodyPr/>
          <a:lstStyle/>
          <a:p>
            <a:endParaRPr/>
          </a:p>
        </p:txBody>
      </p:sp>
      <p:sp>
        <p:nvSpPr>
          <p:cNvPr id="4" name="Titre 3">
            <a:extLst>
              <a:ext uri="{FF2B5EF4-FFF2-40B4-BE49-F238E27FC236}">
                <a16:creationId xmlns:a16="http://schemas.microsoft.com/office/drawing/2014/main" id="{16499075-47BF-B665-C8F4-F255DF7B62B9}"/>
              </a:ext>
            </a:extLst>
          </p:cNvPr>
          <p:cNvSpPr>
            <a:spLocks noGrp="1"/>
          </p:cNvSpPr>
          <p:nvPr>
            <p:ph type="title" hasCustomPrompt="1"/>
          </p:nvPr>
        </p:nvSpPr>
        <p:spPr>
          <a:xfrm>
            <a:off x="550863" y="873125"/>
            <a:ext cx="5148898" cy="559435"/>
          </a:xfrm>
        </p:spPr>
        <p:txBody>
          <a:bodyPr>
            <a:normAutofit/>
          </a:bodyPr>
          <a:lstStyle>
            <a:lvl1pPr>
              <a:buNone/>
              <a:defRPr sz="1467" b="0" i="0" kern="1200" spc="600">
                <a:solidFill>
                  <a:schemeClr val="bg1"/>
                </a:solidFill>
                <a:latin typeface="Arial"/>
                <a:ea typeface="Arial"/>
                <a:cs typeface="Arial"/>
              </a:defRPr>
            </a:lvl1pPr>
          </a:lstStyle>
          <a:p>
            <a:pPr marL="0" lvl="0" indent="0" algn="l" defTabSz="914377">
              <a:lnSpc>
                <a:spcPct val="90000"/>
              </a:lnSpc>
              <a:spcBef>
                <a:spcPts val="1000"/>
              </a:spcBef>
              <a:buClr>
                <a:schemeClr val="tx2"/>
              </a:buClr>
              <a:buSzPct val="90000"/>
              <a:buFont typeface="Wingdings"/>
              <a:buNone/>
            </a:pPr>
            <a:r>
              <a:t>MODIFIEZ LE STYLE DU TITRE</a:t>
            </a:r>
          </a:p>
        </p:txBody>
      </p:sp>
      <p:pic>
        <p:nvPicPr>
          <p:cNvPr id="18" name="Image 9"/>
          <p:cNvPicPr>
            <a:picLocks noChangeAspect="1"/>
          </p:cNvPicPr>
          <p:nvPr/>
        </p:nvPicPr>
        <p:blipFill>
          <a:blip r:embed="rId2"/>
          <a:srcRect/>
          <a:stretch/>
        </p:blipFill>
        <p:spPr>
          <a:xfrm>
            <a:off x="472673" y="256633"/>
            <a:ext cx="823217" cy="356277"/>
          </a:xfrm>
          <a:prstGeom prst="rect">
            <a:avLst/>
          </a:prstGeom>
        </p:spPr>
      </p:pic>
      <p:sp>
        <p:nvSpPr>
          <p:cNvPr id="11" name="Espace réservé du texte 4">
            <a:extLst>
              <a:ext uri="{FF2B5EF4-FFF2-40B4-BE49-F238E27FC236}">
                <a16:creationId xmlns:a16="http://schemas.microsoft.com/office/drawing/2014/main" id="{52952F76-2586-3463-ED9F-938B2A5FF176}"/>
              </a:ext>
            </a:extLst>
          </p:cNvPr>
          <p:cNvSpPr>
            <a:spLocks noGrp="1"/>
          </p:cNvSpPr>
          <p:nvPr>
            <p:ph type="body" idx="11" hasCustomPrompt="1"/>
          </p:nvPr>
        </p:nvSpPr>
        <p:spPr>
          <a:xfrm>
            <a:off x="550864" y="2084388"/>
            <a:ext cx="5473699" cy="4456112"/>
          </a:xfrm>
          <a:prstGeom prst="rect">
            <a:avLst/>
          </a:prstGeom>
          <a:noFill/>
        </p:spPr>
        <p:txBody>
          <a:bodyPr lIns="0" anchor="ctr">
            <a:noAutofit/>
          </a:bodyPr>
          <a:lstStyle>
            <a:lvl1pPr marL="0" indent="0" algn="l">
              <a:buNone/>
              <a:defRPr sz="4000" b="1" i="0" kern="1000" spc="-300" baseline="0">
                <a:solidFill>
                  <a:schemeClr val="bg1"/>
                </a:solidFill>
                <a:effectLst>
                  <a:outerShdw blurRad="50800" dist="38100" dir="2700000" algn="tl" rotWithShape="0">
                    <a:prstClr val="black">
                      <a:alpha val="40000"/>
                    </a:prstClr>
                  </a:outerShdw>
                </a:effectLst>
                <a:latin typeface="+mj-lt"/>
                <a:ea typeface="+mj-lt"/>
                <a:cs typeface="+mj-lt"/>
              </a:defRPr>
            </a:lvl1pPr>
          </a:lstStyle>
          <a:p>
            <a:pPr lvl="0">
              <a:buNone/>
            </a:pPr>
            <a:r>
              <a:t>CLIQUEZ POUR MODIFIER LES STYLES DU TEXTE DU MASQUE</a:t>
            </a:r>
          </a:p>
        </p:txBody>
      </p:sp>
      <p:sp>
        <p:nvSpPr>
          <p:cNvPr id="12" name="Espace réservé de la date 11">
            <a:extLst>
              <a:ext uri="{FF2B5EF4-FFF2-40B4-BE49-F238E27FC236}">
                <a16:creationId xmlns:a16="http://schemas.microsoft.com/office/drawing/2014/main" id="{EE007531-9D25-1147-CFAD-91E33B09A7CD}"/>
              </a:ext>
            </a:extLst>
          </p:cNvPr>
          <p:cNvSpPr>
            <a:spLocks noGrp="1"/>
          </p:cNvSpPr>
          <p:nvPr>
            <p:ph type="dt" idx="18"/>
          </p:nvPr>
        </p:nvSpPr>
        <p:spPr/>
        <p:txBody>
          <a:bodyPr/>
          <a:lstStyle>
            <a:lvl1pPr>
              <a:buNone/>
              <a:defRPr>
                <a:solidFill>
                  <a:schemeClr val="bg1"/>
                </a:solidFill>
              </a:defRPr>
            </a:lvl1pPr>
          </a:lstStyle>
          <a:p>
            <a:r>
              <a:t>TITLE OF THE PRESENTATION</a:t>
            </a:r>
          </a:p>
        </p:txBody>
      </p:sp>
      <p:sp>
        <p:nvSpPr>
          <p:cNvPr id="13" name="Espace réservé du pied de page 12">
            <a:extLst>
              <a:ext uri="{FF2B5EF4-FFF2-40B4-BE49-F238E27FC236}">
                <a16:creationId xmlns:a16="http://schemas.microsoft.com/office/drawing/2014/main" id="{40DDB56F-E6F6-A6A8-BABC-742D2F12116E}"/>
              </a:ext>
            </a:extLst>
          </p:cNvPr>
          <p:cNvSpPr>
            <a:spLocks noGrp="1"/>
          </p:cNvSpPr>
          <p:nvPr>
            <p:ph type="ftr" idx="19"/>
          </p:nvPr>
        </p:nvSpPr>
        <p:spPr/>
        <p:txBody>
          <a:bodyPr/>
          <a:lstStyle>
            <a:lvl1pPr>
              <a:buNone/>
              <a:defRPr>
                <a:solidFill>
                  <a:schemeClr val="bg1"/>
                </a:solidFill>
              </a:defRPr>
            </a:lvl1pPr>
          </a:lstStyle>
          <a:p>
            <a:r>
              <a:t>Speaker name</a:t>
            </a:r>
          </a:p>
        </p:txBody>
      </p:sp>
      <p:sp>
        <p:nvSpPr>
          <p:cNvPr id="14" name="Espace réservé du numéro de diapositive 13">
            <a:extLst>
              <a:ext uri="{FF2B5EF4-FFF2-40B4-BE49-F238E27FC236}">
                <a16:creationId xmlns:a16="http://schemas.microsoft.com/office/drawing/2014/main" id="{CF0089D8-9722-4F2C-3669-55AB1AF2CB68}"/>
              </a:ext>
            </a:extLst>
          </p:cNvPr>
          <p:cNvSpPr>
            <a:spLocks noGrp="1"/>
          </p:cNvSpPr>
          <p:nvPr>
            <p:ph type="sldNum" idx="20"/>
          </p:nvPr>
        </p:nvSpPr>
        <p:spPr/>
        <p:txBody>
          <a:bodyPr/>
          <a:lstStyle>
            <a:lvl1pPr>
              <a:buNone/>
              <a:defRPr>
                <a:solidFill>
                  <a:schemeClr val="bg1"/>
                </a:solidFill>
              </a:defRPr>
            </a:lvl1pPr>
          </a:lstStyle>
          <a:p>
            <a:fld id="{E1E1CD7C-2161-7D43-862E-CE4C333CD873}"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ummary">
    <p:bg>
      <p:bgPr>
        <a:gradFill>
          <a:gsLst>
            <a:gs pos="0">
              <a:schemeClr val="accent1">
                <a:lumMod val="50000"/>
              </a:schemeClr>
            </a:gs>
            <a:gs pos="32000">
              <a:schemeClr val="accent1"/>
            </a:gs>
            <a:gs pos="100000">
              <a:schemeClr val="accent1"/>
            </a:gs>
          </a:gsLst>
          <a:lin ang="5400000" scaled="1"/>
        </a:gradFill>
        <a:effectLst/>
      </p:bgPr>
    </p:bg>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4D387EDE-1B8D-E16E-86A5-AAF51018B2F4}"/>
              </a:ext>
            </a:extLst>
          </p:cNvPr>
          <p:cNvSpPr>
            <a:spLocks noGrp="1"/>
          </p:cNvSpPr>
          <p:nvPr>
            <p:ph type="pic" idx="17"/>
          </p:nvPr>
        </p:nvSpPr>
        <p:spPr>
          <a:xfrm>
            <a:off x="6167438" y="-12700"/>
            <a:ext cx="6024562" cy="6870700"/>
          </a:xfrm>
        </p:spPr>
        <p:txBody>
          <a:bodyPr/>
          <a:lstStyle/>
          <a:p>
            <a:endParaRPr/>
          </a:p>
        </p:txBody>
      </p:sp>
      <p:sp>
        <p:nvSpPr>
          <p:cNvPr id="4" name="Titre 3">
            <a:extLst>
              <a:ext uri="{FF2B5EF4-FFF2-40B4-BE49-F238E27FC236}">
                <a16:creationId xmlns:a16="http://schemas.microsoft.com/office/drawing/2014/main" id="{16499075-47BF-B665-C8F4-F255DF7B62B9}"/>
              </a:ext>
            </a:extLst>
          </p:cNvPr>
          <p:cNvSpPr>
            <a:spLocks noGrp="1"/>
          </p:cNvSpPr>
          <p:nvPr>
            <p:ph type="title" hasCustomPrompt="1"/>
          </p:nvPr>
        </p:nvSpPr>
        <p:spPr>
          <a:xfrm>
            <a:off x="550863" y="873125"/>
            <a:ext cx="5148898" cy="559435"/>
          </a:xfrm>
        </p:spPr>
        <p:txBody>
          <a:bodyPr>
            <a:normAutofit/>
          </a:bodyPr>
          <a:lstStyle>
            <a:lvl1pPr>
              <a:buNone/>
              <a:defRPr sz="1467" b="0" i="0" kern="1200" spc="300">
                <a:solidFill>
                  <a:schemeClr val="bg1"/>
                </a:solidFill>
                <a:latin typeface="Arial"/>
                <a:ea typeface="Arial"/>
                <a:cs typeface="Arial"/>
              </a:defRPr>
            </a:lvl1pPr>
          </a:lstStyle>
          <a:p>
            <a:pPr marL="0" lvl="0" indent="0" algn="l" defTabSz="914377">
              <a:lnSpc>
                <a:spcPct val="90000"/>
              </a:lnSpc>
              <a:spcBef>
                <a:spcPts val="1000"/>
              </a:spcBef>
              <a:buClr>
                <a:schemeClr val="tx2"/>
              </a:buClr>
              <a:buSzPct val="90000"/>
              <a:buFont typeface="Wingdings"/>
              <a:buNone/>
            </a:pPr>
            <a:r>
              <a:t>MODIFIEZ LE STYLE DU TITRE</a:t>
            </a:r>
          </a:p>
        </p:txBody>
      </p:sp>
      <p:pic>
        <p:nvPicPr>
          <p:cNvPr id="15" name="Image 9"/>
          <p:cNvPicPr>
            <a:picLocks noChangeAspect="1"/>
          </p:cNvPicPr>
          <p:nvPr/>
        </p:nvPicPr>
        <p:blipFill>
          <a:blip r:embed="rId2"/>
          <a:srcRect/>
          <a:stretch/>
        </p:blipFill>
        <p:spPr>
          <a:xfrm>
            <a:off x="472673" y="256633"/>
            <a:ext cx="823217" cy="356277"/>
          </a:xfrm>
          <a:prstGeom prst="rect">
            <a:avLst/>
          </a:prstGeom>
        </p:spPr>
      </p:pic>
      <p:sp>
        <p:nvSpPr>
          <p:cNvPr id="11" name="Espace réservé du texte 4">
            <a:extLst>
              <a:ext uri="{FF2B5EF4-FFF2-40B4-BE49-F238E27FC236}">
                <a16:creationId xmlns:a16="http://schemas.microsoft.com/office/drawing/2014/main" id="{52952F76-2586-3463-ED9F-938B2A5FF176}"/>
              </a:ext>
            </a:extLst>
          </p:cNvPr>
          <p:cNvSpPr>
            <a:spLocks noGrp="1"/>
          </p:cNvSpPr>
          <p:nvPr>
            <p:ph type="body" idx="11" hasCustomPrompt="1"/>
          </p:nvPr>
        </p:nvSpPr>
        <p:spPr>
          <a:xfrm>
            <a:off x="550864" y="2084388"/>
            <a:ext cx="5473699" cy="4456112"/>
          </a:xfrm>
          <a:prstGeom prst="rect">
            <a:avLst/>
          </a:prstGeom>
          <a:noFill/>
        </p:spPr>
        <p:txBody>
          <a:bodyPr lIns="0" anchor="ctr">
            <a:noAutofit/>
          </a:bodyPr>
          <a:lstStyle>
            <a:lvl1pPr marL="0" indent="0" algn="l">
              <a:buNone/>
              <a:defRPr sz="4000" b="1" i="0" kern="1000" spc="-300" baseline="0">
                <a:solidFill>
                  <a:schemeClr val="bg1"/>
                </a:solidFill>
                <a:effectLst>
                  <a:outerShdw blurRad="50800" dist="38100" dir="2700000" algn="tl" rotWithShape="0">
                    <a:prstClr val="black">
                      <a:alpha val="40000"/>
                    </a:prstClr>
                  </a:outerShdw>
                </a:effectLst>
                <a:latin typeface="+mj-lt"/>
                <a:ea typeface="+mj-lt"/>
                <a:cs typeface="+mj-lt"/>
              </a:defRPr>
            </a:lvl1pPr>
          </a:lstStyle>
          <a:p>
            <a:pPr marL="0" lvl="0" indent="0" algn="l" defTabSz="914377">
              <a:lnSpc>
                <a:spcPct val="90000"/>
              </a:lnSpc>
              <a:spcBef>
                <a:spcPts val="1000"/>
              </a:spcBef>
              <a:buClr>
                <a:schemeClr val="tx2"/>
              </a:buClr>
              <a:buSzPct val="90000"/>
              <a:buFont typeface="Wingdings"/>
              <a:buNone/>
            </a:pPr>
            <a:r>
              <a:t>CLIQUEZ POUR MODIFIER LES STYLES DU TEXTE DU MASQUE</a:t>
            </a:r>
          </a:p>
        </p:txBody>
      </p:sp>
      <p:sp>
        <p:nvSpPr>
          <p:cNvPr id="2" name="Espace réservé de la date 1">
            <a:extLst>
              <a:ext uri="{FF2B5EF4-FFF2-40B4-BE49-F238E27FC236}">
                <a16:creationId xmlns:a16="http://schemas.microsoft.com/office/drawing/2014/main" id="{1CBCD246-3E2B-1F52-0B58-E00000A14888}"/>
              </a:ext>
            </a:extLst>
          </p:cNvPr>
          <p:cNvSpPr>
            <a:spLocks noGrp="1"/>
          </p:cNvSpPr>
          <p:nvPr>
            <p:ph type="dt" idx="18"/>
          </p:nvPr>
        </p:nvSpPr>
        <p:spPr/>
        <p:txBody>
          <a:bodyPr/>
          <a:lstStyle>
            <a:lvl1pPr>
              <a:buNone/>
              <a:defRPr>
                <a:solidFill>
                  <a:schemeClr val="bg1"/>
                </a:solidFill>
              </a:defRPr>
            </a:lvl1pPr>
          </a:lstStyle>
          <a:p>
            <a:r>
              <a:t>TITLE OF THE PRESENTATION</a:t>
            </a:r>
          </a:p>
        </p:txBody>
      </p:sp>
      <p:sp>
        <p:nvSpPr>
          <p:cNvPr id="7" name="Espace réservé du pied de page 6">
            <a:extLst>
              <a:ext uri="{FF2B5EF4-FFF2-40B4-BE49-F238E27FC236}">
                <a16:creationId xmlns:a16="http://schemas.microsoft.com/office/drawing/2014/main" id="{68002C16-8BBA-7D99-CE90-8702E1DD0DB2}"/>
              </a:ext>
            </a:extLst>
          </p:cNvPr>
          <p:cNvSpPr>
            <a:spLocks noGrp="1"/>
          </p:cNvSpPr>
          <p:nvPr>
            <p:ph type="ftr" idx="19"/>
          </p:nvPr>
        </p:nvSpPr>
        <p:spPr/>
        <p:txBody>
          <a:bodyPr/>
          <a:lstStyle>
            <a:lvl1pPr>
              <a:buNone/>
              <a:defRPr>
                <a:solidFill>
                  <a:schemeClr val="bg1"/>
                </a:solidFill>
              </a:defRPr>
            </a:lvl1pPr>
          </a:lstStyle>
          <a:p>
            <a:r>
              <a:t>Speaker name</a:t>
            </a:r>
          </a:p>
        </p:txBody>
      </p:sp>
      <p:sp>
        <p:nvSpPr>
          <p:cNvPr id="9" name="Espace réservé du numéro de diapositive 8">
            <a:extLst>
              <a:ext uri="{FF2B5EF4-FFF2-40B4-BE49-F238E27FC236}">
                <a16:creationId xmlns:a16="http://schemas.microsoft.com/office/drawing/2014/main" id="{990780DA-0922-8F1C-8B7C-135716348182}"/>
              </a:ext>
            </a:extLst>
          </p:cNvPr>
          <p:cNvSpPr>
            <a:spLocks noGrp="1"/>
          </p:cNvSpPr>
          <p:nvPr>
            <p:ph type="sldNum" idx="20"/>
          </p:nvPr>
        </p:nvSpPr>
        <p:spPr/>
        <p:txBody>
          <a:bodyPr/>
          <a:lstStyle>
            <a:lvl1pPr>
              <a:buNone/>
              <a:defRPr>
                <a:solidFill>
                  <a:schemeClr val="bg1"/>
                </a:solidFill>
              </a:defRPr>
            </a:lvl1pPr>
          </a:lstStyle>
          <a:p>
            <a:fld id="{E1E1CD7C-2161-7D43-862E-CE4C333CD873}"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Summary">
    <p:bg>
      <p:bgPr>
        <a:gradFill>
          <a:gsLst>
            <a:gs pos="0">
              <a:schemeClr val="accent2">
                <a:lumMod val="50000"/>
              </a:schemeClr>
            </a:gs>
            <a:gs pos="32000">
              <a:schemeClr val="accent2"/>
            </a:gs>
            <a:gs pos="99000">
              <a:schemeClr val="accent2"/>
            </a:gs>
          </a:gsLst>
          <a:lin ang="5400000" scaled="1"/>
        </a:gradFill>
        <a:effectLst/>
      </p:bgPr>
    </p:bg>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4D387EDE-1B8D-E16E-86A5-AAF51018B2F4}"/>
              </a:ext>
            </a:extLst>
          </p:cNvPr>
          <p:cNvSpPr>
            <a:spLocks noGrp="1"/>
          </p:cNvSpPr>
          <p:nvPr>
            <p:ph type="pic" idx="17"/>
          </p:nvPr>
        </p:nvSpPr>
        <p:spPr>
          <a:xfrm>
            <a:off x="6167438" y="-12700"/>
            <a:ext cx="6024562" cy="6870700"/>
          </a:xfrm>
        </p:spPr>
        <p:txBody>
          <a:bodyPr/>
          <a:lstStyle/>
          <a:p>
            <a:endParaRPr/>
          </a:p>
        </p:txBody>
      </p:sp>
      <p:sp>
        <p:nvSpPr>
          <p:cNvPr id="4" name="Titre 3">
            <a:extLst>
              <a:ext uri="{FF2B5EF4-FFF2-40B4-BE49-F238E27FC236}">
                <a16:creationId xmlns:a16="http://schemas.microsoft.com/office/drawing/2014/main" id="{16499075-47BF-B665-C8F4-F255DF7B62B9}"/>
              </a:ext>
            </a:extLst>
          </p:cNvPr>
          <p:cNvSpPr>
            <a:spLocks noGrp="1"/>
          </p:cNvSpPr>
          <p:nvPr>
            <p:ph type="title" hasCustomPrompt="1"/>
          </p:nvPr>
        </p:nvSpPr>
        <p:spPr>
          <a:xfrm>
            <a:off x="550863" y="873125"/>
            <a:ext cx="5148898" cy="559435"/>
          </a:xfrm>
        </p:spPr>
        <p:txBody>
          <a:bodyPr>
            <a:normAutofit/>
          </a:bodyPr>
          <a:lstStyle>
            <a:lvl1pPr>
              <a:buNone/>
              <a:defRPr sz="1467" b="0" i="0" kern="1200" spc="300">
                <a:solidFill>
                  <a:schemeClr val="bg1"/>
                </a:solidFill>
                <a:latin typeface="Arial"/>
                <a:ea typeface="Arial"/>
                <a:cs typeface="Arial"/>
              </a:defRPr>
            </a:lvl1pPr>
          </a:lstStyle>
          <a:p>
            <a:pPr marL="0" lvl="0" indent="0" algn="l" defTabSz="914377">
              <a:lnSpc>
                <a:spcPct val="90000"/>
              </a:lnSpc>
              <a:spcBef>
                <a:spcPts val="1000"/>
              </a:spcBef>
              <a:buClr>
                <a:schemeClr val="tx2"/>
              </a:buClr>
              <a:buSzPct val="90000"/>
              <a:buFont typeface="Wingdings"/>
              <a:buNone/>
            </a:pPr>
            <a:r>
              <a:t>MODIFIEZ LE STYLE DU TITRE</a:t>
            </a:r>
          </a:p>
        </p:txBody>
      </p:sp>
      <p:pic>
        <p:nvPicPr>
          <p:cNvPr id="15" name="Image 9"/>
          <p:cNvPicPr>
            <a:picLocks noChangeAspect="1"/>
          </p:cNvPicPr>
          <p:nvPr/>
        </p:nvPicPr>
        <p:blipFill>
          <a:blip r:embed="rId2"/>
          <a:srcRect/>
          <a:stretch/>
        </p:blipFill>
        <p:spPr>
          <a:xfrm>
            <a:off x="472673" y="256633"/>
            <a:ext cx="823217" cy="356277"/>
          </a:xfrm>
          <a:prstGeom prst="rect">
            <a:avLst/>
          </a:prstGeom>
        </p:spPr>
      </p:pic>
      <p:sp>
        <p:nvSpPr>
          <p:cNvPr id="11" name="Espace réservé du texte 4">
            <a:extLst>
              <a:ext uri="{FF2B5EF4-FFF2-40B4-BE49-F238E27FC236}">
                <a16:creationId xmlns:a16="http://schemas.microsoft.com/office/drawing/2014/main" id="{52952F76-2586-3463-ED9F-938B2A5FF176}"/>
              </a:ext>
            </a:extLst>
          </p:cNvPr>
          <p:cNvSpPr>
            <a:spLocks noGrp="1"/>
          </p:cNvSpPr>
          <p:nvPr>
            <p:ph type="body" idx="11" hasCustomPrompt="1"/>
          </p:nvPr>
        </p:nvSpPr>
        <p:spPr>
          <a:xfrm>
            <a:off x="550864" y="2084388"/>
            <a:ext cx="5473699" cy="4456112"/>
          </a:xfrm>
          <a:prstGeom prst="rect">
            <a:avLst/>
          </a:prstGeom>
          <a:noFill/>
        </p:spPr>
        <p:txBody>
          <a:bodyPr lIns="0" anchor="ctr">
            <a:noAutofit/>
          </a:bodyPr>
          <a:lstStyle>
            <a:lvl1pPr marL="0" indent="0" algn="l">
              <a:buNone/>
              <a:defRPr sz="4000" b="1" i="0" kern="1000" spc="-300" baseline="0">
                <a:solidFill>
                  <a:schemeClr val="bg1"/>
                </a:solidFill>
                <a:effectLst>
                  <a:outerShdw blurRad="50800" dist="38100" dir="2700000" algn="tl" rotWithShape="0">
                    <a:prstClr val="black">
                      <a:alpha val="40000"/>
                    </a:prstClr>
                  </a:outerShdw>
                </a:effectLst>
                <a:latin typeface="+mj-lt"/>
                <a:ea typeface="+mj-lt"/>
                <a:cs typeface="+mj-lt"/>
              </a:defRPr>
            </a:lvl1pPr>
          </a:lstStyle>
          <a:p>
            <a:pPr marL="0" lvl="0" indent="0" algn="l" defTabSz="914377">
              <a:lnSpc>
                <a:spcPct val="90000"/>
              </a:lnSpc>
              <a:spcBef>
                <a:spcPts val="1000"/>
              </a:spcBef>
              <a:buClr>
                <a:schemeClr val="tx2"/>
              </a:buClr>
              <a:buSzPct val="90000"/>
              <a:buFont typeface="Wingdings"/>
              <a:buNone/>
            </a:pPr>
            <a:r>
              <a:t>CLIQUEZ POUR MODIFIER LES STYLES DU TEXTE DU MASQUE</a:t>
            </a:r>
          </a:p>
        </p:txBody>
      </p:sp>
      <p:sp>
        <p:nvSpPr>
          <p:cNvPr id="2" name="Espace réservé de la date 1">
            <a:extLst>
              <a:ext uri="{FF2B5EF4-FFF2-40B4-BE49-F238E27FC236}">
                <a16:creationId xmlns:a16="http://schemas.microsoft.com/office/drawing/2014/main" id="{1CBCD246-3E2B-1F52-0B58-E00000A14888}"/>
              </a:ext>
            </a:extLst>
          </p:cNvPr>
          <p:cNvSpPr>
            <a:spLocks noGrp="1"/>
          </p:cNvSpPr>
          <p:nvPr>
            <p:ph type="dt" idx="18"/>
          </p:nvPr>
        </p:nvSpPr>
        <p:spPr/>
        <p:txBody>
          <a:bodyPr/>
          <a:lstStyle>
            <a:lvl1pPr>
              <a:buNone/>
              <a:defRPr>
                <a:solidFill>
                  <a:schemeClr val="bg1"/>
                </a:solidFill>
              </a:defRPr>
            </a:lvl1pPr>
          </a:lstStyle>
          <a:p>
            <a:r>
              <a:t>TITLE OF THE PRESENTATION</a:t>
            </a:r>
          </a:p>
        </p:txBody>
      </p:sp>
      <p:sp>
        <p:nvSpPr>
          <p:cNvPr id="7" name="Espace réservé du pied de page 6">
            <a:extLst>
              <a:ext uri="{FF2B5EF4-FFF2-40B4-BE49-F238E27FC236}">
                <a16:creationId xmlns:a16="http://schemas.microsoft.com/office/drawing/2014/main" id="{68002C16-8BBA-7D99-CE90-8702E1DD0DB2}"/>
              </a:ext>
            </a:extLst>
          </p:cNvPr>
          <p:cNvSpPr>
            <a:spLocks noGrp="1"/>
          </p:cNvSpPr>
          <p:nvPr>
            <p:ph type="ftr" idx="19"/>
          </p:nvPr>
        </p:nvSpPr>
        <p:spPr/>
        <p:txBody>
          <a:bodyPr/>
          <a:lstStyle>
            <a:lvl1pPr>
              <a:buNone/>
              <a:defRPr>
                <a:solidFill>
                  <a:schemeClr val="bg1"/>
                </a:solidFill>
              </a:defRPr>
            </a:lvl1pPr>
          </a:lstStyle>
          <a:p>
            <a:r>
              <a:t>Speaker name</a:t>
            </a:r>
          </a:p>
        </p:txBody>
      </p:sp>
      <p:sp>
        <p:nvSpPr>
          <p:cNvPr id="9" name="Espace réservé du numéro de diapositive 8">
            <a:extLst>
              <a:ext uri="{FF2B5EF4-FFF2-40B4-BE49-F238E27FC236}">
                <a16:creationId xmlns:a16="http://schemas.microsoft.com/office/drawing/2014/main" id="{990780DA-0922-8F1C-8B7C-135716348182}"/>
              </a:ext>
            </a:extLst>
          </p:cNvPr>
          <p:cNvSpPr>
            <a:spLocks noGrp="1"/>
          </p:cNvSpPr>
          <p:nvPr>
            <p:ph type="sldNum" idx="20"/>
          </p:nvPr>
        </p:nvSpPr>
        <p:spPr/>
        <p:txBody>
          <a:bodyPr/>
          <a:lstStyle>
            <a:lvl1pPr>
              <a:buNone/>
              <a:defRPr>
                <a:solidFill>
                  <a:schemeClr val="bg1"/>
                </a:solidFill>
              </a:defRPr>
            </a:lvl1pPr>
          </a:lstStyle>
          <a:p>
            <a:fld id="{E1E1CD7C-2161-7D43-862E-CE4C333CD873}"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Summary">
    <p:bg>
      <p:bgPr>
        <a:gradFill>
          <a:gsLst>
            <a:gs pos="0">
              <a:schemeClr val="tx1">
                <a:lumMod val="50000"/>
              </a:schemeClr>
            </a:gs>
            <a:gs pos="32000">
              <a:schemeClr val="tx1"/>
            </a:gs>
            <a:gs pos="99000">
              <a:schemeClr val="tx1"/>
            </a:gs>
          </a:gsLst>
          <a:lin ang="5400000" scaled="1"/>
        </a:gradFill>
        <a:effectLst/>
      </p:bgPr>
    </p:bg>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4D387EDE-1B8D-E16E-86A5-AAF51018B2F4}"/>
              </a:ext>
            </a:extLst>
          </p:cNvPr>
          <p:cNvSpPr>
            <a:spLocks noGrp="1"/>
          </p:cNvSpPr>
          <p:nvPr>
            <p:ph type="pic" idx="17"/>
          </p:nvPr>
        </p:nvSpPr>
        <p:spPr>
          <a:xfrm>
            <a:off x="6167438" y="-12700"/>
            <a:ext cx="6024562" cy="6870700"/>
          </a:xfrm>
        </p:spPr>
        <p:txBody>
          <a:bodyPr/>
          <a:lstStyle/>
          <a:p>
            <a:endParaRPr/>
          </a:p>
        </p:txBody>
      </p:sp>
      <p:sp>
        <p:nvSpPr>
          <p:cNvPr id="4" name="Titre 3">
            <a:extLst>
              <a:ext uri="{FF2B5EF4-FFF2-40B4-BE49-F238E27FC236}">
                <a16:creationId xmlns:a16="http://schemas.microsoft.com/office/drawing/2014/main" id="{16499075-47BF-B665-C8F4-F255DF7B62B9}"/>
              </a:ext>
            </a:extLst>
          </p:cNvPr>
          <p:cNvSpPr>
            <a:spLocks noGrp="1"/>
          </p:cNvSpPr>
          <p:nvPr>
            <p:ph type="title" hasCustomPrompt="1"/>
          </p:nvPr>
        </p:nvSpPr>
        <p:spPr>
          <a:xfrm>
            <a:off x="550863" y="873125"/>
            <a:ext cx="5148898" cy="559435"/>
          </a:xfrm>
        </p:spPr>
        <p:txBody>
          <a:bodyPr>
            <a:normAutofit/>
          </a:bodyPr>
          <a:lstStyle>
            <a:lvl1pPr>
              <a:buNone/>
              <a:defRPr sz="1467" b="0" i="0" kern="1200" spc="300">
                <a:solidFill>
                  <a:schemeClr val="bg1"/>
                </a:solidFill>
                <a:latin typeface="Arial"/>
                <a:ea typeface="Arial"/>
                <a:cs typeface="Arial"/>
              </a:defRPr>
            </a:lvl1pPr>
          </a:lstStyle>
          <a:p>
            <a:pPr marL="0" lvl="0" indent="0" algn="l" defTabSz="914377">
              <a:lnSpc>
                <a:spcPct val="90000"/>
              </a:lnSpc>
              <a:spcBef>
                <a:spcPts val="1000"/>
              </a:spcBef>
              <a:buClr>
                <a:schemeClr val="tx2"/>
              </a:buClr>
              <a:buSzPct val="90000"/>
              <a:buFont typeface="Wingdings"/>
              <a:buNone/>
            </a:pPr>
            <a:r>
              <a:t>MODIFIEZ LE STYLE DU TITRE</a:t>
            </a:r>
          </a:p>
        </p:txBody>
      </p:sp>
      <p:pic>
        <p:nvPicPr>
          <p:cNvPr id="15" name="Image 9"/>
          <p:cNvPicPr>
            <a:picLocks noChangeAspect="1"/>
          </p:cNvPicPr>
          <p:nvPr/>
        </p:nvPicPr>
        <p:blipFill>
          <a:blip r:embed="rId2"/>
          <a:srcRect/>
          <a:stretch/>
        </p:blipFill>
        <p:spPr>
          <a:xfrm>
            <a:off x="472673" y="256633"/>
            <a:ext cx="823217" cy="356277"/>
          </a:xfrm>
          <a:prstGeom prst="rect">
            <a:avLst/>
          </a:prstGeom>
        </p:spPr>
      </p:pic>
      <p:sp>
        <p:nvSpPr>
          <p:cNvPr id="11" name="Espace réservé du texte 4">
            <a:extLst>
              <a:ext uri="{FF2B5EF4-FFF2-40B4-BE49-F238E27FC236}">
                <a16:creationId xmlns:a16="http://schemas.microsoft.com/office/drawing/2014/main" id="{52952F76-2586-3463-ED9F-938B2A5FF176}"/>
              </a:ext>
            </a:extLst>
          </p:cNvPr>
          <p:cNvSpPr>
            <a:spLocks noGrp="1"/>
          </p:cNvSpPr>
          <p:nvPr>
            <p:ph type="body" idx="11" hasCustomPrompt="1"/>
          </p:nvPr>
        </p:nvSpPr>
        <p:spPr>
          <a:xfrm>
            <a:off x="550864" y="2084388"/>
            <a:ext cx="5473699" cy="4456112"/>
          </a:xfrm>
          <a:prstGeom prst="rect">
            <a:avLst/>
          </a:prstGeom>
          <a:noFill/>
        </p:spPr>
        <p:txBody>
          <a:bodyPr lIns="0" anchor="ctr">
            <a:noAutofit/>
          </a:bodyPr>
          <a:lstStyle>
            <a:lvl1pPr marL="0" indent="0" algn="l">
              <a:buNone/>
              <a:defRPr sz="4000" b="1" i="0" kern="1000" spc="-300" baseline="0">
                <a:solidFill>
                  <a:schemeClr val="bg1"/>
                </a:solidFill>
                <a:effectLst>
                  <a:outerShdw blurRad="50800" dist="38100" dir="2700000" algn="tl" rotWithShape="0">
                    <a:prstClr val="black">
                      <a:alpha val="40000"/>
                    </a:prstClr>
                  </a:outerShdw>
                </a:effectLst>
                <a:latin typeface="+mj-lt"/>
                <a:ea typeface="+mj-lt"/>
                <a:cs typeface="+mj-lt"/>
              </a:defRPr>
            </a:lvl1pPr>
          </a:lstStyle>
          <a:p>
            <a:pPr marL="0" lvl="0" indent="0" algn="l" defTabSz="914377">
              <a:lnSpc>
                <a:spcPct val="90000"/>
              </a:lnSpc>
              <a:spcBef>
                <a:spcPts val="1000"/>
              </a:spcBef>
              <a:buClr>
                <a:schemeClr val="tx2"/>
              </a:buClr>
              <a:buSzPct val="90000"/>
              <a:buFont typeface="Wingdings"/>
              <a:buNone/>
            </a:pPr>
            <a:r>
              <a:t>CLIQUEZ POUR MODIFIER LES STYLES DU TEXTE DU MASQUE</a:t>
            </a:r>
          </a:p>
        </p:txBody>
      </p:sp>
      <p:sp>
        <p:nvSpPr>
          <p:cNvPr id="2" name="Espace réservé de la date 1">
            <a:extLst>
              <a:ext uri="{FF2B5EF4-FFF2-40B4-BE49-F238E27FC236}">
                <a16:creationId xmlns:a16="http://schemas.microsoft.com/office/drawing/2014/main" id="{1CBCD246-3E2B-1F52-0B58-E00000A14888}"/>
              </a:ext>
            </a:extLst>
          </p:cNvPr>
          <p:cNvSpPr>
            <a:spLocks noGrp="1"/>
          </p:cNvSpPr>
          <p:nvPr>
            <p:ph type="dt" idx="18"/>
          </p:nvPr>
        </p:nvSpPr>
        <p:spPr/>
        <p:txBody>
          <a:bodyPr/>
          <a:lstStyle>
            <a:lvl1pPr>
              <a:buNone/>
              <a:defRPr>
                <a:solidFill>
                  <a:schemeClr val="bg1"/>
                </a:solidFill>
              </a:defRPr>
            </a:lvl1pPr>
          </a:lstStyle>
          <a:p>
            <a:r>
              <a:t>TITLE OF THE PRESENTATION</a:t>
            </a:r>
          </a:p>
        </p:txBody>
      </p:sp>
      <p:sp>
        <p:nvSpPr>
          <p:cNvPr id="7" name="Espace réservé du pied de page 6">
            <a:extLst>
              <a:ext uri="{FF2B5EF4-FFF2-40B4-BE49-F238E27FC236}">
                <a16:creationId xmlns:a16="http://schemas.microsoft.com/office/drawing/2014/main" id="{68002C16-8BBA-7D99-CE90-8702E1DD0DB2}"/>
              </a:ext>
            </a:extLst>
          </p:cNvPr>
          <p:cNvSpPr>
            <a:spLocks noGrp="1"/>
          </p:cNvSpPr>
          <p:nvPr>
            <p:ph type="ftr" idx="19"/>
          </p:nvPr>
        </p:nvSpPr>
        <p:spPr/>
        <p:txBody>
          <a:bodyPr/>
          <a:lstStyle>
            <a:lvl1pPr>
              <a:buNone/>
              <a:defRPr>
                <a:solidFill>
                  <a:schemeClr val="bg1"/>
                </a:solidFill>
              </a:defRPr>
            </a:lvl1pPr>
          </a:lstStyle>
          <a:p>
            <a:r>
              <a:t>Speaker name</a:t>
            </a:r>
          </a:p>
        </p:txBody>
      </p:sp>
      <p:sp>
        <p:nvSpPr>
          <p:cNvPr id="9" name="Espace réservé du numéro de diapositive 8">
            <a:extLst>
              <a:ext uri="{FF2B5EF4-FFF2-40B4-BE49-F238E27FC236}">
                <a16:creationId xmlns:a16="http://schemas.microsoft.com/office/drawing/2014/main" id="{990780DA-0922-8F1C-8B7C-135716348182}"/>
              </a:ext>
            </a:extLst>
          </p:cNvPr>
          <p:cNvSpPr>
            <a:spLocks noGrp="1"/>
          </p:cNvSpPr>
          <p:nvPr>
            <p:ph type="sldNum" idx="20"/>
          </p:nvPr>
        </p:nvSpPr>
        <p:spPr/>
        <p:txBody>
          <a:bodyPr/>
          <a:lstStyle>
            <a:lvl1pPr>
              <a:buNone/>
              <a:defRPr>
                <a:solidFill>
                  <a:schemeClr val="bg1"/>
                </a:solidFill>
              </a:defRPr>
            </a:lvl1pPr>
          </a:lstStyle>
          <a:p>
            <a:fld id="{E1E1CD7C-2161-7D43-862E-CE4C333CD873}"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Summary">
    <p:bg>
      <p:bgPr>
        <a:gradFill>
          <a:gsLst>
            <a:gs pos="0">
              <a:schemeClr val="accent4">
                <a:lumMod val="50000"/>
              </a:schemeClr>
            </a:gs>
            <a:gs pos="32000">
              <a:schemeClr val="accent4"/>
            </a:gs>
            <a:gs pos="99000">
              <a:schemeClr val="accent4"/>
            </a:gs>
          </a:gsLst>
          <a:lin ang="5400000" scaled="1"/>
        </a:gradFill>
        <a:effectLst/>
      </p:bgPr>
    </p:bg>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4D387EDE-1B8D-E16E-86A5-AAF51018B2F4}"/>
              </a:ext>
            </a:extLst>
          </p:cNvPr>
          <p:cNvSpPr>
            <a:spLocks noGrp="1"/>
          </p:cNvSpPr>
          <p:nvPr>
            <p:ph type="pic" idx="17"/>
          </p:nvPr>
        </p:nvSpPr>
        <p:spPr>
          <a:xfrm>
            <a:off x="6167439" y="-12700"/>
            <a:ext cx="6024561" cy="6870700"/>
          </a:xfrm>
        </p:spPr>
        <p:txBody>
          <a:bodyPr/>
          <a:lstStyle/>
          <a:p>
            <a:endParaRPr/>
          </a:p>
        </p:txBody>
      </p:sp>
      <p:sp>
        <p:nvSpPr>
          <p:cNvPr id="4" name="Titre 3">
            <a:extLst>
              <a:ext uri="{FF2B5EF4-FFF2-40B4-BE49-F238E27FC236}">
                <a16:creationId xmlns:a16="http://schemas.microsoft.com/office/drawing/2014/main" id="{16499075-47BF-B665-C8F4-F255DF7B62B9}"/>
              </a:ext>
            </a:extLst>
          </p:cNvPr>
          <p:cNvSpPr>
            <a:spLocks noGrp="1"/>
          </p:cNvSpPr>
          <p:nvPr>
            <p:ph type="title" hasCustomPrompt="1"/>
          </p:nvPr>
        </p:nvSpPr>
        <p:spPr>
          <a:xfrm>
            <a:off x="550863" y="873125"/>
            <a:ext cx="5148898" cy="559435"/>
          </a:xfrm>
        </p:spPr>
        <p:txBody>
          <a:bodyPr>
            <a:normAutofit/>
          </a:bodyPr>
          <a:lstStyle>
            <a:lvl1pPr>
              <a:buNone/>
              <a:defRPr sz="1467" b="0" i="0" kern="1200" spc="300">
                <a:solidFill>
                  <a:schemeClr val="bg1"/>
                </a:solidFill>
                <a:latin typeface="Arial"/>
                <a:ea typeface="Arial"/>
                <a:cs typeface="Arial"/>
              </a:defRPr>
            </a:lvl1pPr>
          </a:lstStyle>
          <a:p>
            <a:pPr marL="0" lvl="0" indent="0" algn="l" defTabSz="914377">
              <a:lnSpc>
                <a:spcPct val="90000"/>
              </a:lnSpc>
              <a:spcBef>
                <a:spcPts val="1000"/>
              </a:spcBef>
              <a:buClr>
                <a:schemeClr val="tx2"/>
              </a:buClr>
              <a:buSzPct val="90000"/>
              <a:buFont typeface="Wingdings"/>
              <a:buNone/>
            </a:pPr>
            <a:r>
              <a:t>MODIFIEZ LE STYLE DU TITRE</a:t>
            </a:r>
          </a:p>
        </p:txBody>
      </p:sp>
      <p:pic>
        <p:nvPicPr>
          <p:cNvPr id="15" name="Image 9"/>
          <p:cNvPicPr>
            <a:picLocks noChangeAspect="1"/>
          </p:cNvPicPr>
          <p:nvPr/>
        </p:nvPicPr>
        <p:blipFill>
          <a:blip r:embed="rId2"/>
          <a:srcRect/>
          <a:stretch/>
        </p:blipFill>
        <p:spPr>
          <a:xfrm>
            <a:off x="472673" y="256633"/>
            <a:ext cx="823217" cy="356277"/>
          </a:xfrm>
          <a:prstGeom prst="rect">
            <a:avLst/>
          </a:prstGeom>
        </p:spPr>
      </p:pic>
      <p:sp>
        <p:nvSpPr>
          <p:cNvPr id="11" name="Espace réservé du texte 4">
            <a:extLst>
              <a:ext uri="{FF2B5EF4-FFF2-40B4-BE49-F238E27FC236}">
                <a16:creationId xmlns:a16="http://schemas.microsoft.com/office/drawing/2014/main" id="{52952F76-2586-3463-ED9F-938B2A5FF176}"/>
              </a:ext>
            </a:extLst>
          </p:cNvPr>
          <p:cNvSpPr>
            <a:spLocks noGrp="1"/>
          </p:cNvSpPr>
          <p:nvPr>
            <p:ph type="body" idx="11" hasCustomPrompt="1"/>
          </p:nvPr>
        </p:nvSpPr>
        <p:spPr>
          <a:xfrm>
            <a:off x="550864" y="2084388"/>
            <a:ext cx="5473699" cy="4456112"/>
          </a:xfrm>
          <a:prstGeom prst="rect">
            <a:avLst/>
          </a:prstGeom>
          <a:noFill/>
        </p:spPr>
        <p:txBody>
          <a:bodyPr lIns="0" anchor="ctr">
            <a:noAutofit/>
          </a:bodyPr>
          <a:lstStyle>
            <a:lvl1pPr marL="0" indent="0" algn="l">
              <a:buNone/>
              <a:defRPr sz="4000" b="1" i="0" kern="1000" spc="-300" baseline="0">
                <a:solidFill>
                  <a:schemeClr val="bg1"/>
                </a:solidFill>
                <a:effectLst>
                  <a:outerShdw blurRad="50800" dist="38100" dir="2700000" algn="tl" rotWithShape="0">
                    <a:prstClr val="black">
                      <a:alpha val="40000"/>
                    </a:prstClr>
                  </a:outerShdw>
                </a:effectLst>
                <a:latin typeface="+mj-lt"/>
                <a:ea typeface="+mj-lt"/>
                <a:cs typeface="+mj-lt"/>
              </a:defRPr>
            </a:lvl1pPr>
          </a:lstStyle>
          <a:p>
            <a:pPr marL="0" lvl="0" indent="0" algn="l" defTabSz="914377">
              <a:lnSpc>
                <a:spcPct val="90000"/>
              </a:lnSpc>
              <a:spcBef>
                <a:spcPts val="1000"/>
              </a:spcBef>
              <a:buClr>
                <a:schemeClr val="tx2"/>
              </a:buClr>
              <a:buSzPct val="90000"/>
              <a:buFont typeface="Wingdings"/>
              <a:buNone/>
            </a:pPr>
            <a:r>
              <a:t>CLIQUEZ POUR MODIFIER LES STYLES DU TEXTE DU MASQUE</a:t>
            </a:r>
          </a:p>
        </p:txBody>
      </p:sp>
      <p:sp>
        <p:nvSpPr>
          <p:cNvPr id="5" name="Espace réservé de la date 4">
            <a:extLst>
              <a:ext uri="{FF2B5EF4-FFF2-40B4-BE49-F238E27FC236}">
                <a16:creationId xmlns:a16="http://schemas.microsoft.com/office/drawing/2014/main" id="{0B6554DF-70B4-182A-5B09-B5E21366F901}"/>
              </a:ext>
            </a:extLst>
          </p:cNvPr>
          <p:cNvSpPr>
            <a:spLocks noGrp="1"/>
          </p:cNvSpPr>
          <p:nvPr>
            <p:ph type="dt" idx="18"/>
          </p:nvPr>
        </p:nvSpPr>
        <p:spPr/>
        <p:txBody>
          <a:bodyPr/>
          <a:lstStyle>
            <a:lvl1pPr>
              <a:buNone/>
              <a:defRPr>
                <a:solidFill>
                  <a:schemeClr val="bg1"/>
                </a:solidFill>
              </a:defRPr>
            </a:lvl1pPr>
          </a:lstStyle>
          <a:p>
            <a:r>
              <a:t>TITLE OF THE PRESENTATION</a:t>
            </a:r>
          </a:p>
        </p:txBody>
      </p:sp>
      <p:sp>
        <p:nvSpPr>
          <p:cNvPr id="6" name="Espace réservé du pied de page 5">
            <a:extLst>
              <a:ext uri="{FF2B5EF4-FFF2-40B4-BE49-F238E27FC236}">
                <a16:creationId xmlns:a16="http://schemas.microsoft.com/office/drawing/2014/main" id="{FFD13DF1-CA37-4F2E-8695-F279B0F21756}"/>
              </a:ext>
            </a:extLst>
          </p:cNvPr>
          <p:cNvSpPr>
            <a:spLocks noGrp="1"/>
          </p:cNvSpPr>
          <p:nvPr>
            <p:ph type="ftr" idx="19"/>
          </p:nvPr>
        </p:nvSpPr>
        <p:spPr/>
        <p:txBody>
          <a:bodyPr/>
          <a:lstStyle>
            <a:lvl1pPr>
              <a:buNone/>
              <a:defRPr>
                <a:solidFill>
                  <a:schemeClr val="bg1"/>
                </a:solidFill>
              </a:defRPr>
            </a:lvl1pPr>
          </a:lstStyle>
          <a:p>
            <a:r>
              <a:t>Speaker name</a:t>
            </a:r>
          </a:p>
        </p:txBody>
      </p:sp>
      <p:sp>
        <p:nvSpPr>
          <p:cNvPr id="8" name="Espace réservé du numéro de diapositive 7">
            <a:extLst>
              <a:ext uri="{FF2B5EF4-FFF2-40B4-BE49-F238E27FC236}">
                <a16:creationId xmlns:a16="http://schemas.microsoft.com/office/drawing/2014/main" id="{DA4FCC3A-6CDB-8F60-958D-327E8DAF0092}"/>
              </a:ext>
            </a:extLst>
          </p:cNvPr>
          <p:cNvSpPr>
            <a:spLocks noGrp="1"/>
          </p:cNvSpPr>
          <p:nvPr>
            <p:ph type="sldNum" idx="20"/>
          </p:nvPr>
        </p:nvSpPr>
        <p:spPr/>
        <p:txBody>
          <a:bodyPr/>
          <a:lstStyle>
            <a:lvl1pPr>
              <a:buNone/>
              <a:defRPr>
                <a:solidFill>
                  <a:schemeClr val="bg1"/>
                </a:solidFill>
              </a:defRPr>
            </a:lvl1pPr>
          </a:lstStyle>
          <a:p>
            <a:fld id="{E1E1CD7C-2161-7D43-862E-CE4C333CD873}"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Summary">
    <p:bg>
      <p:bgPr>
        <a:gradFill>
          <a:gsLst>
            <a:gs pos="0">
              <a:schemeClr val="accent3">
                <a:lumMod val="50000"/>
              </a:schemeClr>
            </a:gs>
            <a:gs pos="32000">
              <a:schemeClr val="accent3"/>
            </a:gs>
            <a:gs pos="99000">
              <a:schemeClr val="accent3"/>
            </a:gs>
          </a:gsLst>
          <a:lin ang="5400000" scaled="1"/>
        </a:gradFill>
        <a:effectLst/>
      </p:bgPr>
    </p:bg>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4D387EDE-1B8D-E16E-86A5-AAF51018B2F4}"/>
              </a:ext>
            </a:extLst>
          </p:cNvPr>
          <p:cNvSpPr>
            <a:spLocks noGrp="1"/>
          </p:cNvSpPr>
          <p:nvPr>
            <p:ph type="pic" idx="17"/>
          </p:nvPr>
        </p:nvSpPr>
        <p:spPr>
          <a:xfrm>
            <a:off x="6167438" y="-12700"/>
            <a:ext cx="6024562" cy="6870700"/>
          </a:xfrm>
        </p:spPr>
        <p:txBody>
          <a:bodyPr/>
          <a:lstStyle/>
          <a:p>
            <a:endParaRPr/>
          </a:p>
        </p:txBody>
      </p:sp>
      <p:sp>
        <p:nvSpPr>
          <p:cNvPr id="4" name="Titre 3">
            <a:extLst>
              <a:ext uri="{FF2B5EF4-FFF2-40B4-BE49-F238E27FC236}">
                <a16:creationId xmlns:a16="http://schemas.microsoft.com/office/drawing/2014/main" id="{16499075-47BF-B665-C8F4-F255DF7B62B9}"/>
              </a:ext>
            </a:extLst>
          </p:cNvPr>
          <p:cNvSpPr>
            <a:spLocks noGrp="1"/>
          </p:cNvSpPr>
          <p:nvPr>
            <p:ph type="title" hasCustomPrompt="1"/>
          </p:nvPr>
        </p:nvSpPr>
        <p:spPr>
          <a:xfrm>
            <a:off x="550863" y="873125"/>
            <a:ext cx="5148898" cy="559435"/>
          </a:xfrm>
        </p:spPr>
        <p:txBody>
          <a:bodyPr>
            <a:normAutofit/>
          </a:bodyPr>
          <a:lstStyle>
            <a:lvl1pPr>
              <a:buNone/>
              <a:defRPr sz="1467" b="0" i="0" kern="1200" spc="300">
                <a:solidFill>
                  <a:schemeClr val="bg1"/>
                </a:solidFill>
                <a:latin typeface="Arial"/>
                <a:ea typeface="Arial"/>
                <a:cs typeface="Arial"/>
              </a:defRPr>
            </a:lvl1pPr>
          </a:lstStyle>
          <a:p>
            <a:pPr marL="0" lvl="0" indent="0" algn="l" defTabSz="914377">
              <a:lnSpc>
                <a:spcPct val="90000"/>
              </a:lnSpc>
              <a:spcBef>
                <a:spcPts val="1000"/>
              </a:spcBef>
              <a:buClr>
                <a:schemeClr val="tx2"/>
              </a:buClr>
              <a:buSzPct val="90000"/>
              <a:buFont typeface="Wingdings"/>
              <a:buNone/>
            </a:pPr>
            <a:r>
              <a:t>MODIFIEZ LE STYLE DU TITRE</a:t>
            </a:r>
          </a:p>
        </p:txBody>
      </p:sp>
      <p:pic>
        <p:nvPicPr>
          <p:cNvPr id="15" name="Image 9"/>
          <p:cNvPicPr>
            <a:picLocks noChangeAspect="1"/>
          </p:cNvPicPr>
          <p:nvPr/>
        </p:nvPicPr>
        <p:blipFill>
          <a:blip r:embed="rId2"/>
          <a:srcRect/>
          <a:stretch/>
        </p:blipFill>
        <p:spPr>
          <a:xfrm>
            <a:off x="472673" y="256633"/>
            <a:ext cx="823217" cy="356277"/>
          </a:xfrm>
          <a:prstGeom prst="rect">
            <a:avLst/>
          </a:prstGeom>
        </p:spPr>
      </p:pic>
      <p:sp>
        <p:nvSpPr>
          <p:cNvPr id="11" name="Espace réservé du texte 4">
            <a:extLst>
              <a:ext uri="{FF2B5EF4-FFF2-40B4-BE49-F238E27FC236}">
                <a16:creationId xmlns:a16="http://schemas.microsoft.com/office/drawing/2014/main" id="{52952F76-2586-3463-ED9F-938B2A5FF176}"/>
              </a:ext>
            </a:extLst>
          </p:cNvPr>
          <p:cNvSpPr>
            <a:spLocks noGrp="1"/>
          </p:cNvSpPr>
          <p:nvPr>
            <p:ph type="body" idx="11" hasCustomPrompt="1"/>
          </p:nvPr>
        </p:nvSpPr>
        <p:spPr>
          <a:xfrm>
            <a:off x="550864" y="2084388"/>
            <a:ext cx="5473699" cy="4456112"/>
          </a:xfrm>
          <a:prstGeom prst="rect">
            <a:avLst/>
          </a:prstGeom>
          <a:noFill/>
        </p:spPr>
        <p:txBody>
          <a:bodyPr lIns="0" anchor="ctr">
            <a:noAutofit/>
          </a:bodyPr>
          <a:lstStyle>
            <a:lvl1pPr marL="0" indent="0" algn="l">
              <a:buNone/>
              <a:defRPr sz="4000" b="1" i="0" kern="1000" spc="-300" baseline="0">
                <a:solidFill>
                  <a:schemeClr val="bg1"/>
                </a:solidFill>
                <a:effectLst>
                  <a:outerShdw blurRad="50800" dist="38100" dir="2700000" algn="tl" rotWithShape="0">
                    <a:prstClr val="black">
                      <a:alpha val="40000"/>
                    </a:prstClr>
                  </a:outerShdw>
                </a:effectLst>
                <a:latin typeface="+mj-lt"/>
                <a:ea typeface="+mj-lt"/>
                <a:cs typeface="+mj-lt"/>
              </a:defRPr>
            </a:lvl1pPr>
          </a:lstStyle>
          <a:p>
            <a:pPr marL="0" lvl="0" indent="0" algn="l" defTabSz="914377">
              <a:lnSpc>
                <a:spcPct val="90000"/>
              </a:lnSpc>
              <a:spcBef>
                <a:spcPts val="1000"/>
              </a:spcBef>
              <a:buClr>
                <a:schemeClr val="tx2"/>
              </a:buClr>
              <a:buSzPct val="90000"/>
              <a:buFont typeface="Wingdings"/>
              <a:buNone/>
            </a:pPr>
            <a:r>
              <a:t>CLIQUEZ POUR MODIFIER LES STYLES DU TEXTE DU MASQUE</a:t>
            </a:r>
          </a:p>
        </p:txBody>
      </p:sp>
      <p:sp>
        <p:nvSpPr>
          <p:cNvPr id="5" name="Espace réservé de la date 4">
            <a:extLst>
              <a:ext uri="{FF2B5EF4-FFF2-40B4-BE49-F238E27FC236}">
                <a16:creationId xmlns:a16="http://schemas.microsoft.com/office/drawing/2014/main" id="{0B6554DF-70B4-182A-5B09-B5E21366F901}"/>
              </a:ext>
            </a:extLst>
          </p:cNvPr>
          <p:cNvSpPr>
            <a:spLocks noGrp="1"/>
          </p:cNvSpPr>
          <p:nvPr>
            <p:ph type="dt" idx="18"/>
          </p:nvPr>
        </p:nvSpPr>
        <p:spPr/>
        <p:txBody>
          <a:bodyPr/>
          <a:lstStyle>
            <a:lvl1pPr>
              <a:buNone/>
              <a:defRPr>
                <a:solidFill>
                  <a:schemeClr val="bg1"/>
                </a:solidFill>
              </a:defRPr>
            </a:lvl1pPr>
          </a:lstStyle>
          <a:p>
            <a:r>
              <a:t>TITLE OF THE PRESENTATION</a:t>
            </a:r>
          </a:p>
        </p:txBody>
      </p:sp>
      <p:sp>
        <p:nvSpPr>
          <p:cNvPr id="6" name="Espace réservé du pied de page 5">
            <a:extLst>
              <a:ext uri="{FF2B5EF4-FFF2-40B4-BE49-F238E27FC236}">
                <a16:creationId xmlns:a16="http://schemas.microsoft.com/office/drawing/2014/main" id="{FFD13DF1-CA37-4F2E-8695-F279B0F21756}"/>
              </a:ext>
            </a:extLst>
          </p:cNvPr>
          <p:cNvSpPr>
            <a:spLocks noGrp="1"/>
          </p:cNvSpPr>
          <p:nvPr>
            <p:ph type="ftr" idx="19"/>
          </p:nvPr>
        </p:nvSpPr>
        <p:spPr/>
        <p:txBody>
          <a:bodyPr/>
          <a:lstStyle>
            <a:lvl1pPr>
              <a:buNone/>
              <a:defRPr>
                <a:solidFill>
                  <a:schemeClr val="bg1"/>
                </a:solidFill>
              </a:defRPr>
            </a:lvl1pPr>
          </a:lstStyle>
          <a:p>
            <a:r>
              <a:t>Speaker name</a:t>
            </a:r>
          </a:p>
        </p:txBody>
      </p:sp>
      <p:sp>
        <p:nvSpPr>
          <p:cNvPr id="8" name="Espace réservé du numéro de diapositive 7">
            <a:extLst>
              <a:ext uri="{FF2B5EF4-FFF2-40B4-BE49-F238E27FC236}">
                <a16:creationId xmlns:a16="http://schemas.microsoft.com/office/drawing/2014/main" id="{DA4FCC3A-6CDB-8F60-958D-327E8DAF0092}"/>
              </a:ext>
            </a:extLst>
          </p:cNvPr>
          <p:cNvSpPr>
            <a:spLocks noGrp="1"/>
          </p:cNvSpPr>
          <p:nvPr>
            <p:ph type="sldNum" idx="20"/>
          </p:nvPr>
        </p:nvSpPr>
        <p:spPr/>
        <p:txBody>
          <a:bodyPr/>
          <a:lstStyle>
            <a:lvl1pPr>
              <a:buNone/>
              <a:defRPr>
                <a:solidFill>
                  <a:schemeClr val="bg1"/>
                </a:solidFill>
              </a:defRPr>
            </a:lvl1pPr>
          </a:lstStyle>
          <a:p>
            <a:fld id="{E1E1CD7C-2161-7D43-862E-CE4C333CD873}"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re et contenu">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6B3F0D-B9FE-427D-A0C0-ED043C34675E}"/>
              </a:ext>
            </a:extLst>
          </p:cNvPr>
          <p:cNvSpPr>
            <a:spLocks noGrp="1"/>
          </p:cNvSpPr>
          <p:nvPr>
            <p:ph idx="1"/>
          </p:nvPr>
        </p:nvSpPr>
        <p:spPr>
          <a:xfrm>
            <a:off x="550863" y="3122613"/>
            <a:ext cx="11090274" cy="3402012"/>
          </a:xfrm>
        </p:spPr>
        <p:txBody>
          <a:bodyPr/>
          <a:lstStyle/>
          <a:p>
            <a:pPr lvl="0">
              <a:buNone/>
            </a:pPr>
            <a:r>
              <a:t>Cliquez pour modifier les styles du texte du masque</a:t>
            </a:r>
          </a:p>
        </p:txBody>
      </p:sp>
      <p:sp>
        <p:nvSpPr>
          <p:cNvPr id="2" name="Titre 1">
            <a:extLst>
              <a:ext uri="{FF2B5EF4-FFF2-40B4-BE49-F238E27FC236}">
                <a16:creationId xmlns:a16="http://schemas.microsoft.com/office/drawing/2014/main" id="{96942D0D-07B5-D98B-14DE-AA7EF42087E1}"/>
              </a:ext>
            </a:extLst>
          </p:cNvPr>
          <p:cNvSpPr>
            <a:spLocks noGrp="1"/>
          </p:cNvSpPr>
          <p:nvPr>
            <p:ph type="title"/>
          </p:nvPr>
        </p:nvSpPr>
        <p:spPr/>
        <p:txBody>
          <a:bodyPr/>
          <a:lstStyle/>
          <a:p>
            <a:r>
              <a:t>Modifiez le style du titre</a:t>
            </a:r>
          </a:p>
        </p:txBody>
      </p:sp>
      <p:sp>
        <p:nvSpPr>
          <p:cNvPr id="7" name="Espace réservé de la date 6">
            <a:extLst>
              <a:ext uri="{FF2B5EF4-FFF2-40B4-BE49-F238E27FC236}">
                <a16:creationId xmlns:a16="http://schemas.microsoft.com/office/drawing/2014/main" id="{6FF3597A-A13D-7013-BAE2-C9613316CD9A}"/>
              </a:ext>
            </a:extLst>
          </p:cNvPr>
          <p:cNvSpPr>
            <a:spLocks noGrp="1"/>
          </p:cNvSpPr>
          <p:nvPr>
            <p:ph type="dt" idx="10"/>
          </p:nvPr>
        </p:nvSpPr>
        <p:spPr/>
        <p:txBody>
          <a:bodyPr/>
          <a:lstStyle/>
          <a:p>
            <a:r>
              <a:t>TITLE OF THE PRESENTATION</a:t>
            </a:r>
          </a:p>
        </p:txBody>
      </p:sp>
      <p:sp>
        <p:nvSpPr>
          <p:cNvPr id="8" name="Espace réservé du pied de page 7">
            <a:extLst>
              <a:ext uri="{FF2B5EF4-FFF2-40B4-BE49-F238E27FC236}">
                <a16:creationId xmlns:a16="http://schemas.microsoft.com/office/drawing/2014/main" id="{D632C1CA-DB30-E56F-9D0A-D169EB21BDE9}"/>
              </a:ext>
            </a:extLst>
          </p:cNvPr>
          <p:cNvSpPr>
            <a:spLocks noGrp="1"/>
          </p:cNvSpPr>
          <p:nvPr>
            <p:ph type="ftr" idx="11"/>
          </p:nvPr>
        </p:nvSpPr>
        <p:spPr/>
        <p:txBody>
          <a:bodyPr/>
          <a:lstStyle/>
          <a:p>
            <a:r>
              <a:t>Speaker name</a:t>
            </a:r>
          </a:p>
        </p:txBody>
      </p:sp>
      <p:sp>
        <p:nvSpPr>
          <p:cNvPr id="9" name="Espace réservé du numéro de diapositive 8">
            <a:extLst>
              <a:ext uri="{FF2B5EF4-FFF2-40B4-BE49-F238E27FC236}">
                <a16:creationId xmlns:a16="http://schemas.microsoft.com/office/drawing/2014/main" id="{32ECD5E1-317B-1135-8109-60D2B0C8EE25}"/>
              </a:ext>
            </a:extLst>
          </p:cNvPr>
          <p:cNvSpPr>
            <a:spLocks noGrp="1"/>
          </p:cNvSpPr>
          <p:nvPr>
            <p:ph type="sldNum" idx="12"/>
          </p:nvPr>
        </p:nvSpPr>
        <p:spPr/>
        <p:txBody>
          <a:bodyPr/>
          <a:lstStyle/>
          <a:p>
            <a:fld id="{E1E1CD7C-2161-7D43-862E-CE4C333CD873}"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re et contenu">
    <p:bg>
      <p:bgPr>
        <a:gradFill>
          <a:gsLst>
            <a:gs pos="0">
              <a:schemeClr val="bg2">
                <a:lumMod val="40000"/>
                <a:lumOff val="60000"/>
              </a:schemeClr>
            </a:gs>
            <a:gs pos="32000">
              <a:schemeClr val="bg2"/>
            </a:gs>
            <a:gs pos="99000">
              <a:schemeClr val="bg2"/>
            </a:gs>
          </a:gsLst>
          <a:lin ang="5400000" scaled="1"/>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CA0D16-2A11-4B41-9E7C-495422E276B8}"/>
              </a:ext>
            </a:extLst>
          </p:cNvPr>
          <p:cNvSpPr>
            <a:spLocks noGrp="1"/>
          </p:cNvSpPr>
          <p:nvPr>
            <p:ph idx="1"/>
          </p:nvPr>
        </p:nvSpPr>
        <p:spPr>
          <a:xfrm>
            <a:off x="550863" y="3122613"/>
            <a:ext cx="11090274" cy="3402012"/>
          </a:xfrm>
        </p:spPr>
        <p:txBody>
          <a:bodyPr/>
          <a:lstStyle/>
          <a:p>
            <a:pPr lvl="0">
              <a:buNone/>
            </a:pPr>
            <a:r>
              <a:t>Cliquez pour modifier les styles du texte du masque</a:t>
            </a:r>
          </a:p>
        </p:txBody>
      </p:sp>
      <p:sp>
        <p:nvSpPr>
          <p:cNvPr id="2" name="Titre 1">
            <a:extLst>
              <a:ext uri="{FF2B5EF4-FFF2-40B4-BE49-F238E27FC236}">
                <a16:creationId xmlns:a16="http://schemas.microsoft.com/office/drawing/2014/main" id="{96942D0D-07B5-D98B-14DE-AA7EF42087E1}"/>
              </a:ext>
            </a:extLst>
          </p:cNvPr>
          <p:cNvSpPr>
            <a:spLocks noGrp="1"/>
          </p:cNvSpPr>
          <p:nvPr>
            <p:ph type="title"/>
          </p:nvPr>
        </p:nvSpPr>
        <p:spPr/>
        <p:txBody>
          <a:bodyPr/>
          <a:lstStyle/>
          <a:p>
            <a:r>
              <a:t>Modifiez le style du titre</a:t>
            </a:r>
          </a:p>
        </p:txBody>
      </p:sp>
      <p:sp>
        <p:nvSpPr>
          <p:cNvPr id="7" name="Espace réservé de la date 6">
            <a:extLst>
              <a:ext uri="{FF2B5EF4-FFF2-40B4-BE49-F238E27FC236}">
                <a16:creationId xmlns:a16="http://schemas.microsoft.com/office/drawing/2014/main" id="{6FF3597A-A13D-7013-BAE2-C9613316CD9A}"/>
              </a:ext>
            </a:extLst>
          </p:cNvPr>
          <p:cNvSpPr>
            <a:spLocks noGrp="1"/>
          </p:cNvSpPr>
          <p:nvPr>
            <p:ph type="dt" idx="10"/>
          </p:nvPr>
        </p:nvSpPr>
        <p:spPr/>
        <p:txBody>
          <a:bodyPr/>
          <a:lstStyle/>
          <a:p>
            <a:r>
              <a:t>TITLE OF THE PRESENTATION</a:t>
            </a:r>
          </a:p>
        </p:txBody>
      </p:sp>
      <p:sp>
        <p:nvSpPr>
          <p:cNvPr id="8" name="Espace réservé du pied de page 7">
            <a:extLst>
              <a:ext uri="{FF2B5EF4-FFF2-40B4-BE49-F238E27FC236}">
                <a16:creationId xmlns:a16="http://schemas.microsoft.com/office/drawing/2014/main" id="{D632C1CA-DB30-E56F-9D0A-D169EB21BDE9}"/>
              </a:ext>
            </a:extLst>
          </p:cNvPr>
          <p:cNvSpPr>
            <a:spLocks noGrp="1"/>
          </p:cNvSpPr>
          <p:nvPr>
            <p:ph type="ftr" idx="11"/>
          </p:nvPr>
        </p:nvSpPr>
        <p:spPr/>
        <p:txBody>
          <a:bodyPr/>
          <a:lstStyle/>
          <a:p>
            <a:r>
              <a:t>Speaker name</a:t>
            </a:r>
          </a:p>
        </p:txBody>
      </p:sp>
      <p:sp>
        <p:nvSpPr>
          <p:cNvPr id="9" name="Espace réservé du numéro de diapositive 8">
            <a:extLst>
              <a:ext uri="{FF2B5EF4-FFF2-40B4-BE49-F238E27FC236}">
                <a16:creationId xmlns:a16="http://schemas.microsoft.com/office/drawing/2014/main" id="{32ECD5E1-317B-1135-8109-60D2B0C8EE25}"/>
              </a:ext>
            </a:extLst>
          </p:cNvPr>
          <p:cNvSpPr>
            <a:spLocks noGrp="1"/>
          </p:cNvSpPr>
          <p:nvPr>
            <p:ph type="sldNum" idx="12"/>
          </p:nvPr>
        </p:nvSpPr>
        <p:spPr/>
        <p:txBody>
          <a:bodyPr/>
          <a:lstStyle/>
          <a:p>
            <a:fld id="{E1E1CD7C-2161-7D43-862E-CE4C333CD873}"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Titre et contenu">
    <p:bg>
      <p:bgPr>
        <a:gradFill>
          <a:gsLst>
            <a:gs pos="0">
              <a:schemeClr val="tx2">
                <a:lumMod val="50000"/>
              </a:schemeClr>
            </a:gs>
            <a:gs pos="32000">
              <a:schemeClr val="tx2"/>
            </a:gs>
            <a:gs pos="98000">
              <a:schemeClr val="tx2"/>
            </a:gs>
          </a:gsLst>
          <a:lin ang="5400000" scaled="1"/>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A412F5-7F76-4031-B0E2-D0444F426937}"/>
              </a:ext>
            </a:extLst>
          </p:cNvPr>
          <p:cNvSpPr>
            <a:spLocks noGrp="1"/>
          </p:cNvSpPr>
          <p:nvPr>
            <p:ph idx="1"/>
          </p:nvPr>
        </p:nvSpPr>
        <p:spPr>
          <a:xfrm>
            <a:off x="550863" y="3122613"/>
            <a:ext cx="11090274" cy="3402012"/>
          </a:xfrm>
        </p:spPr>
        <p:txBody>
          <a:bodyPr/>
          <a:lstStyle>
            <a:lvl1pPr>
              <a:buClrTx/>
              <a:buNone/>
              <a:defRPr>
                <a:solidFill>
                  <a:schemeClr val="bg1"/>
                </a:solidFill>
              </a:defRPr>
            </a:lvl1pPr>
          </a:lstStyle>
          <a:p>
            <a:pPr lvl="0">
              <a:buNone/>
            </a:pPr>
            <a:r>
              <a:t>Cliquez pour modifier les styles du texte du masque</a:t>
            </a:r>
          </a:p>
        </p:txBody>
      </p:sp>
      <p:sp>
        <p:nvSpPr>
          <p:cNvPr id="2" name="Titre 1">
            <a:extLst>
              <a:ext uri="{FF2B5EF4-FFF2-40B4-BE49-F238E27FC236}">
                <a16:creationId xmlns:a16="http://schemas.microsoft.com/office/drawing/2014/main" id="{96942D0D-07B5-D98B-14DE-AA7EF42087E1}"/>
              </a:ext>
            </a:extLst>
          </p:cNvPr>
          <p:cNvSpPr>
            <a:spLocks noGrp="1"/>
          </p:cNvSpPr>
          <p:nvPr>
            <p:ph type="title"/>
          </p:nvPr>
        </p:nvSpPr>
        <p:spPr/>
        <p:txBody>
          <a:bodyPr/>
          <a:lstStyle>
            <a:lvl1pPr>
              <a:buNone/>
              <a:defRPr>
                <a:solidFill>
                  <a:schemeClr val="bg1"/>
                </a:solidFill>
              </a:defRPr>
            </a:lvl1pPr>
          </a:lstStyle>
          <a:p>
            <a:r>
              <a:t>Modifiez le style du titre</a:t>
            </a:r>
          </a:p>
        </p:txBody>
      </p:sp>
      <p:sp>
        <p:nvSpPr>
          <p:cNvPr id="9" name="Forme libre 8">
            <a:extLst>
              <a:ext uri="{FF2B5EF4-FFF2-40B4-BE49-F238E27FC236}">
                <a16:creationId xmlns:a16="http://schemas.microsoft.com/office/drawing/2014/main" id="{13EF8F51-3EA2-359B-1A23-D9F373527745}"/>
              </a:ext>
            </a:extLst>
          </p:cNvPr>
          <p:cNvSpPr>
            <a:spLocks noGrp="1"/>
          </p:cNvSpPr>
          <p:nvPr/>
        </p:nvSpPr>
        <p:spPr>
          <a:xfrm>
            <a:off x="555663" y="335968"/>
            <a:ext cx="138216" cy="77949"/>
          </a:xfrm>
          <a:custGeom>
            <a:avLst/>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ahLst/>
            <a:cxn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a:schemeClr val="bg1"/>
          </a:solidFill>
          <a:ln w="1343">
            <a:noFill/>
            <a:prstDash val="solid"/>
          </a:ln>
        </p:spPr>
        <p:txBody>
          <a:bodyPr anchor="ctr"/>
          <a:lstStyle/>
          <a:p>
            <a:endParaRPr/>
          </a:p>
        </p:txBody>
      </p:sp>
      <p:sp>
        <p:nvSpPr>
          <p:cNvPr id="10" name="Forme libre 9">
            <a:extLst>
              <a:ext uri="{FF2B5EF4-FFF2-40B4-BE49-F238E27FC236}">
                <a16:creationId xmlns:a16="http://schemas.microsoft.com/office/drawing/2014/main" id="{E5B494A9-D288-4545-5699-3384315D576E}"/>
              </a:ext>
            </a:extLst>
          </p:cNvPr>
          <p:cNvSpPr>
            <a:spLocks noGrp="1"/>
          </p:cNvSpPr>
          <p:nvPr/>
        </p:nvSpPr>
        <p:spPr>
          <a:xfrm>
            <a:off x="555663" y="449275"/>
            <a:ext cx="138216" cy="77962"/>
          </a:xfrm>
          <a:custGeom>
            <a:avLst/>
            <a:gdLst>
              <a:gd name="connsiteX0" fmla="*/ 0 w 138216"/>
              <a:gd name="connsiteY0" fmla="*/ 77963 h 77962"/>
              <a:gd name="connsiteX1" fmla="*/ 138217 w 138216"/>
              <a:gd name="connsiteY1" fmla="*/ 77963 h 77962"/>
              <a:gd name="connsiteX2" fmla="*/ 138217 w 138216"/>
              <a:gd name="connsiteY2" fmla="*/ 42591 h 77962"/>
              <a:gd name="connsiteX3" fmla="*/ 41210 w 138216"/>
              <a:gd name="connsiteY3" fmla="*/ 42591 h 77962"/>
              <a:gd name="connsiteX4" fmla="*/ 41210 w 138216"/>
              <a:gd name="connsiteY4" fmla="*/ 0 h 77962"/>
              <a:gd name="connsiteX5" fmla="*/ 0 w 138216"/>
              <a:gd name="connsiteY5" fmla="*/ 0 h 77962"/>
              <a:gd name="connsiteX6" fmla="*/ 0 w 138216"/>
              <a:gd name="connsiteY6" fmla="*/ 77963 h 77962"/>
            </a:gdLst>
            <a:ahLst/>
            <a:cxnLst/>
            <a:rect l="l" t="t" r="r" b="b"/>
            <a:pathLst>
              <a:path w="138216" h="77962">
                <a:moveTo>
                  <a:pt x="0" y="77963"/>
                </a:moveTo>
                <a:lnTo>
                  <a:pt x="138217" y="77963"/>
                </a:lnTo>
                <a:lnTo>
                  <a:pt x="138217" y="42591"/>
                </a:lnTo>
                <a:lnTo>
                  <a:pt x="41210" y="42591"/>
                </a:lnTo>
                <a:lnTo>
                  <a:pt x="41210" y="0"/>
                </a:lnTo>
                <a:lnTo>
                  <a:pt x="0" y="0"/>
                </a:lnTo>
                <a:lnTo>
                  <a:pt x="0" y="77963"/>
                </a:lnTo>
                <a:close/>
              </a:path>
            </a:pathLst>
          </a:custGeom>
          <a:solidFill>
            <a:schemeClr val="bg1"/>
          </a:solidFill>
          <a:ln w="1343">
            <a:noFill/>
            <a:prstDash val="solid"/>
          </a:ln>
        </p:spPr>
        <p:txBody>
          <a:bodyPr anchor="ctr"/>
          <a:lstStyle/>
          <a:p>
            <a:endParaRPr/>
          </a:p>
        </p:txBody>
      </p:sp>
      <p:sp>
        <p:nvSpPr>
          <p:cNvPr id="11" name="Forme libre 10">
            <a:extLst>
              <a:ext uri="{FF2B5EF4-FFF2-40B4-BE49-F238E27FC236}">
                <a16:creationId xmlns:a16="http://schemas.microsoft.com/office/drawing/2014/main" id="{A5227256-2CB5-C66B-5A1C-3E1C7C775414}"/>
              </a:ext>
            </a:extLst>
          </p:cNvPr>
          <p:cNvSpPr>
            <a:spLocks noGrp="1"/>
          </p:cNvSpPr>
          <p:nvPr/>
        </p:nvSpPr>
        <p:spPr>
          <a:xfrm>
            <a:off x="596874" y="413918"/>
            <a:ext cx="88715" cy="35357"/>
          </a:xfrm>
          <a:custGeom>
            <a:avLst/>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ahLst/>
            <a:cxnLst/>
            <a:rect l="l" t="t" r="r" b="b"/>
            <a:pathLst>
              <a:path w="88715" h="35357">
                <a:moveTo>
                  <a:pt x="0" y="0"/>
                </a:moveTo>
                <a:lnTo>
                  <a:pt x="88716" y="0"/>
                </a:lnTo>
                <a:lnTo>
                  <a:pt x="88716" y="35358"/>
                </a:lnTo>
                <a:lnTo>
                  <a:pt x="0" y="35358"/>
                </a:lnTo>
                <a:close/>
              </a:path>
            </a:pathLst>
          </a:custGeom>
          <a:solidFill>
            <a:schemeClr val="bg1"/>
          </a:solidFill>
          <a:ln w="1343">
            <a:noFill/>
            <a:prstDash val="solid"/>
          </a:ln>
        </p:spPr>
        <p:txBody>
          <a:bodyPr anchor="ctr"/>
          <a:lstStyle/>
          <a:p>
            <a:endParaRPr/>
          </a:p>
        </p:txBody>
      </p:sp>
      <p:sp>
        <p:nvSpPr>
          <p:cNvPr id="12" name="Forme libre 11">
            <a:extLst>
              <a:ext uri="{FF2B5EF4-FFF2-40B4-BE49-F238E27FC236}">
                <a16:creationId xmlns:a16="http://schemas.microsoft.com/office/drawing/2014/main" id="{613513A6-A38B-81D3-C93C-32D8AC097F4F}"/>
              </a:ext>
            </a:extLst>
          </p:cNvPr>
          <p:cNvSpPr>
            <a:spLocks noGrp="1"/>
          </p:cNvSpPr>
          <p:nvPr/>
        </p:nvSpPr>
        <p:spPr>
          <a:xfrm>
            <a:off x="729199" y="335955"/>
            <a:ext cx="151468" cy="191270"/>
          </a:xfrm>
          <a:custGeom>
            <a:avLst/>
            <a:gdLst>
              <a:gd name="connsiteX0" fmla="*/ 136343 w 151468"/>
              <a:gd name="connsiteY0" fmla="*/ 17571 h 191270"/>
              <a:gd name="connsiteX1" fmla="*/ 115866 w 151468"/>
              <a:gd name="connsiteY1" fmla="*/ 4831 h 191270"/>
              <a:gd name="connsiteX2" fmla="*/ 85359 w 151468"/>
              <a:gd name="connsiteY2" fmla="*/ 0 h 191270"/>
              <a:gd name="connsiteX3" fmla="*/ 0 w 151468"/>
              <a:gd name="connsiteY3" fmla="*/ 0 h 191270"/>
              <a:gd name="connsiteX4" fmla="*/ 0 w 151468"/>
              <a:gd name="connsiteY4" fmla="*/ 191270 h 191270"/>
              <a:gd name="connsiteX5" fmla="*/ 41210 w 151468"/>
              <a:gd name="connsiteY5" fmla="*/ 191270 h 191270"/>
              <a:gd name="connsiteX6" fmla="*/ 41210 w 151468"/>
              <a:gd name="connsiteY6" fmla="*/ 113307 h 191270"/>
              <a:gd name="connsiteX7" fmla="*/ 85359 w 151468"/>
              <a:gd name="connsiteY7" fmla="*/ 113307 h 191270"/>
              <a:gd name="connsiteX8" fmla="*/ 115866 w 151468"/>
              <a:gd name="connsiteY8" fmla="*/ 108489 h 191270"/>
              <a:gd name="connsiteX9" fmla="*/ 136343 w 151468"/>
              <a:gd name="connsiteY9" fmla="*/ 95750 h 191270"/>
              <a:gd name="connsiteX10" fmla="*/ 147855 w 151468"/>
              <a:gd name="connsiteY10" fmla="*/ 77571 h 191270"/>
              <a:gd name="connsiteX11" fmla="*/ 151468 w 151468"/>
              <a:gd name="connsiteY11" fmla="*/ 56667 h 191270"/>
              <a:gd name="connsiteX12" fmla="*/ 147855 w 151468"/>
              <a:gd name="connsiteY12" fmla="*/ 35641 h 191270"/>
              <a:gd name="connsiteX13" fmla="*/ 136343 w 151468"/>
              <a:gd name="connsiteY13" fmla="*/ 17584 h 191270"/>
              <a:gd name="connsiteX14" fmla="*/ 107710 w 151468"/>
              <a:gd name="connsiteY14" fmla="*/ 67612 h 191270"/>
              <a:gd name="connsiteX15" fmla="*/ 99554 w 151468"/>
              <a:gd name="connsiteY15" fmla="*/ 74076 h 191270"/>
              <a:gd name="connsiteX16" fmla="*/ 87786 w 151468"/>
              <a:gd name="connsiteY16" fmla="*/ 77167 h 191270"/>
              <a:gd name="connsiteX17" fmla="*/ 73874 w 151468"/>
              <a:gd name="connsiteY17" fmla="*/ 77963 h 191270"/>
              <a:gd name="connsiteX18" fmla="*/ 41224 w 151468"/>
              <a:gd name="connsiteY18" fmla="*/ 77963 h 191270"/>
              <a:gd name="connsiteX19" fmla="*/ 41224 w 151468"/>
              <a:gd name="connsiteY19" fmla="*/ 35371 h 191270"/>
              <a:gd name="connsiteX20" fmla="*/ 73874 w 151468"/>
              <a:gd name="connsiteY20" fmla="*/ 35371 h 191270"/>
              <a:gd name="connsiteX21" fmla="*/ 87786 w 151468"/>
              <a:gd name="connsiteY21" fmla="*/ 36168 h 191270"/>
              <a:gd name="connsiteX22" fmla="*/ 99554 w 151468"/>
              <a:gd name="connsiteY22" fmla="*/ 39258 h 191270"/>
              <a:gd name="connsiteX23" fmla="*/ 107710 w 151468"/>
              <a:gd name="connsiteY23" fmla="*/ 45722 h 191270"/>
              <a:gd name="connsiteX24" fmla="*/ 110784 w 151468"/>
              <a:gd name="connsiteY24" fmla="*/ 56667 h 191270"/>
              <a:gd name="connsiteX25" fmla="*/ 107710 w 151468"/>
              <a:gd name="connsiteY25" fmla="*/ 67612 h 191270"/>
            </a:gdLst>
            <a:ahLst/>
            <a:cxnLst/>
            <a:rect l="l" t="t" r="r" b="b"/>
            <a:pathLst>
              <a:path w="151468" h="191270">
                <a:moveTo>
                  <a:pt x="136343" y="17571"/>
                </a:moveTo>
                <a:cubicBezTo>
                  <a:pt x="131072" y="12294"/>
                  <a:pt x="124251" y="8043"/>
                  <a:pt x="115866" y="4831"/>
                </a:cubicBezTo>
                <a:cubicBezTo>
                  <a:pt x="107481" y="1619"/>
                  <a:pt x="97303" y="0"/>
                  <a:pt x="85359" y="0"/>
                </a:cubicBezTo>
                <a:lnTo>
                  <a:pt x="0" y="0"/>
                </a:lnTo>
                <a:lnTo>
                  <a:pt x="0" y="191270"/>
                </a:lnTo>
                <a:lnTo>
                  <a:pt x="41210" y="191270"/>
                </a:lnTo>
                <a:lnTo>
                  <a:pt x="41210" y="113307"/>
                </a:lnTo>
                <a:lnTo>
                  <a:pt x="85359" y="113307"/>
                </a:lnTo>
                <a:cubicBezTo>
                  <a:pt x="97303" y="113307"/>
                  <a:pt x="107481" y="111701"/>
                  <a:pt x="115866" y="108489"/>
                </a:cubicBezTo>
                <a:cubicBezTo>
                  <a:pt x="124251" y="105277"/>
                  <a:pt x="131072" y="101026"/>
                  <a:pt x="136343" y="95750"/>
                </a:cubicBezTo>
                <a:cubicBezTo>
                  <a:pt x="141600" y="90473"/>
                  <a:pt x="145442" y="84414"/>
                  <a:pt x="147855" y="77571"/>
                </a:cubicBezTo>
                <a:cubicBezTo>
                  <a:pt x="150268" y="70729"/>
                  <a:pt x="151468" y="63766"/>
                  <a:pt x="151468" y="56667"/>
                </a:cubicBezTo>
                <a:cubicBezTo>
                  <a:pt x="151468" y="49569"/>
                  <a:pt x="150268" y="42402"/>
                  <a:pt x="147855" y="35641"/>
                </a:cubicBezTo>
                <a:cubicBezTo>
                  <a:pt x="145442" y="28880"/>
                  <a:pt x="141614" y="22861"/>
                  <a:pt x="136343" y="17584"/>
                </a:cubicBezTo>
                <a:close/>
                <a:moveTo>
                  <a:pt x="107710" y="67612"/>
                </a:moveTo>
                <a:cubicBezTo>
                  <a:pt x="105661" y="70392"/>
                  <a:pt x="102938" y="72551"/>
                  <a:pt x="99554" y="74076"/>
                </a:cubicBezTo>
                <a:cubicBezTo>
                  <a:pt x="96157" y="75601"/>
                  <a:pt x="92234" y="76627"/>
                  <a:pt x="87786" y="77167"/>
                </a:cubicBezTo>
                <a:cubicBezTo>
                  <a:pt x="83324" y="77693"/>
                  <a:pt x="78686" y="77963"/>
                  <a:pt x="73874" y="77963"/>
                </a:cubicBezTo>
                <a:lnTo>
                  <a:pt x="41224" y="77963"/>
                </a:lnTo>
                <a:lnTo>
                  <a:pt x="41224" y="35371"/>
                </a:lnTo>
                <a:lnTo>
                  <a:pt x="73874" y="35371"/>
                </a:lnTo>
                <a:cubicBezTo>
                  <a:pt x="78686" y="35371"/>
                  <a:pt x="83324" y="35641"/>
                  <a:pt x="87786" y="36168"/>
                </a:cubicBezTo>
                <a:cubicBezTo>
                  <a:pt x="92248" y="36694"/>
                  <a:pt x="96171" y="37733"/>
                  <a:pt x="99554" y="39258"/>
                </a:cubicBezTo>
                <a:cubicBezTo>
                  <a:pt x="102938" y="40783"/>
                  <a:pt x="105661" y="42942"/>
                  <a:pt x="107710" y="45722"/>
                </a:cubicBezTo>
                <a:cubicBezTo>
                  <a:pt x="109759" y="48502"/>
                  <a:pt x="110784" y="52160"/>
                  <a:pt x="110784" y="56667"/>
                </a:cubicBezTo>
                <a:cubicBezTo>
                  <a:pt x="110784" y="61175"/>
                  <a:pt x="109759" y="64832"/>
                  <a:pt x="107710" y="67612"/>
                </a:cubicBezTo>
                <a:close/>
              </a:path>
            </a:pathLst>
          </a:custGeom>
          <a:solidFill>
            <a:schemeClr val="bg1"/>
          </a:solidFill>
          <a:ln w="1343">
            <a:noFill/>
            <a:prstDash val="solid"/>
          </a:ln>
        </p:spPr>
        <p:txBody>
          <a:bodyPr anchor="ctr"/>
          <a:lstStyle/>
          <a:p>
            <a:endParaRPr/>
          </a:p>
        </p:txBody>
      </p:sp>
      <p:sp>
        <p:nvSpPr>
          <p:cNvPr id="13" name="Forme libre 12">
            <a:extLst>
              <a:ext uri="{FF2B5EF4-FFF2-40B4-BE49-F238E27FC236}">
                <a16:creationId xmlns:a16="http://schemas.microsoft.com/office/drawing/2014/main" id="{5B115CEE-A940-BE26-2B43-166F8314B6E7}"/>
              </a:ext>
            </a:extLst>
          </p:cNvPr>
          <p:cNvSpPr>
            <a:spLocks noGrp="1"/>
          </p:cNvSpPr>
          <p:nvPr/>
        </p:nvSpPr>
        <p:spPr>
          <a:xfrm>
            <a:off x="1074937" y="335968"/>
            <a:ext cx="138203" cy="191269"/>
          </a:xfrm>
          <a:custGeom>
            <a:avLst/>
            <a:gdLst>
              <a:gd name="connsiteX0" fmla="*/ 41197 w 138203"/>
              <a:gd name="connsiteY0" fmla="*/ 155899 h 191269"/>
              <a:gd name="connsiteX1" fmla="*/ 41197 w 138203"/>
              <a:gd name="connsiteY1" fmla="*/ 0 h 191269"/>
              <a:gd name="connsiteX2" fmla="*/ 0 w 138203"/>
              <a:gd name="connsiteY2" fmla="*/ 0 h 191269"/>
              <a:gd name="connsiteX3" fmla="*/ 0 w 138203"/>
              <a:gd name="connsiteY3" fmla="*/ 191270 h 191269"/>
              <a:gd name="connsiteX4" fmla="*/ 138203 w 138203"/>
              <a:gd name="connsiteY4" fmla="*/ 191270 h 191269"/>
              <a:gd name="connsiteX5" fmla="*/ 138203 w 138203"/>
              <a:gd name="connsiteY5" fmla="*/ 155899 h 191269"/>
              <a:gd name="connsiteX6" fmla="*/ 41197 w 138203"/>
              <a:gd name="connsiteY6" fmla="*/ 155899 h 191269"/>
            </a:gdLst>
            <a:ahLst/>
            <a:cxnLst/>
            <a:rect l="l" t="t" r="r" b="b"/>
            <a:pathLst>
              <a:path w="138203" h="191269">
                <a:moveTo>
                  <a:pt x="41197" y="155899"/>
                </a:moveTo>
                <a:lnTo>
                  <a:pt x="41197" y="0"/>
                </a:lnTo>
                <a:lnTo>
                  <a:pt x="0" y="0"/>
                </a:lnTo>
                <a:lnTo>
                  <a:pt x="0" y="191270"/>
                </a:lnTo>
                <a:lnTo>
                  <a:pt x="138203" y="191270"/>
                </a:lnTo>
                <a:lnTo>
                  <a:pt x="138203" y="155899"/>
                </a:lnTo>
                <a:lnTo>
                  <a:pt x="41197" y="155899"/>
                </a:lnTo>
                <a:close/>
              </a:path>
            </a:pathLst>
          </a:custGeom>
          <a:solidFill>
            <a:schemeClr val="bg1"/>
          </a:solidFill>
          <a:ln w="1343">
            <a:noFill/>
            <a:prstDash val="solid"/>
          </a:ln>
        </p:spPr>
        <p:txBody>
          <a:bodyPr anchor="ctr"/>
          <a:lstStyle/>
          <a:p>
            <a:endParaRPr/>
          </a:p>
        </p:txBody>
      </p:sp>
      <p:sp>
        <p:nvSpPr>
          <p:cNvPr id="14" name="Forme libre 13">
            <a:extLst>
              <a:ext uri="{FF2B5EF4-FFF2-40B4-BE49-F238E27FC236}">
                <a16:creationId xmlns:a16="http://schemas.microsoft.com/office/drawing/2014/main" id="{2C4287DA-CF08-EA83-E364-FECE99038CA8}"/>
              </a:ext>
            </a:extLst>
          </p:cNvPr>
          <p:cNvSpPr>
            <a:spLocks noGrp="1"/>
          </p:cNvSpPr>
          <p:nvPr/>
        </p:nvSpPr>
        <p:spPr>
          <a:xfrm>
            <a:off x="906874" y="335968"/>
            <a:ext cx="138216" cy="77949"/>
          </a:xfrm>
          <a:custGeom>
            <a:avLst/>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ahLst/>
            <a:cxn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a:schemeClr val="bg1"/>
          </a:solidFill>
          <a:ln w="1343">
            <a:noFill/>
            <a:prstDash val="solid"/>
          </a:ln>
        </p:spPr>
        <p:txBody>
          <a:bodyPr anchor="ctr"/>
          <a:lstStyle/>
          <a:p>
            <a:endParaRPr/>
          </a:p>
        </p:txBody>
      </p:sp>
      <p:sp>
        <p:nvSpPr>
          <p:cNvPr id="15" name="Forme libre 14">
            <a:extLst>
              <a:ext uri="{FF2B5EF4-FFF2-40B4-BE49-F238E27FC236}">
                <a16:creationId xmlns:a16="http://schemas.microsoft.com/office/drawing/2014/main" id="{816D4154-ADD8-7CD7-5EE4-31C06E12F124}"/>
              </a:ext>
            </a:extLst>
          </p:cNvPr>
          <p:cNvSpPr>
            <a:spLocks noGrp="1"/>
          </p:cNvSpPr>
          <p:nvPr/>
        </p:nvSpPr>
        <p:spPr>
          <a:xfrm>
            <a:off x="906874" y="449275"/>
            <a:ext cx="41210" cy="77949"/>
          </a:xfrm>
          <a:custGeom>
            <a:avLst/>
            <a:gdLst>
              <a:gd name="connsiteX0" fmla="*/ 0 w 41210"/>
              <a:gd name="connsiteY0" fmla="*/ 0 h 77949"/>
              <a:gd name="connsiteX1" fmla="*/ 41210 w 41210"/>
              <a:gd name="connsiteY1" fmla="*/ 0 h 77949"/>
              <a:gd name="connsiteX2" fmla="*/ 41210 w 41210"/>
              <a:gd name="connsiteY2" fmla="*/ 77949 h 77949"/>
              <a:gd name="connsiteX3" fmla="*/ 0 w 41210"/>
              <a:gd name="connsiteY3" fmla="*/ 77949 h 77949"/>
            </a:gdLst>
            <a:ahLst/>
            <a:cxnLst/>
            <a:rect l="l" t="t" r="r" b="b"/>
            <a:pathLst>
              <a:path w="41210" h="77949">
                <a:moveTo>
                  <a:pt x="0" y="0"/>
                </a:moveTo>
                <a:lnTo>
                  <a:pt x="41210" y="0"/>
                </a:lnTo>
                <a:lnTo>
                  <a:pt x="41210" y="77949"/>
                </a:lnTo>
                <a:lnTo>
                  <a:pt x="0" y="77949"/>
                </a:lnTo>
                <a:close/>
              </a:path>
            </a:pathLst>
          </a:custGeom>
          <a:solidFill>
            <a:schemeClr val="bg1"/>
          </a:solidFill>
          <a:ln w="1343">
            <a:noFill/>
            <a:prstDash val="solid"/>
          </a:ln>
        </p:spPr>
        <p:txBody>
          <a:bodyPr anchor="ctr"/>
          <a:lstStyle/>
          <a:p>
            <a:endParaRPr/>
          </a:p>
        </p:txBody>
      </p:sp>
      <p:sp>
        <p:nvSpPr>
          <p:cNvPr id="16" name="Forme libre 15">
            <a:extLst>
              <a:ext uri="{FF2B5EF4-FFF2-40B4-BE49-F238E27FC236}">
                <a16:creationId xmlns:a16="http://schemas.microsoft.com/office/drawing/2014/main" id="{0A5651A8-D780-F7AB-9F78-EFD12AA98E74}"/>
              </a:ext>
            </a:extLst>
          </p:cNvPr>
          <p:cNvSpPr>
            <a:spLocks noGrp="1"/>
          </p:cNvSpPr>
          <p:nvPr/>
        </p:nvSpPr>
        <p:spPr>
          <a:xfrm>
            <a:off x="948084" y="413918"/>
            <a:ext cx="88715" cy="35357"/>
          </a:xfrm>
          <a:custGeom>
            <a:avLst/>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ahLst/>
            <a:cxnLst/>
            <a:rect l="l" t="t" r="r" b="b"/>
            <a:pathLst>
              <a:path w="88715" h="35357">
                <a:moveTo>
                  <a:pt x="0" y="0"/>
                </a:moveTo>
                <a:lnTo>
                  <a:pt x="88716" y="0"/>
                </a:lnTo>
                <a:lnTo>
                  <a:pt x="88716" y="35358"/>
                </a:lnTo>
                <a:lnTo>
                  <a:pt x="0" y="35358"/>
                </a:lnTo>
                <a:close/>
              </a:path>
            </a:pathLst>
          </a:custGeom>
          <a:solidFill>
            <a:schemeClr val="bg1"/>
          </a:solidFill>
          <a:ln w="1343">
            <a:noFill/>
            <a:prstDash val="solid"/>
          </a:ln>
        </p:spPr>
        <p:txBody>
          <a:bodyPr anchor="ctr"/>
          <a:lstStyle/>
          <a:p>
            <a:endParaRPr/>
          </a:p>
        </p:txBody>
      </p:sp>
      <p:sp>
        <p:nvSpPr>
          <p:cNvPr id="17" name="Espace réservé de la date 16">
            <a:extLst>
              <a:ext uri="{FF2B5EF4-FFF2-40B4-BE49-F238E27FC236}">
                <a16:creationId xmlns:a16="http://schemas.microsoft.com/office/drawing/2014/main" id="{309FD214-C446-3C8F-AD11-A249F4B5998A}"/>
              </a:ext>
            </a:extLst>
          </p:cNvPr>
          <p:cNvSpPr>
            <a:spLocks noGrp="1"/>
          </p:cNvSpPr>
          <p:nvPr>
            <p:ph type="dt" idx="10"/>
          </p:nvPr>
        </p:nvSpPr>
        <p:spPr/>
        <p:txBody>
          <a:bodyPr/>
          <a:lstStyle>
            <a:lvl1pPr>
              <a:buNone/>
              <a:defRPr>
                <a:solidFill>
                  <a:schemeClr val="bg1"/>
                </a:solidFill>
              </a:defRPr>
            </a:lvl1pPr>
          </a:lstStyle>
          <a:p>
            <a:r>
              <a:t>TITLE OF THE PRESENTATION</a:t>
            </a:r>
          </a:p>
        </p:txBody>
      </p:sp>
      <p:sp>
        <p:nvSpPr>
          <p:cNvPr id="18" name="Espace réservé du pied de page 17">
            <a:extLst>
              <a:ext uri="{FF2B5EF4-FFF2-40B4-BE49-F238E27FC236}">
                <a16:creationId xmlns:a16="http://schemas.microsoft.com/office/drawing/2014/main" id="{1A7428E5-FF5A-76BD-D93B-8D61D542AB1E}"/>
              </a:ext>
            </a:extLst>
          </p:cNvPr>
          <p:cNvSpPr>
            <a:spLocks noGrp="1"/>
          </p:cNvSpPr>
          <p:nvPr>
            <p:ph type="ftr" idx="11"/>
          </p:nvPr>
        </p:nvSpPr>
        <p:spPr/>
        <p:txBody>
          <a:bodyPr/>
          <a:lstStyle>
            <a:lvl1pPr>
              <a:buNone/>
              <a:defRPr>
                <a:solidFill>
                  <a:schemeClr val="bg1"/>
                </a:solidFill>
              </a:defRPr>
            </a:lvl1pPr>
          </a:lstStyle>
          <a:p>
            <a:r>
              <a:t>Speaker name</a:t>
            </a:r>
          </a:p>
        </p:txBody>
      </p:sp>
      <p:sp>
        <p:nvSpPr>
          <p:cNvPr id="19" name="Espace réservé du numéro de diapositive 18">
            <a:extLst>
              <a:ext uri="{FF2B5EF4-FFF2-40B4-BE49-F238E27FC236}">
                <a16:creationId xmlns:a16="http://schemas.microsoft.com/office/drawing/2014/main" id="{43662181-82C7-FB2E-AD48-A29433AC1A0F}"/>
              </a:ext>
            </a:extLst>
          </p:cNvPr>
          <p:cNvSpPr>
            <a:spLocks noGrp="1"/>
          </p:cNvSpPr>
          <p:nvPr>
            <p:ph type="sldNum" idx="12"/>
          </p:nvPr>
        </p:nvSpPr>
        <p:spPr/>
        <p:txBody>
          <a:bodyPr/>
          <a:lstStyle>
            <a:lvl1pPr>
              <a:buNone/>
              <a:defRPr>
                <a:solidFill>
                  <a:schemeClr val="bg1"/>
                </a:solidFill>
              </a:defRPr>
            </a:lvl1pPr>
          </a:lstStyle>
          <a:p>
            <a:fld id="{E1E1CD7C-2161-7D43-862E-CE4C333CD873}"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Titre et contenu">
    <p:bg>
      <p:bgPr>
        <a:gradFill>
          <a:gsLst>
            <a:gs pos="0">
              <a:schemeClr val="accent2">
                <a:lumMod val="50000"/>
              </a:schemeClr>
            </a:gs>
            <a:gs pos="32000">
              <a:schemeClr val="accent2"/>
            </a:gs>
            <a:gs pos="98000">
              <a:schemeClr val="accent2"/>
            </a:gs>
          </a:gsLst>
          <a:lin ang="5400000" scaled="1"/>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2B3F59-0847-4CD0-BC22-BA6331F0CBCC}"/>
              </a:ext>
            </a:extLst>
          </p:cNvPr>
          <p:cNvSpPr>
            <a:spLocks noGrp="1"/>
          </p:cNvSpPr>
          <p:nvPr>
            <p:ph idx="1"/>
          </p:nvPr>
        </p:nvSpPr>
        <p:spPr>
          <a:xfrm>
            <a:off x="550863" y="3122613"/>
            <a:ext cx="11090274" cy="3402012"/>
          </a:xfrm>
        </p:spPr>
        <p:txBody>
          <a:bodyPr/>
          <a:lstStyle>
            <a:lvl1pPr>
              <a:buClrTx/>
              <a:buNone/>
              <a:defRPr>
                <a:solidFill>
                  <a:schemeClr val="bg1"/>
                </a:solidFill>
              </a:defRPr>
            </a:lvl1pPr>
          </a:lstStyle>
          <a:p>
            <a:pPr lvl="0">
              <a:buNone/>
            </a:pPr>
            <a:r>
              <a:t>Cliquez pour modifier les styles du texte du masque</a:t>
            </a:r>
          </a:p>
        </p:txBody>
      </p:sp>
      <p:sp>
        <p:nvSpPr>
          <p:cNvPr id="2" name="Titre 1">
            <a:extLst>
              <a:ext uri="{FF2B5EF4-FFF2-40B4-BE49-F238E27FC236}">
                <a16:creationId xmlns:a16="http://schemas.microsoft.com/office/drawing/2014/main" id="{96942D0D-07B5-D98B-14DE-AA7EF42087E1}"/>
              </a:ext>
            </a:extLst>
          </p:cNvPr>
          <p:cNvSpPr>
            <a:spLocks noGrp="1"/>
          </p:cNvSpPr>
          <p:nvPr>
            <p:ph type="title"/>
          </p:nvPr>
        </p:nvSpPr>
        <p:spPr/>
        <p:txBody>
          <a:bodyPr/>
          <a:lstStyle>
            <a:lvl1pPr>
              <a:buNone/>
              <a:defRPr>
                <a:solidFill>
                  <a:schemeClr val="bg1"/>
                </a:solidFill>
              </a:defRPr>
            </a:lvl1pPr>
          </a:lstStyle>
          <a:p>
            <a:r>
              <a:t>Modifiez le style du titre</a:t>
            </a:r>
          </a:p>
        </p:txBody>
      </p:sp>
      <p:sp>
        <p:nvSpPr>
          <p:cNvPr id="9" name="Forme libre 8">
            <a:extLst>
              <a:ext uri="{FF2B5EF4-FFF2-40B4-BE49-F238E27FC236}">
                <a16:creationId xmlns:a16="http://schemas.microsoft.com/office/drawing/2014/main" id="{13EF8F51-3EA2-359B-1A23-D9F373527745}"/>
              </a:ext>
            </a:extLst>
          </p:cNvPr>
          <p:cNvSpPr>
            <a:spLocks noGrp="1"/>
          </p:cNvSpPr>
          <p:nvPr/>
        </p:nvSpPr>
        <p:spPr>
          <a:xfrm>
            <a:off x="555663" y="335968"/>
            <a:ext cx="138216" cy="77949"/>
          </a:xfrm>
          <a:custGeom>
            <a:avLst/>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ahLst/>
            <a:cxn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a:schemeClr val="bg1"/>
          </a:solidFill>
          <a:ln w="1343">
            <a:noFill/>
            <a:prstDash val="solid"/>
          </a:ln>
        </p:spPr>
        <p:txBody>
          <a:bodyPr anchor="ctr"/>
          <a:lstStyle/>
          <a:p>
            <a:endParaRPr/>
          </a:p>
        </p:txBody>
      </p:sp>
      <p:sp>
        <p:nvSpPr>
          <p:cNvPr id="10" name="Forme libre 9">
            <a:extLst>
              <a:ext uri="{FF2B5EF4-FFF2-40B4-BE49-F238E27FC236}">
                <a16:creationId xmlns:a16="http://schemas.microsoft.com/office/drawing/2014/main" id="{E5B494A9-D288-4545-5699-3384315D576E}"/>
              </a:ext>
            </a:extLst>
          </p:cNvPr>
          <p:cNvSpPr>
            <a:spLocks noGrp="1"/>
          </p:cNvSpPr>
          <p:nvPr/>
        </p:nvSpPr>
        <p:spPr>
          <a:xfrm>
            <a:off x="555663" y="449275"/>
            <a:ext cx="138216" cy="77962"/>
          </a:xfrm>
          <a:custGeom>
            <a:avLst/>
            <a:gdLst>
              <a:gd name="connsiteX0" fmla="*/ 0 w 138216"/>
              <a:gd name="connsiteY0" fmla="*/ 77963 h 77962"/>
              <a:gd name="connsiteX1" fmla="*/ 138217 w 138216"/>
              <a:gd name="connsiteY1" fmla="*/ 77963 h 77962"/>
              <a:gd name="connsiteX2" fmla="*/ 138217 w 138216"/>
              <a:gd name="connsiteY2" fmla="*/ 42591 h 77962"/>
              <a:gd name="connsiteX3" fmla="*/ 41210 w 138216"/>
              <a:gd name="connsiteY3" fmla="*/ 42591 h 77962"/>
              <a:gd name="connsiteX4" fmla="*/ 41210 w 138216"/>
              <a:gd name="connsiteY4" fmla="*/ 0 h 77962"/>
              <a:gd name="connsiteX5" fmla="*/ 0 w 138216"/>
              <a:gd name="connsiteY5" fmla="*/ 0 h 77962"/>
              <a:gd name="connsiteX6" fmla="*/ 0 w 138216"/>
              <a:gd name="connsiteY6" fmla="*/ 77963 h 77962"/>
            </a:gdLst>
            <a:ahLst/>
            <a:cxnLst/>
            <a:rect l="l" t="t" r="r" b="b"/>
            <a:pathLst>
              <a:path w="138216" h="77962">
                <a:moveTo>
                  <a:pt x="0" y="77963"/>
                </a:moveTo>
                <a:lnTo>
                  <a:pt x="138217" y="77963"/>
                </a:lnTo>
                <a:lnTo>
                  <a:pt x="138217" y="42591"/>
                </a:lnTo>
                <a:lnTo>
                  <a:pt x="41210" y="42591"/>
                </a:lnTo>
                <a:lnTo>
                  <a:pt x="41210" y="0"/>
                </a:lnTo>
                <a:lnTo>
                  <a:pt x="0" y="0"/>
                </a:lnTo>
                <a:lnTo>
                  <a:pt x="0" y="77963"/>
                </a:lnTo>
                <a:close/>
              </a:path>
            </a:pathLst>
          </a:custGeom>
          <a:solidFill>
            <a:schemeClr val="bg1"/>
          </a:solidFill>
          <a:ln w="1343">
            <a:noFill/>
            <a:prstDash val="solid"/>
          </a:ln>
        </p:spPr>
        <p:txBody>
          <a:bodyPr anchor="ctr"/>
          <a:lstStyle/>
          <a:p>
            <a:endParaRPr/>
          </a:p>
        </p:txBody>
      </p:sp>
      <p:sp>
        <p:nvSpPr>
          <p:cNvPr id="11" name="Forme libre 10">
            <a:extLst>
              <a:ext uri="{FF2B5EF4-FFF2-40B4-BE49-F238E27FC236}">
                <a16:creationId xmlns:a16="http://schemas.microsoft.com/office/drawing/2014/main" id="{A5227256-2CB5-C66B-5A1C-3E1C7C775414}"/>
              </a:ext>
            </a:extLst>
          </p:cNvPr>
          <p:cNvSpPr>
            <a:spLocks noGrp="1"/>
          </p:cNvSpPr>
          <p:nvPr/>
        </p:nvSpPr>
        <p:spPr>
          <a:xfrm>
            <a:off x="596874" y="413918"/>
            <a:ext cx="88715" cy="35357"/>
          </a:xfrm>
          <a:custGeom>
            <a:avLst/>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ahLst/>
            <a:cxnLst/>
            <a:rect l="l" t="t" r="r" b="b"/>
            <a:pathLst>
              <a:path w="88715" h="35357">
                <a:moveTo>
                  <a:pt x="0" y="0"/>
                </a:moveTo>
                <a:lnTo>
                  <a:pt x="88716" y="0"/>
                </a:lnTo>
                <a:lnTo>
                  <a:pt x="88716" y="35358"/>
                </a:lnTo>
                <a:lnTo>
                  <a:pt x="0" y="35358"/>
                </a:lnTo>
                <a:close/>
              </a:path>
            </a:pathLst>
          </a:custGeom>
          <a:solidFill>
            <a:schemeClr val="bg1"/>
          </a:solidFill>
          <a:ln w="1343">
            <a:noFill/>
            <a:prstDash val="solid"/>
          </a:ln>
        </p:spPr>
        <p:txBody>
          <a:bodyPr anchor="ctr"/>
          <a:lstStyle/>
          <a:p>
            <a:endParaRPr/>
          </a:p>
        </p:txBody>
      </p:sp>
      <p:sp>
        <p:nvSpPr>
          <p:cNvPr id="12" name="Forme libre 11">
            <a:extLst>
              <a:ext uri="{FF2B5EF4-FFF2-40B4-BE49-F238E27FC236}">
                <a16:creationId xmlns:a16="http://schemas.microsoft.com/office/drawing/2014/main" id="{613513A6-A38B-81D3-C93C-32D8AC097F4F}"/>
              </a:ext>
            </a:extLst>
          </p:cNvPr>
          <p:cNvSpPr>
            <a:spLocks noGrp="1"/>
          </p:cNvSpPr>
          <p:nvPr/>
        </p:nvSpPr>
        <p:spPr>
          <a:xfrm>
            <a:off x="729199" y="335955"/>
            <a:ext cx="151468" cy="191270"/>
          </a:xfrm>
          <a:custGeom>
            <a:avLst/>
            <a:gdLst>
              <a:gd name="connsiteX0" fmla="*/ 136343 w 151468"/>
              <a:gd name="connsiteY0" fmla="*/ 17571 h 191270"/>
              <a:gd name="connsiteX1" fmla="*/ 115866 w 151468"/>
              <a:gd name="connsiteY1" fmla="*/ 4831 h 191270"/>
              <a:gd name="connsiteX2" fmla="*/ 85359 w 151468"/>
              <a:gd name="connsiteY2" fmla="*/ 0 h 191270"/>
              <a:gd name="connsiteX3" fmla="*/ 0 w 151468"/>
              <a:gd name="connsiteY3" fmla="*/ 0 h 191270"/>
              <a:gd name="connsiteX4" fmla="*/ 0 w 151468"/>
              <a:gd name="connsiteY4" fmla="*/ 191270 h 191270"/>
              <a:gd name="connsiteX5" fmla="*/ 41210 w 151468"/>
              <a:gd name="connsiteY5" fmla="*/ 191270 h 191270"/>
              <a:gd name="connsiteX6" fmla="*/ 41210 w 151468"/>
              <a:gd name="connsiteY6" fmla="*/ 113307 h 191270"/>
              <a:gd name="connsiteX7" fmla="*/ 85359 w 151468"/>
              <a:gd name="connsiteY7" fmla="*/ 113307 h 191270"/>
              <a:gd name="connsiteX8" fmla="*/ 115866 w 151468"/>
              <a:gd name="connsiteY8" fmla="*/ 108489 h 191270"/>
              <a:gd name="connsiteX9" fmla="*/ 136343 w 151468"/>
              <a:gd name="connsiteY9" fmla="*/ 95750 h 191270"/>
              <a:gd name="connsiteX10" fmla="*/ 147855 w 151468"/>
              <a:gd name="connsiteY10" fmla="*/ 77571 h 191270"/>
              <a:gd name="connsiteX11" fmla="*/ 151468 w 151468"/>
              <a:gd name="connsiteY11" fmla="*/ 56667 h 191270"/>
              <a:gd name="connsiteX12" fmla="*/ 147855 w 151468"/>
              <a:gd name="connsiteY12" fmla="*/ 35641 h 191270"/>
              <a:gd name="connsiteX13" fmla="*/ 136343 w 151468"/>
              <a:gd name="connsiteY13" fmla="*/ 17584 h 191270"/>
              <a:gd name="connsiteX14" fmla="*/ 107710 w 151468"/>
              <a:gd name="connsiteY14" fmla="*/ 67612 h 191270"/>
              <a:gd name="connsiteX15" fmla="*/ 99554 w 151468"/>
              <a:gd name="connsiteY15" fmla="*/ 74076 h 191270"/>
              <a:gd name="connsiteX16" fmla="*/ 87786 w 151468"/>
              <a:gd name="connsiteY16" fmla="*/ 77167 h 191270"/>
              <a:gd name="connsiteX17" fmla="*/ 73874 w 151468"/>
              <a:gd name="connsiteY17" fmla="*/ 77963 h 191270"/>
              <a:gd name="connsiteX18" fmla="*/ 41224 w 151468"/>
              <a:gd name="connsiteY18" fmla="*/ 77963 h 191270"/>
              <a:gd name="connsiteX19" fmla="*/ 41224 w 151468"/>
              <a:gd name="connsiteY19" fmla="*/ 35371 h 191270"/>
              <a:gd name="connsiteX20" fmla="*/ 73874 w 151468"/>
              <a:gd name="connsiteY20" fmla="*/ 35371 h 191270"/>
              <a:gd name="connsiteX21" fmla="*/ 87786 w 151468"/>
              <a:gd name="connsiteY21" fmla="*/ 36168 h 191270"/>
              <a:gd name="connsiteX22" fmla="*/ 99554 w 151468"/>
              <a:gd name="connsiteY22" fmla="*/ 39258 h 191270"/>
              <a:gd name="connsiteX23" fmla="*/ 107710 w 151468"/>
              <a:gd name="connsiteY23" fmla="*/ 45722 h 191270"/>
              <a:gd name="connsiteX24" fmla="*/ 110784 w 151468"/>
              <a:gd name="connsiteY24" fmla="*/ 56667 h 191270"/>
              <a:gd name="connsiteX25" fmla="*/ 107710 w 151468"/>
              <a:gd name="connsiteY25" fmla="*/ 67612 h 191270"/>
            </a:gdLst>
            <a:ahLst/>
            <a:cxnLst/>
            <a:rect l="l" t="t" r="r" b="b"/>
            <a:pathLst>
              <a:path w="151468" h="191270">
                <a:moveTo>
                  <a:pt x="136343" y="17571"/>
                </a:moveTo>
                <a:cubicBezTo>
                  <a:pt x="131072" y="12294"/>
                  <a:pt x="124251" y="8043"/>
                  <a:pt x="115866" y="4831"/>
                </a:cubicBezTo>
                <a:cubicBezTo>
                  <a:pt x="107481" y="1619"/>
                  <a:pt x="97303" y="0"/>
                  <a:pt x="85359" y="0"/>
                </a:cubicBezTo>
                <a:lnTo>
                  <a:pt x="0" y="0"/>
                </a:lnTo>
                <a:lnTo>
                  <a:pt x="0" y="191270"/>
                </a:lnTo>
                <a:lnTo>
                  <a:pt x="41210" y="191270"/>
                </a:lnTo>
                <a:lnTo>
                  <a:pt x="41210" y="113307"/>
                </a:lnTo>
                <a:lnTo>
                  <a:pt x="85359" y="113307"/>
                </a:lnTo>
                <a:cubicBezTo>
                  <a:pt x="97303" y="113307"/>
                  <a:pt x="107481" y="111701"/>
                  <a:pt x="115866" y="108489"/>
                </a:cubicBezTo>
                <a:cubicBezTo>
                  <a:pt x="124251" y="105277"/>
                  <a:pt x="131072" y="101026"/>
                  <a:pt x="136343" y="95750"/>
                </a:cubicBezTo>
                <a:cubicBezTo>
                  <a:pt x="141600" y="90473"/>
                  <a:pt x="145442" y="84414"/>
                  <a:pt x="147855" y="77571"/>
                </a:cubicBezTo>
                <a:cubicBezTo>
                  <a:pt x="150268" y="70729"/>
                  <a:pt x="151468" y="63766"/>
                  <a:pt x="151468" y="56667"/>
                </a:cubicBezTo>
                <a:cubicBezTo>
                  <a:pt x="151468" y="49569"/>
                  <a:pt x="150268" y="42402"/>
                  <a:pt x="147855" y="35641"/>
                </a:cubicBezTo>
                <a:cubicBezTo>
                  <a:pt x="145442" y="28880"/>
                  <a:pt x="141614" y="22861"/>
                  <a:pt x="136343" y="17584"/>
                </a:cubicBezTo>
                <a:close/>
                <a:moveTo>
                  <a:pt x="107710" y="67612"/>
                </a:moveTo>
                <a:cubicBezTo>
                  <a:pt x="105661" y="70392"/>
                  <a:pt x="102938" y="72551"/>
                  <a:pt x="99554" y="74076"/>
                </a:cubicBezTo>
                <a:cubicBezTo>
                  <a:pt x="96157" y="75601"/>
                  <a:pt x="92234" y="76627"/>
                  <a:pt x="87786" y="77167"/>
                </a:cubicBezTo>
                <a:cubicBezTo>
                  <a:pt x="83324" y="77693"/>
                  <a:pt x="78686" y="77963"/>
                  <a:pt x="73874" y="77963"/>
                </a:cubicBezTo>
                <a:lnTo>
                  <a:pt x="41224" y="77963"/>
                </a:lnTo>
                <a:lnTo>
                  <a:pt x="41224" y="35371"/>
                </a:lnTo>
                <a:lnTo>
                  <a:pt x="73874" y="35371"/>
                </a:lnTo>
                <a:cubicBezTo>
                  <a:pt x="78686" y="35371"/>
                  <a:pt x="83324" y="35641"/>
                  <a:pt x="87786" y="36168"/>
                </a:cubicBezTo>
                <a:cubicBezTo>
                  <a:pt x="92248" y="36694"/>
                  <a:pt x="96171" y="37733"/>
                  <a:pt x="99554" y="39258"/>
                </a:cubicBezTo>
                <a:cubicBezTo>
                  <a:pt x="102938" y="40783"/>
                  <a:pt x="105661" y="42942"/>
                  <a:pt x="107710" y="45722"/>
                </a:cubicBezTo>
                <a:cubicBezTo>
                  <a:pt x="109759" y="48502"/>
                  <a:pt x="110784" y="52160"/>
                  <a:pt x="110784" y="56667"/>
                </a:cubicBezTo>
                <a:cubicBezTo>
                  <a:pt x="110784" y="61175"/>
                  <a:pt x="109759" y="64832"/>
                  <a:pt x="107710" y="67612"/>
                </a:cubicBezTo>
                <a:close/>
              </a:path>
            </a:pathLst>
          </a:custGeom>
          <a:solidFill>
            <a:schemeClr val="bg1"/>
          </a:solidFill>
          <a:ln w="1343">
            <a:noFill/>
            <a:prstDash val="solid"/>
          </a:ln>
        </p:spPr>
        <p:txBody>
          <a:bodyPr anchor="ctr"/>
          <a:lstStyle/>
          <a:p>
            <a:endParaRPr/>
          </a:p>
        </p:txBody>
      </p:sp>
      <p:sp>
        <p:nvSpPr>
          <p:cNvPr id="13" name="Forme libre 12">
            <a:extLst>
              <a:ext uri="{FF2B5EF4-FFF2-40B4-BE49-F238E27FC236}">
                <a16:creationId xmlns:a16="http://schemas.microsoft.com/office/drawing/2014/main" id="{5B115CEE-A940-BE26-2B43-166F8314B6E7}"/>
              </a:ext>
            </a:extLst>
          </p:cNvPr>
          <p:cNvSpPr>
            <a:spLocks noGrp="1"/>
          </p:cNvSpPr>
          <p:nvPr/>
        </p:nvSpPr>
        <p:spPr>
          <a:xfrm>
            <a:off x="1074937" y="335968"/>
            <a:ext cx="138203" cy="191269"/>
          </a:xfrm>
          <a:custGeom>
            <a:avLst/>
            <a:gdLst>
              <a:gd name="connsiteX0" fmla="*/ 41197 w 138203"/>
              <a:gd name="connsiteY0" fmla="*/ 155899 h 191269"/>
              <a:gd name="connsiteX1" fmla="*/ 41197 w 138203"/>
              <a:gd name="connsiteY1" fmla="*/ 0 h 191269"/>
              <a:gd name="connsiteX2" fmla="*/ 0 w 138203"/>
              <a:gd name="connsiteY2" fmla="*/ 0 h 191269"/>
              <a:gd name="connsiteX3" fmla="*/ 0 w 138203"/>
              <a:gd name="connsiteY3" fmla="*/ 191270 h 191269"/>
              <a:gd name="connsiteX4" fmla="*/ 138203 w 138203"/>
              <a:gd name="connsiteY4" fmla="*/ 191270 h 191269"/>
              <a:gd name="connsiteX5" fmla="*/ 138203 w 138203"/>
              <a:gd name="connsiteY5" fmla="*/ 155899 h 191269"/>
              <a:gd name="connsiteX6" fmla="*/ 41197 w 138203"/>
              <a:gd name="connsiteY6" fmla="*/ 155899 h 191269"/>
            </a:gdLst>
            <a:ahLst/>
            <a:cxnLst/>
            <a:rect l="l" t="t" r="r" b="b"/>
            <a:pathLst>
              <a:path w="138203" h="191269">
                <a:moveTo>
                  <a:pt x="41197" y="155899"/>
                </a:moveTo>
                <a:lnTo>
                  <a:pt x="41197" y="0"/>
                </a:lnTo>
                <a:lnTo>
                  <a:pt x="0" y="0"/>
                </a:lnTo>
                <a:lnTo>
                  <a:pt x="0" y="191270"/>
                </a:lnTo>
                <a:lnTo>
                  <a:pt x="138203" y="191270"/>
                </a:lnTo>
                <a:lnTo>
                  <a:pt x="138203" y="155899"/>
                </a:lnTo>
                <a:lnTo>
                  <a:pt x="41197" y="155899"/>
                </a:lnTo>
                <a:close/>
              </a:path>
            </a:pathLst>
          </a:custGeom>
          <a:solidFill>
            <a:schemeClr val="bg1"/>
          </a:solidFill>
          <a:ln w="1343">
            <a:noFill/>
            <a:prstDash val="solid"/>
          </a:ln>
        </p:spPr>
        <p:txBody>
          <a:bodyPr anchor="ctr"/>
          <a:lstStyle/>
          <a:p>
            <a:endParaRPr/>
          </a:p>
        </p:txBody>
      </p:sp>
      <p:sp>
        <p:nvSpPr>
          <p:cNvPr id="14" name="Forme libre 13">
            <a:extLst>
              <a:ext uri="{FF2B5EF4-FFF2-40B4-BE49-F238E27FC236}">
                <a16:creationId xmlns:a16="http://schemas.microsoft.com/office/drawing/2014/main" id="{2C4287DA-CF08-EA83-E364-FECE99038CA8}"/>
              </a:ext>
            </a:extLst>
          </p:cNvPr>
          <p:cNvSpPr>
            <a:spLocks noGrp="1"/>
          </p:cNvSpPr>
          <p:nvPr/>
        </p:nvSpPr>
        <p:spPr>
          <a:xfrm>
            <a:off x="906874" y="335968"/>
            <a:ext cx="138216" cy="77949"/>
          </a:xfrm>
          <a:custGeom>
            <a:avLst/>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ahLst/>
            <a:cxn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a:schemeClr val="bg1"/>
          </a:solidFill>
          <a:ln w="1343">
            <a:noFill/>
            <a:prstDash val="solid"/>
          </a:ln>
        </p:spPr>
        <p:txBody>
          <a:bodyPr anchor="ctr"/>
          <a:lstStyle/>
          <a:p>
            <a:endParaRPr/>
          </a:p>
        </p:txBody>
      </p:sp>
      <p:sp>
        <p:nvSpPr>
          <p:cNvPr id="15" name="Forme libre 14">
            <a:extLst>
              <a:ext uri="{FF2B5EF4-FFF2-40B4-BE49-F238E27FC236}">
                <a16:creationId xmlns:a16="http://schemas.microsoft.com/office/drawing/2014/main" id="{816D4154-ADD8-7CD7-5EE4-31C06E12F124}"/>
              </a:ext>
            </a:extLst>
          </p:cNvPr>
          <p:cNvSpPr>
            <a:spLocks noGrp="1"/>
          </p:cNvSpPr>
          <p:nvPr/>
        </p:nvSpPr>
        <p:spPr>
          <a:xfrm>
            <a:off x="906874" y="449275"/>
            <a:ext cx="41210" cy="77949"/>
          </a:xfrm>
          <a:custGeom>
            <a:avLst/>
            <a:gdLst>
              <a:gd name="connsiteX0" fmla="*/ 0 w 41210"/>
              <a:gd name="connsiteY0" fmla="*/ 0 h 77949"/>
              <a:gd name="connsiteX1" fmla="*/ 41210 w 41210"/>
              <a:gd name="connsiteY1" fmla="*/ 0 h 77949"/>
              <a:gd name="connsiteX2" fmla="*/ 41210 w 41210"/>
              <a:gd name="connsiteY2" fmla="*/ 77949 h 77949"/>
              <a:gd name="connsiteX3" fmla="*/ 0 w 41210"/>
              <a:gd name="connsiteY3" fmla="*/ 77949 h 77949"/>
            </a:gdLst>
            <a:ahLst/>
            <a:cxnLst/>
            <a:rect l="l" t="t" r="r" b="b"/>
            <a:pathLst>
              <a:path w="41210" h="77949">
                <a:moveTo>
                  <a:pt x="0" y="0"/>
                </a:moveTo>
                <a:lnTo>
                  <a:pt x="41210" y="0"/>
                </a:lnTo>
                <a:lnTo>
                  <a:pt x="41210" y="77949"/>
                </a:lnTo>
                <a:lnTo>
                  <a:pt x="0" y="77949"/>
                </a:lnTo>
                <a:close/>
              </a:path>
            </a:pathLst>
          </a:custGeom>
          <a:solidFill>
            <a:schemeClr val="bg1"/>
          </a:solidFill>
          <a:ln w="1343">
            <a:noFill/>
            <a:prstDash val="solid"/>
          </a:ln>
        </p:spPr>
        <p:txBody>
          <a:bodyPr anchor="ctr"/>
          <a:lstStyle/>
          <a:p>
            <a:endParaRPr/>
          </a:p>
        </p:txBody>
      </p:sp>
      <p:sp>
        <p:nvSpPr>
          <p:cNvPr id="16" name="Forme libre 15">
            <a:extLst>
              <a:ext uri="{FF2B5EF4-FFF2-40B4-BE49-F238E27FC236}">
                <a16:creationId xmlns:a16="http://schemas.microsoft.com/office/drawing/2014/main" id="{0A5651A8-D780-F7AB-9F78-EFD12AA98E74}"/>
              </a:ext>
            </a:extLst>
          </p:cNvPr>
          <p:cNvSpPr>
            <a:spLocks noGrp="1"/>
          </p:cNvSpPr>
          <p:nvPr/>
        </p:nvSpPr>
        <p:spPr>
          <a:xfrm>
            <a:off x="948084" y="413918"/>
            <a:ext cx="88715" cy="35357"/>
          </a:xfrm>
          <a:custGeom>
            <a:avLst/>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ahLst/>
            <a:cxnLst/>
            <a:rect l="l" t="t" r="r" b="b"/>
            <a:pathLst>
              <a:path w="88715" h="35357">
                <a:moveTo>
                  <a:pt x="0" y="0"/>
                </a:moveTo>
                <a:lnTo>
                  <a:pt x="88716" y="0"/>
                </a:lnTo>
                <a:lnTo>
                  <a:pt x="88716" y="35358"/>
                </a:lnTo>
                <a:lnTo>
                  <a:pt x="0" y="35358"/>
                </a:lnTo>
                <a:close/>
              </a:path>
            </a:pathLst>
          </a:custGeom>
          <a:solidFill>
            <a:schemeClr val="bg1"/>
          </a:solidFill>
          <a:ln w="1343">
            <a:noFill/>
            <a:prstDash val="solid"/>
          </a:ln>
        </p:spPr>
        <p:txBody>
          <a:bodyPr anchor="ctr"/>
          <a:lstStyle/>
          <a:p>
            <a:endParaRPr/>
          </a:p>
        </p:txBody>
      </p:sp>
      <p:sp>
        <p:nvSpPr>
          <p:cNvPr id="17" name="Espace réservé de la date 16">
            <a:extLst>
              <a:ext uri="{FF2B5EF4-FFF2-40B4-BE49-F238E27FC236}">
                <a16:creationId xmlns:a16="http://schemas.microsoft.com/office/drawing/2014/main" id="{309FD214-C446-3C8F-AD11-A249F4B5998A}"/>
              </a:ext>
            </a:extLst>
          </p:cNvPr>
          <p:cNvSpPr>
            <a:spLocks noGrp="1"/>
          </p:cNvSpPr>
          <p:nvPr>
            <p:ph type="dt" idx="10"/>
          </p:nvPr>
        </p:nvSpPr>
        <p:spPr/>
        <p:txBody>
          <a:bodyPr/>
          <a:lstStyle>
            <a:lvl1pPr>
              <a:buNone/>
              <a:defRPr>
                <a:solidFill>
                  <a:schemeClr val="bg1"/>
                </a:solidFill>
              </a:defRPr>
            </a:lvl1pPr>
          </a:lstStyle>
          <a:p>
            <a:r>
              <a:t>TITLE OF THE PRESENTATION</a:t>
            </a:r>
          </a:p>
        </p:txBody>
      </p:sp>
      <p:sp>
        <p:nvSpPr>
          <p:cNvPr id="18" name="Espace réservé du pied de page 17">
            <a:extLst>
              <a:ext uri="{FF2B5EF4-FFF2-40B4-BE49-F238E27FC236}">
                <a16:creationId xmlns:a16="http://schemas.microsoft.com/office/drawing/2014/main" id="{1A7428E5-FF5A-76BD-D93B-8D61D542AB1E}"/>
              </a:ext>
            </a:extLst>
          </p:cNvPr>
          <p:cNvSpPr>
            <a:spLocks noGrp="1"/>
          </p:cNvSpPr>
          <p:nvPr>
            <p:ph type="ftr" idx="11"/>
          </p:nvPr>
        </p:nvSpPr>
        <p:spPr/>
        <p:txBody>
          <a:bodyPr/>
          <a:lstStyle>
            <a:lvl1pPr>
              <a:buNone/>
              <a:defRPr>
                <a:solidFill>
                  <a:schemeClr val="bg1"/>
                </a:solidFill>
              </a:defRPr>
            </a:lvl1pPr>
          </a:lstStyle>
          <a:p>
            <a:r>
              <a:t>Speaker name</a:t>
            </a:r>
          </a:p>
        </p:txBody>
      </p:sp>
      <p:sp>
        <p:nvSpPr>
          <p:cNvPr id="19" name="Espace réservé du numéro de diapositive 18">
            <a:extLst>
              <a:ext uri="{FF2B5EF4-FFF2-40B4-BE49-F238E27FC236}">
                <a16:creationId xmlns:a16="http://schemas.microsoft.com/office/drawing/2014/main" id="{43662181-82C7-FB2E-AD48-A29433AC1A0F}"/>
              </a:ext>
            </a:extLst>
          </p:cNvPr>
          <p:cNvSpPr>
            <a:spLocks noGrp="1"/>
          </p:cNvSpPr>
          <p:nvPr>
            <p:ph type="sldNum" idx="12"/>
          </p:nvPr>
        </p:nvSpPr>
        <p:spPr/>
        <p:txBody>
          <a:bodyPr/>
          <a:lstStyle>
            <a:lvl1pPr>
              <a:buNone/>
              <a:defRPr>
                <a:solidFill>
                  <a:schemeClr val="bg1"/>
                </a:solidFill>
              </a:defRPr>
            </a:lvl1pPr>
          </a:lstStyle>
          <a:p>
            <a:fld id="{E1E1CD7C-2161-7D43-862E-CE4C333CD873}"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Titre et contenu">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695E29-DC05-4AFC-B790-D53F0C77BBCC}"/>
              </a:ext>
            </a:extLst>
          </p:cNvPr>
          <p:cNvSpPr>
            <a:spLocks noGrp="1"/>
          </p:cNvSpPr>
          <p:nvPr>
            <p:ph idx="1"/>
          </p:nvPr>
        </p:nvSpPr>
        <p:spPr>
          <a:xfrm>
            <a:off x="550863" y="3122613"/>
            <a:ext cx="11090274" cy="3402012"/>
          </a:xfrm>
        </p:spPr>
        <p:txBody>
          <a:bodyPr/>
          <a:lstStyle>
            <a:lvl1pPr>
              <a:buClrTx/>
              <a:buNone/>
              <a:defRPr>
                <a:solidFill>
                  <a:schemeClr val="bg1"/>
                </a:solidFill>
              </a:defRPr>
            </a:lvl1pPr>
          </a:lstStyle>
          <a:p>
            <a:pPr lvl="0">
              <a:buNone/>
            </a:pPr>
            <a:r>
              <a:t>Cliquez pour modifier les styles du texte du masque</a:t>
            </a:r>
          </a:p>
        </p:txBody>
      </p:sp>
      <p:sp>
        <p:nvSpPr>
          <p:cNvPr id="2" name="Titre 1">
            <a:extLst>
              <a:ext uri="{FF2B5EF4-FFF2-40B4-BE49-F238E27FC236}">
                <a16:creationId xmlns:a16="http://schemas.microsoft.com/office/drawing/2014/main" id="{96942D0D-07B5-D98B-14DE-AA7EF42087E1}"/>
              </a:ext>
            </a:extLst>
          </p:cNvPr>
          <p:cNvSpPr>
            <a:spLocks noGrp="1"/>
          </p:cNvSpPr>
          <p:nvPr>
            <p:ph type="title"/>
          </p:nvPr>
        </p:nvSpPr>
        <p:spPr/>
        <p:txBody>
          <a:bodyPr/>
          <a:lstStyle>
            <a:lvl1pPr>
              <a:buNone/>
              <a:defRPr>
                <a:solidFill>
                  <a:schemeClr val="bg1"/>
                </a:solidFill>
              </a:defRPr>
            </a:lvl1pPr>
          </a:lstStyle>
          <a:p>
            <a:r>
              <a:t>Modifiez le style du titre</a:t>
            </a:r>
          </a:p>
        </p:txBody>
      </p:sp>
      <p:sp>
        <p:nvSpPr>
          <p:cNvPr id="9" name="Forme libre 8">
            <a:extLst>
              <a:ext uri="{FF2B5EF4-FFF2-40B4-BE49-F238E27FC236}">
                <a16:creationId xmlns:a16="http://schemas.microsoft.com/office/drawing/2014/main" id="{13EF8F51-3EA2-359B-1A23-D9F373527745}"/>
              </a:ext>
            </a:extLst>
          </p:cNvPr>
          <p:cNvSpPr>
            <a:spLocks noGrp="1"/>
          </p:cNvSpPr>
          <p:nvPr/>
        </p:nvSpPr>
        <p:spPr>
          <a:xfrm>
            <a:off x="555663" y="335968"/>
            <a:ext cx="138216" cy="77949"/>
          </a:xfrm>
          <a:custGeom>
            <a:avLst/>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ahLst/>
            <a:cxn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a:schemeClr val="bg1"/>
          </a:solidFill>
          <a:ln w="1343">
            <a:noFill/>
            <a:prstDash val="solid"/>
          </a:ln>
        </p:spPr>
        <p:txBody>
          <a:bodyPr anchor="ctr"/>
          <a:lstStyle/>
          <a:p>
            <a:endParaRPr/>
          </a:p>
        </p:txBody>
      </p:sp>
      <p:sp>
        <p:nvSpPr>
          <p:cNvPr id="10" name="Forme libre 9">
            <a:extLst>
              <a:ext uri="{FF2B5EF4-FFF2-40B4-BE49-F238E27FC236}">
                <a16:creationId xmlns:a16="http://schemas.microsoft.com/office/drawing/2014/main" id="{E5B494A9-D288-4545-5699-3384315D576E}"/>
              </a:ext>
            </a:extLst>
          </p:cNvPr>
          <p:cNvSpPr>
            <a:spLocks noGrp="1"/>
          </p:cNvSpPr>
          <p:nvPr/>
        </p:nvSpPr>
        <p:spPr>
          <a:xfrm>
            <a:off x="555663" y="449275"/>
            <a:ext cx="138216" cy="77962"/>
          </a:xfrm>
          <a:custGeom>
            <a:avLst/>
            <a:gdLst>
              <a:gd name="connsiteX0" fmla="*/ 0 w 138216"/>
              <a:gd name="connsiteY0" fmla="*/ 77963 h 77962"/>
              <a:gd name="connsiteX1" fmla="*/ 138217 w 138216"/>
              <a:gd name="connsiteY1" fmla="*/ 77963 h 77962"/>
              <a:gd name="connsiteX2" fmla="*/ 138217 w 138216"/>
              <a:gd name="connsiteY2" fmla="*/ 42591 h 77962"/>
              <a:gd name="connsiteX3" fmla="*/ 41210 w 138216"/>
              <a:gd name="connsiteY3" fmla="*/ 42591 h 77962"/>
              <a:gd name="connsiteX4" fmla="*/ 41210 w 138216"/>
              <a:gd name="connsiteY4" fmla="*/ 0 h 77962"/>
              <a:gd name="connsiteX5" fmla="*/ 0 w 138216"/>
              <a:gd name="connsiteY5" fmla="*/ 0 h 77962"/>
              <a:gd name="connsiteX6" fmla="*/ 0 w 138216"/>
              <a:gd name="connsiteY6" fmla="*/ 77963 h 77962"/>
            </a:gdLst>
            <a:ahLst/>
            <a:cxnLst/>
            <a:rect l="l" t="t" r="r" b="b"/>
            <a:pathLst>
              <a:path w="138216" h="77962">
                <a:moveTo>
                  <a:pt x="0" y="77963"/>
                </a:moveTo>
                <a:lnTo>
                  <a:pt x="138217" y="77963"/>
                </a:lnTo>
                <a:lnTo>
                  <a:pt x="138217" y="42591"/>
                </a:lnTo>
                <a:lnTo>
                  <a:pt x="41210" y="42591"/>
                </a:lnTo>
                <a:lnTo>
                  <a:pt x="41210" y="0"/>
                </a:lnTo>
                <a:lnTo>
                  <a:pt x="0" y="0"/>
                </a:lnTo>
                <a:lnTo>
                  <a:pt x="0" y="77963"/>
                </a:lnTo>
                <a:close/>
              </a:path>
            </a:pathLst>
          </a:custGeom>
          <a:solidFill>
            <a:schemeClr val="bg1"/>
          </a:solidFill>
          <a:ln w="1343">
            <a:noFill/>
            <a:prstDash val="solid"/>
          </a:ln>
        </p:spPr>
        <p:txBody>
          <a:bodyPr anchor="ctr"/>
          <a:lstStyle/>
          <a:p>
            <a:endParaRPr/>
          </a:p>
        </p:txBody>
      </p:sp>
      <p:sp>
        <p:nvSpPr>
          <p:cNvPr id="11" name="Forme libre 10">
            <a:extLst>
              <a:ext uri="{FF2B5EF4-FFF2-40B4-BE49-F238E27FC236}">
                <a16:creationId xmlns:a16="http://schemas.microsoft.com/office/drawing/2014/main" id="{A5227256-2CB5-C66B-5A1C-3E1C7C775414}"/>
              </a:ext>
            </a:extLst>
          </p:cNvPr>
          <p:cNvSpPr>
            <a:spLocks noGrp="1"/>
          </p:cNvSpPr>
          <p:nvPr/>
        </p:nvSpPr>
        <p:spPr>
          <a:xfrm>
            <a:off x="596874" y="413918"/>
            <a:ext cx="88715" cy="35357"/>
          </a:xfrm>
          <a:custGeom>
            <a:avLst/>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ahLst/>
            <a:cxnLst/>
            <a:rect l="l" t="t" r="r" b="b"/>
            <a:pathLst>
              <a:path w="88715" h="35357">
                <a:moveTo>
                  <a:pt x="0" y="0"/>
                </a:moveTo>
                <a:lnTo>
                  <a:pt x="88716" y="0"/>
                </a:lnTo>
                <a:lnTo>
                  <a:pt x="88716" y="35358"/>
                </a:lnTo>
                <a:lnTo>
                  <a:pt x="0" y="35358"/>
                </a:lnTo>
                <a:close/>
              </a:path>
            </a:pathLst>
          </a:custGeom>
          <a:solidFill>
            <a:schemeClr val="bg1"/>
          </a:solidFill>
          <a:ln w="1343">
            <a:noFill/>
            <a:prstDash val="solid"/>
          </a:ln>
        </p:spPr>
        <p:txBody>
          <a:bodyPr anchor="ctr"/>
          <a:lstStyle/>
          <a:p>
            <a:endParaRPr/>
          </a:p>
        </p:txBody>
      </p:sp>
      <p:sp>
        <p:nvSpPr>
          <p:cNvPr id="12" name="Forme libre 11">
            <a:extLst>
              <a:ext uri="{FF2B5EF4-FFF2-40B4-BE49-F238E27FC236}">
                <a16:creationId xmlns:a16="http://schemas.microsoft.com/office/drawing/2014/main" id="{613513A6-A38B-81D3-C93C-32D8AC097F4F}"/>
              </a:ext>
            </a:extLst>
          </p:cNvPr>
          <p:cNvSpPr>
            <a:spLocks noGrp="1"/>
          </p:cNvSpPr>
          <p:nvPr/>
        </p:nvSpPr>
        <p:spPr>
          <a:xfrm>
            <a:off x="729199" y="335955"/>
            <a:ext cx="151468" cy="191270"/>
          </a:xfrm>
          <a:custGeom>
            <a:avLst/>
            <a:gdLst>
              <a:gd name="connsiteX0" fmla="*/ 136343 w 151468"/>
              <a:gd name="connsiteY0" fmla="*/ 17571 h 191270"/>
              <a:gd name="connsiteX1" fmla="*/ 115866 w 151468"/>
              <a:gd name="connsiteY1" fmla="*/ 4831 h 191270"/>
              <a:gd name="connsiteX2" fmla="*/ 85359 w 151468"/>
              <a:gd name="connsiteY2" fmla="*/ 0 h 191270"/>
              <a:gd name="connsiteX3" fmla="*/ 0 w 151468"/>
              <a:gd name="connsiteY3" fmla="*/ 0 h 191270"/>
              <a:gd name="connsiteX4" fmla="*/ 0 w 151468"/>
              <a:gd name="connsiteY4" fmla="*/ 191270 h 191270"/>
              <a:gd name="connsiteX5" fmla="*/ 41210 w 151468"/>
              <a:gd name="connsiteY5" fmla="*/ 191270 h 191270"/>
              <a:gd name="connsiteX6" fmla="*/ 41210 w 151468"/>
              <a:gd name="connsiteY6" fmla="*/ 113307 h 191270"/>
              <a:gd name="connsiteX7" fmla="*/ 85359 w 151468"/>
              <a:gd name="connsiteY7" fmla="*/ 113307 h 191270"/>
              <a:gd name="connsiteX8" fmla="*/ 115866 w 151468"/>
              <a:gd name="connsiteY8" fmla="*/ 108489 h 191270"/>
              <a:gd name="connsiteX9" fmla="*/ 136343 w 151468"/>
              <a:gd name="connsiteY9" fmla="*/ 95750 h 191270"/>
              <a:gd name="connsiteX10" fmla="*/ 147855 w 151468"/>
              <a:gd name="connsiteY10" fmla="*/ 77571 h 191270"/>
              <a:gd name="connsiteX11" fmla="*/ 151468 w 151468"/>
              <a:gd name="connsiteY11" fmla="*/ 56667 h 191270"/>
              <a:gd name="connsiteX12" fmla="*/ 147855 w 151468"/>
              <a:gd name="connsiteY12" fmla="*/ 35641 h 191270"/>
              <a:gd name="connsiteX13" fmla="*/ 136343 w 151468"/>
              <a:gd name="connsiteY13" fmla="*/ 17584 h 191270"/>
              <a:gd name="connsiteX14" fmla="*/ 107710 w 151468"/>
              <a:gd name="connsiteY14" fmla="*/ 67612 h 191270"/>
              <a:gd name="connsiteX15" fmla="*/ 99554 w 151468"/>
              <a:gd name="connsiteY15" fmla="*/ 74076 h 191270"/>
              <a:gd name="connsiteX16" fmla="*/ 87786 w 151468"/>
              <a:gd name="connsiteY16" fmla="*/ 77167 h 191270"/>
              <a:gd name="connsiteX17" fmla="*/ 73874 w 151468"/>
              <a:gd name="connsiteY17" fmla="*/ 77963 h 191270"/>
              <a:gd name="connsiteX18" fmla="*/ 41224 w 151468"/>
              <a:gd name="connsiteY18" fmla="*/ 77963 h 191270"/>
              <a:gd name="connsiteX19" fmla="*/ 41224 w 151468"/>
              <a:gd name="connsiteY19" fmla="*/ 35371 h 191270"/>
              <a:gd name="connsiteX20" fmla="*/ 73874 w 151468"/>
              <a:gd name="connsiteY20" fmla="*/ 35371 h 191270"/>
              <a:gd name="connsiteX21" fmla="*/ 87786 w 151468"/>
              <a:gd name="connsiteY21" fmla="*/ 36168 h 191270"/>
              <a:gd name="connsiteX22" fmla="*/ 99554 w 151468"/>
              <a:gd name="connsiteY22" fmla="*/ 39258 h 191270"/>
              <a:gd name="connsiteX23" fmla="*/ 107710 w 151468"/>
              <a:gd name="connsiteY23" fmla="*/ 45722 h 191270"/>
              <a:gd name="connsiteX24" fmla="*/ 110784 w 151468"/>
              <a:gd name="connsiteY24" fmla="*/ 56667 h 191270"/>
              <a:gd name="connsiteX25" fmla="*/ 107710 w 151468"/>
              <a:gd name="connsiteY25" fmla="*/ 67612 h 191270"/>
            </a:gdLst>
            <a:ahLst/>
            <a:cxnLst/>
            <a:rect l="l" t="t" r="r" b="b"/>
            <a:pathLst>
              <a:path w="151468" h="191270">
                <a:moveTo>
                  <a:pt x="136343" y="17571"/>
                </a:moveTo>
                <a:cubicBezTo>
                  <a:pt x="131072" y="12294"/>
                  <a:pt x="124251" y="8043"/>
                  <a:pt x="115866" y="4831"/>
                </a:cubicBezTo>
                <a:cubicBezTo>
                  <a:pt x="107481" y="1619"/>
                  <a:pt x="97303" y="0"/>
                  <a:pt x="85359" y="0"/>
                </a:cubicBezTo>
                <a:lnTo>
                  <a:pt x="0" y="0"/>
                </a:lnTo>
                <a:lnTo>
                  <a:pt x="0" y="191270"/>
                </a:lnTo>
                <a:lnTo>
                  <a:pt x="41210" y="191270"/>
                </a:lnTo>
                <a:lnTo>
                  <a:pt x="41210" y="113307"/>
                </a:lnTo>
                <a:lnTo>
                  <a:pt x="85359" y="113307"/>
                </a:lnTo>
                <a:cubicBezTo>
                  <a:pt x="97303" y="113307"/>
                  <a:pt x="107481" y="111701"/>
                  <a:pt x="115866" y="108489"/>
                </a:cubicBezTo>
                <a:cubicBezTo>
                  <a:pt x="124251" y="105277"/>
                  <a:pt x="131072" y="101026"/>
                  <a:pt x="136343" y="95750"/>
                </a:cubicBezTo>
                <a:cubicBezTo>
                  <a:pt x="141600" y="90473"/>
                  <a:pt x="145442" y="84414"/>
                  <a:pt x="147855" y="77571"/>
                </a:cubicBezTo>
                <a:cubicBezTo>
                  <a:pt x="150268" y="70729"/>
                  <a:pt x="151468" y="63766"/>
                  <a:pt x="151468" y="56667"/>
                </a:cubicBezTo>
                <a:cubicBezTo>
                  <a:pt x="151468" y="49569"/>
                  <a:pt x="150268" y="42402"/>
                  <a:pt x="147855" y="35641"/>
                </a:cubicBezTo>
                <a:cubicBezTo>
                  <a:pt x="145442" y="28880"/>
                  <a:pt x="141614" y="22861"/>
                  <a:pt x="136343" y="17584"/>
                </a:cubicBezTo>
                <a:close/>
                <a:moveTo>
                  <a:pt x="107710" y="67612"/>
                </a:moveTo>
                <a:cubicBezTo>
                  <a:pt x="105661" y="70392"/>
                  <a:pt x="102938" y="72551"/>
                  <a:pt x="99554" y="74076"/>
                </a:cubicBezTo>
                <a:cubicBezTo>
                  <a:pt x="96157" y="75601"/>
                  <a:pt x="92234" y="76627"/>
                  <a:pt x="87786" y="77167"/>
                </a:cubicBezTo>
                <a:cubicBezTo>
                  <a:pt x="83324" y="77693"/>
                  <a:pt x="78686" y="77963"/>
                  <a:pt x="73874" y="77963"/>
                </a:cubicBezTo>
                <a:lnTo>
                  <a:pt x="41224" y="77963"/>
                </a:lnTo>
                <a:lnTo>
                  <a:pt x="41224" y="35371"/>
                </a:lnTo>
                <a:lnTo>
                  <a:pt x="73874" y="35371"/>
                </a:lnTo>
                <a:cubicBezTo>
                  <a:pt x="78686" y="35371"/>
                  <a:pt x="83324" y="35641"/>
                  <a:pt x="87786" y="36168"/>
                </a:cubicBezTo>
                <a:cubicBezTo>
                  <a:pt x="92248" y="36694"/>
                  <a:pt x="96171" y="37733"/>
                  <a:pt x="99554" y="39258"/>
                </a:cubicBezTo>
                <a:cubicBezTo>
                  <a:pt x="102938" y="40783"/>
                  <a:pt x="105661" y="42942"/>
                  <a:pt x="107710" y="45722"/>
                </a:cubicBezTo>
                <a:cubicBezTo>
                  <a:pt x="109759" y="48502"/>
                  <a:pt x="110784" y="52160"/>
                  <a:pt x="110784" y="56667"/>
                </a:cubicBezTo>
                <a:cubicBezTo>
                  <a:pt x="110784" y="61175"/>
                  <a:pt x="109759" y="64832"/>
                  <a:pt x="107710" y="67612"/>
                </a:cubicBezTo>
                <a:close/>
              </a:path>
            </a:pathLst>
          </a:custGeom>
          <a:solidFill>
            <a:schemeClr val="bg1"/>
          </a:solidFill>
          <a:ln w="1343">
            <a:noFill/>
            <a:prstDash val="solid"/>
          </a:ln>
        </p:spPr>
        <p:txBody>
          <a:bodyPr anchor="ctr"/>
          <a:lstStyle/>
          <a:p>
            <a:endParaRPr/>
          </a:p>
        </p:txBody>
      </p:sp>
      <p:sp>
        <p:nvSpPr>
          <p:cNvPr id="13" name="Forme libre 12">
            <a:extLst>
              <a:ext uri="{FF2B5EF4-FFF2-40B4-BE49-F238E27FC236}">
                <a16:creationId xmlns:a16="http://schemas.microsoft.com/office/drawing/2014/main" id="{5B115CEE-A940-BE26-2B43-166F8314B6E7}"/>
              </a:ext>
            </a:extLst>
          </p:cNvPr>
          <p:cNvSpPr>
            <a:spLocks noGrp="1"/>
          </p:cNvSpPr>
          <p:nvPr/>
        </p:nvSpPr>
        <p:spPr>
          <a:xfrm>
            <a:off x="1074937" y="335968"/>
            <a:ext cx="138203" cy="191269"/>
          </a:xfrm>
          <a:custGeom>
            <a:avLst/>
            <a:gdLst>
              <a:gd name="connsiteX0" fmla="*/ 41197 w 138203"/>
              <a:gd name="connsiteY0" fmla="*/ 155899 h 191269"/>
              <a:gd name="connsiteX1" fmla="*/ 41197 w 138203"/>
              <a:gd name="connsiteY1" fmla="*/ 0 h 191269"/>
              <a:gd name="connsiteX2" fmla="*/ 0 w 138203"/>
              <a:gd name="connsiteY2" fmla="*/ 0 h 191269"/>
              <a:gd name="connsiteX3" fmla="*/ 0 w 138203"/>
              <a:gd name="connsiteY3" fmla="*/ 191270 h 191269"/>
              <a:gd name="connsiteX4" fmla="*/ 138203 w 138203"/>
              <a:gd name="connsiteY4" fmla="*/ 191270 h 191269"/>
              <a:gd name="connsiteX5" fmla="*/ 138203 w 138203"/>
              <a:gd name="connsiteY5" fmla="*/ 155899 h 191269"/>
              <a:gd name="connsiteX6" fmla="*/ 41197 w 138203"/>
              <a:gd name="connsiteY6" fmla="*/ 155899 h 191269"/>
            </a:gdLst>
            <a:ahLst/>
            <a:cxnLst/>
            <a:rect l="l" t="t" r="r" b="b"/>
            <a:pathLst>
              <a:path w="138203" h="191269">
                <a:moveTo>
                  <a:pt x="41197" y="155899"/>
                </a:moveTo>
                <a:lnTo>
                  <a:pt x="41197" y="0"/>
                </a:lnTo>
                <a:lnTo>
                  <a:pt x="0" y="0"/>
                </a:lnTo>
                <a:lnTo>
                  <a:pt x="0" y="191270"/>
                </a:lnTo>
                <a:lnTo>
                  <a:pt x="138203" y="191270"/>
                </a:lnTo>
                <a:lnTo>
                  <a:pt x="138203" y="155899"/>
                </a:lnTo>
                <a:lnTo>
                  <a:pt x="41197" y="155899"/>
                </a:lnTo>
                <a:close/>
              </a:path>
            </a:pathLst>
          </a:custGeom>
          <a:solidFill>
            <a:schemeClr val="bg1"/>
          </a:solidFill>
          <a:ln w="1343">
            <a:noFill/>
            <a:prstDash val="solid"/>
          </a:ln>
        </p:spPr>
        <p:txBody>
          <a:bodyPr anchor="ctr"/>
          <a:lstStyle/>
          <a:p>
            <a:endParaRPr/>
          </a:p>
        </p:txBody>
      </p:sp>
      <p:sp>
        <p:nvSpPr>
          <p:cNvPr id="14" name="Forme libre 13">
            <a:extLst>
              <a:ext uri="{FF2B5EF4-FFF2-40B4-BE49-F238E27FC236}">
                <a16:creationId xmlns:a16="http://schemas.microsoft.com/office/drawing/2014/main" id="{2C4287DA-CF08-EA83-E364-FECE99038CA8}"/>
              </a:ext>
            </a:extLst>
          </p:cNvPr>
          <p:cNvSpPr>
            <a:spLocks noGrp="1"/>
          </p:cNvSpPr>
          <p:nvPr/>
        </p:nvSpPr>
        <p:spPr>
          <a:xfrm>
            <a:off x="906874" y="335968"/>
            <a:ext cx="138216" cy="77949"/>
          </a:xfrm>
          <a:custGeom>
            <a:avLst/>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ahLst/>
            <a:cxn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a:schemeClr val="bg1"/>
          </a:solidFill>
          <a:ln w="1343">
            <a:noFill/>
            <a:prstDash val="solid"/>
          </a:ln>
        </p:spPr>
        <p:txBody>
          <a:bodyPr anchor="ctr"/>
          <a:lstStyle/>
          <a:p>
            <a:endParaRPr/>
          </a:p>
        </p:txBody>
      </p:sp>
      <p:sp>
        <p:nvSpPr>
          <p:cNvPr id="15" name="Forme libre 14">
            <a:extLst>
              <a:ext uri="{FF2B5EF4-FFF2-40B4-BE49-F238E27FC236}">
                <a16:creationId xmlns:a16="http://schemas.microsoft.com/office/drawing/2014/main" id="{816D4154-ADD8-7CD7-5EE4-31C06E12F124}"/>
              </a:ext>
            </a:extLst>
          </p:cNvPr>
          <p:cNvSpPr>
            <a:spLocks noGrp="1"/>
          </p:cNvSpPr>
          <p:nvPr/>
        </p:nvSpPr>
        <p:spPr>
          <a:xfrm>
            <a:off x="906874" y="449275"/>
            <a:ext cx="41210" cy="77949"/>
          </a:xfrm>
          <a:custGeom>
            <a:avLst/>
            <a:gdLst>
              <a:gd name="connsiteX0" fmla="*/ 0 w 41210"/>
              <a:gd name="connsiteY0" fmla="*/ 0 h 77949"/>
              <a:gd name="connsiteX1" fmla="*/ 41210 w 41210"/>
              <a:gd name="connsiteY1" fmla="*/ 0 h 77949"/>
              <a:gd name="connsiteX2" fmla="*/ 41210 w 41210"/>
              <a:gd name="connsiteY2" fmla="*/ 77949 h 77949"/>
              <a:gd name="connsiteX3" fmla="*/ 0 w 41210"/>
              <a:gd name="connsiteY3" fmla="*/ 77949 h 77949"/>
            </a:gdLst>
            <a:ahLst/>
            <a:cxnLst/>
            <a:rect l="l" t="t" r="r" b="b"/>
            <a:pathLst>
              <a:path w="41210" h="77949">
                <a:moveTo>
                  <a:pt x="0" y="0"/>
                </a:moveTo>
                <a:lnTo>
                  <a:pt x="41210" y="0"/>
                </a:lnTo>
                <a:lnTo>
                  <a:pt x="41210" y="77949"/>
                </a:lnTo>
                <a:lnTo>
                  <a:pt x="0" y="77949"/>
                </a:lnTo>
                <a:close/>
              </a:path>
            </a:pathLst>
          </a:custGeom>
          <a:solidFill>
            <a:schemeClr val="bg1"/>
          </a:solidFill>
          <a:ln w="1343">
            <a:noFill/>
            <a:prstDash val="solid"/>
          </a:ln>
        </p:spPr>
        <p:txBody>
          <a:bodyPr anchor="ctr"/>
          <a:lstStyle/>
          <a:p>
            <a:endParaRPr/>
          </a:p>
        </p:txBody>
      </p:sp>
      <p:sp>
        <p:nvSpPr>
          <p:cNvPr id="16" name="Forme libre 15">
            <a:extLst>
              <a:ext uri="{FF2B5EF4-FFF2-40B4-BE49-F238E27FC236}">
                <a16:creationId xmlns:a16="http://schemas.microsoft.com/office/drawing/2014/main" id="{0A5651A8-D780-F7AB-9F78-EFD12AA98E74}"/>
              </a:ext>
            </a:extLst>
          </p:cNvPr>
          <p:cNvSpPr>
            <a:spLocks noGrp="1"/>
          </p:cNvSpPr>
          <p:nvPr/>
        </p:nvSpPr>
        <p:spPr>
          <a:xfrm>
            <a:off x="948084" y="413918"/>
            <a:ext cx="88715" cy="35357"/>
          </a:xfrm>
          <a:custGeom>
            <a:avLst/>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ahLst/>
            <a:cxnLst/>
            <a:rect l="l" t="t" r="r" b="b"/>
            <a:pathLst>
              <a:path w="88715" h="35357">
                <a:moveTo>
                  <a:pt x="0" y="0"/>
                </a:moveTo>
                <a:lnTo>
                  <a:pt x="88716" y="0"/>
                </a:lnTo>
                <a:lnTo>
                  <a:pt x="88716" y="35358"/>
                </a:lnTo>
                <a:lnTo>
                  <a:pt x="0" y="35358"/>
                </a:lnTo>
                <a:close/>
              </a:path>
            </a:pathLst>
          </a:custGeom>
          <a:solidFill>
            <a:schemeClr val="bg1"/>
          </a:solidFill>
          <a:ln w="1343">
            <a:noFill/>
            <a:prstDash val="solid"/>
          </a:ln>
        </p:spPr>
        <p:txBody>
          <a:bodyPr anchor="ctr"/>
          <a:lstStyle/>
          <a:p>
            <a:endParaRPr/>
          </a:p>
        </p:txBody>
      </p:sp>
      <p:sp>
        <p:nvSpPr>
          <p:cNvPr id="17" name="Espace réservé de la date 16">
            <a:extLst>
              <a:ext uri="{FF2B5EF4-FFF2-40B4-BE49-F238E27FC236}">
                <a16:creationId xmlns:a16="http://schemas.microsoft.com/office/drawing/2014/main" id="{309FD214-C446-3C8F-AD11-A249F4B5998A}"/>
              </a:ext>
            </a:extLst>
          </p:cNvPr>
          <p:cNvSpPr>
            <a:spLocks noGrp="1"/>
          </p:cNvSpPr>
          <p:nvPr>
            <p:ph type="dt" idx="10"/>
          </p:nvPr>
        </p:nvSpPr>
        <p:spPr/>
        <p:txBody>
          <a:bodyPr/>
          <a:lstStyle>
            <a:lvl1pPr>
              <a:buNone/>
              <a:defRPr>
                <a:solidFill>
                  <a:schemeClr val="bg1"/>
                </a:solidFill>
              </a:defRPr>
            </a:lvl1pPr>
          </a:lstStyle>
          <a:p>
            <a:r>
              <a:t>TITLE OF THE PRESENTATION</a:t>
            </a:r>
          </a:p>
        </p:txBody>
      </p:sp>
      <p:sp>
        <p:nvSpPr>
          <p:cNvPr id="18" name="Espace réservé du pied de page 17">
            <a:extLst>
              <a:ext uri="{FF2B5EF4-FFF2-40B4-BE49-F238E27FC236}">
                <a16:creationId xmlns:a16="http://schemas.microsoft.com/office/drawing/2014/main" id="{1A7428E5-FF5A-76BD-D93B-8D61D542AB1E}"/>
              </a:ext>
            </a:extLst>
          </p:cNvPr>
          <p:cNvSpPr>
            <a:spLocks noGrp="1"/>
          </p:cNvSpPr>
          <p:nvPr>
            <p:ph type="ftr" idx="11"/>
          </p:nvPr>
        </p:nvSpPr>
        <p:spPr/>
        <p:txBody>
          <a:bodyPr/>
          <a:lstStyle>
            <a:lvl1pPr>
              <a:buNone/>
              <a:defRPr>
                <a:solidFill>
                  <a:schemeClr val="bg1"/>
                </a:solidFill>
              </a:defRPr>
            </a:lvl1pPr>
          </a:lstStyle>
          <a:p>
            <a:r>
              <a:t>Speaker name</a:t>
            </a:r>
          </a:p>
        </p:txBody>
      </p:sp>
      <p:sp>
        <p:nvSpPr>
          <p:cNvPr id="19" name="Espace réservé du numéro de diapositive 18">
            <a:extLst>
              <a:ext uri="{FF2B5EF4-FFF2-40B4-BE49-F238E27FC236}">
                <a16:creationId xmlns:a16="http://schemas.microsoft.com/office/drawing/2014/main" id="{43662181-82C7-FB2E-AD48-A29433AC1A0F}"/>
              </a:ext>
            </a:extLst>
          </p:cNvPr>
          <p:cNvSpPr>
            <a:spLocks noGrp="1"/>
          </p:cNvSpPr>
          <p:nvPr>
            <p:ph type="sldNum" idx="12"/>
          </p:nvPr>
        </p:nvSpPr>
        <p:spPr/>
        <p:txBody>
          <a:bodyPr/>
          <a:lstStyle>
            <a:lvl1pPr>
              <a:buNone/>
              <a:defRPr>
                <a:solidFill>
                  <a:schemeClr val="bg1"/>
                </a:solidFill>
              </a:defRPr>
            </a:lvl1pPr>
          </a:lstStyle>
          <a:p>
            <a:fld id="{E1E1CD7C-2161-7D43-862E-CE4C333CD873}"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Titre et contenu">
    <p:bg>
      <p:bgPr>
        <a:gradFill>
          <a:gsLst>
            <a:gs pos="0">
              <a:schemeClr val="accent4">
                <a:lumMod val="50000"/>
              </a:schemeClr>
            </a:gs>
            <a:gs pos="32000">
              <a:schemeClr val="accent4"/>
            </a:gs>
            <a:gs pos="98000">
              <a:schemeClr val="accent4"/>
            </a:gs>
          </a:gsLst>
          <a:lin ang="5400000" scaled="1"/>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620460-CB4E-4565-B45C-6B1EEFEAEABB}"/>
              </a:ext>
            </a:extLst>
          </p:cNvPr>
          <p:cNvSpPr>
            <a:spLocks noGrp="1"/>
          </p:cNvSpPr>
          <p:nvPr>
            <p:ph idx="1"/>
          </p:nvPr>
        </p:nvSpPr>
        <p:spPr>
          <a:xfrm>
            <a:off x="550863" y="3122613"/>
            <a:ext cx="11090274" cy="3402012"/>
          </a:xfrm>
        </p:spPr>
        <p:txBody>
          <a:bodyPr/>
          <a:lstStyle>
            <a:lvl1pPr>
              <a:buClrTx/>
              <a:buNone/>
              <a:defRPr>
                <a:solidFill>
                  <a:schemeClr val="bg1"/>
                </a:solidFill>
              </a:defRPr>
            </a:lvl1pPr>
          </a:lstStyle>
          <a:p>
            <a:pPr lvl="0">
              <a:buNone/>
            </a:pPr>
            <a:r>
              <a:t>Cliquez pour modifier les styles du texte du masque</a:t>
            </a:r>
          </a:p>
        </p:txBody>
      </p:sp>
      <p:sp>
        <p:nvSpPr>
          <p:cNvPr id="2" name="Titre 1">
            <a:extLst>
              <a:ext uri="{FF2B5EF4-FFF2-40B4-BE49-F238E27FC236}">
                <a16:creationId xmlns:a16="http://schemas.microsoft.com/office/drawing/2014/main" id="{96942D0D-07B5-D98B-14DE-AA7EF42087E1}"/>
              </a:ext>
            </a:extLst>
          </p:cNvPr>
          <p:cNvSpPr>
            <a:spLocks noGrp="1"/>
          </p:cNvSpPr>
          <p:nvPr>
            <p:ph type="title"/>
          </p:nvPr>
        </p:nvSpPr>
        <p:spPr/>
        <p:txBody>
          <a:bodyPr/>
          <a:lstStyle>
            <a:lvl1pPr>
              <a:buNone/>
              <a:defRPr>
                <a:solidFill>
                  <a:schemeClr val="bg1"/>
                </a:solidFill>
              </a:defRPr>
            </a:lvl1pPr>
          </a:lstStyle>
          <a:p>
            <a:r>
              <a:t>Modifiez le style du titre</a:t>
            </a:r>
          </a:p>
        </p:txBody>
      </p:sp>
      <p:sp>
        <p:nvSpPr>
          <p:cNvPr id="9" name="Forme libre 8">
            <a:extLst>
              <a:ext uri="{FF2B5EF4-FFF2-40B4-BE49-F238E27FC236}">
                <a16:creationId xmlns:a16="http://schemas.microsoft.com/office/drawing/2014/main" id="{13EF8F51-3EA2-359B-1A23-D9F373527745}"/>
              </a:ext>
            </a:extLst>
          </p:cNvPr>
          <p:cNvSpPr>
            <a:spLocks noGrp="1"/>
          </p:cNvSpPr>
          <p:nvPr/>
        </p:nvSpPr>
        <p:spPr>
          <a:xfrm>
            <a:off x="555663" y="335968"/>
            <a:ext cx="138216" cy="77949"/>
          </a:xfrm>
          <a:custGeom>
            <a:avLst/>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ahLst/>
            <a:cxn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a:schemeClr val="bg1"/>
          </a:solidFill>
          <a:ln w="1343">
            <a:noFill/>
            <a:prstDash val="solid"/>
          </a:ln>
        </p:spPr>
        <p:txBody>
          <a:bodyPr anchor="ctr"/>
          <a:lstStyle/>
          <a:p>
            <a:endParaRPr/>
          </a:p>
        </p:txBody>
      </p:sp>
      <p:sp>
        <p:nvSpPr>
          <p:cNvPr id="10" name="Forme libre 9">
            <a:extLst>
              <a:ext uri="{FF2B5EF4-FFF2-40B4-BE49-F238E27FC236}">
                <a16:creationId xmlns:a16="http://schemas.microsoft.com/office/drawing/2014/main" id="{E5B494A9-D288-4545-5699-3384315D576E}"/>
              </a:ext>
            </a:extLst>
          </p:cNvPr>
          <p:cNvSpPr>
            <a:spLocks noGrp="1"/>
          </p:cNvSpPr>
          <p:nvPr/>
        </p:nvSpPr>
        <p:spPr>
          <a:xfrm>
            <a:off x="555663" y="449275"/>
            <a:ext cx="138216" cy="77962"/>
          </a:xfrm>
          <a:custGeom>
            <a:avLst/>
            <a:gdLst>
              <a:gd name="connsiteX0" fmla="*/ 0 w 138216"/>
              <a:gd name="connsiteY0" fmla="*/ 77963 h 77962"/>
              <a:gd name="connsiteX1" fmla="*/ 138217 w 138216"/>
              <a:gd name="connsiteY1" fmla="*/ 77963 h 77962"/>
              <a:gd name="connsiteX2" fmla="*/ 138217 w 138216"/>
              <a:gd name="connsiteY2" fmla="*/ 42591 h 77962"/>
              <a:gd name="connsiteX3" fmla="*/ 41210 w 138216"/>
              <a:gd name="connsiteY3" fmla="*/ 42591 h 77962"/>
              <a:gd name="connsiteX4" fmla="*/ 41210 w 138216"/>
              <a:gd name="connsiteY4" fmla="*/ 0 h 77962"/>
              <a:gd name="connsiteX5" fmla="*/ 0 w 138216"/>
              <a:gd name="connsiteY5" fmla="*/ 0 h 77962"/>
              <a:gd name="connsiteX6" fmla="*/ 0 w 138216"/>
              <a:gd name="connsiteY6" fmla="*/ 77963 h 77962"/>
            </a:gdLst>
            <a:ahLst/>
            <a:cxnLst/>
            <a:rect l="l" t="t" r="r" b="b"/>
            <a:pathLst>
              <a:path w="138216" h="77962">
                <a:moveTo>
                  <a:pt x="0" y="77963"/>
                </a:moveTo>
                <a:lnTo>
                  <a:pt x="138217" y="77963"/>
                </a:lnTo>
                <a:lnTo>
                  <a:pt x="138217" y="42591"/>
                </a:lnTo>
                <a:lnTo>
                  <a:pt x="41210" y="42591"/>
                </a:lnTo>
                <a:lnTo>
                  <a:pt x="41210" y="0"/>
                </a:lnTo>
                <a:lnTo>
                  <a:pt x="0" y="0"/>
                </a:lnTo>
                <a:lnTo>
                  <a:pt x="0" y="77963"/>
                </a:lnTo>
                <a:close/>
              </a:path>
            </a:pathLst>
          </a:custGeom>
          <a:solidFill>
            <a:schemeClr val="bg1"/>
          </a:solidFill>
          <a:ln w="1343">
            <a:noFill/>
            <a:prstDash val="solid"/>
          </a:ln>
        </p:spPr>
        <p:txBody>
          <a:bodyPr anchor="ctr"/>
          <a:lstStyle/>
          <a:p>
            <a:endParaRPr/>
          </a:p>
        </p:txBody>
      </p:sp>
      <p:sp>
        <p:nvSpPr>
          <p:cNvPr id="11" name="Forme libre 10">
            <a:extLst>
              <a:ext uri="{FF2B5EF4-FFF2-40B4-BE49-F238E27FC236}">
                <a16:creationId xmlns:a16="http://schemas.microsoft.com/office/drawing/2014/main" id="{A5227256-2CB5-C66B-5A1C-3E1C7C775414}"/>
              </a:ext>
            </a:extLst>
          </p:cNvPr>
          <p:cNvSpPr>
            <a:spLocks noGrp="1"/>
          </p:cNvSpPr>
          <p:nvPr/>
        </p:nvSpPr>
        <p:spPr>
          <a:xfrm>
            <a:off x="596874" y="413918"/>
            <a:ext cx="88715" cy="35357"/>
          </a:xfrm>
          <a:custGeom>
            <a:avLst/>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ahLst/>
            <a:cxnLst/>
            <a:rect l="l" t="t" r="r" b="b"/>
            <a:pathLst>
              <a:path w="88715" h="35357">
                <a:moveTo>
                  <a:pt x="0" y="0"/>
                </a:moveTo>
                <a:lnTo>
                  <a:pt x="88716" y="0"/>
                </a:lnTo>
                <a:lnTo>
                  <a:pt x="88716" y="35358"/>
                </a:lnTo>
                <a:lnTo>
                  <a:pt x="0" y="35358"/>
                </a:lnTo>
                <a:close/>
              </a:path>
            </a:pathLst>
          </a:custGeom>
          <a:solidFill>
            <a:schemeClr val="bg1"/>
          </a:solidFill>
          <a:ln w="1343">
            <a:noFill/>
            <a:prstDash val="solid"/>
          </a:ln>
        </p:spPr>
        <p:txBody>
          <a:bodyPr anchor="ctr"/>
          <a:lstStyle/>
          <a:p>
            <a:endParaRPr/>
          </a:p>
        </p:txBody>
      </p:sp>
      <p:sp>
        <p:nvSpPr>
          <p:cNvPr id="12" name="Forme libre 11">
            <a:extLst>
              <a:ext uri="{FF2B5EF4-FFF2-40B4-BE49-F238E27FC236}">
                <a16:creationId xmlns:a16="http://schemas.microsoft.com/office/drawing/2014/main" id="{613513A6-A38B-81D3-C93C-32D8AC097F4F}"/>
              </a:ext>
            </a:extLst>
          </p:cNvPr>
          <p:cNvSpPr>
            <a:spLocks noGrp="1"/>
          </p:cNvSpPr>
          <p:nvPr/>
        </p:nvSpPr>
        <p:spPr>
          <a:xfrm>
            <a:off x="729199" y="335955"/>
            <a:ext cx="151468" cy="191270"/>
          </a:xfrm>
          <a:custGeom>
            <a:avLst/>
            <a:gdLst>
              <a:gd name="connsiteX0" fmla="*/ 136343 w 151468"/>
              <a:gd name="connsiteY0" fmla="*/ 17571 h 191270"/>
              <a:gd name="connsiteX1" fmla="*/ 115866 w 151468"/>
              <a:gd name="connsiteY1" fmla="*/ 4831 h 191270"/>
              <a:gd name="connsiteX2" fmla="*/ 85359 w 151468"/>
              <a:gd name="connsiteY2" fmla="*/ 0 h 191270"/>
              <a:gd name="connsiteX3" fmla="*/ 0 w 151468"/>
              <a:gd name="connsiteY3" fmla="*/ 0 h 191270"/>
              <a:gd name="connsiteX4" fmla="*/ 0 w 151468"/>
              <a:gd name="connsiteY4" fmla="*/ 191270 h 191270"/>
              <a:gd name="connsiteX5" fmla="*/ 41210 w 151468"/>
              <a:gd name="connsiteY5" fmla="*/ 191270 h 191270"/>
              <a:gd name="connsiteX6" fmla="*/ 41210 w 151468"/>
              <a:gd name="connsiteY6" fmla="*/ 113307 h 191270"/>
              <a:gd name="connsiteX7" fmla="*/ 85359 w 151468"/>
              <a:gd name="connsiteY7" fmla="*/ 113307 h 191270"/>
              <a:gd name="connsiteX8" fmla="*/ 115866 w 151468"/>
              <a:gd name="connsiteY8" fmla="*/ 108489 h 191270"/>
              <a:gd name="connsiteX9" fmla="*/ 136343 w 151468"/>
              <a:gd name="connsiteY9" fmla="*/ 95750 h 191270"/>
              <a:gd name="connsiteX10" fmla="*/ 147855 w 151468"/>
              <a:gd name="connsiteY10" fmla="*/ 77571 h 191270"/>
              <a:gd name="connsiteX11" fmla="*/ 151468 w 151468"/>
              <a:gd name="connsiteY11" fmla="*/ 56667 h 191270"/>
              <a:gd name="connsiteX12" fmla="*/ 147855 w 151468"/>
              <a:gd name="connsiteY12" fmla="*/ 35641 h 191270"/>
              <a:gd name="connsiteX13" fmla="*/ 136343 w 151468"/>
              <a:gd name="connsiteY13" fmla="*/ 17584 h 191270"/>
              <a:gd name="connsiteX14" fmla="*/ 107710 w 151468"/>
              <a:gd name="connsiteY14" fmla="*/ 67612 h 191270"/>
              <a:gd name="connsiteX15" fmla="*/ 99554 w 151468"/>
              <a:gd name="connsiteY15" fmla="*/ 74076 h 191270"/>
              <a:gd name="connsiteX16" fmla="*/ 87786 w 151468"/>
              <a:gd name="connsiteY16" fmla="*/ 77167 h 191270"/>
              <a:gd name="connsiteX17" fmla="*/ 73874 w 151468"/>
              <a:gd name="connsiteY17" fmla="*/ 77963 h 191270"/>
              <a:gd name="connsiteX18" fmla="*/ 41224 w 151468"/>
              <a:gd name="connsiteY18" fmla="*/ 77963 h 191270"/>
              <a:gd name="connsiteX19" fmla="*/ 41224 w 151468"/>
              <a:gd name="connsiteY19" fmla="*/ 35371 h 191270"/>
              <a:gd name="connsiteX20" fmla="*/ 73874 w 151468"/>
              <a:gd name="connsiteY20" fmla="*/ 35371 h 191270"/>
              <a:gd name="connsiteX21" fmla="*/ 87786 w 151468"/>
              <a:gd name="connsiteY21" fmla="*/ 36168 h 191270"/>
              <a:gd name="connsiteX22" fmla="*/ 99554 w 151468"/>
              <a:gd name="connsiteY22" fmla="*/ 39258 h 191270"/>
              <a:gd name="connsiteX23" fmla="*/ 107710 w 151468"/>
              <a:gd name="connsiteY23" fmla="*/ 45722 h 191270"/>
              <a:gd name="connsiteX24" fmla="*/ 110784 w 151468"/>
              <a:gd name="connsiteY24" fmla="*/ 56667 h 191270"/>
              <a:gd name="connsiteX25" fmla="*/ 107710 w 151468"/>
              <a:gd name="connsiteY25" fmla="*/ 67612 h 191270"/>
            </a:gdLst>
            <a:ahLst/>
            <a:cxnLst/>
            <a:rect l="l" t="t" r="r" b="b"/>
            <a:pathLst>
              <a:path w="151468" h="191270">
                <a:moveTo>
                  <a:pt x="136343" y="17571"/>
                </a:moveTo>
                <a:cubicBezTo>
                  <a:pt x="131072" y="12294"/>
                  <a:pt x="124251" y="8043"/>
                  <a:pt x="115866" y="4831"/>
                </a:cubicBezTo>
                <a:cubicBezTo>
                  <a:pt x="107481" y="1619"/>
                  <a:pt x="97303" y="0"/>
                  <a:pt x="85359" y="0"/>
                </a:cubicBezTo>
                <a:lnTo>
                  <a:pt x="0" y="0"/>
                </a:lnTo>
                <a:lnTo>
                  <a:pt x="0" y="191270"/>
                </a:lnTo>
                <a:lnTo>
                  <a:pt x="41210" y="191270"/>
                </a:lnTo>
                <a:lnTo>
                  <a:pt x="41210" y="113307"/>
                </a:lnTo>
                <a:lnTo>
                  <a:pt x="85359" y="113307"/>
                </a:lnTo>
                <a:cubicBezTo>
                  <a:pt x="97303" y="113307"/>
                  <a:pt x="107481" y="111701"/>
                  <a:pt x="115866" y="108489"/>
                </a:cubicBezTo>
                <a:cubicBezTo>
                  <a:pt x="124251" y="105277"/>
                  <a:pt x="131072" y="101026"/>
                  <a:pt x="136343" y="95750"/>
                </a:cubicBezTo>
                <a:cubicBezTo>
                  <a:pt x="141600" y="90473"/>
                  <a:pt x="145442" y="84414"/>
                  <a:pt x="147855" y="77571"/>
                </a:cubicBezTo>
                <a:cubicBezTo>
                  <a:pt x="150268" y="70729"/>
                  <a:pt x="151468" y="63766"/>
                  <a:pt x="151468" y="56667"/>
                </a:cubicBezTo>
                <a:cubicBezTo>
                  <a:pt x="151468" y="49569"/>
                  <a:pt x="150268" y="42402"/>
                  <a:pt x="147855" y="35641"/>
                </a:cubicBezTo>
                <a:cubicBezTo>
                  <a:pt x="145442" y="28880"/>
                  <a:pt x="141614" y="22861"/>
                  <a:pt x="136343" y="17584"/>
                </a:cubicBezTo>
                <a:close/>
                <a:moveTo>
                  <a:pt x="107710" y="67612"/>
                </a:moveTo>
                <a:cubicBezTo>
                  <a:pt x="105661" y="70392"/>
                  <a:pt x="102938" y="72551"/>
                  <a:pt x="99554" y="74076"/>
                </a:cubicBezTo>
                <a:cubicBezTo>
                  <a:pt x="96157" y="75601"/>
                  <a:pt x="92234" y="76627"/>
                  <a:pt x="87786" y="77167"/>
                </a:cubicBezTo>
                <a:cubicBezTo>
                  <a:pt x="83324" y="77693"/>
                  <a:pt x="78686" y="77963"/>
                  <a:pt x="73874" y="77963"/>
                </a:cubicBezTo>
                <a:lnTo>
                  <a:pt x="41224" y="77963"/>
                </a:lnTo>
                <a:lnTo>
                  <a:pt x="41224" y="35371"/>
                </a:lnTo>
                <a:lnTo>
                  <a:pt x="73874" y="35371"/>
                </a:lnTo>
                <a:cubicBezTo>
                  <a:pt x="78686" y="35371"/>
                  <a:pt x="83324" y="35641"/>
                  <a:pt x="87786" y="36168"/>
                </a:cubicBezTo>
                <a:cubicBezTo>
                  <a:pt x="92248" y="36694"/>
                  <a:pt x="96171" y="37733"/>
                  <a:pt x="99554" y="39258"/>
                </a:cubicBezTo>
                <a:cubicBezTo>
                  <a:pt x="102938" y="40783"/>
                  <a:pt x="105661" y="42942"/>
                  <a:pt x="107710" y="45722"/>
                </a:cubicBezTo>
                <a:cubicBezTo>
                  <a:pt x="109759" y="48502"/>
                  <a:pt x="110784" y="52160"/>
                  <a:pt x="110784" y="56667"/>
                </a:cubicBezTo>
                <a:cubicBezTo>
                  <a:pt x="110784" y="61175"/>
                  <a:pt x="109759" y="64832"/>
                  <a:pt x="107710" y="67612"/>
                </a:cubicBezTo>
                <a:close/>
              </a:path>
            </a:pathLst>
          </a:custGeom>
          <a:solidFill>
            <a:schemeClr val="bg1"/>
          </a:solidFill>
          <a:ln w="1343">
            <a:noFill/>
            <a:prstDash val="solid"/>
          </a:ln>
        </p:spPr>
        <p:txBody>
          <a:bodyPr anchor="ctr"/>
          <a:lstStyle/>
          <a:p>
            <a:endParaRPr/>
          </a:p>
        </p:txBody>
      </p:sp>
      <p:sp>
        <p:nvSpPr>
          <p:cNvPr id="13" name="Forme libre 12">
            <a:extLst>
              <a:ext uri="{FF2B5EF4-FFF2-40B4-BE49-F238E27FC236}">
                <a16:creationId xmlns:a16="http://schemas.microsoft.com/office/drawing/2014/main" id="{5B115CEE-A940-BE26-2B43-166F8314B6E7}"/>
              </a:ext>
            </a:extLst>
          </p:cNvPr>
          <p:cNvSpPr>
            <a:spLocks noGrp="1"/>
          </p:cNvSpPr>
          <p:nvPr/>
        </p:nvSpPr>
        <p:spPr>
          <a:xfrm>
            <a:off x="1074937" y="335968"/>
            <a:ext cx="138203" cy="191269"/>
          </a:xfrm>
          <a:custGeom>
            <a:avLst/>
            <a:gdLst>
              <a:gd name="connsiteX0" fmla="*/ 41197 w 138203"/>
              <a:gd name="connsiteY0" fmla="*/ 155899 h 191269"/>
              <a:gd name="connsiteX1" fmla="*/ 41197 w 138203"/>
              <a:gd name="connsiteY1" fmla="*/ 0 h 191269"/>
              <a:gd name="connsiteX2" fmla="*/ 0 w 138203"/>
              <a:gd name="connsiteY2" fmla="*/ 0 h 191269"/>
              <a:gd name="connsiteX3" fmla="*/ 0 w 138203"/>
              <a:gd name="connsiteY3" fmla="*/ 191270 h 191269"/>
              <a:gd name="connsiteX4" fmla="*/ 138203 w 138203"/>
              <a:gd name="connsiteY4" fmla="*/ 191270 h 191269"/>
              <a:gd name="connsiteX5" fmla="*/ 138203 w 138203"/>
              <a:gd name="connsiteY5" fmla="*/ 155899 h 191269"/>
              <a:gd name="connsiteX6" fmla="*/ 41197 w 138203"/>
              <a:gd name="connsiteY6" fmla="*/ 155899 h 191269"/>
            </a:gdLst>
            <a:ahLst/>
            <a:cxnLst/>
            <a:rect l="l" t="t" r="r" b="b"/>
            <a:pathLst>
              <a:path w="138203" h="191269">
                <a:moveTo>
                  <a:pt x="41197" y="155899"/>
                </a:moveTo>
                <a:lnTo>
                  <a:pt x="41197" y="0"/>
                </a:lnTo>
                <a:lnTo>
                  <a:pt x="0" y="0"/>
                </a:lnTo>
                <a:lnTo>
                  <a:pt x="0" y="191270"/>
                </a:lnTo>
                <a:lnTo>
                  <a:pt x="138203" y="191270"/>
                </a:lnTo>
                <a:lnTo>
                  <a:pt x="138203" y="155899"/>
                </a:lnTo>
                <a:lnTo>
                  <a:pt x="41197" y="155899"/>
                </a:lnTo>
                <a:close/>
              </a:path>
            </a:pathLst>
          </a:custGeom>
          <a:solidFill>
            <a:schemeClr val="bg1"/>
          </a:solidFill>
          <a:ln w="1343">
            <a:noFill/>
            <a:prstDash val="solid"/>
          </a:ln>
        </p:spPr>
        <p:txBody>
          <a:bodyPr anchor="ctr"/>
          <a:lstStyle/>
          <a:p>
            <a:endParaRPr/>
          </a:p>
        </p:txBody>
      </p:sp>
      <p:sp>
        <p:nvSpPr>
          <p:cNvPr id="14" name="Forme libre 13">
            <a:extLst>
              <a:ext uri="{FF2B5EF4-FFF2-40B4-BE49-F238E27FC236}">
                <a16:creationId xmlns:a16="http://schemas.microsoft.com/office/drawing/2014/main" id="{2C4287DA-CF08-EA83-E364-FECE99038CA8}"/>
              </a:ext>
            </a:extLst>
          </p:cNvPr>
          <p:cNvSpPr>
            <a:spLocks noGrp="1"/>
          </p:cNvSpPr>
          <p:nvPr/>
        </p:nvSpPr>
        <p:spPr>
          <a:xfrm>
            <a:off x="906874" y="335968"/>
            <a:ext cx="138216" cy="77949"/>
          </a:xfrm>
          <a:custGeom>
            <a:avLst/>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ahLst/>
            <a:cxn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a:schemeClr val="bg1"/>
          </a:solidFill>
          <a:ln w="1343">
            <a:noFill/>
            <a:prstDash val="solid"/>
          </a:ln>
        </p:spPr>
        <p:txBody>
          <a:bodyPr anchor="ctr"/>
          <a:lstStyle/>
          <a:p>
            <a:endParaRPr/>
          </a:p>
        </p:txBody>
      </p:sp>
      <p:sp>
        <p:nvSpPr>
          <p:cNvPr id="15" name="Forme libre 14">
            <a:extLst>
              <a:ext uri="{FF2B5EF4-FFF2-40B4-BE49-F238E27FC236}">
                <a16:creationId xmlns:a16="http://schemas.microsoft.com/office/drawing/2014/main" id="{816D4154-ADD8-7CD7-5EE4-31C06E12F124}"/>
              </a:ext>
            </a:extLst>
          </p:cNvPr>
          <p:cNvSpPr>
            <a:spLocks noGrp="1"/>
          </p:cNvSpPr>
          <p:nvPr/>
        </p:nvSpPr>
        <p:spPr>
          <a:xfrm>
            <a:off x="906874" y="449275"/>
            <a:ext cx="41210" cy="77949"/>
          </a:xfrm>
          <a:custGeom>
            <a:avLst/>
            <a:gdLst>
              <a:gd name="connsiteX0" fmla="*/ 0 w 41210"/>
              <a:gd name="connsiteY0" fmla="*/ 0 h 77949"/>
              <a:gd name="connsiteX1" fmla="*/ 41210 w 41210"/>
              <a:gd name="connsiteY1" fmla="*/ 0 h 77949"/>
              <a:gd name="connsiteX2" fmla="*/ 41210 w 41210"/>
              <a:gd name="connsiteY2" fmla="*/ 77949 h 77949"/>
              <a:gd name="connsiteX3" fmla="*/ 0 w 41210"/>
              <a:gd name="connsiteY3" fmla="*/ 77949 h 77949"/>
            </a:gdLst>
            <a:ahLst/>
            <a:cxnLst/>
            <a:rect l="l" t="t" r="r" b="b"/>
            <a:pathLst>
              <a:path w="41210" h="77949">
                <a:moveTo>
                  <a:pt x="0" y="0"/>
                </a:moveTo>
                <a:lnTo>
                  <a:pt x="41210" y="0"/>
                </a:lnTo>
                <a:lnTo>
                  <a:pt x="41210" y="77949"/>
                </a:lnTo>
                <a:lnTo>
                  <a:pt x="0" y="77949"/>
                </a:lnTo>
                <a:close/>
              </a:path>
            </a:pathLst>
          </a:custGeom>
          <a:solidFill>
            <a:schemeClr val="bg1"/>
          </a:solidFill>
          <a:ln w="1343">
            <a:noFill/>
            <a:prstDash val="solid"/>
          </a:ln>
        </p:spPr>
        <p:txBody>
          <a:bodyPr anchor="ctr"/>
          <a:lstStyle/>
          <a:p>
            <a:endParaRPr/>
          </a:p>
        </p:txBody>
      </p:sp>
      <p:sp>
        <p:nvSpPr>
          <p:cNvPr id="16" name="Forme libre 15">
            <a:extLst>
              <a:ext uri="{FF2B5EF4-FFF2-40B4-BE49-F238E27FC236}">
                <a16:creationId xmlns:a16="http://schemas.microsoft.com/office/drawing/2014/main" id="{0A5651A8-D780-F7AB-9F78-EFD12AA98E74}"/>
              </a:ext>
            </a:extLst>
          </p:cNvPr>
          <p:cNvSpPr>
            <a:spLocks noGrp="1"/>
          </p:cNvSpPr>
          <p:nvPr/>
        </p:nvSpPr>
        <p:spPr>
          <a:xfrm>
            <a:off x="948084" y="413918"/>
            <a:ext cx="88715" cy="35357"/>
          </a:xfrm>
          <a:custGeom>
            <a:avLst/>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ahLst/>
            <a:cxnLst/>
            <a:rect l="l" t="t" r="r" b="b"/>
            <a:pathLst>
              <a:path w="88715" h="35357">
                <a:moveTo>
                  <a:pt x="0" y="0"/>
                </a:moveTo>
                <a:lnTo>
                  <a:pt x="88716" y="0"/>
                </a:lnTo>
                <a:lnTo>
                  <a:pt x="88716" y="35358"/>
                </a:lnTo>
                <a:lnTo>
                  <a:pt x="0" y="35358"/>
                </a:lnTo>
                <a:close/>
              </a:path>
            </a:pathLst>
          </a:custGeom>
          <a:solidFill>
            <a:schemeClr val="bg1"/>
          </a:solidFill>
          <a:ln w="1343">
            <a:noFill/>
            <a:prstDash val="solid"/>
          </a:ln>
        </p:spPr>
        <p:txBody>
          <a:bodyPr anchor="ctr"/>
          <a:lstStyle/>
          <a:p>
            <a:endParaRPr/>
          </a:p>
        </p:txBody>
      </p:sp>
      <p:sp>
        <p:nvSpPr>
          <p:cNvPr id="17" name="Espace réservé de la date 16">
            <a:extLst>
              <a:ext uri="{FF2B5EF4-FFF2-40B4-BE49-F238E27FC236}">
                <a16:creationId xmlns:a16="http://schemas.microsoft.com/office/drawing/2014/main" id="{309FD214-C446-3C8F-AD11-A249F4B5998A}"/>
              </a:ext>
            </a:extLst>
          </p:cNvPr>
          <p:cNvSpPr>
            <a:spLocks noGrp="1"/>
          </p:cNvSpPr>
          <p:nvPr>
            <p:ph type="dt" idx="10"/>
          </p:nvPr>
        </p:nvSpPr>
        <p:spPr/>
        <p:txBody>
          <a:bodyPr/>
          <a:lstStyle>
            <a:lvl1pPr>
              <a:buNone/>
              <a:defRPr>
                <a:solidFill>
                  <a:schemeClr val="bg1"/>
                </a:solidFill>
              </a:defRPr>
            </a:lvl1pPr>
          </a:lstStyle>
          <a:p>
            <a:r>
              <a:t>TITLE OF THE PRESENTATION</a:t>
            </a:r>
          </a:p>
        </p:txBody>
      </p:sp>
      <p:sp>
        <p:nvSpPr>
          <p:cNvPr id="18" name="Espace réservé du pied de page 17">
            <a:extLst>
              <a:ext uri="{FF2B5EF4-FFF2-40B4-BE49-F238E27FC236}">
                <a16:creationId xmlns:a16="http://schemas.microsoft.com/office/drawing/2014/main" id="{1A7428E5-FF5A-76BD-D93B-8D61D542AB1E}"/>
              </a:ext>
            </a:extLst>
          </p:cNvPr>
          <p:cNvSpPr>
            <a:spLocks noGrp="1"/>
          </p:cNvSpPr>
          <p:nvPr>
            <p:ph type="ftr" idx="11"/>
          </p:nvPr>
        </p:nvSpPr>
        <p:spPr/>
        <p:txBody>
          <a:bodyPr/>
          <a:lstStyle>
            <a:lvl1pPr>
              <a:buNone/>
              <a:defRPr>
                <a:solidFill>
                  <a:schemeClr val="bg1"/>
                </a:solidFill>
              </a:defRPr>
            </a:lvl1pPr>
          </a:lstStyle>
          <a:p>
            <a:r>
              <a:t>Speaker name</a:t>
            </a:r>
          </a:p>
        </p:txBody>
      </p:sp>
      <p:sp>
        <p:nvSpPr>
          <p:cNvPr id="19" name="Espace réservé du numéro de diapositive 18">
            <a:extLst>
              <a:ext uri="{FF2B5EF4-FFF2-40B4-BE49-F238E27FC236}">
                <a16:creationId xmlns:a16="http://schemas.microsoft.com/office/drawing/2014/main" id="{43662181-82C7-FB2E-AD48-A29433AC1A0F}"/>
              </a:ext>
            </a:extLst>
          </p:cNvPr>
          <p:cNvSpPr>
            <a:spLocks noGrp="1"/>
          </p:cNvSpPr>
          <p:nvPr>
            <p:ph type="sldNum" idx="12"/>
          </p:nvPr>
        </p:nvSpPr>
        <p:spPr/>
        <p:txBody>
          <a:bodyPr/>
          <a:lstStyle>
            <a:lvl1pPr>
              <a:buNone/>
              <a:defRPr>
                <a:solidFill>
                  <a:schemeClr val="bg1"/>
                </a:solidFill>
              </a:defRPr>
            </a:lvl1pPr>
          </a:lstStyle>
          <a:p>
            <a:fld id="{E1E1CD7C-2161-7D43-862E-CE4C333CD873}"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845B9F-09FF-44D5-9E63-AF7BD138C3AC}"/>
              </a:ext>
            </a:extLst>
          </p:cNvPr>
          <p:cNvSpPr>
            <a:spLocks noGrp="1"/>
          </p:cNvSpPr>
          <p:nvPr>
            <p:ph idx="1"/>
          </p:nvPr>
        </p:nvSpPr>
        <p:spPr/>
        <p:txBody>
          <a:bodyPr/>
          <a:lstStyle/>
          <a:p>
            <a:pPr lvl="0">
              <a:buNone/>
            </a:pPr>
            <a:r>
              <a:t>Cliquez pour modifier les styles du texte du masque</a:t>
            </a:r>
          </a:p>
        </p:txBody>
      </p:sp>
      <p:sp>
        <p:nvSpPr>
          <p:cNvPr id="2" name="Titre 1">
            <a:extLst>
              <a:ext uri="{FF2B5EF4-FFF2-40B4-BE49-F238E27FC236}">
                <a16:creationId xmlns:a16="http://schemas.microsoft.com/office/drawing/2014/main" id="{96942D0D-07B5-D98B-14DE-AA7EF42087E1}"/>
              </a:ext>
            </a:extLst>
          </p:cNvPr>
          <p:cNvSpPr>
            <a:spLocks noGrp="1"/>
          </p:cNvSpPr>
          <p:nvPr>
            <p:ph type="title"/>
          </p:nvPr>
        </p:nvSpPr>
        <p:spPr/>
        <p:txBody>
          <a:bodyPr/>
          <a:lstStyle/>
          <a:p>
            <a:r>
              <a:t>Modifiez le style du titre</a:t>
            </a:r>
          </a:p>
        </p:txBody>
      </p:sp>
      <p:sp>
        <p:nvSpPr>
          <p:cNvPr id="10" name="Espace réservé de la date 9">
            <a:extLst>
              <a:ext uri="{FF2B5EF4-FFF2-40B4-BE49-F238E27FC236}">
                <a16:creationId xmlns:a16="http://schemas.microsoft.com/office/drawing/2014/main" id="{CB5EF085-9E71-E082-A736-CB60A2C55A7C}"/>
              </a:ext>
            </a:extLst>
          </p:cNvPr>
          <p:cNvSpPr>
            <a:spLocks noGrp="1"/>
          </p:cNvSpPr>
          <p:nvPr>
            <p:ph type="dt" idx="10"/>
          </p:nvPr>
        </p:nvSpPr>
        <p:spPr/>
        <p:txBody>
          <a:bodyPr/>
          <a:lstStyle/>
          <a:p>
            <a:r>
              <a:t>TITLE OF THE PRESENTATION</a:t>
            </a:r>
          </a:p>
        </p:txBody>
      </p:sp>
      <p:sp>
        <p:nvSpPr>
          <p:cNvPr id="11" name="Espace réservé du pied de page 10">
            <a:extLst>
              <a:ext uri="{FF2B5EF4-FFF2-40B4-BE49-F238E27FC236}">
                <a16:creationId xmlns:a16="http://schemas.microsoft.com/office/drawing/2014/main" id="{493E0B43-BBF0-959B-0E47-C44652B97CDB}"/>
              </a:ext>
            </a:extLst>
          </p:cNvPr>
          <p:cNvSpPr>
            <a:spLocks noGrp="1"/>
          </p:cNvSpPr>
          <p:nvPr>
            <p:ph type="ftr" idx="11"/>
          </p:nvPr>
        </p:nvSpPr>
        <p:spPr/>
        <p:txBody>
          <a:bodyPr/>
          <a:lstStyle/>
          <a:p>
            <a:r>
              <a:t>Speaker name</a:t>
            </a:r>
          </a:p>
        </p:txBody>
      </p:sp>
      <p:sp>
        <p:nvSpPr>
          <p:cNvPr id="12" name="Espace réservé du numéro de diapositive 11">
            <a:extLst>
              <a:ext uri="{FF2B5EF4-FFF2-40B4-BE49-F238E27FC236}">
                <a16:creationId xmlns:a16="http://schemas.microsoft.com/office/drawing/2014/main" id="{6B5919CB-557E-8300-3A6C-3D6D5AF5D348}"/>
              </a:ext>
            </a:extLst>
          </p:cNvPr>
          <p:cNvSpPr>
            <a:spLocks noGrp="1"/>
          </p:cNvSpPr>
          <p:nvPr>
            <p:ph type="sldNum" idx="12"/>
          </p:nvPr>
        </p:nvSpPr>
        <p:spPr/>
        <p:txBody>
          <a:bodyPr/>
          <a:lstStyle/>
          <a:p>
            <a:fld id="{E1E1CD7C-2161-7D43-862E-CE4C333CD873}"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itre et contenu">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9447BD-FDC5-4CF8-8A44-3671F46E6E74}"/>
              </a:ext>
            </a:extLst>
          </p:cNvPr>
          <p:cNvSpPr>
            <a:spLocks noGrp="1"/>
          </p:cNvSpPr>
          <p:nvPr>
            <p:ph idx="1"/>
          </p:nvPr>
        </p:nvSpPr>
        <p:spPr>
          <a:xfrm>
            <a:off x="4297129" y="2084388"/>
            <a:ext cx="6408737" cy="4440237"/>
          </a:xfrm>
        </p:spPr>
        <p:txBody>
          <a:bodyPr/>
          <a:lstStyle/>
          <a:p>
            <a:pPr lvl="0">
              <a:buNone/>
            </a:pPr>
            <a:r>
              <a:t>Cliquez pour modifier les styles du texte du masque</a:t>
            </a:r>
          </a:p>
        </p:txBody>
      </p:sp>
      <p:sp>
        <p:nvSpPr>
          <p:cNvPr id="2" name="Titre 1">
            <a:extLst>
              <a:ext uri="{FF2B5EF4-FFF2-40B4-BE49-F238E27FC236}">
                <a16:creationId xmlns:a16="http://schemas.microsoft.com/office/drawing/2014/main" id="{96942D0D-07B5-D98B-14DE-AA7EF42087E1}"/>
              </a:ext>
            </a:extLst>
          </p:cNvPr>
          <p:cNvSpPr>
            <a:spLocks noGrp="1"/>
          </p:cNvSpPr>
          <p:nvPr>
            <p:ph type="title"/>
          </p:nvPr>
        </p:nvSpPr>
        <p:spPr>
          <a:xfrm>
            <a:off x="526000" y="635473"/>
            <a:ext cx="4537075" cy="1448915"/>
          </a:xfrm>
        </p:spPr>
        <p:txBody>
          <a:bodyPr/>
          <a:lstStyle/>
          <a:p>
            <a:r>
              <a:t>Modifiez le style du titre</a:t>
            </a:r>
          </a:p>
        </p:txBody>
      </p:sp>
      <p:sp>
        <p:nvSpPr>
          <p:cNvPr id="8" name="Espace réservé pour une image  7">
            <a:extLst>
              <a:ext uri="{FF2B5EF4-FFF2-40B4-BE49-F238E27FC236}">
                <a16:creationId xmlns:a16="http://schemas.microsoft.com/office/drawing/2014/main" id="{22DD9F30-F80E-914F-1B20-A9EAB1B742FA}"/>
              </a:ext>
            </a:extLst>
          </p:cNvPr>
          <p:cNvSpPr>
            <a:spLocks noGrp="1"/>
          </p:cNvSpPr>
          <p:nvPr>
            <p:ph type="pic" idx="13"/>
          </p:nvPr>
        </p:nvSpPr>
        <p:spPr>
          <a:xfrm>
            <a:off x="0" y="2084388"/>
            <a:ext cx="4151313" cy="4773612"/>
          </a:xfrm>
        </p:spPr>
        <p:txBody>
          <a:bodyPr/>
          <a:lstStyle/>
          <a:p>
            <a:endParaRPr/>
          </a:p>
        </p:txBody>
      </p:sp>
      <p:sp>
        <p:nvSpPr>
          <p:cNvPr id="10" name="Espace réservé pour une image  9">
            <a:extLst>
              <a:ext uri="{FF2B5EF4-FFF2-40B4-BE49-F238E27FC236}">
                <a16:creationId xmlns:a16="http://schemas.microsoft.com/office/drawing/2014/main" id="{92E5A6A1-4AC1-0BB6-E626-24778B60F6F8}"/>
              </a:ext>
            </a:extLst>
          </p:cNvPr>
          <p:cNvSpPr>
            <a:spLocks noGrp="1"/>
          </p:cNvSpPr>
          <p:nvPr>
            <p:ph type="pic" idx="14"/>
          </p:nvPr>
        </p:nvSpPr>
        <p:spPr>
          <a:xfrm>
            <a:off x="10848975" y="2084388"/>
            <a:ext cx="1343025" cy="4773612"/>
          </a:xfrm>
        </p:spPr>
        <p:txBody>
          <a:bodyPr/>
          <a:lstStyle/>
          <a:p>
            <a:endParaRPr/>
          </a:p>
        </p:txBody>
      </p:sp>
      <p:sp>
        <p:nvSpPr>
          <p:cNvPr id="7" name="Espace réservé de la date 6">
            <a:extLst>
              <a:ext uri="{FF2B5EF4-FFF2-40B4-BE49-F238E27FC236}">
                <a16:creationId xmlns:a16="http://schemas.microsoft.com/office/drawing/2014/main" id="{0DD88601-F174-B07B-479E-B3197621D4C5}"/>
              </a:ext>
            </a:extLst>
          </p:cNvPr>
          <p:cNvSpPr>
            <a:spLocks noGrp="1"/>
          </p:cNvSpPr>
          <p:nvPr>
            <p:ph type="dt" idx="15"/>
          </p:nvPr>
        </p:nvSpPr>
        <p:spPr/>
        <p:txBody>
          <a:bodyPr/>
          <a:lstStyle/>
          <a:p>
            <a:r>
              <a:t>TITLE OF THE PRESENTATION</a:t>
            </a:r>
          </a:p>
        </p:txBody>
      </p:sp>
      <p:sp>
        <p:nvSpPr>
          <p:cNvPr id="9" name="Espace réservé du pied de page 8">
            <a:extLst>
              <a:ext uri="{FF2B5EF4-FFF2-40B4-BE49-F238E27FC236}">
                <a16:creationId xmlns:a16="http://schemas.microsoft.com/office/drawing/2014/main" id="{AE73F236-20ED-DFBB-7E76-598139248CE5}"/>
              </a:ext>
            </a:extLst>
          </p:cNvPr>
          <p:cNvSpPr>
            <a:spLocks noGrp="1"/>
          </p:cNvSpPr>
          <p:nvPr>
            <p:ph type="ftr" idx="16"/>
          </p:nvPr>
        </p:nvSpPr>
        <p:spPr/>
        <p:txBody>
          <a:bodyPr/>
          <a:lstStyle/>
          <a:p>
            <a:r>
              <a:t>Speaker name</a:t>
            </a:r>
          </a:p>
        </p:txBody>
      </p:sp>
      <p:sp>
        <p:nvSpPr>
          <p:cNvPr id="11" name="Espace réservé du numéro de diapositive 10">
            <a:extLst>
              <a:ext uri="{FF2B5EF4-FFF2-40B4-BE49-F238E27FC236}">
                <a16:creationId xmlns:a16="http://schemas.microsoft.com/office/drawing/2014/main" id="{21692F41-D3AF-8119-B301-B41665A8EA75}"/>
              </a:ext>
            </a:extLst>
          </p:cNvPr>
          <p:cNvSpPr>
            <a:spLocks noGrp="1"/>
          </p:cNvSpPr>
          <p:nvPr>
            <p:ph type="sldNum" idx="17"/>
          </p:nvPr>
        </p:nvSpPr>
        <p:spPr/>
        <p:txBody>
          <a:bodyPr/>
          <a:lstStyle/>
          <a:p>
            <a:fld id="{E1E1CD7C-2161-7D43-862E-CE4C333CD873}"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EA3445-F7D5-4A6B-8DD2-A43E0C64E8CD}"/>
              </a:ext>
            </a:extLst>
          </p:cNvPr>
          <p:cNvSpPr>
            <a:spLocks noGrp="1"/>
          </p:cNvSpPr>
          <p:nvPr>
            <p:ph idx="1"/>
          </p:nvPr>
        </p:nvSpPr>
        <p:spPr>
          <a:xfrm>
            <a:off x="550863" y="2084388"/>
            <a:ext cx="6408737" cy="4440237"/>
          </a:xfrm>
        </p:spPr>
        <p:txBody>
          <a:bodyPr/>
          <a:lstStyle/>
          <a:p>
            <a:pPr lvl="0">
              <a:buNone/>
            </a:pPr>
            <a:r>
              <a:t>Cliquez pour modifier les styles du texte du masque</a:t>
            </a:r>
          </a:p>
        </p:txBody>
      </p:sp>
      <p:sp>
        <p:nvSpPr>
          <p:cNvPr id="8" name="Espace réservé pour une image  7">
            <a:extLst>
              <a:ext uri="{FF2B5EF4-FFF2-40B4-BE49-F238E27FC236}">
                <a16:creationId xmlns:a16="http://schemas.microsoft.com/office/drawing/2014/main" id="{70ED9B2D-C513-AF40-B94F-355C174B8FF0}"/>
              </a:ext>
            </a:extLst>
          </p:cNvPr>
          <p:cNvSpPr>
            <a:spLocks noGrp="1"/>
          </p:cNvSpPr>
          <p:nvPr>
            <p:ph type="pic" idx="13"/>
          </p:nvPr>
        </p:nvSpPr>
        <p:spPr>
          <a:xfrm>
            <a:off x="7104063" y="0"/>
            <a:ext cx="5087937" cy="6858000"/>
          </a:xfrm>
        </p:spPr>
        <p:txBody>
          <a:bodyPr/>
          <a:lstStyle/>
          <a:p>
            <a:r>
              <a:t>Cliquez sur l'icône pour ajouter une image</a:t>
            </a:r>
          </a:p>
        </p:txBody>
      </p:sp>
      <p:sp>
        <p:nvSpPr>
          <p:cNvPr id="2" name="Titre 1">
            <a:extLst>
              <a:ext uri="{FF2B5EF4-FFF2-40B4-BE49-F238E27FC236}">
                <a16:creationId xmlns:a16="http://schemas.microsoft.com/office/drawing/2014/main" id="{4D8A24E7-AF51-FA4F-8358-EA974AE5EFA2}"/>
              </a:ext>
            </a:extLst>
          </p:cNvPr>
          <p:cNvSpPr>
            <a:spLocks noGrp="1"/>
          </p:cNvSpPr>
          <p:nvPr>
            <p:ph type="title"/>
          </p:nvPr>
        </p:nvSpPr>
        <p:spPr>
          <a:xfrm>
            <a:off x="526000" y="635473"/>
            <a:ext cx="4537075" cy="1448915"/>
          </a:xfrm>
        </p:spPr>
        <p:txBody>
          <a:bodyPr/>
          <a:lstStyle/>
          <a:p>
            <a:r>
              <a:t>Modifiez le style du titre</a:t>
            </a:r>
          </a:p>
        </p:txBody>
      </p:sp>
      <p:sp>
        <p:nvSpPr>
          <p:cNvPr id="4" name="Espace réservé de la date 3">
            <a:extLst>
              <a:ext uri="{FF2B5EF4-FFF2-40B4-BE49-F238E27FC236}">
                <a16:creationId xmlns:a16="http://schemas.microsoft.com/office/drawing/2014/main" id="{84763FA0-46A9-01D7-F5D6-1197E4701359}"/>
              </a:ext>
            </a:extLst>
          </p:cNvPr>
          <p:cNvSpPr>
            <a:spLocks noGrp="1"/>
          </p:cNvSpPr>
          <p:nvPr>
            <p:ph type="dt" idx="14"/>
          </p:nvPr>
        </p:nvSpPr>
        <p:spPr/>
        <p:txBody>
          <a:bodyPr/>
          <a:lstStyle/>
          <a:p>
            <a:r>
              <a:t>TITLE OF THE PRESENTATION</a:t>
            </a:r>
          </a:p>
        </p:txBody>
      </p:sp>
      <p:sp>
        <p:nvSpPr>
          <p:cNvPr id="5" name="Espace réservé du pied de page 4">
            <a:extLst>
              <a:ext uri="{FF2B5EF4-FFF2-40B4-BE49-F238E27FC236}">
                <a16:creationId xmlns:a16="http://schemas.microsoft.com/office/drawing/2014/main" id="{B8760BCC-F795-2BE7-ECC8-4DB38C0EAE3E}"/>
              </a:ext>
            </a:extLst>
          </p:cNvPr>
          <p:cNvSpPr>
            <a:spLocks noGrp="1"/>
          </p:cNvSpPr>
          <p:nvPr>
            <p:ph type="ftr" idx="15"/>
          </p:nvPr>
        </p:nvSpPr>
        <p:spPr/>
        <p:txBody>
          <a:bodyPr/>
          <a:lstStyle/>
          <a:p>
            <a:r>
              <a:t>Speaker name</a:t>
            </a:r>
          </a:p>
        </p:txBody>
      </p:sp>
      <p:sp>
        <p:nvSpPr>
          <p:cNvPr id="7" name="Espace réservé du numéro de diapositive 6">
            <a:extLst>
              <a:ext uri="{FF2B5EF4-FFF2-40B4-BE49-F238E27FC236}">
                <a16:creationId xmlns:a16="http://schemas.microsoft.com/office/drawing/2014/main" id="{ADC7E246-39A8-E26D-0412-8CFF7226435C}"/>
              </a:ext>
            </a:extLst>
          </p:cNvPr>
          <p:cNvSpPr>
            <a:spLocks noGrp="1"/>
          </p:cNvSpPr>
          <p:nvPr>
            <p:ph type="sldNum" idx="16"/>
          </p:nvPr>
        </p:nvSpPr>
        <p:spPr/>
        <p:txBody>
          <a:bodyPr/>
          <a:lstStyle/>
          <a:p>
            <a:fld id="{E1E1CD7C-2161-7D43-862E-CE4C333CD873}"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8" name="Espace réservé pour une image  7">
            <a:extLst>
              <a:ext uri="{FF2B5EF4-FFF2-40B4-BE49-F238E27FC236}">
                <a16:creationId xmlns:a16="http://schemas.microsoft.com/office/drawing/2014/main" id="{70ED9B2D-C513-AF40-B94F-355C174B8FF0}"/>
              </a:ext>
            </a:extLst>
          </p:cNvPr>
          <p:cNvSpPr>
            <a:spLocks noGrp="1"/>
          </p:cNvSpPr>
          <p:nvPr>
            <p:ph type="pic" idx="13"/>
          </p:nvPr>
        </p:nvSpPr>
        <p:spPr>
          <a:xfrm>
            <a:off x="0" y="2084388"/>
            <a:ext cx="5087937" cy="4773612"/>
          </a:xfrm>
        </p:spPr>
        <p:txBody>
          <a:bodyPr/>
          <a:lstStyle/>
          <a:p>
            <a:r>
              <a:t>Cliquez sur l'icône pour ajouter une image</a:t>
            </a:r>
          </a:p>
        </p:txBody>
      </p:sp>
      <p:sp>
        <p:nvSpPr>
          <p:cNvPr id="3" name="Content Placeholder 2">
            <a:extLst>
              <a:ext uri="{FF2B5EF4-FFF2-40B4-BE49-F238E27FC236}">
                <a16:creationId xmlns:a16="http://schemas.microsoft.com/office/drawing/2014/main" id="{E236D46A-6F86-42FE-B159-96ADF4530EBC}"/>
              </a:ext>
            </a:extLst>
          </p:cNvPr>
          <p:cNvSpPr>
            <a:spLocks noGrp="1"/>
          </p:cNvSpPr>
          <p:nvPr>
            <p:ph idx="1"/>
          </p:nvPr>
        </p:nvSpPr>
        <p:spPr>
          <a:xfrm>
            <a:off x="5232400" y="2084388"/>
            <a:ext cx="6408738" cy="4431657"/>
          </a:xfrm>
        </p:spPr>
        <p:txBody>
          <a:bodyPr/>
          <a:lstStyle/>
          <a:p>
            <a:pPr lvl="0">
              <a:buNone/>
            </a:pPr>
            <a:r>
              <a:t>Cliquez pour modifier les styles du texte du masque</a:t>
            </a:r>
          </a:p>
        </p:txBody>
      </p:sp>
      <p:sp>
        <p:nvSpPr>
          <p:cNvPr id="2" name="Titre 1">
            <a:extLst>
              <a:ext uri="{FF2B5EF4-FFF2-40B4-BE49-F238E27FC236}">
                <a16:creationId xmlns:a16="http://schemas.microsoft.com/office/drawing/2014/main" id="{89E3D8B0-A2A8-4DC8-5F62-A0CC5D8875E4}"/>
              </a:ext>
            </a:extLst>
          </p:cNvPr>
          <p:cNvSpPr>
            <a:spLocks noGrp="1"/>
          </p:cNvSpPr>
          <p:nvPr>
            <p:ph type="title"/>
          </p:nvPr>
        </p:nvSpPr>
        <p:spPr/>
        <p:txBody>
          <a:bodyPr/>
          <a:lstStyle/>
          <a:p>
            <a:r>
              <a:t>Modifiez le style du titre</a:t>
            </a:r>
          </a:p>
        </p:txBody>
      </p:sp>
      <p:sp>
        <p:nvSpPr>
          <p:cNvPr id="7" name="Espace réservé de la date 6">
            <a:extLst>
              <a:ext uri="{FF2B5EF4-FFF2-40B4-BE49-F238E27FC236}">
                <a16:creationId xmlns:a16="http://schemas.microsoft.com/office/drawing/2014/main" id="{2102ECE5-BB68-95FD-C1E5-7E85CF75A9C2}"/>
              </a:ext>
            </a:extLst>
          </p:cNvPr>
          <p:cNvSpPr>
            <a:spLocks noGrp="1"/>
          </p:cNvSpPr>
          <p:nvPr>
            <p:ph type="dt" idx="14"/>
          </p:nvPr>
        </p:nvSpPr>
        <p:spPr/>
        <p:txBody>
          <a:bodyPr/>
          <a:lstStyle/>
          <a:p>
            <a:r>
              <a:t>TITLE OF THE PRESENTATION</a:t>
            </a:r>
          </a:p>
        </p:txBody>
      </p:sp>
      <p:sp>
        <p:nvSpPr>
          <p:cNvPr id="9" name="Espace réservé du pied de page 8">
            <a:extLst>
              <a:ext uri="{FF2B5EF4-FFF2-40B4-BE49-F238E27FC236}">
                <a16:creationId xmlns:a16="http://schemas.microsoft.com/office/drawing/2014/main" id="{3B38248C-C5F6-85A2-58EC-57A9882FCF67}"/>
              </a:ext>
            </a:extLst>
          </p:cNvPr>
          <p:cNvSpPr>
            <a:spLocks noGrp="1"/>
          </p:cNvSpPr>
          <p:nvPr>
            <p:ph type="ftr" idx="15"/>
          </p:nvPr>
        </p:nvSpPr>
        <p:spPr/>
        <p:txBody>
          <a:bodyPr/>
          <a:lstStyle/>
          <a:p>
            <a:r>
              <a:t>Speaker name</a:t>
            </a:r>
          </a:p>
        </p:txBody>
      </p:sp>
      <p:sp>
        <p:nvSpPr>
          <p:cNvPr id="10" name="Espace réservé du numéro de diapositive 9">
            <a:extLst>
              <a:ext uri="{FF2B5EF4-FFF2-40B4-BE49-F238E27FC236}">
                <a16:creationId xmlns:a16="http://schemas.microsoft.com/office/drawing/2014/main" id="{9743A807-A5BB-357C-504A-BD41B46C67AC}"/>
              </a:ext>
            </a:extLst>
          </p:cNvPr>
          <p:cNvSpPr>
            <a:spLocks noGrp="1"/>
          </p:cNvSpPr>
          <p:nvPr>
            <p:ph type="sldNum" idx="16"/>
          </p:nvPr>
        </p:nvSpPr>
        <p:spPr/>
        <p:txBody>
          <a:bodyPr/>
          <a:lstStyle/>
          <a:p>
            <a:fld id="{E1E1CD7C-2161-7D43-862E-CE4C333CD873}"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re et contenu">
    <p:spTree>
      <p:nvGrpSpPr>
        <p:cNvPr id="1" name=""/>
        <p:cNvGrpSpPr/>
        <p:nvPr/>
      </p:nvGrpSpPr>
      <p:grpSpPr>
        <a:xfrm>
          <a:off x="0" y="0"/>
          <a:ext cx="0" cy="0"/>
          <a:chOff x="0" y="0"/>
          <a:chExt cx="0" cy="0"/>
        </a:xfrm>
      </p:grpSpPr>
      <p:sp>
        <p:nvSpPr>
          <p:cNvPr id="20" name="Espace réservé pour une image  19">
            <a:extLst>
              <a:ext uri="{FF2B5EF4-FFF2-40B4-BE49-F238E27FC236}">
                <a16:creationId xmlns:a16="http://schemas.microsoft.com/office/drawing/2014/main" id="{681A201C-93EA-FC5A-555B-4F3F182CE899}"/>
              </a:ext>
            </a:extLst>
          </p:cNvPr>
          <p:cNvSpPr>
            <a:spLocks noGrp="1"/>
          </p:cNvSpPr>
          <p:nvPr>
            <p:ph type="pic" idx="13"/>
          </p:nvPr>
        </p:nvSpPr>
        <p:spPr>
          <a:xfrm>
            <a:off x="1" y="0"/>
            <a:ext cx="5087938" cy="6858000"/>
          </a:xfrm>
          <a:custGeom>
            <a:avLst/>
            <a:gdLst>
              <a:gd name="connsiteX0" fmla="*/ 555662 w 5087938"/>
              <a:gd name="connsiteY0" fmla="*/ 449275 h 6858000"/>
              <a:gd name="connsiteX1" fmla="*/ 555662 w 5087938"/>
              <a:gd name="connsiteY1" fmla="*/ 527238 h 6858000"/>
              <a:gd name="connsiteX2" fmla="*/ 693879 w 5087938"/>
              <a:gd name="connsiteY2" fmla="*/ 527238 h 6858000"/>
              <a:gd name="connsiteX3" fmla="*/ 693879 w 5087938"/>
              <a:gd name="connsiteY3" fmla="*/ 491866 h 6858000"/>
              <a:gd name="connsiteX4" fmla="*/ 596872 w 5087938"/>
              <a:gd name="connsiteY4" fmla="*/ 491866 h 6858000"/>
              <a:gd name="connsiteX5" fmla="*/ 596872 w 5087938"/>
              <a:gd name="connsiteY5" fmla="*/ 449275 h 6858000"/>
              <a:gd name="connsiteX6" fmla="*/ 948083 w 5087938"/>
              <a:gd name="connsiteY6" fmla="*/ 413918 h 6858000"/>
              <a:gd name="connsiteX7" fmla="*/ 948083 w 5087938"/>
              <a:gd name="connsiteY7" fmla="*/ 449275 h 6858000"/>
              <a:gd name="connsiteX8" fmla="*/ 906873 w 5087938"/>
              <a:gd name="connsiteY8" fmla="*/ 449275 h 6858000"/>
              <a:gd name="connsiteX9" fmla="*/ 906873 w 5087938"/>
              <a:gd name="connsiteY9" fmla="*/ 527224 h 6858000"/>
              <a:gd name="connsiteX10" fmla="*/ 948083 w 5087938"/>
              <a:gd name="connsiteY10" fmla="*/ 527224 h 6858000"/>
              <a:gd name="connsiteX11" fmla="*/ 948083 w 5087938"/>
              <a:gd name="connsiteY11" fmla="*/ 449276 h 6858000"/>
              <a:gd name="connsiteX12" fmla="*/ 1036799 w 5087938"/>
              <a:gd name="connsiteY12" fmla="*/ 449276 h 6858000"/>
              <a:gd name="connsiteX13" fmla="*/ 1036799 w 5087938"/>
              <a:gd name="connsiteY13" fmla="*/ 413918 h 6858000"/>
              <a:gd name="connsiteX14" fmla="*/ 596873 w 5087938"/>
              <a:gd name="connsiteY14" fmla="*/ 413918 h 6858000"/>
              <a:gd name="connsiteX15" fmla="*/ 596873 w 5087938"/>
              <a:gd name="connsiteY15" fmla="*/ 449276 h 6858000"/>
              <a:gd name="connsiteX16" fmla="*/ 685589 w 5087938"/>
              <a:gd name="connsiteY16" fmla="*/ 449276 h 6858000"/>
              <a:gd name="connsiteX17" fmla="*/ 685589 w 5087938"/>
              <a:gd name="connsiteY17" fmla="*/ 413918 h 6858000"/>
              <a:gd name="connsiteX18" fmla="*/ 770422 w 5087938"/>
              <a:gd name="connsiteY18" fmla="*/ 371326 h 6858000"/>
              <a:gd name="connsiteX19" fmla="*/ 803072 w 5087938"/>
              <a:gd name="connsiteY19" fmla="*/ 371326 h 6858000"/>
              <a:gd name="connsiteX20" fmla="*/ 816984 w 5087938"/>
              <a:gd name="connsiteY20" fmla="*/ 372123 h 6858000"/>
              <a:gd name="connsiteX21" fmla="*/ 828752 w 5087938"/>
              <a:gd name="connsiteY21" fmla="*/ 375213 h 6858000"/>
              <a:gd name="connsiteX22" fmla="*/ 836908 w 5087938"/>
              <a:gd name="connsiteY22" fmla="*/ 381677 h 6858000"/>
              <a:gd name="connsiteX23" fmla="*/ 839982 w 5087938"/>
              <a:gd name="connsiteY23" fmla="*/ 392622 h 6858000"/>
              <a:gd name="connsiteX24" fmla="*/ 836908 w 5087938"/>
              <a:gd name="connsiteY24" fmla="*/ 403567 h 6858000"/>
              <a:gd name="connsiteX25" fmla="*/ 828752 w 5087938"/>
              <a:gd name="connsiteY25" fmla="*/ 410031 h 6858000"/>
              <a:gd name="connsiteX26" fmla="*/ 816984 w 5087938"/>
              <a:gd name="connsiteY26" fmla="*/ 413122 h 6858000"/>
              <a:gd name="connsiteX27" fmla="*/ 803072 w 5087938"/>
              <a:gd name="connsiteY27" fmla="*/ 413918 h 6858000"/>
              <a:gd name="connsiteX28" fmla="*/ 770422 w 5087938"/>
              <a:gd name="connsiteY28" fmla="*/ 413918 h 6858000"/>
              <a:gd name="connsiteX29" fmla="*/ 1074936 w 5087938"/>
              <a:gd name="connsiteY29" fmla="*/ 335968 h 6858000"/>
              <a:gd name="connsiteX30" fmla="*/ 1074936 w 5087938"/>
              <a:gd name="connsiteY30" fmla="*/ 527238 h 6858000"/>
              <a:gd name="connsiteX31" fmla="*/ 1213139 w 5087938"/>
              <a:gd name="connsiteY31" fmla="*/ 527238 h 6858000"/>
              <a:gd name="connsiteX32" fmla="*/ 1213139 w 5087938"/>
              <a:gd name="connsiteY32" fmla="*/ 491867 h 6858000"/>
              <a:gd name="connsiteX33" fmla="*/ 1116133 w 5087938"/>
              <a:gd name="connsiteY33" fmla="*/ 491867 h 6858000"/>
              <a:gd name="connsiteX34" fmla="*/ 1116133 w 5087938"/>
              <a:gd name="connsiteY34" fmla="*/ 335968 h 6858000"/>
              <a:gd name="connsiteX35" fmla="*/ 906873 w 5087938"/>
              <a:gd name="connsiteY35" fmla="*/ 335968 h 6858000"/>
              <a:gd name="connsiteX36" fmla="*/ 906873 w 5087938"/>
              <a:gd name="connsiteY36" fmla="*/ 413917 h 6858000"/>
              <a:gd name="connsiteX37" fmla="*/ 948083 w 5087938"/>
              <a:gd name="connsiteY37" fmla="*/ 413917 h 6858000"/>
              <a:gd name="connsiteX38" fmla="*/ 948083 w 5087938"/>
              <a:gd name="connsiteY38" fmla="*/ 371326 h 6858000"/>
              <a:gd name="connsiteX39" fmla="*/ 1045090 w 5087938"/>
              <a:gd name="connsiteY39" fmla="*/ 371326 h 6858000"/>
              <a:gd name="connsiteX40" fmla="*/ 1045090 w 5087938"/>
              <a:gd name="connsiteY40" fmla="*/ 335968 h 6858000"/>
              <a:gd name="connsiteX41" fmla="*/ 555662 w 5087938"/>
              <a:gd name="connsiteY41" fmla="*/ 335968 h 6858000"/>
              <a:gd name="connsiteX42" fmla="*/ 555662 w 5087938"/>
              <a:gd name="connsiteY42" fmla="*/ 413917 h 6858000"/>
              <a:gd name="connsiteX43" fmla="*/ 596872 w 5087938"/>
              <a:gd name="connsiteY43" fmla="*/ 413917 h 6858000"/>
              <a:gd name="connsiteX44" fmla="*/ 596872 w 5087938"/>
              <a:gd name="connsiteY44" fmla="*/ 371326 h 6858000"/>
              <a:gd name="connsiteX45" fmla="*/ 693879 w 5087938"/>
              <a:gd name="connsiteY45" fmla="*/ 371326 h 6858000"/>
              <a:gd name="connsiteX46" fmla="*/ 693879 w 5087938"/>
              <a:gd name="connsiteY46" fmla="*/ 335968 h 6858000"/>
              <a:gd name="connsiteX47" fmla="*/ 729198 w 5087938"/>
              <a:gd name="connsiteY47" fmla="*/ 335955 h 6858000"/>
              <a:gd name="connsiteX48" fmla="*/ 729198 w 5087938"/>
              <a:gd name="connsiteY48" fmla="*/ 527225 h 6858000"/>
              <a:gd name="connsiteX49" fmla="*/ 770408 w 5087938"/>
              <a:gd name="connsiteY49" fmla="*/ 527225 h 6858000"/>
              <a:gd name="connsiteX50" fmla="*/ 770408 w 5087938"/>
              <a:gd name="connsiteY50" fmla="*/ 449262 h 6858000"/>
              <a:gd name="connsiteX51" fmla="*/ 814557 w 5087938"/>
              <a:gd name="connsiteY51" fmla="*/ 449262 h 6858000"/>
              <a:gd name="connsiteX52" fmla="*/ 845064 w 5087938"/>
              <a:gd name="connsiteY52" fmla="*/ 444444 h 6858000"/>
              <a:gd name="connsiteX53" fmla="*/ 865541 w 5087938"/>
              <a:gd name="connsiteY53" fmla="*/ 431705 h 6858000"/>
              <a:gd name="connsiteX54" fmla="*/ 877053 w 5087938"/>
              <a:gd name="connsiteY54" fmla="*/ 413526 h 6858000"/>
              <a:gd name="connsiteX55" fmla="*/ 880666 w 5087938"/>
              <a:gd name="connsiteY55" fmla="*/ 392622 h 6858000"/>
              <a:gd name="connsiteX56" fmla="*/ 877053 w 5087938"/>
              <a:gd name="connsiteY56" fmla="*/ 371596 h 6858000"/>
              <a:gd name="connsiteX57" fmla="*/ 865541 w 5087938"/>
              <a:gd name="connsiteY57" fmla="*/ 353539 h 6858000"/>
              <a:gd name="connsiteX58" fmla="*/ 865541 w 5087938"/>
              <a:gd name="connsiteY58" fmla="*/ 353526 h 6858000"/>
              <a:gd name="connsiteX59" fmla="*/ 845064 w 5087938"/>
              <a:gd name="connsiteY59" fmla="*/ 340786 h 6858000"/>
              <a:gd name="connsiteX60" fmla="*/ 814557 w 5087938"/>
              <a:gd name="connsiteY60" fmla="*/ 335955 h 6858000"/>
              <a:gd name="connsiteX61" fmla="*/ 0 w 5087938"/>
              <a:gd name="connsiteY61" fmla="*/ 0 h 6858000"/>
              <a:gd name="connsiteX62" fmla="*/ 5087938 w 5087938"/>
              <a:gd name="connsiteY62" fmla="*/ 0 h 6858000"/>
              <a:gd name="connsiteX63" fmla="*/ 5087938 w 5087938"/>
              <a:gd name="connsiteY63" fmla="*/ 6858000 h 6858000"/>
              <a:gd name="connsiteX64" fmla="*/ 0 w 5087938"/>
              <a:gd name="connsiteY64" fmla="*/ 6858000 h 6858000"/>
            </a:gdLst>
            <a:ahLst/>
            <a:cxnLst/>
            <a:rect l="l" t="t" r="r" b="b"/>
            <a:pathLst>
              <a:path w="5087938" h="6858000">
                <a:moveTo>
                  <a:pt x="555662" y="449275"/>
                </a:moveTo>
                <a:lnTo>
                  <a:pt x="555662" y="527238"/>
                </a:lnTo>
                <a:lnTo>
                  <a:pt x="693879" y="527238"/>
                </a:lnTo>
                <a:lnTo>
                  <a:pt x="693879" y="491866"/>
                </a:lnTo>
                <a:lnTo>
                  <a:pt x="596872" y="491866"/>
                </a:lnTo>
                <a:lnTo>
                  <a:pt x="596872" y="449275"/>
                </a:lnTo>
                <a:close/>
                <a:moveTo>
                  <a:pt x="948083" y="413918"/>
                </a:moveTo>
                <a:lnTo>
                  <a:pt x="948083" y="449275"/>
                </a:lnTo>
                <a:lnTo>
                  <a:pt x="906873" y="449275"/>
                </a:lnTo>
                <a:lnTo>
                  <a:pt x="906873" y="527224"/>
                </a:lnTo>
                <a:lnTo>
                  <a:pt x="948083" y="527224"/>
                </a:lnTo>
                <a:lnTo>
                  <a:pt x="948083" y="449276"/>
                </a:lnTo>
                <a:lnTo>
                  <a:pt x="1036799" y="449276"/>
                </a:lnTo>
                <a:lnTo>
                  <a:pt x="1036799" y="413918"/>
                </a:lnTo>
                <a:close/>
                <a:moveTo>
                  <a:pt x="596873" y="413918"/>
                </a:moveTo>
                <a:lnTo>
                  <a:pt x="596873" y="449276"/>
                </a:lnTo>
                <a:lnTo>
                  <a:pt x="685589" y="449276"/>
                </a:lnTo>
                <a:lnTo>
                  <a:pt x="685589" y="413918"/>
                </a:lnTo>
                <a:close/>
                <a:moveTo>
                  <a:pt x="770422" y="371326"/>
                </a:moveTo>
                <a:lnTo>
                  <a:pt x="803072" y="371326"/>
                </a:lnTo>
                <a:cubicBezTo>
                  <a:pt x="807884" y="371326"/>
                  <a:pt x="812522" y="371596"/>
                  <a:pt x="816984" y="372123"/>
                </a:cubicBezTo>
                <a:cubicBezTo>
                  <a:pt x="821446" y="372649"/>
                  <a:pt x="825369" y="373688"/>
                  <a:pt x="828752" y="375213"/>
                </a:cubicBezTo>
                <a:cubicBezTo>
                  <a:pt x="832136" y="376738"/>
                  <a:pt x="834859" y="378897"/>
                  <a:pt x="836908" y="381677"/>
                </a:cubicBezTo>
                <a:cubicBezTo>
                  <a:pt x="838957" y="384457"/>
                  <a:pt x="839982" y="388115"/>
                  <a:pt x="839982" y="392622"/>
                </a:cubicBezTo>
                <a:cubicBezTo>
                  <a:pt x="839982" y="397130"/>
                  <a:pt x="838957" y="400787"/>
                  <a:pt x="836908" y="403567"/>
                </a:cubicBezTo>
                <a:cubicBezTo>
                  <a:pt x="834859" y="406347"/>
                  <a:pt x="832136" y="408506"/>
                  <a:pt x="828752" y="410031"/>
                </a:cubicBezTo>
                <a:cubicBezTo>
                  <a:pt x="825355" y="411556"/>
                  <a:pt x="821432" y="412582"/>
                  <a:pt x="816984" y="413122"/>
                </a:cubicBezTo>
                <a:cubicBezTo>
                  <a:pt x="812522" y="413648"/>
                  <a:pt x="807884" y="413918"/>
                  <a:pt x="803072" y="413918"/>
                </a:cubicBezTo>
                <a:lnTo>
                  <a:pt x="770422" y="413918"/>
                </a:lnTo>
                <a:close/>
                <a:moveTo>
                  <a:pt x="1074936" y="335968"/>
                </a:moveTo>
                <a:lnTo>
                  <a:pt x="1074936" y="527238"/>
                </a:lnTo>
                <a:lnTo>
                  <a:pt x="1213139" y="527238"/>
                </a:lnTo>
                <a:lnTo>
                  <a:pt x="1213139" y="491867"/>
                </a:lnTo>
                <a:lnTo>
                  <a:pt x="1116133" y="491867"/>
                </a:lnTo>
                <a:lnTo>
                  <a:pt x="1116133" y="335968"/>
                </a:lnTo>
                <a:close/>
                <a:moveTo>
                  <a:pt x="906873" y="335968"/>
                </a:moveTo>
                <a:lnTo>
                  <a:pt x="906873" y="413917"/>
                </a:lnTo>
                <a:lnTo>
                  <a:pt x="948083" y="413917"/>
                </a:lnTo>
                <a:lnTo>
                  <a:pt x="948083" y="371326"/>
                </a:lnTo>
                <a:lnTo>
                  <a:pt x="1045090" y="371326"/>
                </a:lnTo>
                <a:lnTo>
                  <a:pt x="1045090" y="335968"/>
                </a:lnTo>
                <a:close/>
                <a:moveTo>
                  <a:pt x="555662" y="335968"/>
                </a:moveTo>
                <a:lnTo>
                  <a:pt x="555662" y="413917"/>
                </a:lnTo>
                <a:lnTo>
                  <a:pt x="596872" y="413917"/>
                </a:lnTo>
                <a:lnTo>
                  <a:pt x="596872" y="371326"/>
                </a:lnTo>
                <a:lnTo>
                  <a:pt x="693879" y="371326"/>
                </a:lnTo>
                <a:lnTo>
                  <a:pt x="693879" y="335968"/>
                </a:lnTo>
                <a:close/>
                <a:moveTo>
                  <a:pt x="729198" y="335955"/>
                </a:moveTo>
                <a:lnTo>
                  <a:pt x="729198" y="527225"/>
                </a:lnTo>
                <a:lnTo>
                  <a:pt x="770408" y="527225"/>
                </a:lnTo>
                <a:lnTo>
                  <a:pt x="770408" y="449262"/>
                </a:lnTo>
                <a:lnTo>
                  <a:pt x="814557" y="449262"/>
                </a:lnTo>
                <a:cubicBezTo>
                  <a:pt x="826501" y="449262"/>
                  <a:pt x="836679" y="447656"/>
                  <a:pt x="845064" y="444444"/>
                </a:cubicBezTo>
                <a:cubicBezTo>
                  <a:pt x="853449" y="441232"/>
                  <a:pt x="860270" y="436981"/>
                  <a:pt x="865541" y="431705"/>
                </a:cubicBezTo>
                <a:cubicBezTo>
                  <a:pt x="870798" y="426428"/>
                  <a:pt x="874640" y="420369"/>
                  <a:pt x="877053" y="413526"/>
                </a:cubicBezTo>
                <a:cubicBezTo>
                  <a:pt x="879466" y="406684"/>
                  <a:pt x="880666" y="399721"/>
                  <a:pt x="880666" y="392622"/>
                </a:cubicBezTo>
                <a:cubicBezTo>
                  <a:pt x="880666" y="385524"/>
                  <a:pt x="879466" y="378357"/>
                  <a:pt x="877053" y="371596"/>
                </a:cubicBezTo>
                <a:cubicBezTo>
                  <a:pt x="874640" y="364835"/>
                  <a:pt x="870812" y="358816"/>
                  <a:pt x="865541" y="353539"/>
                </a:cubicBezTo>
                <a:lnTo>
                  <a:pt x="865541" y="353526"/>
                </a:lnTo>
                <a:cubicBezTo>
                  <a:pt x="860270" y="348249"/>
                  <a:pt x="853449" y="343998"/>
                  <a:pt x="845064" y="340786"/>
                </a:cubicBezTo>
                <a:cubicBezTo>
                  <a:pt x="836679" y="337574"/>
                  <a:pt x="826501" y="335955"/>
                  <a:pt x="814557" y="335955"/>
                </a:cubicBezTo>
                <a:close/>
                <a:moveTo>
                  <a:pt x="0" y="0"/>
                </a:moveTo>
                <a:lnTo>
                  <a:pt x="5087938" y="0"/>
                </a:lnTo>
                <a:lnTo>
                  <a:pt x="5087938" y="6858000"/>
                </a:lnTo>
                <a:lnTo>
                  <a:pt x="0" y="6858000"/>
                </a:lnTo>
                <a:close/>
              </a:path>
            </a:pathLst>
          </a:custGeom>
        </p:spPr>
        <p:txBody>
          <a:bodyPr wrap="square">
            <a:noAutofit/>
          </a:bodyPr>
          <a:lstStyle/>
          <a:p>
            <a:r>
              <a:t>Cliquez sur l'icône pour ajouter une image</a:t>
            </a:r>
          </a:p>
        </p:txBody>
      </p:sp>
      <p:sp>
        <p:nvSpPr>
          <p:cNvPr id="3" name="Content Placeholder 2">
            <a:extLst>
              <a:ext uri="{FF2B5EF4-FFF2-40B4-BE49-F238E27FC236}">
                <a16:creationId xmlns:a16="http://schemas.microsoft.com/office/drawing/2014/main" id="{12F8F0F6-0986-41CC-AC43-BE7A2BD8EC6B}"/>
              </a:ext>
            </a:extLst>
          </p:cNvPr>
          <p:cNvSpPr>
            <a:spLocks noGrp="1"/>
          </p:cNvSpPr>
          <p:nvPr>
            <p:ph idx="1"/>
          </p:nvPr>
        </p:nvSpPr>
        <p:spPr>
          <a:xfrm>
            <a:off x="5232400" y="3122613"/>
            <a:ext cx="6423768" cy="3402012"/>
          </a:xfrm>
        </p:spPr>
        <p:txBody>
          <a:bodyPr/>
          <a:lstStyle/>
          <a:p>
            <a:pPr lvl="0">
              <a:buNone/>
            </a:pPr>
            <a:r>
              <a:t>Cliquez pour modifier les styles du texte du masque</a:t>
            </a:r>
          </a:p>
        </p:txBody>
      </p:sp>
      <p:sp>
        <p:nvSpPr>
          <p:cNvPr id="2" name="Titre 1">
            <a:extLst>
              <a:ext uri="{FF2B5EF4-FFF2-40B4-BE49-F238E27FC236}">
                <a16:creationId xmlns:a16="http://schemas.microsoft.com/office/drawing/2014/main" id="{0172B795-3D3B-CF04-8F9C-98724619782B}"/>
              </a:ext>
            </a:extLst>
          </p:cNvPr>
          <p:cNvSpPr>
            <a:spLocks noGrp="1"/>
          </p:cNvSpPr>
          <p:nvPr>
            <p:ph type="title"/>
          </p:nvPr>
        </p:nvSpPr>
        <p:spPr>
          <a:xfrm>
            <a:off x="5232400" y="635264"/>
            <a:ext cx="4514939" cy="2106613"/>
          </a:xfrm>
        </p:spPr>
        <p:txBody>
          <a:bodyPr/>
          <a:lstStyle/>
          <a:p>
            <a:r>
              <a:t>Modifiez le style du titre</a:t>
            </a:r>
          </a:p>
        </p:txBody>
      </p:sp>
      <p:sp>
        <p:nvSpPr>
          <p:cNvPr id="4" name="Espace réservé de la date 3">
            <a:extLst>
              <a:ext uri="{FF2B5EF4-FFF2-40B4-BE49-F238E27FC236}">
                <a16:creationId xmlns:a16="http://schemas.microsoft.com/office/drawing/2014/main" id="{C7B7D5B9-A0FB-66F6-6235-067EFD19769C}"/>
              </a:ext>
            </a:extLst>
          </p:cNvPr>
          <p:cNvSpPr>
            <a:spLocks noGrp="1"/>
          </p:cNvSpPr>
          <p:nvPr>
            <p:ph type="dt" idx="14"/>
          </p:nvPr>
        </p:nvSpPr>
        <p:spPr/>
        <p:txBody>
          <a:bodyPr/>
          <a:lstStyle/>
          <a:p>
            <a:r>
              <a:t>TITLE OF THE PRESENTATION</a:t>
            </a:r>
          </a:p>
        </p:txBody>
      </p:sp>
      <p:sp>
        <p:nvSpPr>
          <p:cNvPr id="5" name="Espace réservé du pied de page 4">
            <a:extLst>
              <a:ext uri="{FF2B5EF4-FFF2-40B4-BE49-F238E27FC236}">
                <a16:creationId xmlns:a16="http://schemas.microsoft.com/office/drawing/2014/main" id="{B44FF79E-463D-E0D5-E51F-74864AFBF591}"/>
              </a:ext>
            </a:extLst>
          </p:cNvPr>
          <p:cNvSpPr>
            <a:spLocks noGrp="1"/>
          </p:cNvSpPr>
          <p:nvPr>
            <p:ph type="ftr" idx="15"/>
          </p:nvPr>
        </p:nvSpPr>
        <p:spPr/>
        <p:txBody>
          <a:bodyPr/>
          <a:lstStyle/>
          <a:p>
            <a:r>
              <a:t>Speaker name</a:t>
            </a:r>
          </a:p>
        </p:txBody>
      </p:sp>
      <p:sp>
        <p:nvSpPr>
          <p:cNvPr id="6" name="Espace réservé du numéro de diapositive 5">
            <a:extLst>
              <a:ext uri="{FF2B5EF4-FFF2-40B4-BE49-F238E27FC236}">
                <a16:creationId xmlns:a16="http://schemas.microsoft.com/office/drawing/2014/main" id="{762546CC-8E0E-6399-FA48-C7DD92265EFF}"/>
              </a:ext>
            </a:extLst>
          </p:cNvPr>
          <p:cNvSpPr>
            <a:spLocks noGrp="1"/>
          </p:cNvSpPr>
          <p:nvPr>
            <p:ph type="sldNum" idx="16"/>
          </p:nvPr>
        </p:nvSpPr>
        <p:spPr/>
        <p:txBody>
          <a:bodyPr/>
          <a:lstStyle/>
          <a:p>
            <a:fld id="{E1E1CD7C-2161-7D43-862E-CE4C333CD873}"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9C7465-5CDF-41A8-B15A-8646895F809D}"/>
              </a:ext>
            </a:extLst>
          </p:cNvPr>
          <p:cNvSpPr>
            <a:spLocks noGrp="1"/>
          </p:cNvSpPr>
          <p:nvPr>
            <p:ph idx="1"/>
          </p:nvPr>
        </p:nvSpPr>
        <p:spPr>
          <a:xfrm>
            <a:off x="550862" y="878457"/>
            <a:ext cx="3600451" cy="3131858"/>
          </a:xfrm>
        </p:spPr>
        <p:txBody>
          <a:bodyPr/>
          <a:lstStyle>
            <a:lvl1pPr>
              <a:buNone/>
              <a:defRPr sz="2000">
                <a:latin typeface="+mn-lt"/>
                <a:ea typeface="+mn-lt"/>
                <a:cs typeface="+mn-lt"/>
              </a:defRPr>
            </a:lvl1pPr>
          </a:lstStyle>
          <a:p>
            <a:pPr lvl="0">
              <a:buNone/>
            </a:pPr>
            <a:r>
              <a:t>Cliquez pour modifier les styles du texte du masque</a:t>
            </a:r>
          </a:p>
        </p:txBody>
      </p:sp>
      <p:sp>
        <p:nvSpPr>
          <p:cNvPr id="4" name="Content Placeholder 3">
            <a:extLst>
              <a:ext uri="{FF2B5EF4-FFF2-40B4-BE49-F238E27FC236}">
                <a16:creationId xmlns:a16="http://schemas.microsoft.com/office/drawing/2014/main" id="{7F036456-7969-49B8-B2EE-79FB08737824}"/>
              </a:ext>
            </a:extLst>
          </p:cNvPr>
          <p:cNvSpPr>
            <a:spLocks noGrp="1"/>
          </p:cNvSpPr>
          <p:nvPr>
            <p:ph idx="2"/>
          </p:nvPr>
        </p:nvSpPr>
        <p:spPr>
          <a:xfrm>
            <a:off x="4295775" y="873125"/>
            <a:ext cx="3600450" cy="3137782"/>
          </a:xfrm>
        </p:spPr>
        <p:txBody>
          <a:bodyPr/>
          <a:lstStyle>
            <a:lvl1pPr>
              <a:buNone/>
              <a:defRPr sz="2000">
                <a:latin typeface="+mn-lt"/>
                <a:ea typeface="+mn-lt"/>
                <a:cs typeface="+mn-lt"/>
              </a:defRPr>
            </a:lvl1pPr>
          </a:lstStyle>
          <a:p>
            <a:pPr lvl="0">
              <a:buNone/>
            </a:pPr>
            <a:r>
              <a:t>Cliquez pour modifier les styles du texte du masque</a:t>
            </a:r>
          </a:p>
        </p:txBody>
      </p:sp>
      <p:sp>
        <p:nvSpPr>
          <p:cNvPr id="8" name="Titre 7">
            <a:extLst>
              <a:ext uri="{FF2B5EF4-FFF2-40B4-BE49-F238E27FC236}">
                <a16:creationId xmlns:a16="http://schemas.microsoft.com/office/drawing/2014/main" id="{6897D737-724C-984A-82E1-2A2DBD5F6249}"/>
              </a:ext>
            </a:extLst>
          </p:cNvPr>
          <p:cNvSpPr>
            <a:spLocks noGrp="1"/>
          </p:cNvSpPr>
          <p:nvPr>
            <p:ph type="title"/>
          </p:nvPr>
        </p:nvSpPr>
        <p:spPr>
          <a:xfrm>
            <a:off x="550862" y="4629752"/>
            <a:ext cx="11090275" cy="1894873"/>
          </a:xfrm>
        </p:spPr>
        <p:txBody>
          <a:bodyPr anchor="b">
            <a:noAutofit/>
          </a:bodyPr>
          <a:lstStyle>
            <a:lvl1pPr algn="ctr">
              <a:buNone/>
              <a:defRPr sz="8800" spc="-150"/>
            </a:lvl1pPr>
          </a:lstStyle>
          <a:p>
            <a:r>
              <a:t>Modifiez le style du titre</a:t>
            </a:r>
          </a:p>
        </p:txBody>
      </p:sp>
      <p:sp>
        <p:nvSpPr>
          <p:cNvPr id="5" name="Espace réservé du contenu 4">
            <a:extLst>
              <a:ext uri="{FF2B5EF4-FFF2-40B4-BE49-F238E27FC236}">
                <a16:creationId xmlns:a16="http://schemas.microsoft.com/office/drawing/2014/main" id="{66DCA857-BB38-4F22-E8B1-B4ED66B54DB5}"/>
              </a:ext>
            </a:extLst>
          </p:cNvPr>
          <p:cNvSpPr>
            <a:spLocks noGrp="1"/>
          </p:cNvSpPr>
          <p:nvPr>
            <p:ph idx="13"/>
          </p:nvPr>
        </p:nvSpPr>
        <p:spPr>
          <a:xfrm>
            <a:off x="8040688" y="877888"/>
            <a:ext cx="3600450" cy="3132137"/>
          </a:xfrm>
        </p:spPr>
        <p:txBody>
          <a:bodyPr>
            <a:noAutofit/>
          </a:bodyPr>
          <a:lstStyle>
            <a:lvl1pPr>
              <a:buNone/>
              <a:defRPr sz="2000">
                <a:latin typeface="+mn-lt"/>
                <a:ea typeface="+mn-lt"/>
                <a:cs typeface="+mn-lt"/>
              </a:defRPr>
            </a:lvl1pPr>
            <a:lvl2pPr>
              <a:buNone/>
              <a:defRPr sz="2000">
                <a:latin typeface="+mn-lt"/>
                <a:ea typeface="+mn-lt"/>
                <a:cs typeface="+mn-lt"/>
              </a:defRPr>
            </a:lvl2pPr>
            <a:lvl3pPr>
              <a:buNone/>
              <a:defRPr sz="2000">
                <a:latin typeface="+mn-lt"/>
                <a:ea typeface="+mn-lt"/>
                <a:cs typeface="+mn-lt"/>
              </a:defRPr>
            </a:lvl3pPr>
            <a:lvl4pPr>
              <a:buNone/>
              <a:defRPr sz="2000">
                <a:latin typeface="+mn-lt"/>
                <a:ea typeface="+mn-lt"/>
                <a:cs typeface="+mn-lt"/>
              </a:defRPr>
            </a:lvl4pPr>
            <a:lvl5pPr>
              <a:buNone/>
              <a:defRPr sz="2000">
                <a:latin typeface="+mn-lt"/>
                <a:ea typeface="+mn-lt"/>
                <a:cs typeface="+mn-lt"/>
              </a:defRPr>
            </a:lvl5pPr>
          </a:lstStyle>
          <a:p>
            <a:pPr lvl="0">
              <a:buNone/>
            </a:pPr>
            <a:r>
              <a:t>Cliquez pour modifier les styles du texte du masque</a:t>
            </a:r>
          </a:p>
          <a:p>
            <a:pPr lvl="1">
              <a:buNone/>
            </a:pPr>
            <a:r>
              <a:t>Deuxième niveau</a:t>
            </a:r>
          </a:p>
          <a:p>
            <a:pPr lvl="2">
              <a:buNone/>
            </a:pPr>
            <a:r>
              <a:t>Troisième niveau</a:t>
            </a:r>
          </a:p>
          <a:p>
            <a:pPr lvl="3">
              <a:buNone/>
            </a:pPr>
            <a:r>
              <a:t>Quatrième niveau</a:t>
            </a:r>
          </a:p>
          <a:p>
            <a:pPr lvl="4">
              <a:buNone/>
            </a:pPr>
            <a:r>
              <a:t>Cinquième niveau</a:t>
            </a:r>
          </a:p>
        </p:txBody>
      </p:sp>
      <p:sp>
        <p:nvSpPr>
          <p:cNvPr id="2" name="Espace réservé de la date 1">
            <a:extLst>
              <a:ext uri="{FF2B5EF4-FFF2-40B4-BE49-F238E27FC236}">
                <a16:creationId xmlns:a16="http://schemas.microsoft.com/office/drawing/2014/main" id="{411A7E87-4B7A-CFD6-6B20-E86B243D5545}"/>
              </a:ext>
            </a:extLst>
          </p:cNvPr>
          <p:cNvSpPr>
            <a:spLocks noGrp="1"/>
          </p:cNvSpPr>
          <p:nvPr>
            <p:ph type="dt" idx="14"/>
          </p:nvPr>
        </p:nvSpPr>
        <p:spPr/>
        <p:txBody>
          <a:bodyPr/>
          <a:lstStyle/>
          <a:p>
            <a:r>
              <a:t>TITLE OF THE PRESENTATION</a:t>
            </a:r>
          </a:p>
        </p:txBody>
      </p:sp>
      <p:sp>
        <p:nvSpPr>
          <p:cNvPr id="6" name="Espace réservé du pied de page 5">
            <a:extLst>
              <a:ext uri="{FF2B5EF4-FFF2-40B4-BE49-F238E27FC236}">
                <a16:creationId xmlns:a16="http://schemas.microsoft.com/office/drawing/2014/main" id="{29663B78-8811-7847-374B-E04CB9D21886}"/>
              </a:ext>
            </a:extLst>
          </p:cNvPr>
          <p:cNvSpPr>
            <a:spLocks noGrp="1"/>
          </p:cNvSpPr>
          <p:nvPr>
            <p:ph type="ftr" idx="15"/>
          </p:nvPr>
        </p:nvSpPr>
        <p:spPr/>
        <p:txBody>
          <a:bodyPr/>
          <a:lstStyle/>
          <a:p>
            <a:r>
              <a:t>Speaker name</a:t>
            </a:r>
          </a:p>
        </p:txBody>
      </p:sp>
      <p:sp>
        <p:nvSpPr>
          <p:cNvPr id="7" name="Espace réservé du numéro de diapositive 6">
            <a:extLst>
              <a:ext uri="{FF2B5EF4-FFF2-40B4-BE49-F238E27FC236}">
                <a16:creationId xmlns:a16="http://schemas.microsoft.com/office/drawing/2014/main" id="{41606B9C-EE70-75A4-32F1-EBA7FEEB43BD}"/>
              </a:ext>
            </a:extLst>
          </p:cNvPr>
          <p:cNvSpPr>
            <a:spLocks noGrp="1"/>
          </p:cNvSpPr>
          <p:nvPr>
            <p:ph type="sldNum" idx="16"/>
          </p:nvPr>
        </p:nvSpPr>
        <p:spPr/>
        <p:txBody>
          <a:bodyPr/>
          <a:lstStyle/>
          <a:p>
            <a:fld id="{E1E1CD7C-2161-7D43-862E-CE4C333CD873}"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3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52763E-DC8F-41C4-9D68-2951F7DA00E6}"/>
              </a:ext>
            </a:extLst>
          </p:cNvPr>
          <p:cNvSpPr>
            <a:spLocks noGrp="1"/>
          </p:cNvSpPr>
          <p:nvPr>
            <p:ph idx="1"/>
          </p:nvPr>
        </p:nvSpPr>
        <p:spPr>
          <a:xfrm>
            <a:off x="550862" y="3392175"/>
            <a:ext cx="3600451" cy="3131858"/>
          </a:xfrm>
        </p:spPr>
        <p:txBody>
          <a:bodyPr/>
          <a:lstStyle>
            <a:lvl1pPr>
              <a:buNone/>
              <a:defRPr sz="2000">
                <a:latin typeface="+mn-lt"/>
                <a:ea typeface="+mn-lt"/>
                <a:cs typeface="+mn-lt"/>
              </a:defRPr>
            </a:lvl1pPr>
          </a:lstStyle>
          <a:p>
            <a:pPr lvl="0">
              <a:buNone/>
            </a:pPr>
            <a:r>
              <a:t>Cliquez pour modifier les styles du texte du masque</a:t>
            </a:r>
          </a:p>
        </p:txBody>
      </p:sp>
      <p:sp>
        <p:nvSpPr>
          <p:cNvPr id="4" name="Content Placeholder 3">
            <a:extLst>
              <a:ext uri="{FF2B5EF4-FFF2-40B4-BE49-F238E27FC236}">
                <a16:creationId xmlns:a16="http://schemas.microsoft.com/office/drawing/2014/main" id="{C4CE6B87-FEBC-4BDE-9169-EB6D615BCB1C}"/>
              </a:ext>
            </a:extLst>
          </p:cNvPr>
          <p:cNvSpPr>
            <a:spLocks noGrp="1"/>
          </p:cNvSpPr>
          <p:nvPr>
            <p:ph idx="2"/>
          </p:nvPr>
        </p:nvSpPr>
        <p:spPr>
          <a:xfrm>
            <a:off x="4295775" y="3386843"/>
            <a:ext cx="3600450" cy="3137782"/>
          </a:xfrm>
        </p:spPr>
        <p:txBody>
          <a:bodyPr/>
          <a:lstStyle>
            <a:lvl1pPr>
              <a:buNone/>
              <a:defRPr sz="2000">
                <a:latin typeface="+mn-lt"/>
                <a:ea typeface="+mn-lt"/>
                <a:cs typeface="+mn-lt"/>
              </a:defRPr>
            </a:lvl1pPr>
          </a:lstStyle>
          <a:p>
            <a:pPr lvl="0">
              <a:buNone/>
            </a:pPr>
            <a:r>
              <a:t>Cliquez pour modifier les styles du texte du masque</a:t>
            </a:r>
          </a:p>
        </p:txBody>
      </p:sp>
      <p:sp>
        <p:nvSpPr>
          <p:cNvPr id="8" name="Titre 7">
            <a:extLst>
              <a:ext uri="{FF2B5EF4-FFF2-40B4-BE49-F238E27FC236}">
                <a16:creationId xmlns:a16="http://schemas.microsoft.com/office/drawing/2014/main" id="{6897D737-724C-984A-82E1-2A2DBD5F6249}"/>
              </a:ext>
            </a:extLst>
          </p:cNvPr>
          <p:cNvSpPr>
            <a:spLocks noGrp="1"/>
          </p:cNvSpPr>
          <p:nvPr>
            <p:ph type="title"/>
          </p:nvPr>
        </p:nvSpPr>
        <p:spPr>
          <a:xfrm>
            <a:off x="550862" y="554010"/>
            <a:ext cx="11090275" cy="2314872"/>
          </a:xfrm>
        </p:spPr>
        <p:txBody>
          <a:bodyPr anchor="t">
            <a:noAutofit/>
          </a:bodyPr>
          <a:lstStyle>
            <a:lvl1pPr algn="ctr">
              <a:buNone/>
              <a:defRPr sz="8800" spc="-150"/>
            </a:lvl1pPr>
          </a:lstStyle>
          <a:p>
            <a:r>
              <a:t>Modifiez le style du titre</a:t>
            </a:r>
          </a:p>
        </p:txBody>
      </p:sp>
      <p:sp>
        <p:nvSpPr>
          <p:cNvPr id="5" name="Espace réservé du contenu 4">
            <a:extLst>
              <a:ext uri="{FF2B5EF4-FFF2-40B4-BE49-F238E27FC236}">
                <a16:creationId xmlns:a16="http://schemas.microsoft.com/office/drawing/2014/main" id="{66DCA857-BB38-4F22-E8B1-B4ED66B54DB5}"/>
              </a:ext>
            </a:extLst>
          </p:cNvPr>
          <p:cNvSpPr>
            <a:spLocks noGrp="1"/>
          </p:cNvSpPr>
          <p:nvPr>
            <p:ph idx="13"/>
          </p:nvPr>
        </p:nvSpPr>
        <p:spPr>
          <a:xfrm>
            <a:off x="8040688" y="3391606"/>
            <a:ext cx="3600450" cy="3132137"/>
          </a:xfrm>
        </p:spPr>
        <p:txBody>
          <a:bodyPr>
            <a:noAutofit/>
          </a:bodyPr>
          <a:lstStyle>
            <a:lvl1pPr>
              <a:buNone/>
              <a:defRPr sz="2000">
                <a:latin typeface="+mn-lt"/>
                <a:ea typeface="+mn-lt"/>
                <a:cs typeface="+mn-lt"/>
              </a:defRPr>
            </a:lvl1pPr>
            <a:lvl2pPr>
              <a:buNone/>
              <a:defRPr sz="2000">
                <a:latin typeface="+mn-lt"/>
                <a:ea typeface="+mn-lt"/>
                <a:cs typeface="+mn-lt"/>
              </a:defRPr>
            </a:lvl2pPr>
            <a:lvl3pPr>
              <a:buNone/>
              <a:defRPr sz="2000">
                <a:latin typeface="+mn-lt"/>
                <a:ea typeface="+mn-lt"/>
                <a:cs typeface="+mn-lt"/>
              </a:defRPr>
            </a:lvl3pPr>
            <a:lvl4pPr>
              <a:buNone/>
              <a:defRPr sz="2000">
                <a:latin typeface="+mn-lt"/>
                <a:ea typeface="+mn-lt"/>
                <a:cs typeface="+mn-lt"/>
              </a:defRPr>
            </a:lvl4pPr>
            <a:lvl5pPr>
              <a:buNone/>
              <a:defRPr sz="2000">
                <a:latin typeface="+mn-lt"/>
                <a:ea typeface="+mn-lt"/>
                <a:cs typeface="+mn-lt"/>
              </a:defRPr>
            </a:lvl5pPr>
          </a:lstStyle>
          <a:p>
            <a:pPr lvl="0">
              <a:buNone/>
            </a:pPr>
            <a:r>
              <a:t>Cliquez pour modifier les styles du texte du masque</a:t>
            </a:r>
          </a:p>
          <a:p>
            <a:pPr lvl="1">
              <a:buNone/>
            </a:pPr>
            <a:r>
              <a:t>Deuxième niveau</a:t>
            </a:r>
          </a:p>
          <a:p>
            <a:pPr lvl="2">
              <a:buNone/>
            </a:pPr>
            <a:r>
              <a:t>Troisième niveau</a:t>
            </a:r>
          </a:p>
          <a:p>
            <a:pPr lvl="3">
              <a:buNone/>
            </a:pPr>
            <a:r>
              <a:t>Quatrième niveau</a:t>
            </a:r>
          </a:p>
          <a:p>
            <a:pPr lvl="4">
              <a:buNone/>
            </a:pPr>
            <a:r>
              <a:t>Cinquième niveau</a:t>
            </a:r>
          </a:p>
        </p:txBody>
      </p:sp>
      <p:sp>
        <p:nvSpPr>
          <p:cNvPr id="2" name="Espace réservé de la date 1">
            <a:extLst>
              <a:ext uri="{FF2B5EF4-FFF2-40B4-BE49-F238E27FC236}">
                <a16:creationId xmlns:a16="http://schemas.microsoft.com/office/drawing/2014/main" id="{411A7E87-4B7A-CFD6-6B20-E86B243D5545}"/>
              </a:ext>
            </a:extLst>
          </p:cNvPr>
          <p:cNvSpPr>
            <a:spLocks noGrp="1"/>
          </p:cNvSpPr>
          <p:nvPr>
            <p:ph type="dt" idx="14"/>
          </p:nvPr>
        </p:nvSpPr>
        <p:spPr/>
        <p:txBody>
          <a:bodyPr/>
          <a:lstStyle/>
          <a:p>
            <a:r>
              <a:t>TITLE OF THE PRESENTATION</a:t>
            </a:r>
          </a:p>
        </p:txBody>
      </p:sp>
      <p:sp>
        <p:nvSpPr>
          <p:cNvPr id="6" name="Espace réservé du pied de page 5">
            <a:extLst>
              <a:ext uri="{FF2B5EF4-FFF2-40B4-BE49-F238E27FC236}">
                <a16:creationId xmlns:a16="http://schemas.microsoft.com/office/drawing/2014/main" id="{29663B78-8811-7847-374B-E04CB9D21886}"/>
              </a:ext>
            </a:extLst>
          </p:cNvPr>
          <p:cNvSpPr>
            <a:spLocks noGrp="1"/>
          </p:cNvSpPr>
          <p:nvPr>
            <p:ph type="ftr" idx="15"/>
          </p:nvPr>
        </p:nvSpPr>
        <p:spPr/>
        <p:txBody>
          <a:bodyPr/>
          <a:lstStyle/>
          <a:p>
            <a:r>
              <a:t>Speaker name</a:t>
            </a:r>
          </a:p>
        </p:txBody>
      </p:sp>
      <p:sp>
        <p:nvSpPr>
          <p:cNvPr id="7" name="Espace réservé du numéro de diapositive 6">
            <a:extLst>
              <a:ext uri="{FF2B5EF4-FFF2-40B4-BE49-F238E27FC236}">
                <a16:creationId xmlns:a16="http://schemas.microsoft.com/office/drawing/2014/main" id="{41606B9C-EE70-75A4-32F1-EBA7FEEB43BD}"/>
              </a:ext>
            </a:extLst>
          </p:cNvPr>
          <p:cNvSpPr>
            <a:spLocks noGrp="1"/>
          </p:cNvSpPr>
          <p:nvPr>
            <p:ph type="sldNum" idx="16"/>
          </p:nvPr>
        </p:nvSpPr>
        <p:spPr/>
        <p:txBody>
          <a:bodyPr/>
          <a:lstStyle/>
          <a:p>
            <a:fld id="{E1E1CD7C-2161-7D43-862E-CE4C333CD873}"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0_Titre et contenu">
    <p:bg>
      <p:bgPr>
        <a:solidFill>
          <a:schemeClr val="tx2"/>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F340BD-82C8-460F-B9A2-97E6AAB197F3}"/>
              </a:ext>
            </a:extLst>
          </p:cNvPr>
          <p:cNvSpPr>
            <a:spLocks noGrp="1"/>
          </p:cNvSpPr>
          <p:nvPr>
            <p:ph idx="1"/>
          </p:nvPr>
        </p:nvSpPr>
        <p:spPr>
          <a:xfrm>
            <a:off x="550863" y="3122613"/>
            <a:ext cx="11090274" cy="3402012"/>
          </a:xfrm>
        </p:spPr>
        <p:txBody>
          <a:bodyPr/>
          <a:lstStyle>
            <a:lvl1pPr>
              <a:buClrTx/>
              <a:buNone/>
              <a:defRPr>
                <a:solidFill>
                  <a:schemeClr val="bg1"/>
                </a:solidFill>
              </a:defRPr>
            </a:lvl1pPr>
          </a:lstStyle>
          <a:p>
            <a:pPr lvl="0">
              <a:buNone/>
            </a:pPr>
            <a:r>
              <a:t>Cliquez pour modifier les styles du texte du masque</a:t>
            </a:r>
          </a:p>
        </p:txBody>
      </p:sp>
      <p:sp>
        <p:nvSpPr>
          <p:cNvPr id="2" name="Titre 1">
            <a:extLst>
              <a:ext uri="{FF2B5EF4-FFF2-40B4-BE49-F238E27FC236}">
                <a16:creationId xmlns:a16="http://schemas.microsoft.com/office/drawing/2014/main" id="{96942D0D-07B5-D98B-14DE-AA7EF42087E1}"/>
              </a:ext>
            </a:extLst>
          </p:cNvPr>
          <p:cNvSpPr>
            <a:spLocks noGrp="1"/>
          </p:cNvSpPr>
          <p:nvPr>
            <p:ph type="title"/>
          </p:nvPr>
        </p:nvSpPr>
        <p:spPr>
          <a:xfrm>
            <a:off x="526000" y="613439"/>
            <a:ext cx="11130168" cy="2106613"/>
          </a:xfrm>
        </p:spPr>
        <p:txBody>
          <a:bodyPr>
            <a:normAutofit/>
          </a:bodyPr>
          <a:lstStyle>
            <a:lvl1pPr algn="ctr">
              <a:buNone/>
              <a:defRPr sz="8000">
                <a:solidFill>
                  <a:schemeClr val="bg1"/>
                </a:solidFill>
              </a:defRPr>
            </a:lvl1pPr>
          </a:lstStyle>
          <a:p>
            <a:r>
              <a:t>Modifiez le style du titre</a:t>
            </a:r>
          </a:p>
        </p:txBody>
      </p:sp>
      <p:sp>
        <p:nvSpPr>
          <p:cNvPr id="9" name="Forme libre 8">
            <a:extLst>
              <a:ext uri="{FF2B5EF4-FFF2-40B4-BE49-F238E27FC236}">
                <a16:creationId xmlns:a16="http://schemas.microsoft.com/office/drawing/2014/main" id="{13EF8F51-3EA2-359B-1A23-D9F373527745}"/>
              </a:ext>
            </a:extLst>
          </p:cNvPr>
          <p:cNvSpPr>
            <a:spLocks noGrp="1"/>
          </p:cNvSpPr>
          <p:nvPr/>
        </p:nvSpPr>
        <p:spPr>
          <a:xfrm>
            <a:off x="555663" y="335968"/>
            <a:ext cx="138216" cy="77949"/>
          </a:xfrm>
          <a:custGeom>
            <a:avLst/>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ahLst/>
            <a:cxn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a:schemeClr val="bg1"/>
          </a:solidFill>
          <a:ln w="1343">
            <a:noFill/>
            <a:prstDash val="solid"/>
          </a:ln>
        </p:spPr>
        <p:txBody>
          <a:bodyPr anchor="ctr"/>
          <a:lstStyle/>
          <a:p>
            <a:endParaRPr/>
          </a:p>
        </p:txBody>
      </p:sp>
      <p:sp>
        <p:nvSpPr>
          <p:cNvPr id="10" name="Forme libre 9">
            <a:extLst>
              <a:ext uri="{FF2B5EF4-FFF2-40B4-BE49-F238E27FC236}">
                <a16:creationId xmlns:a16="http://schemas.microsoft.com/office/drawing/2014/main" id="{E5B494A9-D288-4545-5699-3384315D576E}"/>
              </a:ext>
            </a:extLst>
          </p:cNvPr>
          <p:cNvSpPr>
            <a:spLocks noGrp="1"/>
          </p:cNvSpPr>
          <p:nvPr/>
        </p:nvSpPr>
        <p:spPr>
          <a:xfrm>
            <a:off x="555663" y="449275"/>
            <a:ext cx="138216" cy="77962"/>
          </a:xfrm>
          <a:custGeom>
            <a:avLst/>
            <a:gdLst>
              <a:gd name="connsiteX0" fmla="*/ 0 w 138216"/>
              <a:gd name="connsiteY0" fmla="*/ 77963 h 77962"/>
              <a:gd name="connsiteX1" fmla="*/ 138217 w 138216"/>
              <a:gd name="connsiteY1" fmla="*/ 77963 h 77962"/>
              <a:gd name="connsiteX2" fmla="*/ 138217 w 138216"/>
              <a:gd name="connsiteY2" fmla="*/ 42591 h 77962"/>
              <a:gd name="connsiteX3" fmla="*/ 41210 w 138216"/>
              <a:gd name="connsiteY3" fmla="*/ 42591 h 77962"/>
              <a:gd name="connsiteX4" fmla="*/ 41210 w 138216"/>
              <a:gd name="connsiteY4" fmla="*/ 0 h 77962"/>
              <a:gd name="connsiteX5" fmla="*/ 0 w 138216"/>
              <a:gd name="connsiteY5" fmla="*/ 0 h 77962"/>
              <a:gd name="connsiteX6" fmla="*/ 0 w 138216"/>
              <a:gd name="connsiteY6" fmla="*/ 77963 h 77962"/>
            </a:gdLst>
            <a:ahLst/>
            <a:cxnLst/>
            <a:rect l="l" t="t" r="r" b="b"/>
            <a:pathLst>
              <a:path w="138216" h="77962">
                <a:moveTo>
                  <a:pt x="0" y="77963"/>
                </a:moveTo>
                <a:lnTo>
                  <a:pt x="138217" y="77963"/>
                </a:lnTo>
                <a:lnTo>
                  <a:pt x="138217" y="42591"/>
                </a:lnTo>
                <a:lnTo>
                  <a:pt x="41210" y="42591"/>
                </a:lnTo>
                <a:lnTo>
                  <a:pt x="41210" y="0"/>
                </a:lnTo>
                <a:lnTo>
                  <a:pt x="0" y="0"/>
                </a:lnTo>
                <a:lnTo>
                  <a:pt x="0" y="77963"/>
                </a:lnTo>
                <a:close/>
              </a:path>
            </a:pathLst>
          </a:custGeom>
          <a:solidFill>
            <a:schemeClr val="bg1"/>
          </a:solidFill>
          <a:ln w="1343">
            <a:noFill/>
            <a:prstDash val="solid"/>
          </a:ln>
        </p:spPr>
        <p:txBody>
          <a:bodyPr anchor="ctr"/>
          <a:lstStyle/>
          <a:p>
            <a:endParaRPr/>
          </a:p>
        </p:txBody>
      </p:sp>
      <p:sp>
        <p:nvSpPr>
          <p:cNvPr id="11" name="Forme libre 10">
            <a:extLst>
              <a:ext uri="{FF2B5EF4-FFF2-40B4-BE49-F238E27FC236}">
                <a16:creationId xmlns:a16="http://schemas.microsoft.com/office/drawing/2014/main" id="{A5227256-2CB5-C66B-5A1C-3E1C7C775414}"/>
              </a:ext>
            </a:extLst>
          </p:cNvPr>
          <p:cNvSpPr>
            <a:spLocks noGrp="1"/>
          </p:cNvSpPr>
          <p:nvPr/>
        </p:nvSpPr>
        <p:spPr>
          <a:xfrm>
            <a:off x="596874" y="413918"/>
            <a:ext cx="88715" cy="35357"/>
          </a:xfrm>
          <a:custGeom>
            <a:avLst/>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ahLst/>
            <a:cxnLst/>
            <a:rect l="l" t="t" r="r" b="b"/>
            <a:pathLst>
              <a:path w="88715" h="35357">
                <a:moveTo>
                  <a:pt x="0" y="0"/>
                </a:moveTo>
                <a:lnTo>
                  <a:pt x="88716" y="0"/>
                </a:lnTo>
                <a:lnTo>
                  <a:pt x="88716" y="35358"/>
                </a:lnTo>
                <a:lnTo>
                  <a:pt x="0" y="35358"/>
                </a:lnTo>
                <a:close/>
              </a:path>
            </a:pathLst>
          </a:custGeom>
          <a:solidFill>
            <a:schemeClr val="bg1"/>
          </a:solidFill>
          <a:ln w="1343">
            <a:noFill/>
            <a:prstDash val="solid"/>
          </a:ln>
        </p:spPr>
        <p:txBody>
          <a:bodyPr anchor="ctr"/>
          <a:lstStyle/>
          <a:p>
            <a:endParaRPr/>
          </a:p>
        </p:txBody>
      </p:sp>
      <p:sp>
        <p:nvSpPr>
          <p:cNvPr id="12" name="Forme libre 11">
            <a:extLst>
              <a:ext uri="{FF2B5EF4-FFF2-40B4-BE49-F238E27FC236}">
                <a16:creationId xmlns:a16="http://schemas.microsoft.com/office/drawing/2014/main" id="{613513A6-A38B-81D3-C93C-32D8AC097F4F}"/>
              </a:ext>
            </a:extLst>
          </p:cNvPr>
          <p:cNvSpPr>
            <a:spLocks noGrp="1"/>
          </p:cNvSpPr>
          <p:nvPr/>
        </p:nvSpPr>
        <p:spPr>
          <a:xfrm>
            <a:off x="729199" y="335955"/>
            <a:ext cx="151468" cy="191270"/>
          </a:xfrm>
          <a:custGeom>
            <a:avLst/>
            <a:gdLst>
              <a:gd name="connsiteX0" fmla="*/ 136343 w 151468"/>
              <a:gd name="connsiteY0" fmla="*/ 17571 h 191270"/>
              <a:gd name="connsiteX1" fmla="*/ 115866 w 151468"/>
              <a:gd name="connsiteY1" fmla="*/ 4831 h 191270"/>
              <a:gd name="connsiteX2" fmla="*/ 85359 w 151468"/>
              <a:gd name="connsiteY2" fmla="*/ 0 h 191270"/>
              <a:gd name="connsiteX3" fmla="*/ 0 w 151468"/>
              <a:gd name="connsiteY3" fmla="*/ 0 h 191270"/>
              <a:gd name="connsiteX4" fmla="*/ 0 w 151468"/>
              <a:gd name="connsiteY4" fmla="*/ 191270 h 191270"/>
              <a:gd name="connsiteX5" fmla="*/ 41210 w 151468"/>
              <a:gd name="connsiteY5" fmla="*/ 191270 h 191270"/>
              <a:gd name="connsiteX6" fmla="*/ 41210 w 151468"/>
              <a:gd name="connsiteY6" fmla="*/ 113307 h 191270"/>
              <a:gd name="connsiteX7" fmla="*/ 85359 w 151468"/>
              <a:gd name="connsiteY7" fmla="*/ 113307 h 191270"/>
              <a:gd name="connsiteX8" fmla="*/ 115866 w 151468"/>
              <a:gd name="connsiteY8" fmla="*/ 108489 h 191270"/>
              <a:gd name="connsiteX9" fmla="*/ 136343 w 151468"/>
              <a:gd name="connsiteY9" fmla="*/ 95750 h 191270"/>
              <a:gd name="connsiteX10" fmla="*/ 147855 w 151468"/>
              <a:gd name="connsiteY10" fmla="*/ 77571 h 191270"/>
              <a:gd name="connsiteX11" fmla="*/ 151468 w 151468"/>
              <a:gd name="connsiteY11" fmla="*/ 56667 h 191270"/>
              <a:gd name="connsiteX12" fmla="*/ 147855 w 151468"/>
              <a:gd name="connsiteY12" fmla="*/ 35641 h 191270"/>
              <a:gd name="connsiteX13" fmla="*/ 136343 w 151468"/>
              <a:gd name="connsiteY13" fmla="*/ 17584 h 191270"/>
              <a:gd name="connsiteX14" fmla="*/ 107710 w 151468"/>
              <a:gd name="connsiteY14" fmla="*/ 67612 h 191270"/>
              <a:gd name="connsiteX15" fmla="*/ 99554 w 151468"/>
              <a:gd name="connsiteY15" fmla="*/ 74076 h 191270"/>
              <a:gd name="connsiteX16" fmla="*/ 87786 w 151468"/>
              <a:gd name="connsiteY16" fmla="*/ 77167 h 191270"/>
              <a:gd name="connsiteX17" fmla="*/ 73874 w 151468"/>
              <a:gd name="connsiteY17" fmla="*/ 77963 h 191270"/>
              <a:gd name="connsiteX18" fmla="*/ 41224 w 151468"/>
              <a:gd name="connsiteY18" fmla="*/ 77963 h 191270"/>
              <a:gd name="connsiteX19" fmla="*/ 41224 w 151468"/>
              <a:gd name="connsiteY19" fmla="*/ 35371 h 191270"/>
              <a:gd name="connsiteX20" fmla="*/ 73874 w 151468"/>
              <a:gd name="connsiteY20" fmla="*/ 35371 h 191270"/>
              <a:gd name="connsiteX21" fmla="*/ 87786 w 151468"/>
              <a:gd name="connsiteY21" fmla="*/ 36168 h 191270"/>
              <a:gd name="connsiteX22" fmla="*/ 99554 w 151468"/>
              <a:gd name="connsiteY22" fmla="*/ 39258 h 191270"/>
              <a:gd name="connsiteX23" fmla="*/ 107710 w 151468"/>
              <a:gd name="connsiteY23" fmla="*/ 45722 h 191270"/>
              <a:gd name="connsiteX24" fmla="*/ 110784 w 151468"/>
              <a:gd name="connsiteY24" fmla="*/ 56667 h 191270"/>
              <a:gd name="connsiteX25" fmla="*/ 107710 w 151468"/>
              <a:gd name="connsiteY25" fmla="*/ 67612 h 191270"/>
            </a:gdLst>
            <a:ahLst/>
            <a:cxnLst/>
            <a:rect l="l" t="t" r="r" b="b"/>
            <a:pathLst>
              <a:path w="151468" h="191270">
                <a:moveTo>
                  <a:pt x="136343" y="17571"/>
                </a:moveTo>
                <a:cubicBezTo>
                  <a:pt x="131072" y="12294"/>
                  <a:pt x="124251" y="8043"/>
                  <a:pt x="115866" y="4831"/>
                </a:cubicBezTo>
                <a:cubicBezTo>
                  <a:pt x="107481" y="1619"/>
                  <a:pt x="97303" y="0"/>
                  <a:pt x="85359" y="0"/>
                </a:cubicBezTo>
                <a:lnTo>
                  <a:pt x="0" y="0"/>
                </a:lnTo>
                <a:lnTo>
                  <a:pt x="0" y="191270"/>
                </a:lnTo>
                <a:lnTo>
                  <a:pt x="41210" y="191270"/>
                </a:lnTo>
                <a:lnTo>
                  <a:pt x="41210" y="113307"/>
                </a:lnTo>
                <a:lnTo>
                  <a:pt x="85359" y="113307"/>
                </a:lnTo>
                <a:cubicBezTo>
                  <a:pt x="97303" y="113307"/>
                  <a:pt x="107481" y="111701"/>
                  <a:pt x="115866" y="108489"/>
                </a:cubicBezTo>
                <a:cubicBezTo>
                  <a:pt x="124251" y="105277"/>
                  <a:pt x="131072" y="101026"/>
                  <a:pt x="136343" y="95750"/>
                </a:cubicBezTo>
                <a:cubicBezTo>
                  <a:pt x="141600" y="90473"/>
                  <a:pt x="145442" y="84414"/>
                  <a:pt x="147855" y="77571"/>
                </a:cubicBezTo>
                <a:cubicBezTo>
                  <a:pt x="150268" y="70729"/>
                  <a:pt x="151468" y="63766"/>
                  <a:pt x="151468" y="56667"/>
                </a:cubicBezTo>
                <a:cubicBezTo>
                  <a:pt x="151468" y="49569"/>
                  <a:pt x="150268" y="42402"/>
                  <a:pt x="147855" y="35641"/>
                </a:cubicBezTo>
                <a:cubicBezTo>
                  <a:pt x="145442" y="28880"/>
                  <a:pt x="141614" y="22861"/>
                  <a:pt x="136343" y="17584"/>
                </a:cubicBezTo>
                <a:close/>
                <a:moveTo>
                  <a:pt x="107710" y="67612"/>
                </a:moveTo>
                <a:cubicBezTo>
                  <a:pt x="105661" y="70392"/>
                  <a:pt x="102938" y="72551"/>
                  <a:pt x="99554" y="74076"/>
                </a:cubicBezTo>
                <a:cubicBezTo>
                  <a:pt x="96157" y="75601"/>
                  <a:pt x="92234" y="76627"/>
                  <a:pt x="87786" y="77167"/>
                </a:cubicBezTo>
                <a:cubicBezTo>
                  <a:pt x="83324" y="77693"/>
                  <a:pt x="78686" y="77963"/>
                  <a:pt x="73874" y="77963"/>
                </a:cubicBezTo>
                <a:lnTo>
                  <a:pt x="41224" y="77963"/>
                </a:lnTo>
                <a:lnTo>
                  <a:pt x="41224" y="35371"/>
                </a:lnTo>
                <a:lnTo>
                  <a:pt x="73874" y="35371"/>
                </a:lnTo>
                <a:cubicBezTo>
                  <a:pt x="78686" y="35371"/>
                  <a:pt x="83324" y="35641"/>
                  <a:pt x="87786" y="36168"/>
                </a:cubicBezTo>
                <a:cubicBezTo>
                  <a:pt x="92248" y="36694"/>
                  <a:pt x="96171" y="37733"/>
                  <a:pt x="99554" y="39258"/>
                </a:cubicBezTo>
                <a:cubicBezTo>
                  <a:pt x="102938" y="40783"/>
                  <a:pt x="105661" y="42942"/>
                  <a:pt x="107710" y="45722"/>
                </a:cubicBezTo>
                <a:cubicBezTo>
                  <a:pt x="109759" y="48502"/>
                  <a:pt x="110784" y="52160"/>
                  <a:pt x="110784" y="56667"/>
                </a:cubicBezTo>
                <a:cubicBezTo>
                  <a:pt x="110784" y="61175"/>
                  <a:pt x="109759" y="64832"/>
                  <a:pt x="107710" y="67612"/>
                </a:cubicBezTo>
                <a:close/>
              </a:path>
            </a:pathLst>
          </a:custGeom>
          <a:solidFill>
            <a:schemeClr val="bg1"/>
          </a:solidFill>
          <a:ln w="1343">
            <a:noFill/>
            <a:prstDash val="solid"/>
          </a:ln>
        </p:spPr>
        <p:txBody>
          <a:bodyPr anchor="ctr"/>
          <a:lstStyle/>
          <a:p>
            <a:endParaRPr/>
          </a:p>
        </p:txBody>
      </p:sp>
      <p:sp>
        <p:nvSpPr>
          <p:cNvPr id="13" name="Forme libre 12">
            <a:extLst>
              <a:ext uri="{FF2B5EF4-FFF2-40B4-BE49-F238E27FC236}">
                <a16:creationId xmlns:a16="http://schemas.microsoft.com/office/drawing/2014/main" id="{5B115CEE-A940-BE26-2B43-166F8314B6E7}"/>
              </a:ext>
            </a:extLst>
          </p:cNvPr>
          <p:cNvSpPr>
            <a:spLocks noGrp="1"/>
          </p:cNvSpPr>
          <p:nvPr/>
        </p:nvSpPr>
        <p:spPr>
          <a:xfrm>
            <a:off x="1074937" y="335968"/>
            <a:ext cx="138203" cy="191269"/>
          </a:xfrm>
          <a:custGeom>
            <a:avLst/>
            <a:gdLst>
              <a:gd name="connsiteX0" fmla="*/ 41197 w 138203"/>
              <a:gd name="connsiteY0" fmla="*/ 155899 h 191269"/>
              <a:gd name="connsiteX1" fmla="*/ 41197 w 138203"/>
              <a:gd name="connsiteY1" fmla="*/ 0 h 191269"/>
              <a:gd name="connsiteX2" fmla="*/ 0 w 138203"/>
              <a:gd name="connsiteY2" fmla="*/ 0 h 191269"/>
              <a:gd name="connsiteX3" fmla="*/ 0 w 138203"/>
              <a:gd name="connsiteY3" fmla="*/ 191270 h 191269"/>
              <a:gd name="connsiteX4" fmla="*/ 138203 w 138203"/>
              <a:gd name="connsiteY4" fmla="*/ 191270 h 191269"/>
              <a:gd name="connsiteX5" fmla="*/ 138203 w 138203"/>
              <a:gd name="connsiteY5" fmla="*/ 155899 h 191269"/>
              <a:gd name="connsiteX6" fmla="*/ 41197 w 138203"/>
              <a:gd name="connsiteY6" fmla="*/ 155899 h 191269"/>
            </a:gdLst>
            <a:ahLst/>
            <a:cxnLst/>
            <a:rect l="l" t="t" r="r" b="b"/>
            <a:pathLst>
              <a:path w="138203" h="191269">
                <a:moveTo>
                  <a:pt x="41197" y="155899"/>
                </a:moveTo>
                <a:lnTo>
                  <a:pt x="41197" y="0"/>
                </a:lnTo>
                <a:lnTo>
                  <a:pt x="0" y="0"/>
                </a:lnTo>
                <a:lnTo>
                  <a:pt x="0" y="191270"/>
                </a:lnTo>
                <a:lnTo>
                  <a:pt x="138203" y="191270"/>
                </a:lnTo>
                <a:lnTo>
                  <a:pt x="138203" y="155899"/>
                </a:lnTo>
                <a:lnTo>
                  <a:pt x="41197" y="155899"/>
                </a:lnTo>
                <a:close/>
              </a:path>
            </a:pathLst>
          </a:custGeom>
          <a:solidFill>
            <a:schemeClr val="bg1"/>
          </a:solidFill>
          <a:ln w="1343">
            <a:noFill/>
            <a:prstDash val="solid"/>
          </a:ln>
        </p:spPr>
        <p:txBody>
          <a:bodyPr anchor="ctr"/>
          <a:lstStyle/>
          <a:p>
            <a:endParaRPr/>
          </a:p>
        </p:txBody>
      </p:sp>
      <p:sp>
        <p:nvSpPr>
          <p:cNvPr id="14" name="Forme libre 13">
            <a:extLst>
              <a:ext uri="{FF2B5EF4-FFF2-40B4-BE49-F238E27FC236}">
                <a16:creationId xmlns:a16="http://schemas.microsoft.com/office/drawing/2014/main" id="{2C4287DA-CF08-EA83-E364-FECE99038CA8}"/>
              </a:ext>
            </a:extLst>
          </p:cNvPr>
          <p:cNvSpPr>
            <a:spLocks noGrp="1"/>
          </p:cNvSpPr>
          <p:nvPr/>
        </p:nvSpPr>
        <p:spPr>
          <a:xfrm>
            <a:off x="906874" y="335968"/>
            <a:ext cx="138216" cy="77949"/>
          </a:xfrm>
          <a:custGeom>
            <a:avLst/>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ahLst/>
            <a:cxn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a:schemeClr val="bg1"/>
          </a:solidFill>
          <a:ln w="1343">
            <a:noFill/>
            <a:prstDash val="solid"/>
          </a:ln>
        </p:spPr>
        <p:txBody>
          <a:bodyPr anchor="ctr"/>
          <a:lstStyle/>
          <a:p>
            <a:endParaRPr/>
          </a:p>
        </p:txBody>
      </p:sp>
      <p:sp>
        <p:nvSpPr>
          <p:cNvPr id="15" name="Forme libre 14">
            <a:extLst>
              <a:ext uri="{FF2B5EF4-FFF2-40B4-BE49-F238E27FC236}">
                <a16:creationId xmlns:a16="http://schemas.microsoft.com/office/drawing/2014/main" id="{816D4154-ADD8-7CD7-5EE4-31C06E12F124}"/>
              </a:ext>
            </a:extLst>
          </p:cNvPr>
          <p:cNvSpPr>
            <a:spLocks noGrp="1"/>
          </p:cNvSpPr>
          <p:nvPr/>
        </p:nvSpPr>
        <p:spPr>
          <a:xfrm>
            <a:off x="906874" y="449275"/>
            <a:ext cx="41210" cy="77949"/>
          </a:xfrm>
          <a:custGeom>
            <a:avLst/>
            <a:gdLst>
              <a:gd name="connsiteX0" fmla="*/ 0 w 41210"/>
              <a:gd name="connsiteY0" fmla="*/ 0 h 77949"/>
              <a:gd name="connsiteX1" fmla="*/ 41210 w 41210"/>
              <a:gd name="connsiteY1" fmla="*/ 0 h 77949"/>
              <a:gd name="connsiteX2" fmla="*/ 41210 w 41210"/>
              <a:gd name="connsiteY2" fmla="*/ 77949 h 77949"/>
              <a:gd name="connsiteX3" fmla="*/ 0 w 41210"/>
              <a:gd name="connsiteY3" fmla="*/ 77949 h 77949"/>
            </a:gdLst>
            <a:ahLst/>
            <a:cxnLst/>
            <a:rect l="l" t="t" r="r" b="b"/>
            <a:pathLst>
              <a:path w="41210" h="77949">
                <a:moveTo>
                  <a:pt x="0" y="0"/>
                </a:moveTo>
                <a:lnTo>
                  <a:pt x="41210" y="0"/>
                </a:lnTo>
                <a:lnTo>
                  <a:pt x="41210" y="77949"/>
                </a:lnTo>
                <a:lnTo>
                  <a:pt x="0" y="77949"/>
                </a:lnTo>
                <a:close/>
              </a:path>
            </a:pathLst>
          </a:custGeom>
          <a:solidFill>
            <a:schemeClr val="bg1"/>
          </a:solidFill>
          <a:ln w="1343">
            <a:noFill/>
            <a:prstDash val="solid"/>
          </a:ln>
        </p:spPr>
        <p:txBody>
          <a:bodyPr anchor="ctr"/>
          <a:lstStyle/>
          <a:p>
            <a:endParaRPr/>
          </a:p>
        </p:txBody>
      </p:sp>
      <p:sp>
        <p:nvSpPr>
          <p:cNvPr id="16" name="Forme libre 15">
            <a:extLst>
              <a:ext uri="{FF2B5EF4-FFF2-40B4-BE49-F238E27FC236}">
                <a16:creationId xmlns:a16="http://schemas.microsoft.com/office/drawing/2014/main" id="{0A5651A8-D780-F7AB-9F78-EFD12AA98E74}"/>
              </a:ext>
            </a:extLst>
          </p:cNvPr>
          <p:cNvSpPr>
            <a:spLocks noGrp="1"/>
          </p:cNvSpPr>
          <p:nvPr/>
        </p:nvSpPr>
        <p:spPr>
          <a:xfrm>
            <a:off x="948084" y="413918"/>
            <a:ext cx="88715" cy="35357"/>
          </a:xfrm>
          <a:custGeom>
            <a:avLst/>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ahLst/>
            <a:cxnLst/>
            <a:rect l="l" t="t" r="r" b="b"/>
            <a:pathLst>
              <a:path w="88715" h="35357">
                <a:moveTo>
                  <a:pt x="0" y="0"/>
                </a:moveTo>
                <a:lnTo>
                  <a:pt x="88716" y="0"/>
                </a:lnTo>
                <a:lnTo>
                  <a:pt x="88716" y="35358"/>
                </a:lnTo>
                <a:lnTo>
                  <a:pt x="0" y="35358"/>
                </a:lnTo>
                <a:close/>
              </a:path>
            </a:pathLst>
          </a:custGeom>
          <a:solidFill>
            <a:schemeClr val="bg1"/>
          </a:solidFill>
          <a:ln w="1343">
            <a:noFill/>
            <a:prstDash val="solid"/>
          </a:ln>
        </p:spPr>
        <p:txBody>
          <a:bodyPr anchor="ctr"/>
          <a:lstStyle/>
          <a:p>
            <a:endParaRPr/>
          </a:p>
        </p:txBody>
      </p:sp>
      <p:sp>
        <p:nvSpPr>
          <p:cNvPr id="17" name="Espace réservé de la date 16">
            <a:extLst>
              <a:ext uri="{FF2B5EF4-FFF2-40B4-BE49-F238E27FC236}">
                <a16:creationId xmlns:a16="http://schemas.microsoft.com/office/drawing/2014/main" id="{309FD214-C446-3C8F-AD11-A249F4B5998A}"/>
              </a:ext>
            </a:extLst>
          </p:cNvPr>
          <p:cNvSpPr>
            <a:spLocks noGrp="1"/>
          </p:cNvSpPr>
          <p:nvPr>
            <p:ph type="dt" idx="10"/>
          </p:nvPr>
        </p:nvSpPr>
        <p:spPr/>
        <p:txBody>
          <a:bodyPr/>
          <a:lstStyle>
            <a:lvl1pPr>
              <a:buNone/>
              <a:defRPr>
                <a:solidFill>
                  <a:schemeClr val="bg1"/>
                </a:solidFill>
              </a:defRPr>
            </a:lvl1pPr>
          </a:lstStyle>
          <a:p>
            <a:r>
              <a:t>TITLE OF THE PRESENTATION</a:t>
            </a:r>
          </a:p>
        </p:txBody>
      </p:sp>
      <p:sp>
        <p:nvSpPr>
          <p:cNvPr id="18" name="Espace réservé du pied de page 17">
            <a:extLst>
              <a:ext uri="{FF2B5EF4-FFF2-40B4-BE49-F238E27FC236}">
                <a16:creationId xmlns:a16="http://schemas.microsoft.com/office/drawing/2014/main" id="{1A7428E5-FF5A-76BD-D93B-8D61D542AB1E}"/>
              </a:ext>
            </a:extLst>
          </p:cNvPr>
          <p:cNvSpPr>
            <a:spLocks noGrp="1"/>
          </p:cNvSpPr>
          <p:nvPr>
            <p:ph type="ftr" idx="11"/>
          </p:nvPr>
        </p:nvSpPr>
        <p:spPr/>
        <p:txBody>
          <a:bodyPr/>
          <a:lstStyle>
            <a:lvl1pPr>
              <a:buNone/>
              <a:defRPr>
                <a:solidFill>
                  <a:schemeClr val="bg1"/>
                </a:solidFill>
              </a:defRPr>
            </a:lvl1pPr>
          </a:lstStyle>
          <a:p>
            <a:r>
              <a:t>Speaker name</a:t>
            </a:r>
          </a:p>
        </p:txBody>
      </p:sp>
      <p:sp>
        <p:nvSpPr>
          <p:cNvPr id="19" name="Espace réservé du numéro de diapositive 18">
            <a:extLst>
              <a:ext uri="{FF2B5EF4-FFF2-40B4-BE49-F238E27FC236}">
                <a16:creationId xmlns:a16="http://schemas.microsoft.com/office/drawing/2014/main" id="{43662181-82C7-FB2E-AD48-A29433AC1A0F}"/>
              </a:ext>
            </a:extLst>
          </p:cNvPr>
          <p:cNvSpPr>
            <a:spLocks noGrp="1"/>
          </p:cNvSpPr>
          <p:nvPr>
            <p:ph type="sldNum" idx="12"/>
          </p:nvPr>
        </p:nvSpPr>
        <p:spPr/>
        <p:txBody>
          <a:bodyPr/>
          <a:lstStyle>
            <a:lvl1pPr>
              <a:buNone/>
              <a:defRPr>
                <a:solidFill>
                  <a:schemeClr val="bg1"/>
                </a:solidFill>
              </a:defRPr>
            </a:lvl1pPr>
          </a:lstStyle>
          <a:p>
            <a:fld id="{E1E1CD7C-2161-7D43-862E-CE4C333CD873}"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5" name="Espace réservé du contenu 4">
            <a:extLst>
              <a:ext uri="{FF2B5EF4-FFF2-40B4-BE49-F238E27FC236}">
                <a16:creationId xmlns:a16="http://schemas.microsoft.com/office/drawing/2014/main" id="{66DCA857-BB38-4F22-E8B1-B4ED66B54DB5}"/>
              </a:ext>
            </a:extLst>
          </p:cNvPr>
          <p:cNvSpPr>
            <a:spLocks noGrp="1"/>
          </p:cNvSpPr>
          <p:nvPr>
            <p:ph idx="13"/>
          </p:nvPr>
        </p:nvSpPr>
        <p:spPr>
          <a:xfrm>
            <a:off x="550864" y="3122044"/>
            <a:ext cx="5473699" cy="3402581"/>
          </a:xfrm>
        </p:spPr>
        <p:txBody>
          <a:bodyPr>
            <a:noAutofit/>
          </a:bodyPr>
          <a:lstStyle>
            <a:lvl1pPr>
              <a:buNone/>
              <a:defRPr sz="2000">
                <a:latin typeface="+mn-lt"/>
                <a:ea typeface="+mn-lt"/>
                <a:cs typeface="+mn-lt"/>
              </a:defRPr>
            </a:lvl1pPr>
            <a:lvl2pPr>
              <a:buNone/>
              <a:defRPr sz="2000">
                <a:latin typeface="+mn-lt"/>
                <a:ea typeface="+mn-lt"/>
                <a:cs typeface="+mn-lt"/>
              </a:defRPr>
            </a:lvl2pPr>
            <a:lvl3pPr>
              <a:buNone/>
              <a:defRPr sz="2000">
                <a:latin typeface="+mn-lt"/>
                <a:ea typeface="+mn-lt"/>
                <a:cs typeface="+mn-lt"/>
              </a:defRPr>
            </a:lvl3pPr>
            <a:lvl4pPr>
              <a:buNone/>
              <a:defRPr sz="2000">
                <a:latin typeface="+mn-lt"/>
                <a:ea typeface="+mn-lt"/>
                <a:cs typeface="+mn-lt"/>
              </a:defRPr>
            </a:lvl4pPr>
            <a:lvl5pPr>
              <a:buNone/>
              <a:defRPr sz="2000">
                <a:latin typeface="+mn-lt"/>
                <a:ea typeface="+mn-lt"/>
                <a:cs typeface="+mn-lt"/>
              </a:defRPr>
            </a:lvl5pPr>
          </a:lstStyle>
          <a:p>
            <a:pPr lvl="0">
              <a:buNone/>
            </a:pPr>
            <a:r>
              <a:t>Cliquez pour modifier les styles du texte du masque</a:t>
            </a:r>
          </a:p>
          <a:p>
            <a:pPr lvl="1">
              <a:buNone/>
            </a:pPr>
            <a:r>
              <a:t>Deuxième niveau</a:t>
            </a:r>
          </a:p>
          <a:p>
            <a:pPr lvl="2">
              <a:buNone/>
            </a:pPr>
            <a:r>
              <a:t>Troisième niveau</a:t>
            </a:r>
          </a:p>
          <a:p>
            <a:pPr lvl="3">
              <a:buNone/>
            </a:pPr>
            <a:r>
              <a:t>Quatrième niveau</a:t>
            </a:r>
          </a:p>
          <a:p>
            <a:pPr lvl="4">
              <a:buNone/>
            </a:pPr>
            <a:r>
              <a:t>Cinquième niveau</a:t>
            </a:r>
          </a:p>
        </p:txBody>
      </p:sp>
      <p:sp>
        <p:nvSpPr>
          <p:cNvPr id="2" name="Titre 1">
            <a:extLst>
              <a:ext uri="{FF2B5EF4-FFF2-40B4-BE49-F238E27FC236}">
                <a16:creationId xmlns:a16="http://schemas.microsoft.com/office/drawing/2014/main" id="{57A40193-4ECA-C390-17D8-77665F45F617}"/>
              </a:ext>
            </a:extLst>
          </p:cNvPr>
          <p:cNvSpPr>
            <a:spLocks noGrp="1"/>
          </p:cNvSpPr>
          <p:nvPr>
            <p:ph type="title"/>
          </p:nvPr>
        </p:nvSpPr>
        <p:spPr>
          <a:xfrm>
            <a:off x="526000" y="628493"/>
            <a:ext cx="4537075" cy="2106613"/>
          </a:xfrm>
        </p:spPr>
        <p:txBody>
          <a:bodyPr/>
          <a:lstStyle/>
          <a:p>
            <a:r>
              <a:t>Modifiez le style du titre</a:t>
            </a:r>
          </a:p>
        </p:txBody>
      </p:sp>
      <p:sp>
        <p:nvSpPr>
          <p:cNvPr id="13" name="Espace réservé du contenu 12">
            <a:extLst>
              <a:ext uri="{FF2B5EF4-FFF2-40B4-BE49-F238E27FC236}">
                <a16:creationId xmlns:a16="http://schemas.microsoft.com/office/drawing/2014/main" id="{2766985E-E042-88C9-5445-DE58D07BF534}"/>
              </a:ext>
            </a:extLst>
          </p:cNvPr>
          <p:cNvSpPr>
            <a:spLocks noGrp="1"/>
          </p:cNvSpPr>
          <p:nvPr>
            <p:ph idx="14"/>
          </p:nvPr>
        </p:nvSpPr>
        <p:spPr>
          <a:xfrm>
            <a:off x="6181726" y="3122613"/>
            <a:ext cx="5473699" cy="3417887"/>
          </a:xfrm>
        </p:spPr>
        <p:txBody>
          <a:bodyPr>
            <a:noAutofit/>
          </a:bodyPr>
          <a:lstStyle>
            <a:lvl1pPr>
              <a:buNone/>
              <a:defRPr sz="2000"/>
            </a:lvl1pPr>
            <a:lvl2pPr>
              <a:buNone/>
              <a:defRPr sz="2000"/>
            </a:lvl2pPr>
            <a:lvl3pPr>
              <a:buNone/>
              <a:defRPr sz="1800"/>
            </a:lvl3pPr>
            <a:lvl4pPr>
              <a:buNone/>
              <a:defRPr sz="1600"/>
            </a:lvl4pPr>
            <a:lvl5pPr>
              <a:buNone/>
              <a:defRPr sz="1600"/>
            </a:lvl5pPr>
          </a:lstStyle>
          <a:p>
            <a:pPr lvl="0">
              <a:buNone/>
            </a:pPr>
            <a:r>
              <a:t>Cliquez pour modifier les styles du texte du masque</a:t>
            </a:r>
          </a:p>
          <a:p>
            <a:pPr lvl="1">
              <a:buNone/>
            </a:pPr>
            <a:r>
              <a:t>Deuxième niveau</a:t>
            </a:r>
          </a:p>
          <a:p>
            <a:pPr lvl="2">
              <a:buNone/>
            </a:pPr>
            <a:r>
              <a:t>Troisième niveau</a:t>
            </a:r>
          </a:p>
          <a:p>
            <a:pPr lvl="3">
              <a:buNone/>
            </a:pPr>
            <a:r>
              <a:t>Quatrième niveau</a:t>
            </a:r>
          </a:p>
          <a:p>
            <a:pPr lvl="4">
              <a:buNone/>
            </a:pPr>
            <a:r>
              <a:t>Cinquième niveau</a:t>
            </a:r>
          </a:p>
        </p:txBody>
      </p:sp>
      <p:sp>
        <p:nvSpPr>
          <p:cNvPr id="6" name="Espace réservé de la date 5">
            <a:extLst>
              <a:ext uri="{FF2B5EF4-FFF2-40B4-BE49-F238E27FC236}">
                <a16:creationId xmlns:a16="http://schemas.microsoft.com/office/drawing/2014/main" id="{7C99EA67-017D-5E36-3D31-35C78A903850}"/>
              </a:ext>
            </a:extLst>
          </p:cNvPr>
          <p:cNvSpPr>
            <a:spLocks noGrp="1"/>
          </p:cNvSpPr>
          <p:nvPr>
            <p:ph type="dt" idx="15"/>
          </p:nvPr>
        </p:nvSpPr>
        <p:spPr/>
        <p:txBody>
          <a:bodyPr/>
          <a:lstStyle/>
          <a:p>
            <a:r>
              <a:t>TITLE OF THE PRESENTATION</a:t>
            </a:r>
          </a:p>
        </p:txBody>
      </p:sp>
      <p:sp>
        <p:nvSpPr>
          <p:cNvPr id="7" name="Espace réservé du pied de page 6">
            <a:extLst>
              <a:ext uri="{FF2B5EF4-FFF2-40B4-BE49-F238E27FC236}">
                <a16:creationId xmlns:a16="http://schemas.microsoft.com/office/drawing/2014/main" id="{3DA3C390-B7C6-FDDC-B2F4-FDC4F9A94192}"/>
              </a:ext>
            </a:extLst>
          </p:cNvPr>
          <p:cNvSpPr>
            <a:spLocks noGrp="1"/>
          </p:cNvSpPr>
          <p:nvPr>
            <p:ph type="ftr" idx="16"/>
          </p:nvPr>
        </p:nvSpPr>
        <p:spPr/>
        <p:txBody>
          <a:bodyPr/>
          <a:lstStyle/>
          <a:p>
            <a:r>
              <a:t>Speaker name</a:t>
            </a:r>
          </a:p>
        </p:txBody>
      </p:sp>
      <p:sp>
        <p:nvSpPr>
          <p:cNvPr id="8" name="Espace réservé du numéro de diapositive 7">
            <a:extLst>
              <a:ext uri="{FF2B5EF4-FFF2-40B4-BE49-F238E27FC236}">
                <a16:creationId xmlns:a16="http://schemas.microsoft.com/office/drawing/2014/main" id="{8E95600B-BF9C-E9AB-B807-83458E4CC7A9}"/>
              </a:ext>
            </a:extLst>
          </p:cNvPr>
          <p:cNvSpPr>
            <a:spLocks noGrp="1"/>
          </p:cNvSpPr>
          <p:nvPr>
            <p:ph type="sldNum" idx="17"/>
          </p:nvPr>
        </p:nvSpPr>
        <p:spPr/>
        <p:txBody>
          <a:bodyPr/>
          <a:lstStyle/>
          <a:p>
            <a:fld id="{E1E1CD7C-2161-7D43-862E-CE4C333CD873}"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columns 1">
    <p:spTree>
      <p:nvGrpSpPr>
        <p:cNvPr id="1" name=""/>
        <p:cNvGrpSpPr/>
        <p:nvPr/>
      </p:nvGrpSpPr>
      <p:grpSpPr>
        <a:xfrm>
          <a:off x="0" y="0"/>
          <a:ext cx="0" cy="0"/>
          <a:chOff x="0" y="0"/>
          <a:chExt cx="0" cy="0"/>
        </a:xfrm>
      </p:grpSpPr>
      <p:sp>
        <p:nvSpPr>
          <p:cNvPr id="5" name="Espace réservé du contenu 4">
            <a:extLst>
              <a:ext uri="{FF2B5EF4-FFF2-40B4-BE49-F238E27FC236}">
                <a16:creationId xmlns:a16="http://schemas.microsoft.com/office/drawing/2014/main" id="{66DCA857-BB38-4F22-E8B1-B4ED66B54DB5}"/>
              </a:ext>
            </a:extLst>
          </p:cNvPr>
          <p:cNvSpPr>
            <a:spLocks noGrp="1"/>
          </p:cNvSpPr>
          <p:nvPr>
            <p:ph idx="13"/>
          </p:nvPr>
        </p:nvSpPr>
        <p:spPr>
          <a:xfrm>
            <a:off x="550864" y="3122044"/>
            <a:ext cx="3600449" cy="3402581"/>
          </a:xfrm>
        </p:spPr>
        <p:txBody>
          <a:bodyPr>
            <a:noAutofit/>
          </a:bodyPr>
          <a:lstStyle>
            <a:lvl1pPr>
              <a:buNone/>
              <a:defRPr sz="2000">
                <a:latin typeface="+mn-lt"/>
                <a:ea typeface="+mn-lt"/>
                <a:cs typeface="+mn-lt"/>
              </a:defRPr>
            </a:lvl1pPr>
            <a:lvl2pPr marL="447675" indent="-157163">
              <a:buNone/>
              <a:defRPr sz="2000">
                <a:latin typeface="+mn-lt"/>
                <a:ea typeface="+mn-lt"/>
                <a:cs typeface="+mn-lt"/>
              </a:defRPr>
            </a:lvl2pPr>
            <a:lvl3pPr>
              <a:buNone/>
              <a:defRPr sz="2000">
                <a:latin typeface="+mn-lt"/>
                <a:ea typeface="+mn-lt"/>
                <a:cs typeface="+mn-lt"/>
              </a:defRPr>
            </a:lvl3pPr>
            <a:lvl4pPr>
              <a:buNone/>
              <a:defRPr sz="2000">
                <a:latin typeface="+mn-lt"/>
                <a:ea typeface="+mn-lt"/>
                <a:cs typeface="+mn-lt"/>
              </a:defRPr>
            </a:lvl4pPr>
            <a:lvl5pPr>
              <a:buNone/>
              <a:defRPr sz="2000">
                <a:latin typeface="+mn-lt"/>
                <a:ea typeface="+mn-lt"/>
                <a:cs typeface="+mn-lt"/>
              </a:defRPr>
            </a:lvl5pPr>
          </a:lstStyle>
          <a:p>
            <a:pPr lvl="0">
              <a:buNone/>
            </a:pPr>
            <a:r>
              <a:t>Cliquez pour modifier les styles du texte du masque</a:t>
            </a:r>
          </a:p>
          <a:p>
            <a:pPr lvl="1">
              <a:buNone/>
            </a:pPr>
            <a:r>
              <a:t>Deuxième niveau</a:t>
            </a:r>
          </a:p>
          <a:p>
            <a:pPr lvl="2">
              <a:buNone/>
            </a:pPr>
            <a:r>
              <a:t>Troisième niveau</a:t>
            </a:r>
          </a:p>
          <a:p>
            <a:pPr lvl="3">
              <a:buNone/>
            </a:pPr>
            <a:r>
              <a:t>Quatrième niveau</a:t>
            </a:r>
          </a:p>
          <a:p>
            <a:pPr lvl="4">
              <a:buNone/>
            </a:pPr>
            <a:r>
              <a:t>Cinquième niveau</a:t>
            </a:r>
          </a:p>
        </p:txBody>
      </p:sp>
      <p:sp>
        <p:nvSpPr>
          <p:cNvPr id="2" name="Titre 1">
            <a:extLst>
              <a:ext uri="{FF2B5EF4-FFF2-40B4-BE49-F238E27FC236}">
                <a16:creationId xmlns:a16="http://schemas.microsoft.com/office/drawing/2014/main" id="{57A40193-4ECA-C390-17D8-77665F45F617}"/>
              </a:ext>
            </a:extLst>
          </p:cNvPr>
          <p:cNvSpPr>
            <a:spLocks noGrp="1"/>
          </p:cNvSpPr>
          <p:nvPr>
            <p:ph type="title"/>
          </p:nvPr>
        </p:nvSpPr>
        <p:spPr>
          <a:xfrm>
            <a:off x="526000" y="628493"/>
            <a:ext cx="4537075" cy="2106613"/>
          </a:xfrm>
        </p:spPr>
        <p:txBody>
          <a:bodyPr/>
          <a:lstStyle/>
          <a:p>
            <a:r>
              <a:t>Modifiez le style du titre</a:t>
            </a:r>
          </a:p>
        </p:txBody>
      </p:sp>
      <p:sp>
        <p:nvSpPr>
          <p:cNvPr id="13" name="Espace réservé du contenu 12">
            <a:extLst>
              <a:ext uri="{FF2B5EF4-FFF2-40B4-BE49-F238E27FC236}">
                <a16:creationId xmlns:a16="http://schemas.microsoft.com/office/drawing/2014/main" id="{2766985E-E042-88C9-5445-DE58D07BF534}"/>
              </a:ext>
            </a:extLst>
          </p:cNvPr>
          <p:cNvSpPr>
            <a:spLocks noGrp="1"/>
          </p:cNvSpPr>
          <p:nvPr>
            <p:ph idx="14"/>
          </p:nvPr>
        </p:nvSpPr>
        <p:spPr>
          <a:xfrm>
            <a:off x="4295776" y="3122613"/>
            <a:ext cx="3600450" cy="3417887"/>
          </a:xfrm>
        </p:spPr>
        <p:txBody>
          <a:bodyPr>
            <a:noAutofit/>
          </a:bodyPr>
          <a:lstStyle>
            <a:lvl1pPr>
              <a:buNone/>
              <a:defRPr sz="2000"/>
            </a:lvl1pPr>
            <a:lvl2pPr marL="622300" indent="-165100">
              <a:buNone/>
              <a:defRPr sz="2000"/>
            </a:lvl2pPr>
            <a:lvl3pPr>
              <a:buNone/>
              <a:defRPr sz="1800"/>
            </a:lvl3pPr>
            <a:lvl4pPr>
              <a:buNone/>
              <a:defRPr sz="1600"/>
            </a:lvl4pPr>
            <a:lvl5pPr>
              <a:buNone/>
              <a:defRPr sz="1600"/>
            </a:lvl5pPr>
          </a:lstStyle>
          <a:p>
            <a:pPr lvl="0">
              <a:buNone/>
            </a:pPr>
            <a:r>
              <a:t>Cliquez pour modifier les styles du texte du masque</a:t>
            </a:r>
          </a:p>
          <a:p>
            <a:pPr lvl="1">
              <a:buNone/>
            </a:pPr>
            <a:r>
              <a:t>Deuxième niveau</a:t>
            </a:r>
          </a:p>
          <a:p>
            <a:pPr lvl="2">
              <a:buNone/>
            </a:pPr>
            <a:r>
              <a:t>Troisième niveau</a:t>
            </a:r>
          </a:p>
          <a:p>
            <a:pPr lvl="3">
              <a:buNone/>
            </a:pPr>
            <a:r>
              <a:t>Quatrième niveau</a:t>
            </a:r>
          </a:p>
          <a:p>
            <a:pPr lvl="4">
              <a:buNone/>
            </a:pPr>
            <a:r>
              <a:t>Cinquième niveau</a:t>
            </a:r>
          </a:p>
        </p:txBody>
      </p:sp>
      <p:sp>
        <p:nvSpPr>
          <p:cNvPr id="6" name="Espace réservé de la date 5">
            <a:extLst>
              <a:ext uri="{FF2B5EF4-FFF2-40B4-BE49-F238E27FC236}">
                <a16:creationId xmlns:a16="http://schemas.microsoft.com/office/drawing/2014/main" id="{7C99EA67-017D-5E36-3D31-35C78A903850}"/>
              </a:ext>
            </a:extLst>
          </p:cNvPr>
          <p:cNvSpPr>
            <a:spLocks noGrp="1"/>
          </p:cNvSpPr>
          <p:nvPr>
            <p:ph type="dt" idx="15"/>
          </p:nvPr>
        </p:nvSpPr>
        <p:spPr/>
        <p:txBody>
          <a:bodyPr/>
          <a:lstStyle/>
          <a:p>
            <a:r>
              <a:t>TITLE OF THE PRESENTATION</a:t>
            </a:r>
          </a:p>
        </p:txBody>
      </p:sp>
      <p:sp>
        <p:nvSpPr>
          <p:cNvPr id="7" name="Espace réservé du pied de page 6">
            <a:extLst>
              <a:ext uri="{FF2B5EF4-FFF2-40B4-BE49-F238E27FC236}">
                <a16:creationId xmlns:a16="http://schemas.microsoft.com/office/drawing/2014/main" id="{3DA3C390-B7C6-FDDC-B2F4-FDC4F9A94192}"/>
              </a:ext>
            </a:extLst>
          </p:cNvPr>
          <p:cNvSpPr>
            <a:spLocks noGrp="1"/>
          </p:cNvSpPr>
          <p:nvPr>
            <p:ph type="ftr" idx="16"/>
          </p:nvPr>
        </p:nvSpPr>
        <p:spPr/>
        <p:txBody>
          <a:bodyPr/>
          <a:lstStyle/>
          <a:p>
            <a:r>
              <a:t>Speaker name</a:t>
            </a:r>
          </a:p>
        </p:txBody>
      </p:sp>
      <p:sp>
        <p:nvSpPr>
          <p:cNvPr id="8" name="Espace réservé du numéro de diapositive 7">
            <a:extLst>
              <a:ext uri="{FF2B5EF4-FFF2-40B4-BE49-F238E27FC236}">
                <a16:creationId xmlns:a16="http://schemas.microsoft.com/office/drawing/2014/main" id="{8E95600B-BF9C-E9AB-B807-83458E4CC7A9}"/>
              </a:ext>
            </a:extLst>
          </p:cNvPr>
          <p:cNvSpPr>
            <a:spLocks noGrp="1"/>
          </p:cNvSpPr>
          <p:nvPr>
            <p:ph type="sldNum" idx="17"/>
          </p:nvPr>
        </p:nvSpPr>
        <p:spPr/>
        <p:txBody>
          <a:bodyPr/>
          <a:lstStyle/>
          <a:p>
            <a:fld id="{E1E1CD7C-2161-7D43-862E-CE4C333CD873}" type="slidenum">
              <a:t>‹#›</a:t>
            </a:fld>
            <a:endParaRPr/>
          </a:p>
        </p:txBody>
      </p:sp>
      <p:sp>
        <p:nvSpPr>
          <p:cNvPr id="4" name="Espace réservé du texte 3">
            <a:extLst>
              <a:ext uri="{FF2B5EF4-FFF2-40B4-BE49-F238E27FC236}">
                <a16:creationId xmlns:a16="http://schemas.microsoft.com/office/drawing/2014/main" id="{6705412C-D799-52BC-620F-5066AC3A4DBE}"/>
              </a:ext>
            </a:extLst>
          </p:cNvPr>
          <p:cNvSpPr>
            <a:spLocks noGrp="1"/>
          </p:cNvSpPr>
          <p:nvPr>
            <p:ph type="body" idx="18"/>
          </p:nvPr>
        </p:nvSpPr>
        <p:spPr>
          <a:xfrm>
            <a:off x="8040688" y="3122613"/>
            <a:ext cx="3600450" cy="3402012"/>
          </a:xfrm>
        </p:spPr>
        <p:txBody>
          <a:bodyPr>
            <a:normAutofit/>
          </a:bodyPr>
          <a:lstStyle>
            <a:lvl1pPr>
              <a:buNone/>
              <a:defRPr sz="2000"/>
            </a:lvl1pPr>
            <a:lvl2pPr>
              <a:buNone/>
              <a:defRPr sz="2000"/>
            </a:lvl2pPr>
            <a:lvl3pPr>
              <a:buNone/>
              <a:defRPr sz="1800"/>
            </a:lvl3pPr>
            <a:lvl4pPr>
              <a:buNone/>
              <a:defRPr sz="1600"/>
            </a:lvl4pPr>
            <a:lvl5pPr>
              <a:buNone/>
              <a:defRPr sz="1600"/>
            </a:lvl5pPr>
          </a:lstStyle>
          <a:p>
            <a:pPr lvl="0">
              <a:buNone/>
            </a:pPr>
            <a:r>
              <a:t>Cliquez pour modifier les styles du texte du masque</a:t>
            </a:r>
          </a:p>
          <a:p>
            <a:pPr lvl="1">
              <a:buNone/>
            </a:pPr>
            <a:r>
              <a:t>Deuxième niveau</a:t>
            </a:r>
          </a:p>
          <a:p>
            <a:pPr lvl="2">
              <a:buNone/>
            </a:pPr>
            <a:r>
              <a:t>Troisième niveau</a:t>
            </a:r>
          </a:p>
          <a:p>
            <a:pPr lvl="3">
              <a:buNone/>
            </a:pPr>
            <a:r>
              <a:t>Quatrième niveau</a:t>
            </a:r>
          </a:p>
          <a:p>
            <a:pPr lvl="4">
              <a:buNone/>
            </a:pPr>
            <a:r>
              <a:t>Cinquième niveau</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330575-2BF7-45A0-9553-104C3114B76C}"/>
              </a:ext>
            </a:extLst>
          </p:cNvPr>
          <p:cNvSpPr>
            <a:spLocks noGrp="1"/>
          </p:cNvSpPr>
          <p:nvPr>
            <p:ph idx="1"/>
          </p:nvPr>
        </p:nvSpPr>
        <p:spPr>
          <a:xfrm>
            <a:off x="550863" y="3122613"/>
            <a:ext cx="2663826" cy="3401320"/>
          </a:xfrm>
        </p:spPr>
        <p:txBody>
          <a:bodyPr/>
          <a:lstStyle>
            <a:lvl1pPr>
              <a:buNone/>
              <a:defRPr sz="2000">
                <a:latin typeface="+mn-lt"/>
                <a:ea typeface="+mn-lt"/>
                <a:cs typeface="+mn-lt"/>
              </a:defRPr>
            </a:lvl1pPr>
          </a:lstStyle>
          <a:p>
            <a:pPr lvl="0">
              <a:buNone/>
            </a:pPr>
            <a:r>
              <a:t>Cliquez pour modifier les styles du texte du masque</a:t>
            </a:r>
          </a:p>
        </p:txBody>
      </p:sp>
      <p:sp>
        <p:nvSpPr>
          <p:cNvPr id="4" name="Content Placeholder 3">
            <a:extLst>
              <a:ext uri="{FF2B5EF4-FFF2-40B4-BE49-F238E27FC236}">
                <a16:creationId xmlns:a16="http://schemas.microsoft.com/office/drawing/2014/main" id="{A5F6BC86-3CE6-487B-B3F5-B7FA2013967F}"/>
              </a:ext>
            </a:extLst>
          </p:cNvPr>
          <p:cNvSpPr>
            <a:spLocks noGrp="1"/>
          </p:cNvSpPr>
          <p:nvPr>
            <p:ph idx="2"/>
          </p:nvPr>
        </p:nvSpPr>
        <p:spPr>
          <a:xfrm>
            <a:off x="3359150" y="3122044"/>
            <a:ext cx="2663825" cy="3402582"/>
          </a:xfrm>
        </p:spPr>
        <p:txBody>
          <a:bodyPr/>
          <a:lstStyle>
            <a:lvl1pPr>
              <a:buNone/>
              <a:defRPr sz="2000">
                <a:latin typeface="+mn-lt"/>
                <a:ea typeface="+mn-lt"/>
                <a:cs typeface="+mn-lt"/>
              </a:defRPr>
            </a:lvl1pPr>
          </a:lstStyle>
          <a:p>
            <a:pPr lvl="0">
              <a:buNone/>
            </a:pPr>
            <a:r>
              <a:t>Cliquez pour modifier les styles du texte du masque</a:t>
            </a:r>
          </a:p>
        </p:txBody>
      </p:sp>
      <p:sp>
        <p:nvSpPr>
          <p:cNvPr id="5" name="Espace réservé du contenu 4">
            <a:extLst>
              <a:ext uri="{FF2B5EF4-FFF2-40B4-BE49-F238E27FC236}">
                <a16:creationId xmlns:a16="http://schemas.microsoft.com/office/drawing/2014/main" id="{66DCA857-BB38-4F22-E8B1-B4ED66B54DB5}"/>
              </a:ext>
            </a:extLst>
          </p:cNvPr>
          <p:cNvSpPr>
            <a:spLocks noGrp="1"/>
          </p:cNvSpPr>
          <p:nvPr>
            <p:ph idx="13"/>
          </p:nvPr>
        </p:nvSpPr>
        <p:spPr>
          <a:xfrm>
            <a:off x="6167436" y="3122044"/>
            <a:ext cx="2663825" cy="3401624"/>
          </a:xfrm>
        </p:spPr>
        <p:txBody>
          <a:bodyPr>
            <a:noAutofit/>
          </a:bodyPr>
          <a:lstStyle>
            <a:lvl1pPr>
              <a:buNone/>
              <a:defRPr sz="2000">
                <a:latin typeface="+mn-lt"/>
                <a:ea typeface="+mn-lt"/>
                <a:cs typeface="+mn-lt"/>
              </a:defRPr>
            </a:lvl1pPr>
            <a:lvl2pPr>
              <a:buNone/>
              <a:defRPr sz="2000">
                <a:latin typeface="+mn-lt"/>
                <a:ea typeface="+mn-lt"/>
                <a:cs typeface="+mn-lt"/>
              </a:defRPr>
            </a:lvl2pPr>
            <a:lvl3pPr>
              <a:buNone/>
              <a:defRPr sz="2000">
                <a:latin typeface="+mn-lt"/>
                <a:ea typeface="+mn-lt"/>
                <a:cs typeface="+mn-lt"/>
              </a:defRPr>
            </a:lvl3pPr>
            <a:lvl4pPr>
              <a:buNone/>
              <a:defRPr sz="2000">
                <a:latin typeface="+mn-lt"/>
                <a:ea typeface="+mn-lt"/>
                <a:cs typeface="+mn-lt"/>
              </a:defRPr>
            </a:lvl4pPr>
            <a:lvl5pPr>
              <a:buNone/>
              <a:defRPr sz="2000">
                <a:latin typeface="+mn-lt"/>
                <a:ea typeface="+mn-lt"/>
                <a:cs typeface="+mn-lt"/>
              </a:defRPr>
            </a:lvl5pPr>
          </a:lstStyle>
          <a:p>
            <a:pPr lvl="0">
              <a:buNone/>
            </a:pPr>
            <a:r>
              <a:t>Cliquez pour modifier les styles du texte du masque</a:t>
            </a:r>
          </a:p>
          <a:p>
            <a:pPr lvl="1">
              <a:buNone/>
            </a:pPr>
            <a:r>
              <a:t>Deuxième niveau</a:t>
            </a:r>
          </a:p>
        </p:txBody>
      </p:sp>
      <p:sp>
        <p:nvSpPr>
          <p:cNvPr id="2" name="Titre 1">
            <a:extLst>
              <a:ext uri="{FF2B5EF4-FFF2-40B4-BE49-F238E27FC236}">
                <a16:creationId xmlns:a16="http://schemas.microsoft.com/office/drawing/2014/main" id="{57A40193-4ECA-C390-17D8-77665F45F617}"/>
              </a:ext>
            </a:extLst>
          </p:cNvPr>
          <p:cNvSpPr>
            <a:spLocks noGrp="1"/>
          </p:cNvSpPr>
          <p:nvPr>
            <p:ph type="title"/>
          </p:nvPr>
        </p:nvSpPr>
        <p:spPr>
          <a:xfrm>
            <a:off x="526000" y="628493"/>
            <a:ext cx="4537075" cy="2106613"/>
          </a:xfrm>
        </p:spPr>
        <p:txBody>
          <a:bodyPr/>
          <a:lstStyle/>
          <a:p>
            <a:r>
              <a:t>Modifiez le style du titre</a:t>
            </a:r>
          </a:p>
        </p:txBody>
      </p:sp>
      <p:sp>
        <p:nvSpPr>
          <p:cNvPr id="13" name="Espace réservé du contenu 12">
            <a:extLst>
              <a:ext uri="{FF2B5EF4-FFF2-40B4-BE49-F238E27FC236}">
                <a16:creationId xmlns:a16="http://schemas.microsoft.com/office/drawing/2014/main" id="{2766985E-E042-88C9-5445-DE58D07BF534}"/>
              </a:ext>
            </a:extLst>
          </p:cNvPr>
          <p:cNvSpPr>
            <a:spLocks noGrp="1"/>
          </p:cNvSpPr>
          <p:nvPr>
            <p:ph idx="14"/>
          </p:nvPr>
        </p:nvSpPr>
        <p:spPr>
          <a:xfrm>
            <a:off x="8975725" y="3122613"/>
            <a:ext cx="2679700" cy="3401624"/>
          </a:xfrm>
        </p:spPr>
        <p:txBody>
          <a:bodyPr>
            <a:noAutofit/>
          </a:bodyPr>
          <a:lstStyle>
            <a:lvl1pPr>
              <a:buNone/>
              <a:defRPr sz="2000"/>
            </a:lvl1pPr>
            <a:lvl2pPr>
              <a:buNone/>
              <a:defRPr sz="2000"/>
            </a:lvl2pPr>
            <a:lvl3pPr>
              <a:buNone/>
              <a:defRPr sz="1800"/>
            </a:lvl3pPr>
            <a:lvl4pPr>
              <a:buNone/>
              <a:defRPr sz="1600"/>
            </a:lvl4pPr>
            <a:lvl5pPr>
              <a:buNone/>
              <a:defRPr sz="1600"/>
            </a:lvl5pPr>
          </a:lstStyle>
          <a:p>
            <a:pPr lvl="0">
              <a:buNone/>
            </a:pPr>
            <a:r>
              <a:t>Cliquez pour modifier les styles du texte du masque</a:t>
            </a:r>
          </a:p>
          <a:p>
            <a:pPr lvl="1">
              <a:buNone/>
            </a:pPr>
            <a:r>
              <a:t>Deuxième niveau</a:t>
            </a:r>
          </a:p>
        </p:txBody>
      </p:sp>
      <p:sp>
        <p:nvSpPr>
          <p:cNvPr id="6" name="Espace réservé de la date 5">
            <a:extLst>
              <a:ext uri="{FF2B5EF4-FFF2-40B4-BE49-F238E27FC236}">
                <a16:creationId xmlns:a16="http://schemas.microsoft.com/office/drawing/2014/main" id="{1DED269A-C79F-3F95-BE6D-8008CF089780}"/>
              </a:ext>
            </a:extLst>
          </p:cNvPr>
          <p:cNvSpPr>
            <a:spLocks noGrp="1"/>
          </p:cNvSpPr>
          <p:nvPr>
            <p:ph type="dt" idx="15"/>
          </p:nvPr>
        </p:nvSpPr>
        <p:spPr/>
        <p:txBody>
          <a:bodyPr/>
          <a:lstStyle/>
          <a:p>
            <a:r>
              <a:t>TITLE OF THE PRESENTATION</a:t>
            </a:r>
          </a:p>
        </p:txBody>
      </p:sp>
      <p:sp>
        <p:nvSpPr>
          <p:cNvPr id="7" name="Espace réservé du pied de page 6">
            <a:extLst>
              <a:ext uri="{FF2B5EF4-FFF2-40B4-BE49-F238E27FC236}">
                <a16:creationId xmlns:a16="http://schemas.microsoft.com/office/drawing/2014/main" id="{0230432B-6A23-E581-EEEF-B30407CBD229}"/>
              </a:ext>
            </a:extLst>
          </p:cNvPr>
          <p:cNvSpPr>
            <a:spLocks noGrp="1"/>
          </p:cNvSpPr>
          <p:nvPr>
            <p:ph type="ftr" idx="16"/>
          </p:nvPr>
        </p:nvSpPr>
        <p:spPr/>
        <p:txBody>
          <a:bodyPr/>
          <a:lstStyle/>
          <a:p>
            <a:r>
              <a:t>Speaker name</a:t>
            </a:r>
          </a:p>
        </p:txBody>
      </p:sp>
      <p:sp>
        <p:nvSpPr>
          <p:cNvPr id="8" name="Espace réservé du numéro de diapositive 7">
            <a:extLst>
              <a:ext uri="{FF2B5EF4-FFF2-40B4-BE49-F238E27FC236}">
                <a16:creationId xmlns:a16="http://schemas.microsoft.com/office/drawing/2014/main" id="{FD243C14-9FA0-E923-D04E-420D9DC16909}"/>
              </a:ext>
            </a:extLst>
          </p:cNvPr>
          <p:cNvSpPr>
            <a:spLocks noGrp="1"/>
          </p:cNvSpPr>
          <p:nvPr>
            <p:ph type="sldNum" idx="17"/>
          </p:nvPr>
        </p:nvSpPr>
        <p:spPr/>
        <p:txBody>
          <a:bodyPr/>
          <a:lstStyle/>
          <a:p>
            <a:fld id="{E1E1CD7C-2161-7D43-862E-CE4C333CD873}"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 columns grey">
    <p:bg>
      <p:bgPr>
        <a:gradFill>
          <a:gsLst>
            <a:gs pos="0">
              <a:schemeClr val="bg2">
                <a:lumMod val="40000"/>
                <a:lumOff val="60000"/>
              </a:schemeClr>
            </a:gs>
            <a:gs pos="32000">
              <a:schemeClr val="bg2"/>
            </a:gs>
            <a:gs pos="99000">
              <a:schemeClr val="bg2"/>
            </a:gs>
          </a:gsLst>
          <a:lin ang="5400000" scaled="1"/>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EF9659-97F4-4ECC-9318-6104B9C6F6C8}"/>
              </a:ext>
            </a:extLst>
          </p:cNvPr>
          <p:cNvSpPr>
            <a:spLocks noGrp="1"/>
          </p:cNvSpPr>
          <p:nvPr>
            <p:ph idx="1"/>
          </p:nvPr>
        </p:nvSpPr>
        <p:spPr>
          <a:xfrm>
            <a:off x="550863" y="3122613"/>
            <a:ext cx="2663826" cy="3131858"/>
          </a:xfrm>
        </p:spPr>
        <p:txBody>
          <a:bodyPr/>
          <a:lstStyle>
            <a:lvl1pPr>
              <a:buNone/>
              <a:defRPr sz="2000">
                <a:latin typeface="+mn-lt"/>
                <a:ea typeface="+mn-lt"/>
                <a:cs typeface="+mn-lt"/>
              </a:defRPr>
            </a:lvl1pPr>
          </a:lstStyle>
          <a:p>
            <a:pPr lvl="0">
              <a:buNone/>
            </a:pPr>
            <a:r>
              <a:t>Cliquez pour modifier les styles du texte du masque</a:t>
            </a:r>
          </a:p>
        </p:txBody>
      </p:sp>
      <p:sp>
        <p:nvSpPr>
          <p:cNvPr id="4" name="Content Placeholder 3">
            <a:extLst>
              <a:ext uri="{FF2B5EF4-FFF2-40B4-BE49-F238E27FC236}">
                <a16:creationId xmlns:a16="http://schemas.microsoft.com/office/drawing/2014/main" id="{364FC320-DBAC-43AB-A94E-8531036B1559}"/>
              </a:ext>
            </a:extLst>
          </p:cNvPr>
          <p:cNvSpPr>
            <a:spLocks noGrp="1"/>
          </p:cNvSpPr>
          <p:nvPr>
            <p:ph idx="2"/>
          </p:nvPr>
        </p:nvSpPr>
        <p:spPr>
          <a:xfrm>
            <a:off x="3359150" y="3122043"/>
            <a:ext cx="2663825" cy="3133019"/>
          </a:xfrm>
        </p:spPr>
        <p:txBody>
          <a:bodyPr/>
          <a:lstStyle>
            <a:lvl1pPr>
              <a:buNone/>
              <a:defRPr sz="2000">
                <a:latin typeface="+mn-lt"/>
                <a:ea typeface="+mn-lt"/>
                <a:cs typeface="+mn-lt"/>
              </a:defRPr>
            </a:lvl1pPr>
          </a:lstStyle>
          <a:p>
            <a:pPr lvl="0">
              <a:buNone/>
            </a:pPr>
            <a:r>
              <a:t>Cliquez pour modifier les styles du texte du masque</a:t>
            </a:r>
          </a:p>
        </p:txBody>
      </p:sp>
      <p:sp>
        <p:nvSpPr>
          <p:cNvPr id="5" name="Espace réservé du contenu 4">
            <a:extLst>
              <a:ext uri="{FF2B5EF4-FFF2-40B4-BE49-F238E27FC236}">
                <a16:creationId xmlns:a16="http://schemas.microsoft.com/office/drawing/2014/main" id="{66DCA857-BB38-4F22-E8B1-B4ED66B54DB5}"/>
              </a:ext>
            </a:extLst>
          </p:cNvPr>
          <p:cNvSpPr>
            <a:spLocks noGrp="1"/>
          </p:cNvSpPr>
          <p:nvPr>
            <p:ph idx="13"/>
          </p:nvPr>
        </p:nvSpPr>
        <p:spPr>
          <a:xfrm>
            <a:off x="6167436" y="3122044"/>
            <a:ext cx="2663825" cy="3132137"/>
          </a:xfrm>
        </p:spPr>
        <p:txBody>
          <a:bodyPr>
            <a:noAutofit/>
          </a:bodyPr>
          <a:lstStyle>
            <a:lvl1pPr>
              <a:buNone/>
              <a:defRPr sz="2000">
                <a:latin typeface="+mn-lt"/>
                <a:ea typeface="+mn-lt"/>
                <a:cs typeface="+mn-lt"/>
              </a:defRPr>
            </a:lvl1pPr>
            <a:lvl2pPr>
              <a:buNone/>
              <a:defRPr sz="2000">
                <a:latin typeface="+mn-lt"/>
                <a:ea typeface="+mn-lt"/>
                <a:cs typeface="+mn-lt"/>
              </a:defRPr>
            </a:lvl2pPr>
            <a:lvl3pPr>
              <a:buNone/>
              <a:defRPr sz="2000">
                <a:latin typeface="+mn-lt"/>
                <a:ea typeface="+mn-lt"/>
                <a:cs typeface="+mn-lt"/>
              </a:defRPr>
            </a:lvl3pPr>
            <a:lvl4pPr>
              <a:buNone/>
              <a:defRPr sz="2000">
                <a:latin typeface="+mn-lt"/>
                <a:ea typeface="+mn-lt"/>
                <a:cs typeface="+mn-lt"/>
              </a:defRPr>
            </a:lvl4pPr>
            <a:lvl5pPr>
              <a:buNone/>
              <a:defRPr sz="2000">
                <a:latin typeface="+mn-lt"/>
                <a:ea typeface="+mn-lt"/>
                <a:cs typeface="+mn-lt"/>
              </a:defRPr>
            </a:lvl5pPr>
          </a:lstStyle>
          <a:p>
            <a:pPr lvl="0">
              <a:buNone/>
            </a:pPr>
            <a:r>
              <a:t>Cliquez pour modifier les styles du texte du masque</a:t>
            </a:r>
          </a:p>
          <a:p>
            <a:pPr lvl="1">
              <a:buNone/>
            </a:pPr>
            <a:r>
              <a:t>Deuxième niveau</a:t>
            </a:r>
          </a:p>
        </p:txBody>
      </p:sp>
      <p:sp>
        <p:nvSpPr>
          <p:cNvPr id="2" name="Titre 1">
            <a:extLst>
              <a:ext uri="{FF2B5EF4-FFF2-40B4-BE49-F238E27FC236}">
                <a16:creationId xmlns:a16="http://schemas.microsoft.com/office/drawing/2014/main" id="{57A40193-4ECA-C390-17D8-77665F45F617}"/>
              </a:ext>
            </a:extLst>
          </p:cNvPr>
          <p:cNvSpPr>
            <a:spLocks noGrp="1"/>
          </p:cNvSpPr>
          <p:nvPr>
            <p:ph type="title"/>
          </p:nvPr>
        </p:nvSpPr>
        <p:spPr>
          <a:xfrm>
            <a:off x="526000" y="628493"/>
            <a:ext cx="4537075" cy="2106613"/>
          </a:xfrm>
        </p:spPr>
        <p:txBody>
          <a:bodyPr/>
          <a:lstStyle/>
          <a:p>
            <a:r>
              <a:t>Modifiez le style du titre</a:t>
            </a:r>
          </a:p>
        </p:txBody>
      </p:sp>
      <p:sp>
        <p:nvSpPr>
          <p:cNvPr id="13" name="Espace réservé du contenu 12">
            <a:extLst>
              <a:ext uri="{FF2B5EF4-FFF2-40B4-BE49-F238E27FC236}">
                <a16:creationId xmlns:a16="http://schemas.microsoft.com/office/drawing/2014/main" id="{2766985E-E042-88C9-5445-DE58D07BF534}"/>
              </a:ext>
            </a:extLst>
          </p:cNvPr>
          <p:cNvSpPr>
            <a:spLocks noGrp="1"/>
          </p:cNvSpPr>
          <p:nvPr>
            <p:ph idx="14"/>
          </p:nvPr>
        </p:nvSpPr>
        <p:spPr>
          <a:xfrm>
            <a:off x="8975725" y="3122613"/>
            <a:ext cx="2679700" cy="3132137"/>
          </a:xfrm>
        </p:spPr>
        <p:txBody>
          <a:bodyPr>
            <a:noAutofit/>
          </a:bodyPr>
          <a:lstStyle>
            <a:lvl1pPr>
              <a:buNone/>
              <a:defRPr sz="2000"/>
            </a:lvl1pPr>
            <a:lvl2pPr>
              <a:buNone/>
              <a:defRPr sz="2000"/>
            </a:lvl2pPr>
            <a:lvl3pPr>
              <a:buNone/>
              <a:defRPr sz="1800"/>
            </a:lvl3pPr>
            <a:lvl4pPr>
              <a:buNone/>
              <a:defRPr sz="1600"/>
            </a:lvl4pPr>
            <a:lvl5pPr>
              <a:buNone/>
              <a:defRPr sz="1600"/>
            </a:lvl5pPr>
          </a:lstStyle>
          <a:p>
            <a:pPr lvl="0">
              <a:buNone/>
            </a:pPr>
            <a:r>
              <a:t>Cliquez pour modifier les styles du texte du masque</a:t>
            </a:r>
          </a:p>
          <a:p>
            <a:pPr lvl="1">
              <a:buNone/>
            </a:pPr>
            <a:r>
              <a:t>Deuxième niveau</a:t>
            </a:r>
          </a:p>
        </p:txBody>
      </p:sp>
      <p:sp>
        <p:nvSpPr>
          <p:cNvPr id="6" name="Espace réservé de la date 5">
            <a:extLst>
              <a:ext uri="{FF2B5EF4-FFF2-40B4-BE49-F238E27FC236}">
                <a16:creationId xmlns:a16="http://schemas.microsoft.com/office/drawing/2014/main" id="{5788EF65-FC86-CA51-7666-C634CC6E43D5}"/>
              </a:ext>
            </a:extLst>
          </p:cNvPr>
          <p:cNvSpPr>
            <a:spLocks noGrp="1"/>
          </p:cNvSpPr>
          <p:nvPr>
            <p:ph type="dt" idx="15"/>
          </p:nvPr>
        </p:nvSpPr>
        <p:spPr/>
        <p:txBody>
          <a:bodyPr/>
          <a:lstStyle/>
          <a:p>
            <a:r>
              <a:t>TITLE OF THE PRESENTATION</a:t>
            </a:r>
          </a:p>
        </p:txBody>
      </p:sp>
      <p:sp>
        <p:nvSpPr>
          <p:cNvPr id="7" name="Espace réservé du pied de page 6">
            <a:extLst>
              <a:ext uri="{FF2B5EF4-FFF2-40B4-BE49-F238E27FC236}">
                <a16:creationId xmlns:a16="http://schemas.microsoft.com/office/drawing/2014/main" id="{ACE4CA97-11D2-A0C2-E9A8-5AA2A62B8B8B}"/>
              </a:ext>
            </a:extLst>
          </p:cNvPr>
          <p:cNvSpPr>
            <a:spLocks noGrp="1"/>
          </p:cNvSpPr>
          <p:nvPr>
            <p:ph type="ftr" idx="16"/>
          </p:nvPr>
        </p:nvSpPr>
        <p:spPr/>
        <p:txBody>
          <a:bodyPr/>
          <a:lstStyle/>
          <a:p>
            <a:r>
              <a:t>Speaker name</a:t>
            </a:r>
          </a:p>
        </p:txBody>
      </p:sp>
      <p:sp>
        <p:nvSpPr>
          <p:cNvPr id="8" name="Espace réservé du numéro de diapositive 7">
            <a:extLst>
              <a:ext uri="{FF2B5EF4-FFF2-40B4-BE49-F238E27FC236}">
                <a16:creationId xmlns:a16="http://schemas.microsoft.com/office/drawing/2014/main" id="{DD6A5DCB-257B-ABB5-3508-281E7C0090AE}"/>
              </a:ext>
            </a:extLst>
          </p:cNvPr>
          <p:cNvSpPr>
            <a:spLocks noGrp="1"/>
          </p:cNvSpPr>
          <p:nvPr>
            <p:ph type="sldNum" idx="17"/>
          </p:nvPr>
        </p:nvSpPr>
        <p:spPr/>
        <p:txBody>
          <a:bodyPr/>
          <a:lstStyle/>
          <a:p>
            <a:fld id="{E1E1CD7C-2161-7D43-862E-CE4C333CD873}"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D68D3A-BE52-3CFA-EEBB-E265EA027321}"/>
              </a:ext>
            </a:extLst>
          </p:cNvPr>
          <p:cNvSpPr>
            <a:spLocks noGrp="1"/>
          </p:cNvSpPr>
          <p:nvPr>
            <p:ph type="title"/>
          </p:nvPr>
        </p:nvSpPr>
        <p:spPr/>
        <p:txBody>
          <a:bodyPr/>
          <a:lstStyle/>
          <a:p>
            <a:r>
              <a:t>Modifiez le style du titre</a:t>
            </a:r>
          </a:p>
        </p:txBody>
      </p:sp>
      <p:sp>
        <p:nvSpPr>
          <p:cNvPr id="3" name="Espace réservé de la date 2">
            <a:extLst>
              <a:ext uri="{FF2B5EF4-FFF2-40B4-BE49-F238E27FC236}">
                <a16:creationId xmlns:a16="http://schemas.microsoft.com/office/drawing/2014/main" id="{81C3619F-6739-7018-D8F3-4B783EAF11E8}"/>
              </a:ext>
            </a:extLst>
          </p:cNvPr>
          <p:cNvSpPr>
            <a:spLocks noGrp="1"/>
          </p:cNvSpPr>
          <p:nvPr>
            <p:ph type="dt" idx="10"/>
          </p:nvPr>
        </p:nvSpPr>
        <p:spPr/>
        <p:txBody>
          <a:bodyPr/>
          <a:lstStyle/>
          <a:p>
            <a:r>
              <a:t>TITLE OF THE PRESENTATION</a:t>
            </a:r>
          </a:p>
        </p:txBody>
      </p:sp>
      <p:sp>
        <p:nvSpPr>
          <p:cNvPr id="4" name="Espace réservé du pied de page 3">
            <a:extLst>
              <a:ext uri="{FF2B5EF4-FFF2-40B4-BE49-F238E27FC236}">
                <a16:creationId xmlns:a16="http://schemas.microsoft.com/office/drawing/2014/main" id="{28F2FAA6-5480-8421-1675-22FA21F48250}"/>
              </a:ext>
            </a:extLst>
          </p:cNvPr>
          <p:cNvSpPr>
            <a:spLocks noGrp="1"/>
          </p:cNvSpPr>
          <p:nvPr>
            <p:ph type="ftr" idx="11"/>
          </p:nvPr>
        </p:nvSpPr>
        <p:spPr/>
        <p:txBody>
          <a:bodyPr/>
          <a:lstStyle/>
          <a:p>
            <a:r>
              <a:t>Speaker name</a:t>
            </a:r>
          </a:p>
        </p:txBody>
      </p:sp>
      <p:sp>
        <p:nvSpPr>
          <p:cNvPr id="5" name="Espace réservé du numéro de diapositive 4">
            <a:extLst>
              <a:ext uri="{FF2B5EF4-FFF2-40B4-BE49-F238E27FC236}">
                <a16:creationId xmlns:a16="http://schemas.microsoft.com/office/drawing/2014/main" id="{4675D5D2-7CED-091C-0B10-7B2731AD40FC}"/>
              </a:ext>
            </a:extLst>
          </p:cNvPr>
          <p:cNvSpPr>
            <a:spLocks noGrp="1"/>
          </p:cNvSpPr>
          <p:nvPr>
            <p:ph type="sldNum" idx="12"/>
          </p:nvPr>
        </p:nvSpPr>
        <p:spPr/>
        <p:txBody>
          <a:bodyPr/>
          <a:lstStyle/>
          <a:p>
            <a:fld id="{E1E1CD7C-2161-7D43-862E-CE4C333CD873}"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idx="13"/>
          </p:nvPr>
        </p:nvSpPr>
        <p:spPr>
          <a:xfrm>
            <a:off x="0" y="873124"/>
            <a:ext cx="12191999" cy="5984875"/>
          </a:xfrm>
        </p:spPr>
        <p:txBody>
          <a:bodyPr/>
          <a:lstStyle/>
          <a:p>
            <a:r>
              <a:t>Cliquez sur l'icône pour ajouter une image</a:t>
            </a:r>
          </a:p>
        </p:txBody>
      </p:sp>
      <p:sp>
        <p:nvSpPr>
          <p:cNvPr id="2" name="Espace réservé de la date 1">
            <a:extLst>
              <a:ext uri="{FF2B5EF4-FFF2-40B4-BE49-F238E27FC236}">
                <a16:creationId xmlns:a16="http://schemas.microsoft.com/office/drawing/2014/main" id="{75BED1A9-9D09-E324-D507-8547BD8EDE5F}"/>
              </a:ext>
            </a:extLst>
          </p:cNvPr>
          <p:cNvSpPr>
            <a:spLocks noGrp="1"/>
          </p:cNvSpPr>
          <p:nvPr>
            <p:ph type="dt" idx="14"/>
          </p:nvPr>
        </p:nvSpPr>
        <p:spPr/>
        <p:txBody>
          <a:bodyPr/>
          <a:lstStyle/>
          <a:p>
            <a:r>
              <a:t>TITLE OF THE PRESENTATION</a:t>
            </a:r>
          </a:p>
        </p:txBody>
      </p:sp>
      <p:sp>
        <p:nvSpPr>
          <p:cNvPr id="3" name="Espace réservé du pied de page 2">
            <a:extLst>
              <a:ext uri="{FF2B5EF4-FFF2-40B4-BE49-F238E27FC236}">
                <a16:creationId xmlns:a16="http://schemas.microsoft.com/office/drawing/2014/main" id="{A6DAC261-7DF0-187A-D0C1-AF0B45E8E51E}"/>
              </a:ext>
            </a:extLst>
          </p:cNvPr>
          <p:cNvSpPr>
            <a:spLocks noGrp="1"/>
          </p:cNvSpPr>
          <p:nvPr>
            <p:ph type="ftr" idx="15"/>
          </p:nvPr>
        </p:nvSpPr>
        <p:spPr/>
        <p:txBody>
          <a:bodyPr/>
          <a:lstStyle/>
          <a:p>
            <a:r>
              <a:t>Speaker name</a:t>
            </a:r>
          </a:p>
        </p:txBody>
      </p:sp>
      <p:sp>
        <p:nvSpPr>
          <p:cNvPr id="4" name="Espace réservé du numéro de diapositive 3">
            <a:extLst>
              <a:ext uri="{FF2B5EF4-FFF2-40B4-BE49-F238E27FC236}">
                <a16:creationId xmlns:a16="http://schemas.microsoft.com/office/drawing/2014/main" id="{A014B235-7E68-AF61-29B8-77CF8DD321EF}"/>
              </a:ext>
            </a:extLst>
          </p:cNvPr>
          <p:cNvSpPr>
            <a:spLocks noGrp="1"/>
          </p:cNvSpPr>
          <p:nvPr>
            <p:ph type="sldNum" idx="16"/>
          </p:nvPr>
        </p:nvSpPr>
        <p:spPr/>
        <p:txBody>
          <a:bodyPr/>
          <a:lstStyle/>
          <a:p>
            <a:fld id="{E1E1CD7C-2161-7D43-862E-CE4C333CD873}" type="slidenum">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18" name="Espace réservé pour une image  17">
            <a:extLst>
              <a:ext uri="{FF2B5EF4-FFF2-40B4-BE49-F238E27FC236}">
                <a16:creationId xmlns:a16="http://schemas.microsoft.com/office/drawing/2014/main" id="{B5DEE997-6BE2-8721-E274-AB6D2BAD8AD3}"/>
              </a:ext>
            </a:extLst>
          </p:cNvPr>
          <p:cNvSpPr>
            <a:spLocks noGrp="1"/>
          </p:cNvSpPr>
          <p:nvPr>
            <p:ph type="pic" idx="13"/>
          </p:nvPr>
        </p:nvSpPr>
        <p:spPr>
          <a:xfrm>
            <a:off x="0" y="0"/>
            <a:ext cx="12191999" cy="6857999"/>
          </a:xfrm>
          <a:custGeom>
            <a:avLst/>
            <a:gdLst>
              <a:gd name="connsiteX0" fmla="*/ 555663 w 12191999"/>
              <a:gd name="connsiteY0" fmla="*/ 449275 h 6857999"/>
              <a:gd name="connsiteX1" fmla="*/ 555663 w 12191999"/>
              <a:gd name="connsiteY1" fmla="*/ 527238 h 6857999"/>
              <a:gd name="connsiteX2" fmla="*/ 693880 w 12191999"/>
              <a:gd name="connsiteY2" fmla="*/ 527238 h 6857999"/>
              <a:gd name="connsiteX3" fmla="*/ 693880 w 12191999"/>
              <a:gd name="connsiteY3" fmla="*/ 491866 h 6857999"/>
              <a:gd name="connsiteX4" fmla="*/ 596873 w 12191999"/>
              <a:gd name="connsiteY4" fmla="*/ 491866 h 6857999"/>
              <a:gd name="connsiteX5" fmla="*/ 596873 w 12191999"/>
              <a:gd name="connsiteY5" fmla="*/ 449275 h 6857999"/>
              <a:gd name="connsiteX6" fmla="*/ 948084 w 12191999"/>
              <a:gd name="connsiteY6" fmla="*/ 413918 h 6857999"/>
              <a:gd name="connsiteX7" fmla="*/ 948084 w 12191999"/>
              <a:gd name="connsiteY7" fmla="*/ 449275 h 6857999"/>
              <a:gd name="connsiteX8" fmla="*/ 906874 w 12191999"/>
              <a:gd name="connsiteY8" fmla="*/ 449275 h 6857999"/>
              <a:gd name="connsiteX9" fmla="*/ 906874 w 12191999"/>
              <a:gd name="connsiteY9" fmla="*/ 527224 h 6857999"/>
              <a:gd name="connsiteX10" fmla="*/ 948084 w 12191999"/>
              <a:gd name="connsiteY10" fmla="*/ 527224 h 6857999"/>
              <a:gd name="connsiteX11" fmla="*/ 948084 w 12191999"/>
              <a:gd name="connsiteY11" fmla="*/ 449276 h 6857999"/>
              <a:gd name="connsiteX12" fmla="*/ 1036800 w 12191999"/>
              <a:gd name="connsiteY12" fmla="*/ 449276 h 6857999"/>
              <a:gd name="connsiteX13" fmla="*/ 1036800 w 12191999"/>
              <a:gd name="connsiteY13" fmla="*/ 413918 h 6857999"/>
              <a:gd name="connsiteX14" fmla="*/ 596874 w 12191999"/>
              <a:gd name="connsiteY14" fmla="*/ 413918 h 6857999"/>
              <a:gd name="connsiteX15" fmla="*/ 596874 w 12191999"/>
              <a:gd name="connsiteY15" fmla="*/ 449276 h 6857999"/>
              <a:gd name="connsiteX16" fmla="*/ 685590 w 12191999"/>
              <a:gd name="connsiteY16" fmla="*/ 449276 h 6857999"/>
              <a:gd name="connsiteX17" fmla="*/ 685590 w 12191999"/>
              <a:gd name="connsiteY17" fmla="*/ 413918 h 6857999"/>
              <a:gd name="connsiteX18" fmla="*/ 770423 w 12191999"/>
              <a:gd name="connsiteY18" fmla="*/ 371326 h 6857999"/>
              <a:gd name="connsiteX19" fmla="*/ 803073 w 12191999"/>
              <a:gd name="connsiteY19" fmla="*/ 371326 h 6857999"/>
              <a:gd name="connsiteX20" fmla="*/ 816985 w 12191999"/>
              <a:gd name="connsiteY20" fmla="*/ 372123 h 6857999"/>
              <a:gd name="connsiteX21" fmla="*/ 828753 w 12191999"/>
              <a:gd name="connsiteY21" fmla="*/ 375213 h 6857999"/>
              <a:gd name="connsiteX22" fmla="*/ 836909 w 12191999"/>
              <a:gd name="connsiteY22" fmla="*/ 381677 h 6857999"/>
              <a:gd name="connsiteX23" fmla="*/ 839983 w 12191999"/>
              <a:gd name="connsiteY23" fmla="*/ 392622 h 6857999"/>
              <a:gd name="connsiteX24" fmla="*/ 836909 w 12191999"/>
              <a:gd name="connsiteY24" fmla="*/ 403567 h 6857999"/>
              <a:gd name="connsiteX25" fmla="*/ 828753 w 12191999"/>
              <a:gd name="connsiteY25" fmla="*/ 410031 h 6857999"/>
              <a:gd name="connsiteX26" fmla="*/ 816985 w 12191999"/>
              <a:gd name="connsiteY26" fmla="*/ 413122 h 6857999"/>
              <a:gd name="connsiteX27" fmla="*/ 803073 w 12191999"/>
              <a:gd name="connsiteY27" fmla="*/ 413918 h 6857999"/>
              <a:gd name="connsiteX28" fmla="*/ 770423 w 12191999"/>
              <a:gd name="connsiteY28" fmla="*/ 413918 h 6857999"/>
              <a:gd name="connsiteX29" fmla="*/ 1074937 w 12191999"/>
              <a:gd name="connsiteY29" fmla="*/ 335968 h 6857999"/>
              <a:gd name="connsiteX30" fmla="*/ 1074937 w 12191999"/>
              <a:gd name="connsiteY30" fmla="*/ 527238 h 6857999"/>
              <a:gd name="connsiteX31" fmla="*/ 1213140 w 12191999"/>
              <a:gd name="connsiteY31" fmla="*/ 527238 h 6857999"/>
              <a:gd name="connsiteX32" fmla="*/ 1213140 w 12191999"/>
              <a:gd name="connsiteY32" fmla="*/ 491867 h 6857999"/>
              <a:gd name="connsiteX33" fmla="*/ 1116134 w 12191999"/>
              <a:gd name="connsiteY33" fmla="*/ 491867 h 6857999"/>
              <a:gd name="connsiteX34" fmla="*/ 1116134 w 12191999"/>
              <a:gd name="connsiteY34" fmla="*/ 335968 h 6857999"/>
              <a:gd name="connsiteX35" fmla="*/ 906874 w 12191999"/>
              <a:gd name="connsiteY35" fmla="*/ 335968 h 6857999"/>
              <a:gd name="connsiteX36" fmla="*/ 906874 w 12191999"/>
              <a:gd name="connsiteY36" fmla="*/ 413917 h 6857999"/>
              <a:gd name="connsiteX37" fmla="*/ 948084 w 12191999"/>
              <a:gd name="connsiteY37" fmla="*/ 413917 h 6857999"/>
              <a:gd name="connsiteX38" fmla="*/ 948084 w 12191999"/>
              <a:gd name="connsiteY38" fmla="*/ 371326 h 6857999"/>
              <a:gd name="connsiteX39" fmla="*/ 1045091 w 12191999"/>
              <a:gd name="connsiteY39" fmla="*/ 371326 h 6857999"/>
              <a:gd name="connsiteX40" fmla="*/ 1045091 w 12191999"/>
              <a:gd name="connsiteY40" fmla="*/ 335968 h 6857999"/>
              <a:gd name="connsiteX41" fmla="*/ 555663 w 12191999"/>
              <a:gd name="connsiteY41" fmla="*/ 335968 h 6857999"/>
              <a:gd name="connsiteX42" fmla="*/ 555663 w 12191999"/>
              <a:gd name="connsiteY42" fmla="*/ 413917 h 6857999"/>
              <a:gd name="connsiteX43" fmla="*/ 596873 w 12191999"/>
              <a:gd name="connsiteY43" fmla="*/ 413917 h 6857999"/>
              <a:gd name="connsiteX44" fmla="*/ 596873 w 12191999"/>
              <a:gd name="connsiteY44" fmla="*/ 371326 h 6857999"/>
              <a:gd name="connsiteX45" fmla="*/ 693880 w 12191999"/>
              <a:gd name="connsiteY45" fmla="*/ 371326 h 6857999"/>
              <a:gd name="connsiteX46" fmla="*/ 693880 w 12191999"/>
              <a:gd name="connsiteY46" fmla="*/ 335968 h 6857999"/>
              <a:gd name="connsiteX47" fmla="*/ 729199 w 12191999"/>
              <a:gd name="connsiteY47" fmla="*/ 335955 h 6857999"/>
              <a:gd name="connsiteX48" fmla="*/ 729199 w 12191999"/>
              <a:gd name="connsiteY48" fmla="*/ 527225 h 6857999"/>
              <a:gd name="connsiteX49" fmla="*/ 770409 w 12191999"/>
              <a:gd name="connsiteY49" fmla="*/ 527225 h 6857999"/>
              <a:gd name="connsiteX50" fmla="*/ 770409 w 12191999"/>
              <a:gd name="connsiteY50" fmla="*/ 449262 h 6857999"/>
              <a:gd name="connsiteX51" fmla="*/ 814558 w 12191999"/>
              <a:gd name="connsiteY51" fmla="*/ 449262 h 6857999"/>
              <a:gd name="connsiteX52" fmla="*/ 845065 w 12191999"/>
              <a:gd name="connsiteY52" fmla="*/ 444444 h 6857999"/>
              <a:gd name="connsiteX53" fmla="*/ 865542 w 12191999"/>
              <a:gd name="connsiteY53" fmla="*/ 431705 h 6857999"/>
              <a:gd name="connsiteX54" fmla="*/ 877054 w 12191999"/>
              <a:gd name="connsiteY54" fmla="*/ 413526 h 6857999"/>
              <a:gd name="connsiteX55" fmla="*/ 880667 w 12191999"/>
              <a:gd name="connsiteY55" fmla="*/ 392622 h 6857999"/>
              <a:gd name="connsiteX56" fmla="*/ 877054 w 12191999"/>
              <a:gd name="connsiteY56" fmla="*/ 371596 h 6857999"/>
              <a:gd name="connsiteX57" fmla="*/ 865542 w 12191999"/>
              <a:gd name="connsiteY57" fmla="*/ 353539 h 6857999"/>
              <a:gd name="connsiteX58" fmla="*/ 865542 w 12191999"/>
              <a:gd name="connsiteY58" fmla="*/ 353526 h 6857999"/>
              <a:gd name="connsiteX59" fmla="*/ 845065 w 12191999"/>
              <a:gd name="connsiteY59" fmla="*/ 340786 h 6857999"/>
              <a:gd name="connsiteX60" fmla="*/ 814558 w 12191999"/>
              <a:gd name="connsiteY60" fmla="*/ 335955 h 6857999"/>
              <a:gd name="connsiteX61" fmla="*/ 0 w 12191999"/>
              <a:gd name="connsiteY61" fmla="*/ 0 h 6857999"/>
              <a:gd name="connsiteX62" fmla="*/ 12191999 w 12191999"/>
              <a:gd name="connsiteY62" fmla="*/ 0 h 6857999"/>
              <a:gd name="connsiteX63" fmla="*/ 12191999 w 12191999"/>
              <a:gd name="connsiteY63" fmla="*/ 6857999 h 6857999"/>
              <a:gd name="connsiteX64" fmla="*/ 0 w 12191999"/>
              <a:gd name="connsiteY64" fmla="*/ 6857999 h 6857999"/>
            </a:gdLst>
            <a:ahLst/>
            <a:cxnLst/>
            <a:rect l="l" t="t" r="r" b="b"/>
            <a:pathLst>
              <a:path w="12191999" h="6857999">
                <a:moveTo>
                  <a:pt x="555663" y="449275"/>
                </a:moveTo>
                <a:lnTo>
                  <a:pt x="555663" y="527238"/>
                </a:lnTo>
                <a:lnTo>
                  <a:pt x="693880" y="527238"/>
                </a:lnTo>
                <a:lnTo>
                  <a:pt x="693880" y="491866"/>
                </a:lnTo>
                <a:lnTo>
                  <a:pt x="596873" y="491866"/>
                </a:lnTo>
                <a:lnTo>
                  <a:pt x="596873" y="449275"/>
                </a:lnTo>
                <a:close/>
                <a:moveTo>
                  <a:pt x="948084" y="413918"/>
                </a:moveTo>
                <a:lnTo>
                  <a:pt x="948084" y="449275"/>
                </a:lnTo>
                <a:lnTo>
                  <a:pt x="906874" y="449275"/>
                </a:lnTo>
                <a:lnTo>
                  <a:pt x="906874" y="527224"/>
                </a:lnTo>
                <a:lnTo>
                  <a:pt x="948084" y="527224"/>
                </a:lnTo>
                <a:lnTo>
                  <a:pt x="948084" y="449276"/>
                </a:lnTo>
                <a:lnTo>
                  <a:pt x="1036800" y="449276"/>
                </a:lnTo>
                <a:lnTo>
                  <a:pt x="1036800" y="413918"/>
                </a:lnTo>
                <a:close/>
                <a:moveTo>
                  <a:pt x="596874" y="413918"/>
                </a:moveTo>
                <a:lnTo>
                  <a:pt x="596874" y="449276"/>
                </a:lnTo>
                <a:lnTo>
                  <a:pt x="685590" y="449276"/>
                </a:lnTo>
                <a:lnTo>
                  <a:pt x="685590" y="413918"/>
                </a:lnTo>
                <a:close/>
                <a:moveTo>
                  <a:pt x="770423" y="371326"/>
                </a:moveTo>
                <a:lnTo>
                  <a:pt x="803073" y="371326"/>
                </a:lnTo>
                <a:cubicBezTo>
                  <a:pt x="807885" y="371326"/>
                  <a:pt x="812523" y="371596"/>
                  <a:pt x="816985" y="372123"/>
                </a:cubicBezTo>
                <a:cubicBezTo>
                  <a:pt x="821447" y="372649"/>
                  <a:pt x="825370" y="373688"/>
                  <a:pt x="828753" y="375213"/>
                </a:cubicBezTo>
                <a:cubicBezTo>
                  <a:pt x="832137" y="376738"/>
                  <a:pt x="834860" y="378897"/>
                  <a:pt x="836909" y="381677"/>
                </a:cubicBezTo>
                <a:cubicBezTo>
                  <a:pt x="838958" y="384457"/>
                  <a:pt x="839983" y="388115"/>
                  <a:pt x="839983" y="392622"/>
                </a:cubicBezTo>
                <a:cubicBezTo>
                  <a:pt x="839983" y="397130"/>
                  <a:pt x="838958" y="400787"/>
                  <a:pt x="836909" y="403567"/>
                </a:cubicBezTo>
                <a:cubicBezTo>
                  <a:pt x="834860" y="406347"/>
                  <a:pt x="832137" y="408506"/>
                  <a:pt x="828753" y="410031"/>
                </a:cubicBezTo>
                <a:cubicBezTo>
                  <a:pt x="825356" y="411556"/>
                  <a:pt x="821433" y="412582"/>
                  <a:pt x="816985" y="413122"/>
                </a:cubicBezTo>
                <a:cubicBezTo>
                  <a:pt x="812523" y="413648"/>
                  <a:pt x="807885" y="413918"/>
                  <a:pt x="803073" y="413918"/>
                </a:cubicBezTo>
                <a:lnTo>
                  <a:pt x="770423" y="413918"/>
                </a:lnTo>
                <a:close/>
                <a:moveTo>
                  <a:pt x="1074937" y="335968"/>
                </a:moveTo>
                <a:lnTo>
                  <a:pt x="1074937" y="527238"/>
                </a:lnTo>
                <a:lnTo>
                  <a:pt x="1213140" y="527238"/>
                </a:lnTo>
                <a:lnTo>
                  <a:pt x="1213140" y="491867"/>
                </a:lnTo>
                <a:lnTo>
                  <a:pt x="1116134" y="491867"/>
                </a:lnTo>
                <a:lnTo>
                  <a:pt x="1116134" y="335968"/>
                </a:lnTo>
                <a:close/>
                <a:moveTo>
                  <a:pt x="906874" y="335968"/>
                </a:moveTo>
                <a:lnTo>
                  <a:pt x="906874" y="413917"/>
                </a:lnTo>
                <a:lnTo>
                  <a:pt x="948084" y="413917"/>
                </a:lnTo>
                <a:lnTo>
                  <a:pt x="948084" y="371326"/>
                </a:lnTo>
                <a:lnTo>
                  <a:pt x="1045091" y="371326"/>
                </a:lnTo>
                <a:lnTo>
                  <a:pt x="1045091" y="335968"/>
                </a:lnTo>
                <a:close/>
                <a:moveTo>
                  <a:pt x="555663" y="335968"/>
                </a:moveTo>
                <a:lnTo>
                  <a:pt x="555663" y="413917"/>
                </a:lnTo>
                <a:lnTo>
                  <a:pt x="596873" y="413917"/>
                </a:lnTo>
                <a:lnTo>
                  <a:pt x="596873" y="371326"/>
                </a:lnTo>
                <a:lnTo>
                  <a:pt x="693880" y="371326"/>
                </a:lnTo>
                <a:lnTo>
                  <a:pt x="693880" y="335968"/>
                </a:lnTo>
                <a:close/>
                <a:moveTo>
                  <a:pt x="729199" y="335955"/>
                </a:moveTo>
                <a:lnTo>
                  <a:pt x="729199" y="527225"/>
                </a:lnTo>
                <a:lnTo>
                  <a:pt x="770409" y="527225"/>
                </a:lnTo>
                <a:lnTo>
                  <a:pt x="770409" y="449262"/>
                </a:lnTo>
                <a:lnTo>
                  <a:pt x="814558" y="449262"/>
                </a:lnTo>
                <a:cubicBezTo>
                  <a:pt x="826502" y="449262"/>
                  <a:pt x="836680" y="447656"/>
                  <a:pt x="845065" y="444444"/>
                </a:cubicBezTo>
                <a:cubicBezTo>
                  <a:pt x="853450" y="441232"/>
                  <a:pt x="860271" y="436981"/>
                  <a:pt x="865542" y="431705"/>
                </a:cubicBezTo>
                <a:cubicBezTo>
                  <a:pt x="870799" y="426428"/>
                  <a:pt x="874641" y="420369"/>
                  <a:pt x="877054" y="413526"/>
                </a:cubicBezTo>
                <a:cubicBezTo>
                  <a:pt x="879467" y="406684"/>
                  <a:pt x="880667" y="399721"/>
                  <a:pt x="880667" y="392622"/>
                </a:cubicBezTo>
                <a:cubicBezTo>
                  <a:pt x="880667" y="385524"/>
                  <a:pt x="879467" y="378357"/>
                  <a:pt x="877054" y="371596"/>
                </a:cubicBezTo>
                <a:cubicBezTo>
                  <a:pt x="874641" y="364835"/>
                  <a:pt x="870813" y="358816"/>
                  <a:pt x="865542" y="353539"/>
                </a:cubicBezTo>
                <a:lnTo>
                  <a:pt x="865542" y="353526"/>
                </a:lnTo>
                <a:cubicBezTo>
                  <a:pt x="860271" y="348249"/>
                  <a:pt x="853450" y="343998"/>
                  <a:pt x="845065" y="340786"/>
                </a:cubicBezTo>
                <a:cubicBezTo>
                  <a:pt x="836680" y="337574"/>
                  <a:pt x="826502" y="335955"/>
                  <a:pt x="814558" y="335955"/>
                </a:cubicBezTo>
                <a:close/>
                <a:moveTo>
                  <a:pt x="0" y="0"/>
                </a:moveTo>
                <a:lnTo>
                  <a:pt x="12191999" y="0"/>
                </a:lnTo>
                <a:lnTo>
                  <a:pt x="12191999" y="6857999"/>
                </a:lnTo>
                <a:lnTo>
                  <a:pt x="0" y="6857999"/>
                </a:lnTo>
                <a:close/>
              </a:path>
            </a:pathLst>
          </a:custGeom>
        </p:spPr>
        <p:txBody>
          <a:bodyPr wrap="square">
            <a:noAutofit/>
          </a:bodyPr>
          <a:lstStyle/>
          <a:p>
            <a:r>
              <a:t>Cliquez sur l'icône pour ajouter une image</a:t>
            </a:r>
          </a:p>
        </p:txBody>
      </p:sp>
      <p:sp>
        <p:nvSpPr>
          <p:cNvPr id="2" name="Espace réservé de la date 1">
            <a:extLst>
              <a:ext uri="{FF2B5EF4-FFF2-40B4-BE49-F238E27FC236}">
                <a16:creationId xmlns:a16="http://schemas.microsoft.com/office/drawing/2014/main" id="{22F0DAA2-4F8C-57C5-70AF-C09C85FE85E3}"/>
              </a:ext>
            </a:extLst>
          </p:cNvPr>
          <p:cNvSpPr>
            <a:spLocks noGrp="1"/>
          </p:cNvSpPr>
          <p:nvPr>
            <p:ph type="dt" idx="14"/>
          </p:nvPr>
        </p:nvSpPr>
        <p:spPr/>
        <p:txBody>
          <a:bodyPr/>
          <a:lstStyle/>
          <a:p>
            <a:r>
              <a:t>TITLE OF THE PRESENTATION</a:t>
            </a:r>
          </a:p>
        </p:txBody>
      </p:sp>
      <p:sp>
        <p:nvSpPr>
          <p:cNvPr id="3" name="Espace réservé du pied de page 2">
            <a:extLst>
              <a:ext uri="{FF2B5EF4-FFF2-40B4-BE49-F238E27FC236}">
                <a16:creationId xmlns:a16="http://schemas.microsoft.com/office/drawing/2014/main" id="{6EA54448-3D98-55D4-A93A-919F2D091CD3}"/>
              </a:ext>
            </a:extLst>
          </p:cNvPr>
          <p:cNvSpPr>
            <a:spLocks noGrp="1"/>
          </p:cNvSpPr>
          <p:nvPr>
            <p:ph type="ftr" idx="15"/>
          </p:nvPr>
        </p:nvSpPr>
        <p:spPr/>
        <p:txBody>
          <a:bodyPr/>
          <a:lstStyle/>
          <a:p>
            <a:r>
              <a:t>Speaker name</a:t>
            </a:r>
          </a:p>
        </p:txBody>
      </p:sp>
      <p:sp>
        <p:nvSpPr>
          <p:cNvPr id="4" name="Espace réservé du numéro de diapositive 3">
            <a:extLst>
              <a:ext uri="{FF2B5EF4-FFF2-40B4-BE49-F238E27FC236}">
                <a16:creationId xmlns:a16="http://schemas.microsoft.com/office/drawing/2014/main" id="{751EDA2B-8A2F-D33E-C6F9-727DD4FC59FF}"/>
              </a:ext>
            </a:extLst>
          </p:cNvPr>
          <p:cNvSpPr>
            <a:spLocks noGrp="1"/>
          </p:cNvSpPr>
          <p:nvPr>
            <p:ph type="sldNum" idx="16"/>
          </p:nvPr>
        </p:nvSpPr>
        <p:spPr/>
        <p:txBody>
          <a:bodyPr/>
          <a:lstStyle/>
          <a:p>
            <a:fld id="{E1E1CD7C-2161-7D43-862E-CE4C333CD873}" type="slidenum">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 image title">
    <p:spTree>
      <p:nvGrpSpPr>
        <p:cNvPr id="1" name=""/>
        <p:cNvGrpSpPr/>
        <p:nvPr/>
      </p:nvGrpSpPr>
      <p:grpSpPr>
        <a:xfrm>
          <a:off x="0" y="0"/>
          <a:ext cx="0" cy="0"/>
          <a:chOff x="0" y="0"/>
          <a:chExt cx="0" cy="0"/>
        </a:xfrm>
      </p:grpSpPr>
      <p:sp>
        <p:nvSpPr>
          <p:cNvPr id="18" name="Espace réservé pour une image  17">
            <a:extLst>
              <a:ext uri="{FF2B5EF4-FFF2-40B4-BE49-F238E27FC236}">
                <a16:creationId xmlns:a16="http://schemas.microsoft.com/office/drawing/2014/main" id="{B5DEE997-6BE2-8721-E274-AB6D2BAD8AD3}"/>
              </a:ext>
            </a:extLst>
          </p:cNvPr>
          <p:cNvSpPr>
            <a:spLocks noGrp="1"/>
          </p:cNvSpPr>
          <p:nvPr>
            <p:ph type="pic" idx="13"/>
          </p:nvPr>
        </p:nvSpPr>
        <p:spPr>
          <a:xfrm>
            <a:off x="0" y="0"/>
            <a:ext cx="12191999" cy="6857999"/>
          </a:xfrm>
          <a:custGeom>
            <a:avLst/>
            <a:gdLst>
              <a:gd name="connsiteX0" fmla="*/ 555663 w 12191999"/>
              <a:gd name="connsiteY0" fmla="*/ 449275 h 6857999"/>
              <a:gd name="connsiteX1" fmla="*/ 555663 w 12191999"/>
              <a:gd name="connsiteY1" fmla="*/ 527238 h 6857999"/>
              <a:gd name="connsiteX2" fmla="*/ 693880 w 12191999"/>
              <a:gd name="connsiteY2" fmla="*/ 527238 h 6857999"/>
              <a:gd name="connsiteX3" fmla="*/ 693880 w 12191999"/>
              <a:gd name="connsiteY3" fmla="*/ 491866 h 6857999"/>
              <a:gd name="connsiteX4" fmla="*/ 596873 w 12191999"/>
              <a:gd name="connsiteY4" fmla="*/ 491866 h 6857999"/>
              <a:gd name="connsiteX5" fmla="*/ 596873 w 12191999"/>
              <a:gd name="connsiteY5" fmla="*/ 449275 h 6857999"/>
              <a:gd name="connsiteX6" fmla="*/ 948084 w 12191999"/>
              <a:gd name="connsiteY6" fmla="*/ 413918 h 6857999"/>
              <a:gd name="connsiteX7" fmla="*/ 948084 w 12191999"/>
              <a:gd name="connsiteY7" fmla="*/ 449275 h 6857999"/>
              <a:gd name="connsiteX8" fmla="*/ 906874 w 12191999"/>
              <a:gd name="connsiteY8" fmla="*/ 449275 h 6857999"/>
              <a:gd name="connsiteX9" fmla="*/ 906874 w 12191999"/>
              <a:gd name="connsiteY9" fmla="*/ 527224 h 6857999"/>
              <a:gd name="connsiteX10" fmla="*/ 948084 w 12191999"/>
              <a:gd name="connsiteY10" fmla="*/ 527224 h 6857999"/>
              <a:gd name="connsiteX11" fmla="*/ 948084 w 12191999"/>
              <a:gd name="connsiteY11" fmla="*/ 449276 h 6857999"/>
              <a:gd name="connsiteX12" fmla="*/ 1036800 w 12191999"/>
              <a:gd name="connsiteY12" fmla="*/ 449276 h 6857999"/>
              <a:gd name="connsiteX13" fmla="*/ 1036800 w 12191999"/>
              <a:gd name="connsiteY13" fmla="*/ 413918 h 6857999"/>
              <a:gd name="connsiteX14" fmla="*/ 596874 w 12191999"/>
              <a:gd name="connsiteY14" fmla="*/ 413918 h 6857999"/>
              <a:gd name="connsiteX15" fmla="*/ 596874 w 12191999"/>
              <a:gd name="connsiteY15" fmla="*/ 449276 h 6857999"/>
              <a:gd name="connsiteX16" fmla="*/ 685590 w 12191999"/>
              <a:gd name="connsiteY16" fmla="*/ 449276 h 6857999"/>
              <a:gd name="connsiteX17" fmla="*/ 685590 w 12191999"/>
              <a:gd name="connsiteY17" fmla="*/ 413918 h 6857999"/>
              <a:gd name="connsiteX18" fmla="*/ 770423 w 12191999"/>
              <a:gd name="connsiteY18" fmla="*/ 371326 h 6857999"/>
              <a:gd name="connsiteX19" fmla="*/ 803073 w 12191999"/>
              <a:gd name="connsiteY19" fmla="*/ 371326 h 6857999"/>
              <a:gd name="connsiteX20" fmla="*/ 816985 w 12191999"/>
              <a:gd name="connsiteY20" fmla="*/ 372123 h 6857999"/>
              <a:gd name="connsiteX21" fmla="*/ 828753 w 12191999"/>
              <a:gd name="connsiteY21" fmla="*/ 375213 h 6857999"/>
              <a:gd name="connsiteX22" fmla="*/ 836909 w 12191999"/>
              <a:gd name="connsiteY22" fmla="*/ 381677 h 6857999"/>
              <a:gd name="connsiteX23" fmla="*/ 839983 w 12191999"/>
              <a:gd name="connsiteY23" fmla="*/ 392622 h 6857999"/>
              <a:gd name="connsiteX24" fmla="*/ 836909 w 12191999"/>
              <a:gd name="connsiteY24" fmla="*/ 403567 h 6857999"/>
              <a:gd name="connsiteX25" fmla="*/ 828753 w 12191999"/>
              <a:gd name="connsiteY25" fmla="*/ 410031 h 6857999"/>
              <a:gd name="connsiteX26" fmla="*/ 816985 w 12191999"/>
              <a:gd name="connsiteY26" fmla="*/ 413122 h 6857999"/>
              <a:gd name="connsiteX27" fmla="*/ 803073 w 12191999"/>
              <a:gd name="connsiteY27" fmla="*/ 413918 h 6857999"/>
              <a:gd name="connsiteX28" fmla="*/ 770423 w 12191999"/>
              <a:gd name="connsiteY28" fmla="*/ 413918 h 6857999"/>
              <a:gd name="connsiteX29" fmla="*/ 1074937 w 12191999"/>
              <a:gd name="connsiteY29" fmla="*/ 335968 h 6857999"/>
              <a:gd name="connsiteX30" fmla="*/ 1074937 w 12191999"/>
              <a:gd name="connsiteY30" fmla="*/ 527238 h 6857999"/>
              <a:gd name="connsiteX31" fmla="*/ 1213140 w 12191999"/>
              <a:gd name="connsiteY31" fmla="*/ 527238 h 6857999"/>
              <a:gd name="connsiteX32" fmla="*/ 1213140 w 12191999"/>
              <a:gd name="connsiteY32" fmla="*/ 491867 h 6857999"/>
              <a:gd name="connsiteX33" fmla="*/ 1116134 w 12191999"/>
              <a:gd name="connsiteY33" fmla="*/ 491867 h 6857999"/>
              <a:gd name="connsiteX34" fmla="*/ 1116134 w 12191999"/>
              <a:gd name="connsiteY34" fmla="*/ 335968 h 6857999"/>
              <a:gd name="connsiteX35" fmla="*/ 906874 w 12191999"/>
              <a:gd name="connsiteY35" fmla="*/ 335968 h 6857999"/>
              <a:gd name="connsiteX36" fmla="*/ 906874 w 12191999"/>
              <a:gd name="connsiteY36" fmla="*/ 413917 h 6857999"/>
              <a:gd name="connsiteX37" fmla="*/ 948084 w 12191999"/>
              <a:gd name="connsiteY37" fmla="*/ 413917 h 6857999"/>
              <a:gd name="connsiteX38" fmla="*/ 948084 w 12191999"/>
              <a:gd name="connsiteY38" fmla="*/ 371326 h 6857999"/>
              <a:gd name="connsiteX39" fmla="*/ 1045091 w 12191999"/>
              <a:gd name="connsiteY39" fmla="*/ 371326 h 6857999"/>
              <a:gd name="connsiteX40" fmla="*/ 1045091 w 12191999"/>
              <a:gd name="connsiteY40" fmla="*/ 335968 h 6857999"/>
              <a:gd name="connsiteX41" fmla="*/ 555663 w 12191999"/>
              <a:gd name="connsiteY41" fmla="*/ 335968 h 6857999"/>
              <a:gd name="connsiteX42" fmla="*/ 555663 w 12191999"/>
              <a:gd name="connsiteY42" fmla="*/ 413917 h 6857999"/>
              <a:gd name="connsiteX43" fmla="*/ 596873 w 12191999"/>
              <a:gd name="connsiteY43" fmla="*/ 413917 h 6857999"/>
              <a:gd name="connsiteX44" fmla="*/ 596873 w 12191999"/>
              <a:gd name="connsiteY44" fmla="*/ 371326 h 6857999"/>
              <a:gd name="connsiteX45" fmla="*/ 693880 w 12191999"/>
              <a:gd name="connsiteY45" fmla="*/ 371326 h 6857999"/>
              <a:gd name="connsiteX46" fmla="*/ 693880 w 12191999"/>
              <a:gd name="connsiteY46" fmla="*/ 335968 h 6857999"/>
              <a:gd name="connsiteX47" fmla="*/ 729199 w 12191999"/>
              <a:gd name="connsiteY47" fmla="*/ 335955 h 6857999"/>
              <a:gd name="connsiteX48" fmla="*/ 729199 w 12191999"/>
              <a:gd name="connsiteY48" fmla="*/ 527225 h 6857999"/>
              <a:gd name="connsiteX49" fmla="*/ 770409 w 12191999"/>
              <a:gd name="connsiteY49" fmla="*/ 527225 h 6857999"/>
              <a:gd name="connsiteX50" fmla="*/ 770409 w 12191999"/>
              <a:gd name="connsiteY50" fmla="*/ 449262 h 6857999"/>
              <a:gd name="connsiteX51" fmla="*/ 814558 w 12191999"/>
              <a:gd name="connsiteY51" fmla="*/ 449262 h 6857999"/>
              <a:gd name="connsiteX52" fmla="*/ 845065 w 12191999"/>
              <a:gd name="connsiteY52" fmla="*/ 444444 h 6857999"/>
              <a:gd name="connsiteX53" fmla="*/ 865542 w 12191999"/>
              <a:gd name="connsiteY53" fmla="*/ 431705 h 6857999"/>
              <a:gd name="connsiteX54" fmla="*/ 877054 w 12191999"/>
              <a:gd name="connsiteY54" fmla="*/ 413526 h 6857999"/>
              <a:gd name="connsiteX55" fmla="*/ 880667 w 12191999"/>
              <a:gd name="connsiteY55" fmla="*/ 392622 h 6857999"/>
              <a:gd name="connsiteX56" fmla="*/ 877054 w 12191999"/>
              <a:gd name="connsiteY56" fmla="*/ 371596 h 6857999"/>
              <a:gd name="connsiteX57" fmla="*/ 865542 w 12191999"/>
              <a:gd name="connsiteY57" fmla="*/ 353539 h 6857999"/>
              <a:gd name="connsiteX58" fmla="*/ 865542 w 12191999"/>
              <a:gd name="connsiteY58" fmla="*/ 353526 h 6857999"/>
              <a:gd name="connsiteX59" fmla="*/ 845065 w 12191999"/>
              <a:gd name="connsiteY59" fmla="*/ 340786 h 6857999"/>
              <a:gd name="connsiteX60" fmla="*/ 814558 w 12191999"/>
              <a:gd name="connsiteY60" fmla="*/ 335955 h 6857999"/>
              <a:gd name="connsiteX61" fmla="*/ 0 w 12191999"/>
              <a:gd name="connsiteY61" fmla="*/ 0 h 6857999"/>
              <a:gd name="connsiteX62" fmla="*/ 12191999 w 12191999"/>
              <a:gd name="connsiteY62" fmla="*/ 0 h 6857999"/>
              <a:gd name="connsiteX63" fmla="*/ 12191999 w 12191999"/>
              <a:gd name="connsiteY63" fmla="*/ 6857999 h 6857999"/>
              <a:gd name="connsiteX64" fmla="*/ 0 w 12191999"/>
              <a:gd name="connsiteY64" fmla="*/ 6857999 h 6857999"/>
            </a:gdLst>
            <a:ahLst/>
            <a:cxnLst/>
            <a:rect l="l" t="t" r="r" b="b"/>
            <a:pathLst>
              <a:path w="12191999" h="6857999">
                <a:moveTo>
                  <a:pt x="555663" y="449275"/>
                </a:moveTo>
                <a:lnTo>
                  <a:pt x="555663" y="527238"/>
                </a:lnTo>
                <a:lnTo>
                  <a:pt x="693880" y="527238"/>
                </a:lnTo>
                <a:lnTo>
                  <a:pt x="693880" y="491866"/>
                </a:lnTo>
                <a:lnTo>
                  <a:pt x="596873" y="491866"/>
                </a:lnTo>
                <a:lnTo>
                  <a:pt x="596873" y="449275"/>
                </a:lnTo>
                <a:close/>
                <a:moveTo>
                  <a:pt x="948084" y="413918"/>
                </a:moveTo>
                <a:lnTo>
                  <a:pt x="948084" y="449275"/>
                </a:lnTo>
                <a:lnTo>
                  <a:pt x="906874" y="449275"/>
                </a:lnTo>
                <a:lnTo>
                  <a:pt x="906874" y="527224"/>
                </a:lnTo>
                <a:lnTo>
                  <a:pt x="948084" y="527224"/>
                </a:lnTo>
                <a:lnTo>
                  <a:pt x="948084" y="449276"/>
                </a:lnTo>
                <a:lnTo>
                  <a:pt x="1036800" y="449276"/>
                </a:lnTo>
                <a:lnTo>
                  <a:pt x="1036800" y="413918"/>
                </a:lnTo>
                <a:close/>
                <a:moveTo>
                  <a:pt x="596874" y="413918"/>
                </a:moveTo>
                <a:lnTo>
                  <a:pt x="596874" y="449276"/>
                </a:lnTo>
                <a:lnTo>
                  <a:pt x="685590" y="449276"/>
                </a:lnTo>
                <a:lnTo>
                  <a:pt x="685590" y="413918"/>
                </a:lnTo>
                <a:close/>
                <a:moveTo>
                  <a:pt x="770423" y="371326"/>
                </a:moveTo>
                <a:lnTo>
                  <a:pt x="803073" y="371326"/>
                </a:lnTo>
                <a:cubicBezTo>
                  <a:pt x="807885" y="371326"/>
                  <a:pt x="812523" y="371596"/>
                  <a:pt x="816985" y="372123"/>
                </a:cubicBezTo>
                <a:cubicBezTo>
                  <a:pt x="821447" y="372649"/>
                  <a:pt x="825370" y="373688"/>
                  <a:pt x="828753" y="375213"/>
                </a:cubicBezTo>
                <a:cubicBezTo>
                  <a:pt x="832137" y="376738"/>
                  <a:pt x="834860" y="378897"/>
                  <a:pt x="836909" y="381677"/>
                </a:cubicBezTo>
                <a:cubicBezTo>
                  <a:pt x="838958" y="384457"/>
                  <a:pt x="839983" y="388115"/>
                  <a:pt x="839983" y="392622"/>
                </a:cubicBezTo>
                <a:cubicBezTo>
                  <a:pt x="839983" y="397130"/>
                  <a:pt x="838958" y="400787"/>
                  <a:pt x="836909" y="403567"/>
                </a:cubicBezTo>
                <a:cubicBezTo>
                  <a:pt x="834860" y="406347"/>
                  <a:pt x="832137" y="408506"/>
                  <a:pt x="828753" y="410031"/>
                </a:cubicBezTo>
                <a:cubicBezTo>
                  <a:pt x="825356" y="411556"/>
                  <a:pt x="821433" y="412582"/>
                  <a:pt x="816985" y="413122"/>
                </a:cubicBezTo>
                <a:cubicBezTo>
                  <a:pt x="812523" y="413648"/>
                  <a:pt x="807885" y="413918"/>
                  <a:pt x="803073" y="413918"/>
                </a:cubicBezTo>
                <a:lnTo>
                  <a:pt x="770423" y="413918"/>
                </a:lnTo>
                <a:close/>
                <a:moveTo>
                  <a:pt x="1074937" y="335968"/>
                </a:moveTo>
                <a:lnTo>
                  <a:pt x="1074937" y="527238"/>
                </a:lnTo>
                <a:lnTo>
                  <a:pt x="1213140" y="527238"/>
                </a:lnTo>
                <a:lnTo>
                  <a:pt x="1213140" y="491867"/>
                </a:lnTo>
                <a:lnTo>
                  <a:pt x="1116134" y="491867"/>
                </a:lnTo>
                <a:lnTo>
                  <a:pt x="1116134" y="335968"/>
                </a:lnTo>
                <a:close/>
                <a:moveTo>
                  <a:pt x="906874" y="335968"/>
                </a:moveTo>
                <a:lnTo>
                  <a:pt x="906874" y="413917"/>
                </a:lnTo>
                <a:lnTo>
                  <a:pt x="948084" y="413917"/>
                </a:lnTo>
                <a:lnTo>
                  <a:pt x="948084" y="371326"/>
                </a:lnTo>
                <a:lnTo>
                  <a:pt x="1045091" y="371326"/>
                </a:lnTo>
                <a:lnTo>
                  <a:pt x="1045091" y="335968"/>
                </a:lnTo>
                <a:close/>
                <a:moveTo>
                  <a:pt x="555663" y="335968"/>
                </a:moveTo>
                <a:lnTo>
                  <a:pt x="555663" y="413917"/>
                </a:lnTo>
                <a:lnTo>
                  <a:pt x="596873" y="413917"/>
                </a:lnTo>
                <a:lnTo>
                  <a:pt x="596873" y="371326"/>
                </a:lnTo>
                <a:lnTo>
                  <a:pt x="693880" y="371326"/>
                </a:lnTo>
                <a:lnTo>
                  <a:pt x="693880" y="335968"/>
                </a:lnTo>
                <a:close/>
                <a:moveTo>
                  <a:pt x="729199" y="335955"/>
                </a:moveTo>
                <a:lnTo>
                  <a:pt x="729199" y="527225"/>
                </a:lnTo>
                <a:lnTo>
                  <a:pt x="770409" y="527225"/>
                </a:lnTo>
                <a:lnTo>
                  <a:pt x="770409" y="449262"/>
                </a:lnTo>
                <a:lnTo>
                  <a:pt x="814558" y="449262"/>
                </a:lnTo>
                <a:cubicBezTo>
                  <a:pt x="826502" y="449262"/>
                  <a:pt x="836680" y="447656"/>
                  <a:pt x="845065" y="444444"/>
                </a:cubicBezTo>
                <a:cubicBezTo>
                  <a:pt x="853450" y="441232"/>
                  <a:pt x="860271" y="436981"/>
                  <a:pt x="865542" y="431705"/>
                </a:cubicBezTo>
                <a:cubicBezTo>
                  <a:pt x="870799" y="426428"/>
                  <a:pt x="874641" y="420369"/>
                  <a:pt x="877054" y="413526"/>
                </a:cubicBezTo>
                <a:cubicBezTo>
                  <a:pt x="879467" y="406684"/>
                  <a:pt x="880667" y="399721"/>
                  <a:pt x="880667" y="392622"/>
                </a:cubicBezTo>
                <a:cubicBezTo>
                  <a:pt x="880667" y="385524"/>
                  <a:pt x="879467" y="378357"/>
                  <a:pt x="877054" y="371596"/>
                </a:cubicBezTo>
                <a:cubicBezTo>
                  <a:pt x="874641" y="364835"/>
                  <a:pt x="870813" y="358816"/>
                  <a:pt x="865542" y="353539"/>
                </a:cubicBezTo>
                <a:lnTo>
                  <a:pt x="865542" y="353526"/>
                </a:lnTo>
                <a:cubicBezTo>
                  <a:pt x="860271" y="348249"/>
                  <a:pt x="853450" y="343998"/>
                  <a:pt x="845065" y="340786"/>
                </a:cubicBezTo>
                <a:cubicBezTo>
                  <a:pt x="836680" y="337574"/>
                  <a:pt x="826502" y="335955"/>
                  <a:pt x="814558" y="335955"/>
                </a:cubicBezTo>
                <a:close/>
                <a:moveTo>
                  <a:pt x="0" y="0"/>
                </a:moveTo>
                <a:lnTo>
                  <a:pt x="12191999" y="0"/>
                </a:lnTo>
                <a:lnTo>
                  <a:pt x="12191999" y="6857999"/>
                </a:lnTo>
                <a:lnTo>
                  <a:pt x="0" y="6857999"/>
                </a:lnTo>
                <a:close/>
              </a:path>
            </a:pathLst>
          </a:custGeom>
        </p:spPr>
        <p:txBody>
          <a:bodyPr wrap="square">
            <a:noAutofit/>
          </a:bodyPr>
          <a:lstStyle/>
          <a:p>
            <a:r>
              <a:t>Cliquez sur l'icône pour ajouter une image</a:t>
            </a:r>
          </a:p>
        </p:txBody>
      </p:sp>
      <p:sp>
        <p:nvSpPr>
          <p:cNvPr id="2" name="Titre 1">
            <a:extLst>
              <a:ext uri="{FF2B5EF4-FFF2-40B4-BE49-F238E27FC236}">
                <a16:creationId xmlns:a16="http://schemas.microsoft.com/office/drawing/2014/main" id="{C596DC45-A2F3-ED7E-0FA3-50FAE375C6A9}"/>
              </a:ext>
            </a:extLst>
          </p:cNvPr>
          <p:cNvSpPr>
            <a:spLocks noGrp="1"/>
          </p:cNvSpPr>
          <p:nvPr>
            <p:ph type="title"/>
          </p:nvPr>
        </p:nvSpPr>
        <p:spPr/>
        <p:txBody>
          <a:bodyPr/>
          <a:lstStyle/>
          <a:p>
            <a:r>
              <a:t>Modifiez le style du titre</a:t>
            </a:r>
          </a:p>
        </p:txBody>
      </p:sp>
      <p:sp>
        <p:nvSpPr>
          <p:cNvPr id="3" name="Espace réservé de la date 2">
            <a:extLst>
              <a:ext uri="{FF2B5EF4-FFF2-40B4-BE49-F238E27FC236}">
                <a16:creationId xmlns:a16="http://schemas.microsoft.com/office/drawing/2014/main" id="{E537400C-1017-B66F-9CB5-7D2B04E5F6B3}"/>
              </a:ext>
            </a:extLst>
          </p:cNvPr>
          <p:cNvSpPr>
            <a:spLocks noGrp="1"/>
          </p:cNvSpPr>
          <p:nvPr>
            <p:ph type="dt" idx="14"/>
          </p:nvPr>
        </p:nvSpPr>
        <p:spPr/>
        <p:txBody>
          <a:bodyPr/>
          <a:lstStyle/>
          <a:p>
            <a:r>
              <a:t>TITLE OF THE PRESENTATION</a:t>
            </a:r>
          </a:p>
        </p:txBody>
      </p:sp>
      <p:sp>
        <p:nvSpPr>
          <p:cNvPr id="4" name="Espace réservé du pied de page 3">
            <a:extLst>
              <a:ext uri="{FF2B5EF4-FFF2-40B4-BE49-F238E27FC236}">
                <a16:creationId xmlns:a16="http://schemas.microsoft.com/office/drawing/2014/main" id="{BE6CCDED-88C0-1A5D-5485-599A78795388}"/>
              </a:ext>
            </a:extLst>
          </p:cNvPr>
          <p:cNvSpPr>
            <a:spLocks noGrp="1"/>
          </p:cNvSpPr>
          <p:nvPr>
            <p:ph type="ftr" idx="15"/>
          </p:nvPr>
        </p:nvSpPr>
        <p:spPr/>
        <p:txBody>
          <a:bodyPr/>
          <a:lstStyle/>
          <a:p>
            <a:r>
              <a:t>Speaker name</a:t>
            </a:r>
          </a:p>
        </p:txBody>
      </p:sp>
      <p:sp>
        <p:nvSpPr>
          <p:cNvPr id="7" name="Espace réservé du numéro de diapositive 6">
            <a:extLst>
              <a:ext uri="{FF2B5EF4-FFF2-40B4-BE49-F238E27FC236}">
                <a16:creationId xmlns:a16="http://schemas.microsoft.com/office/drawing/2014/main" id="{D210E308-8E16-948D-3328-AA3B12D0FCE8}"/>
              </a:ext>
            </a:extLst>
          </p:cNvPr>
          <p:cNvSpPr>
            <a:spLocks noGrp="1"/>
          </p:cNvSpPr>
          <p:nvPr>
            <p:ph type="sldNum" idx="16"/>
          </p:nvPr>
        </p:nvSpPr>
        <p:spPr/>
        <p:txBody>
          <a:bodyPr/>
          <a:lstStyle/>
          <a:p>
            <a:fld id="{E1E1CD7C-2161-7D43-862E-CE4C333CD873}" type="slidenum">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Full image title">
    <p:spTree>
      <p:nvGrpSpPr>
        <p:cNvPr id="1" name=""/>
        <p:cNvGrpSpPr/>
        <p:nvPr/>
      </p:nvGrpSpPr>
      <p:grpSpPr>
        <a:xfrm>
          <a:off x="0" y="0"/>
          <a:ext cx="0" cy="0"/>
          <a:chOff x="0" y="0"/>
          <a:chExt cx="0" cy="0"/>
        </a:xfrm>
      </p:grpSpPr>
      <p:sp>
        <p:nvSpPr>
          <p:cNvPr id="18" name="Espace réservé pour une image  17">
            <a:extLst>
              <a:ext uri="{FF2B5EF4-FFF2-40B4-BE49-F238E27FC236}">
                <a16:creationId xmlns:a16="http://schemas.microsoft.com/office/drawing/2014/main" id="{B5DEE997-6BE2-8721-E274-AB6D2BAD8AD3}"/>
              </a:ext>
            </a:extLst>
          </p:cNvPr>
          <p:cNvSpPr>
            <a:spLocks noGrp="1"/>
          </p:cNvSpPr>
          <p:nvPr>
            <p:ph type="pic" idx="13"/>
          </p:nvPr>
        </p:nvSpPr>
        <p:spPr>
          <a:xfrm>
            <a:off x="0" y="0"/>
            <a:ext cx="12191999" cy="6857999"/>
          </a:xfrm>
          <a:custGeom>
            <a:avLst/>
            <a:gdLst>
              <a:gd name="connsiteX0" fmla="*/ 555663 w 12191999"/>
              <a:gd name="connsiteY0" fmla="*/ 449275 h 6857999"/>
              <a:gd name="connsiteX1" fmla="*/ 555663 w 12191999"/>
              <a:gd name="connsiteY1" fmla="*/ 527238 h 6857999"/>
              <a:gd name="connsiteX2" fmla="*/ 693880 w 12191999"/>
              <a:gd name="connsiteY2" fmla="*/ 527238 h 6857999"/>
              <a:gd name="connsiteX3" fmla="*/ 693880 w 12191999"/>
              <a:gd name="connsiteY3" fmla="*/ 491866 h 6857999"/>
              <a:gd name="connsiteX4" fmla="*/ 596873 w 12191999"/>
              <a:gd name="connsiteY4" fmla="*/ 491866 h 6857999"/>
              <a:gd name="connsiteX5" fmla="*/ 596873 w 12191999"/>
              <a:gd name="connsiteY5" fmla="*/ 449275 h 6857999"/>
              <a:gd name="connsiteX6" fmla="*/ 948084 w 12191999"/>
              <a:gd name="connsiteY6" fmla="*/ 413918 h 6857999"/>
              <a:gd name="connsiteX7" fmla="*/ 948084 w 12191999"/>
              <a:gd name="connsiteY7" fmla="*/ 449275 h 6857999"/>
              <a:gd name="connsiteX8" fmla="*/ 906874 w 12191999"/>
              <a:gd name="connsiteY8" fmla="*/ 449275 h 6857999"/>
              <a:gd name="connsiteX9" fmla="*/ 906874 w 12191999"/>
              <a:gd name="connsiteY9" fmla="*/ 527224 h 6857999"/>
              <a:gd name="connsiteX10" fmla="*/ 948084 w 12191999"/>
              <a:gd name="connsiteY10" fmla="*/ 527224 h 6857999"/>
              <a:gd name="connsiteX11" fmla="*/ 948084 w 12191999"/>
              <a:gd name="connsiteY11" fmla="*/ 449276 h 6857999"/>
              <a:gd name="connsiteX12" fmla="*/ 1036800 w 12191999"/>
              <a:gd name="connsiteY12" fmla="*/ 449276 h 6857999"/>
              <a:gd name="connsiteX13" fmla="*/ 1036800 w 12191999"/>
              <a:gd name="connsiteY13" fmla="*/ 413918 h 6857999"/>
              <a:gd name="connsiteX14" fmla="*/ 596874 w 12191999"/>
              <a:gd name="connsiteY14" fmla="*/ 413918 h 6857999"/>
              <a:gd name="connsiteX15" fmla="*/ 596874 w 12191999"/>
              <a:gd name="connsiteY15" fmla="*/ 449276 h 6857999"/>
              <a:gd name="connsiteX16" fmla="*/ 685590 w 12191999"/>
              <a:gd name="connsiteY16" fmla="*/ 449276 h 6857999"/>
              <a:gd name="connsiteX17" fmla="*/ 685590 w 12191999"/>
              <a:gd name="connsiteY17" fmla="*/ 413918 h 6857999"/>
              <a:gd name="connsiteX18" fmla="*/ 770423 w 12191999"/>
              <a:gd name="connsiteY18" fmla="*/ 371326 h 6857999"/>
              <a:gd name="connsiteX19" fmla="*/ 803073 w 12191999"/>
              <a:gd name="connsiteY19" fmla="*/ 371326 h 6857999"/>
              <a:gd name="connsiteX20" fmla="*/ 816985 w 12191999"/>
              <a:gd name="connsiteY20" fmla="*/ 372123 h 6857999"/>
              <a:gd name="connsiteX21" fmla="*/ 828753 w 12191999"/>
              <a:gd name="connsiteY21" fmla="*/ 375213 h 6857999"/>
              <a:gd name="connsiteX22" fmla="*/ 836909 w 12191999"/>
              <a:gd name="connsiteY22" fmla="*/ 381677 h 6857999"/>
              <a:gd name="connsiteX23" fmla="*/ 839983 w 12191999"/>
              <a:gd name="connsiteY23" fmla="*/ 392622 h 6857999"/>
              <a:gd name="connsiteX24" fmla="*/ 836909 w 12191999"/>
              <a:gd name="connsiteY24" fmla="*/ 403567 h 6857999"/>
              <a:gd name="connsiteX25" fmla="*/ 828753 w 12191999"/>
              <a:gd name="connsiteY25" fmla="*/ 410031 h 6857999"/>
              <a:gd name="connsiteX26" fmla="*/ 816985 w 12191999"/>
              <a:gd name="connsiteY26" fmla="*/ 413122 h 6857999"/>
              <a:gd name="connsiteX27" fmla="*/ 803073 w 12191999"/>
              <a:gd name="connsiteY27" fmla="*/ 413918 h 6857999"/>
              <a:gd name="connsiteX28" fmla="*/ 770423 w 12191999"/>
              <a:gd name="connsiteY28" fmla="*/ 413918 h 6857999"/>
              <a:gd name="connsiteX29" fmla="*/ 1074937 w 12191999"/>
              <a:gd name="connsiteY29" fmla="*/ 335968 h 6857999"/>
              <a:gd name="connsiteX30" fmla="*/ 1074937 w 12191999"/>
              <a:gd name="connsiteY30" fmla="*/ 527238 h 6857999"/>
              <a:gd name="connsiteX31" fmla="*/ 1213140 w 12191999"/>
              <a:gd name="connsiteY31" fmla="*/ 527238 h 6857999"/>
              <a:gd name="connsiteX32" fmla="*/ 1213140 w 12191999"/>
              <a:gd name="connsiteY32" fmla="*/ 491867 h 6857999"/>
              <a:gd name="connsiteX33" fmla="*/ 1116134 w 12191999"/>
              <a:gd name="connsiteY33" fmla="*/ 491867 h 6857999"/>
              <a:gd name="connsiteX34" fmla="*/ 1116134 w 12191999"/>
              <a:gd name="connsiteY34" fmla="*/ 335968 h 6857999"/>
              <a:gd name="connsiteX35" fmla="*/ 906874 w 12191999"/>
              <a:gd name="connsiteY35" fmla="*/ 335968 h 6857999"/>
              <a:gd name="connsiteX36" fmla="*/ 906874 w 12191999"/>
              <a:gd name="connsiteY36" fmla="*/ 413917 h 6857999"/>
              <a:gd name="connsiteX37" fmla="*/ 948084 w 12191999"/>
              <a:gd name="connsiteY37" fmla="*/ 413917 h 6857999"/>
              <a:gd name="connsiteX38" fmla="*/ 948084 w 12191999"/>
              <a:gd name="connsiteY38" fmla="*/ 371326 h 6857999"/>
              <a:gd name="connsiteX39" fmla="*/ 1045091 w 12191999"/>
              <a:gd name="connsiteY39" fmla="*/ 371326 h 6857999"/>
              <a:gd name="connsiteX40" fmla="*/ 1045091 w 12191999"/>
              <a:gd name="connsiteY40" fmla="*/ 335968 h 6857999"/>
              <a:gd name="connsiteX41" fmla="*/ 555663 w 12191999"/>
              <a:gd name="connsiteY41" fmla="*/ 335968 h 6857999"/>
              <a:gd name="connsiteX42" fmla="*/ 555663 w 12191999"/>
              <a:gd name="connsiteY42" fmla="*/ 413917 h 6857999"/>
              <a:gd name="connsiteX43" fmla="*/ 596873 w 12191999"/>
              <a:gd name="connsiteY43" fmla="*/ 413917 h 6857999"/>
              <a:gd name="connsiteX44" fmla="*/ 596873 w 12191999"/>
              <a:gd name="connsiteY44" fmla="*/ 371326 h 6857999"/>
              <a:gd name="connsiteX45" fmla="*/ 693880 w 12191999"/>
              <a:gd name="connsiteY45" fmla="*/ 371326 h 6857999"/>
              <a:gd name="connsiteX46" fmla="*/ 693880 w 12191999"/>
              <a:gd name="connsiteY46" fmla="*/ 335968 h 6857999"/>
              <a:gd name="connsiteX47" fmla="*/ 729199 w 12191999"/>
              <a:gd name="connsiteY47" fmla="*/ 335955 h 6857999"/>
              <a:gd name="connsiteX48" fmla="*/ 729199 w 12191999"/>
              <a:gd name="connsiteY48" fmla="*/ 527225 h 6857999"/>
              <a:gd name="connsiteX49" fmla="*/ 770409 w 12191999"/>
              <a:gd name="connsiteY49" fmla="*/ 527225 h 6857999"/>
              <a:gd name="connsiteX50" fmla="*/ 770409 w 12191999"/>
              <a:gd name="connsiteY50" fmla="*/ 449262 h 6857999"/>
              <a:gd name="connsiteX51" fmla="*/ 814558 w 12191999"/>
              <a:gd name="connsiteY51" fmla="*/ 449262 h 6857999"/>
              <a:gd name="connsiteX52" fmla="*/ 845065 w 12191999"/>
              <a:gd name="connsiteY52" fmla="*/ 444444 h 6857999"/>
              <a:gd name="connsiteX53" fmla="*/ 865542 w 12191999"/>
              <a:gd name="connsiteY53" fmla="*/ 431705 h 6857999"/>
              <a:gd name="connsiteX54" fmla="*/ 877054 w 12191999"/>
              <a:gd name="connsiteY54" fmla="*/ 413526 h 6857999"/>
              <a:gd name="connsiteX55" fmla="*/ 880667 w 12191999"/>
              <a:gd name="connsiteY55" fmla="*/ 392622 h 6857999"/>
              <a:gd name="connsiteX56" fmla="*/ 877054 w 12191999"/>
              <a:gd name="connsiteY56" fmla="*/ 371596 h 6857999"/>
              <a:gd name="connsiteX57" fmla="*/ 865542 w 12191999"/>
              <a:gd name="connsiteY57" fmla="*/ 353539 h 6857999"/>
              <a:gd name="connsiteX58" fmla="*/ 865542 w 12191999"/>
              <a:gd name="connsiteY58" fmla="*/ 353526 h 6857999"/>
              <a:gd name="connsiteX59" fmla="*/ 845065 w 12191999"/>
              <a:gd name="connsiteY59" fmla="*/ 340786 h 6857999"/>
              <a:gd name="connsiteX60" fmla="*/ 814558 w 12191999"/>
              <a:gd name="connsiteY60" fmla="*/ 335955 h 6857999"/>
              <a:gd name="connsiteX61" fmla="*/ 0 w 12191999"/>
              <a:gd name="connsiteY61" fmla="*/ 0 h 6857999"/>
              <a:gd name="connsiteX62" fmla="*/ 12191999 w 12191999"/>
              <a:gd name="connsiteY62" fmla="*/ 0 h 6857999"/>
              <a:gd name="connsiteX63" fmla="*/ 12191999 w 12191999"/>
              <a:gd name="connsiteY63" fmla="*/ 6857999 h 6857999"/>
              <a:gd name="connsiteX64" fmla="*/ 0 w 12191999"/>
              <a:gd name="connsiteY64" fmla="*/ 6857999 h 6857999"/>
            </a:gdLst>
            <a:ahLst/>
            <a:cxnLst/>
            <a:rect l="l" t="t" r="r" b="b"/>
            <a:pathLst>
              <a:path w="12191999" h="6857999">
                <a:moveTo>
                  <a:pt x="555663" y="449275"/>
                </a:moveTo>
                <a:lnTo>
                  <a:pt x="555663" y="527238"/>
                </a:lnTo>
                <a:lnTo>
                  <a:pt x="693880" y="527238"/>
                </a:lnTo>
                <a:lnTo>
                  <a:pt x="693880" y="491866"/>
                </a:lnTo>
                <a:lnTo>
                  <a:pt x="596873" y="491866"/>
                </a:lnTo>
                <a:lnTo>
                  <a:pt x="596873" y="449275"/>
                </a:lnTo>
                <a:close/>
                <a:moveTo>
                  <a:pt x="948084" y="413918"/>
                </a:moveTo>
                <a:lnTo>
                  <a:pt x="948084" y="449275"/>
                </a:lnTo>
                <a:lnTo>
                  <a:pt x="906874" y="449275"/>
                </a:lnTo>
                <a:lnTo>
                  <a:pt x="906874" y="527224"/>
                </a:lnTo>
                <a:lnTo>
                  <a:pt x="948084" y="527224"/>
                </a:lnTo>
                <a:lnTo>
                  <a:pt x="948084" y="449276"/>
                </a:lnTo>
                <a:lnTo>
                  <a:pt x="1036800" y="449276"/>
                </a:lnTo>
                <a:lnTo>
                  <a:pt x="1036800" y="413918"/>
                </a:lnTo>
                <a:close/>
                <a:moveTo>
                  <a:pt x="596874" y="413918"/>
                </a:moveTo>
                <a:lnTo>
                  <a:pt x="596874" y="449276"/>
                </a:lnTo>
                <a:lnTo>
                  <a:pt x="685590" y="449276"/>
                </a:lnTo>
                <a:lnTo>
                  <a:pt x="685590" y="413918"/>
                </a:lnTo>
                <a:close/>
                <a:moveTo>
                  <a:pt x="770423" y="371326"/>
                </a:moveTo>
                <a:lnTo>
                  <a:pt x="803073" y="371326"/>
                </a:lnTo>
                <a:cubicBezTo>
                  <a:pt x="807885" y="371326"/>
                  <a:pt x="812523" y="371596"/>
                  <a:pt x="816985" y="372123"/>
                </a:cubicBezTo>
                <a:cubicBezTo>
                  <a:pt x="821447" y="372649"/>
                  <a:pt x="825370" y="373688"/>
                  <a:pt x="828753" y="375213"/>
                </a:cubicBezTo>
                <a:cubicBezTo>
                  <a:pt x="832137" y="376738"/>
                  <a:pt x="834860" y="378897"/>
                  <a:pt x="836909" y="381677"/>
                </a:cubicBezTo>
                <a:cubicBezTo>
                  <a:pt x="838958" y="384457"/>
                  <a:pt x="839983" y="388115"/>
                  <a:pt x="839983" y="392622"/>
                </a:cubicBezTo>
                <a:cubicBezTo>
                  <a:pt x="839983" y="397130"/>
                  <a:pt x="838958" y="400787"/>
                  <a:pt x="836909" y="403567"/>
                </a:cubicBezTo>
                <a:cubicBezTo>
                  <a:pt x="834860" y="406347"/>
                  <a:pt x="832137" y="408506"/>
                  <a:pt x="828753" y="410031"/>
                </a:cubicBezTo>
                <a:cubicBezTo>
                  <a:pt x="825356" y="411556"/>
                  <a:pt x="821433" y="412582"/>
                  <a:pt x="816985" y="413122"/>
                </a:cubicBezTo>
                <a:cubicBezTo>
                  <a:pt x="812523" y="413648"/>
                  <a:pt x="807885" y="413918"/>
                  <a:pt x="803073" y="413918"/>
                </a:cubicBezTo>
                <a:lnTo>
                  <a:pt x="770423" y="413918"/>
                </a:lnTo>
                <a:close/>
                <a:moveTo>
                  <a:pt x="1074937" y="335968"/>
                </a:moveTo>
                <a:lnTo>
                  <a:pt x="1074937" y="527238"/>
                </a:lnTo>
                <a:lnTo>
                  <a:pt x="1213140" y="527238"/>
                </a:lnTo>
                <a:lnTo>
                  <a:pt x="1213140" y="491867"/>
                </a:lnTo>
                <a:lnTo>
                  <a:pt x="1116134" y="491867"/>
                </a:lnTo>
                <a:lnTo>
                  <a:pt x="1116134" y="335968"/>
                </a:lnTo>
                <a:close/>
                <a:moveTo>
                  <a:pt x="906874" y="335968"/>
                </a:moveTo>
                <a:lnTo>
                  <a:pt x="906874" y="413917"/>
                </a:lnTo>
                <a:lnTo>
                  <a:pt x="948084" y="413917"/>
                </a:lnTo>
                <a:lnTo>
                  <a:pt x="948084" y="371326"/>
                </a:lnTo>
                <a:lnTo>
                  <a:pt x="1045091" y="371326"/>
                </a:lnTo>
                <a:lnTo>
                  <a:pt x="1045091" y="335968"/>
                </a:lnTo>
                <a:close/>
                <a:moveTo>
                  <a:pt x="555663" y="335968"/>
                </a:moveTo>
                <a:lnTo>
                  <a:pt x="555663" y="413917"/>
                </a:lnTo>
                <a:lnTo>
                  <a:pt x="596873" y="413917"/>
                </a:lnTo>
                <a:lnTo>
                  <a:pt x="596873" y="371326"/>
                </a:lnTo>
                <a:lnTo>
                  <a:pt x="693880" y="371326"/>
                </a:lnTo>
                <a:lnTo>
                  <a:pt x="693880" y="335968"/>
                </a:lnTo>
                <a:close/>
                <a:moveTo>
                  <a:pt x="729199" y="335955"/>
                </a:moveTo>
                <a:lnTo>
                  <a:pt x="729199" y="527225"/>
                </a:lnTo>
                <a:lnTo>
                  <a:pt x="770409" y="527225"/>
                </a:lnTo>
                <a:lnTo>
                  <a:pt x="770409" y="449262"/>
                </a:lnTo>
                <a:lnTo>
                  <a:pt x="814558" y="449262"/>
                </a:lnTo>
                <a:cubicBezTo>
                  <a:pt x="826502" y="449262"/>
                  <a:pt x="836680" y="447656"/>
                  <a:pt x="845065" y="444444"/>
                </a:cubicBezTo>
                <a:cubicBezTo>
                  <a:pt x="853450" y="441232"/>
                  <a:pt x="860271" y="436981"/>
                  <a:pt x="865542" y="431705"/>
                </a:cubicBezTo>
                <a:cubicBezTo>
                  <a:pt x="870799" y="426428"/>
                  <a:pt x="874641" y="420369"/>
                  <a:pt x="877054" y="413526"/>
                </a:cubicBezTo>
                <a:cubicBezTo>
                  <a:pt x="879467" y="406684"/>
                  <a:pt x="880667" y="399721"/>
                  <a:pt x="880667" y="392622"/>
                </a:cubicBezTo>
                <a:cubicBezTo>
                  <a:pt x="880667" y="385524"/>
                  <a:pt x="879467" y="378357"/>
                  <a:pt x="877054" y="371596"/>
                </a:cubicBezTo>
                <a:cubicBezTo>
                  <a:pt x="874641" y="364835"/>
                  <a:pt x="870813" y="358816"/>
                  <a:pt x="865542" y="353539"/>
                </a:cubicBezTo>
                <a:lnTo>
                  <a:pt x="865542" y="353526"/>
                </a:lnTo>
                <a:cubicBezTo>
                  <a:pt x="860271" y="348249"/>
                  <a:pt x="853450" y="343998"/>
                  <a:pt x="845065" y="340786"/>
                </a:cubicBezTo>
                <a:cubicBezTo>
                  <a:pt x="836680" y="337574"/>
                  <a:pt x="826502" y="335955"/>
                  <a:pt x="814558" y="335955"/>
                </a:cubicBezTo>
                <a:close/>
                <a:moveTo>
                  <a:pt x="0" y="0"/>
                </a:moveTo>
                <a:lnTo>
                  <a:pt x="12191999" y="0"/>
                </a:lnTo>
                <a:lnTo>
                  <a:pt x="12191999" y="6857999"/>
                </a:lnTo>
                <a:lnTo>
                  <a:pt x="0" y="6857999"/>
                </a:lnTo>
                <a:close/>
              </a:path>
            </a:pathLst>
          </a:custGeom>
        </p:spPr>
        <p:txBody>
          <a:bodyPr wrap="square">
            <a:noAutofit/>
          </a:bodyPr>
          <a:lstStyle/>
          <a:p>
            <a:r>
              <a:t>Cliquez sur l'icône pour ajouter une image</a:t>
            </a:r>
          </a:p>
        </p:txBody>
      </p:sp>
      <p:sp>
        <p:nvSpPr>
          <p:cNvPr id="2" name="Titre 1">
            <a:extLst>
              <a:ext uri="{FF2B5EF4-FFF2-40B4-BE49-F238E27FC236}">
                <a16:creationId xmlns:a16="http://schemas.microsoft.com/office/drawing/2014/main" id="{C596DC45-A2F3-ED7E-0FA3-50FAE375C6A9}"/>
              </a:ext>
            </a:extLst>
          </p:cNvPr>
          <p:cNvSpPr>
            <a:spLocks noGrp="1"/>
          </p:cNvSpPr>
          <p:nvPr>
            <p:ph type="title"/>
          </p:nvPr>
        </p:nvSpPr>
        <p:spPr/>
        <p:txBody>
          <a:bodyPr/>
          <a:lstStyle/>
          <a:p>
            <a:r>
              <a:t>Modifiez le style du titre</a:t>
            </a:r>
          </a:p>
        </p:txBody>
      </p:sp>
      <p:sp>
        <p:nvSpPr>
          <p:cNvPr id="3" name="Espace réservé de la date 2">
            <a:extLst>
              <a:ext uri="{FF2B5EF4-FFF2-40B4-BE49-F238E27FC236}">
                <a16:creationId xmlns:a16="http://schemas.microsoft.com/office/drawing/2014/main" id="{E537400C-1017-B66F-9CB5-7D2B04E5F6B3}"/>
              </a:ext>
            </a:extLst>
          </p:cNvPr>
          <p:cNvSpPr>
            <a:spLocks noGrp="1"/>
          </p:cNvSpPr>
          <p:nvPr>
            <p:ph type="dt" idx="14"/>
          </p:nvPr>
        </p:nvSpPr>
        <p:spPr/>
        <p:txBody>
          <a:bodyPr/>
          <a:lstStyle/>
          <a:p>
            <a:r>
              <a:t>TITLE OF THE PRESENTATION</a:t>
            </a:r>
          </a:p>
        </p:txBody>
      </p:sp>
      <p:sp>
        <p:nvSpPr>
          <p:cNvPr id="4" name="Espace réservé du pied de page 3">
            <a:extLst>
              <a:ext uri="{FF2B5EF4-FFF2-40B4-BE49-F238E27FC236}">
                <a16:creationId xmlns:a16="http://schemas.microsoft.com/office/drawing/2014/main" id="{BE6CCDED-88C0-1A5D-5485-599A78795388}"/>
              </a:ext>
            </a:extLst>
          </p:cNvPr>
          <p:cNvSpPr>
            <a:spLocks noGrp="1"/>
          </p:cNvSpPr>
          <p:nvPr>
            <p:ph type="ftr" idx="15"/>
          </p:nvPr>
        </p:nvSpPr>
        <p:spPr/>
        <p:txBody>
          <a:bodyPr/>
          <a:lstStyle/>
          <a:p>
            <a:r>
              <a:t>Speaker name</a:t>
            </a:r>
          </a:p>
        </p:txBody>
      </p:sp>
      <p:sp>
        <p:nvSpPr>
          <p:cNvPr id="7" name="Espace réservé du numéro de diapositive 6">
            <a:extLst>
              <a:ext uri="{FF2B5EF4-FFF2-40B4-BE49-F238E27FC236}">
                <a16:creationId xmlns:a16="http://schemas.microsoft.com/office/drawing/2014/main" id="{D210E308-8E16-948D-3328-AA3B12D0FCE8}"/>
              </a:ext>
            </a:extLst>
          </p:cNvPr>
          <p:cNvSpPr>
            <a:spLocks noGrp="1"/>
          </p:cNvSpPr>
          <p:nvPr>
            <p:ph type="sldNum" idx="16"/>
          </p:nvPr>
        </p:nvSpPr>
        <p:spPr/>
        <p:txBody>
          <a:bodyPr/>
          <a:lstStyle/>
          <a:p>
            <a:fld id="{E1E1CD7C-2161-7D43-862E-CE4C333CD873}" type="slidenum">
              <a:t>‹#›</a:t>
            </a:fld>
            <a:endParaRPr/>
          </a:p>
        </p:txBody>
      </p:sp>
      <p:sp>
        <p:nvSpPr>
          <p:cNvPr id="6" name="Espace réservé du texte 5">
            <a:extLst>
              <a:ext uri="{FF2B5EF4-FFF2-40B4-BE49-F238E27FC236}">
                <a16:creationId xmlns:a16="http://schemas.microsoft.com/office/drawing/2014/main" id="{1E37AA37-33C9-00F4-0938-24808C087E4D}"/>
              </a:ext>
            </a:extLst>
          </p:cNvPr>
          <p:cNvSpPr>
            <a:spLocks noGrp="1"/>
          </p:cNvSpPr>
          <p:nvPr>
            <p:ph type="body" idx="17"/>
          </p:nvPr>
        </p:nvSpPr>
        <p:spPr>
          <a:xfrm>
            <a:off x="550863" y="3122613"/>
            <a:ext cx="4537075" cy="3402012"/>
          </a:xfrm>
        </p:spPr>
        <p:txBody>
          <a:bodyPr/>
          <a:lstStyle/>
          <a:p>
            <a:pPr lvl="0">
              <a:buNone/>
            </a:pPr>
            <a:r>
              <a:t>Cliquez pour modifier les styles du texte du masque</a:t>
            </a:r>
          </a:p>
          <a:p>
            <a:pPr lvl="1">
              <a:buNone/>
            </a:pPr>
            <a:r>
              <a:t>Deuxième niveau</a:t>
            </a:r>
          </a:p>
          <a:p>
            <a:pPr lvl="2">
              <a:buNone/>
            </a:pPr>
            <a:r>
              <a:t>Troisième niveau</a:t>
            </a:r>
          </a:p>
          <a:p>
            <a:pPr lvl="3">
              <a:buNone/>
            </a:pPr>
            <a:r>
              <a:t>Quatrième niveau</a:t>
            </a:r>
          </a:p>
          <a:p>
            <a:pPr lvl="4">
              <a:buNone/>
            </a:pPr>
            <a:r>
              <a:t>Cinquième niveau</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Titre seul">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idx="13"/>
          </p:nvPr>
        </p:nvSpPr>
        <p:spPr>
          <a:xfrm>
            <a:off x="6167438" y="873124"/>
            <a:ext cx="6024562" cy="5984875"/>
          </a:xfrm>
        </p:spPr>
        <p:txBody>
          <a:bodyPr/>
          <a:lstStyle/>
          <a:p>
            <a:r>
              <a:t>Cliquez sur l'icône pour ajouter une image</a:t>
            </a:r>
          </a:p>
        </p:txBody>
      </p:sp>
      <p:sp>
        <p:nvSpPr>
          <p:cNvPr id="3" name="Titre 2">
            <a:extLst>
              <a:ext uri="{FF2B5EF4-FFF2-40B4-BE49-F238E27FC236}">
                <a16:creationId xmlns:a16="http://schemas.microsoft.com/office/drawing/2014/main" id="{E2A07D4F-8346-2B64-0416-FDCE0BE75F68}"/>
              </a:ext>
            </a:extLst>
          </p:cNvPr>
          <p:cNvSpPr>
            <a:spLocks noGrp="1"/>
          </p:cNvSpPr>
          <p:nvPr>
            <p:ph type="title"/>
          </p:nvPr>
        </p:nvSpPr>
        <p:spPr>
          <a:xfrm>
            <a:off x="526000" y="635473"/>
            <a:ext cx="5422516" cy="2106613"/>
          </a:xfrm>
        </p:spPr>
        <p:txBody>
          <a:bodyPr/>
          <a:lstStyle/>
          <a:p>
            <a:r>
              <a:t>Modifiez le style du titre</a:t>
            </a:r>
          </a:p>
        </p:txBody>
      </p:sp>
      <p:sp>
        <p:nvSpPr>
          <p:cNvPr id="2" name="Espace réservé de la date 1">
            <a:extLst>
              <a:ext uri="{FF2B5EF4-FFF2-40B4-BE49-F238E27FC236}">
                <a16:creationId xmlns:a16="http://schemas.microsoft.com/office/drawing/2014/main" id="{DEAAB541-0B94-EF7A-F9FC-B2F912BCC9B6}"/>
              </a:ext>
            </a:extLst>
          </p:cNvPr>
          <p:cNvSpPr>
            <a:spLocks noGrp="1"/>
          </p:cNvSpPr>
          <p:nvPr>
            <p:ph type="dt" idx="14"/>
          </p:nvPr>
        </p:nvSpPr>
        <p:spPr/>
        <p:txBody>
          <a:bodyPr/>
          <a:lstStyle/>
          <a:p>
            <a:r>
              <a:t>TITLE OF THE PRESENTATION</a:t>
            </a:r>
          </a:p>
        </p:txBody>
      </p:sp>
      <p:sp>
        <p:nvSpPr>
          <p:cNvPr id="4" name="Espace réservé du pied de page 3">
            <a:extLst>
              <a:ext uri="{FF2B5EF4-FFF2-40B4-BE49-F238E27FC236}">
                <a16:creationId xmlns:a16="http://schemas.microsoft.com/office/drawing/2014/main" id="{CD463358-F0B0-6AE3-8B48-F27B994F8EFD}"/>
              </a:ext>
            </a:extLst>
          </p:cNvPr>
          <p:cNvSpPr>
            <a:spLocks noGrp="1"/>
          </p:cNvSpPr>
          <p:nvPr>
            <p:ph type="ftr" idx="15"/>
          </p:nvPr>
        </p:nvSpPr>
        <p:spPr/>
        <p:txBody>
          <a:bodyPr/>
          <a:lstStyle/>
          <a:p>
            <a:r>
              <a:t>Speaker name</a:t>
            </a:r>
          </a:p>
        </p:txBody>
      </p:sp>
      <p:sp>
        <p:nvSpPr>
          <p:cNvPr id="9" name="Espace réservé du numéro de diapositive 8">
            <a:extLst>
              <a:ext uri="{FF2B5EF4-FFF2-40B4-BE49-F238E27FC236}">
                <a16:creationId xmlns:a16="http://schemas.microsoft.com/office/drawing/2014/main" id="{E6324209-65E2-F84D-CEC3-21C85F06837C}"/>
              </a:ext>
            </a:extLst>
          </p:cNvPr>
          <p:cNvSpPr>
            <a:spLocks noGrp="1"/>
          </p:cNvSpPr>
          <p:nvPr>
            <p:ph type="sldNum" idx="16"/>
          </p:nvPr>
        </p:nvSpPr>
        <p:spPr/>
        <p:txBody>
          <a:bodyPr/>
          <a:lstStyle/>
          <a:p>
            <a:fld id="{E1E1CD7C-2161-7D43-862E-CE4C333CD873}" type="slidenum">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_Titre seul">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idx="13"/>
          </p:nvPr>
        </p:nvSpPr>
        <p:spPr>
          <a:xfrm>
            <a:off x="4305386" y="873124"/>
            <a:ext cx="7886614" cy="5984875"/>
          </a:xfrm>
        </p:spPr>
        <p:txBody>
          <a:bodyPr/>
          <a:lstStyle/>
          <a:p>
            <a:r>
              <a:t>Cliquez sur l'icône pour ajouter une image</a:t>
            </a:r>
          </a:p>
        </p:txBody>
      </p:sp>
      <p:sp>
        <p:nvSpPr>
          <p:cNvPr id="4" name="Espace réservé du texte 3">
            <a:extLst>
              <a:ext uri="{FF2B5EF4-FFF2-40B4-BE49-F238E27FC236}">
                <a16:creationId xmlns:a16="http://schemas.microsoft.com/office/drawing/2014/main" id="{AFFA9D92-08D7-E5CA-85D6-8C2E54F21674}"/>
              </a:ext>
            </a:extLst>
          </p:cNvPr>
          <p:cNvSpPr>
            <a:spLocks noGrp="1"/>
          </p:cNvSpPr>
          <p:nvPr>
            <p:ph type="body" idx="17"/>
          </p:nvPr>
        </p:nvSpPr>
        <p:spPr>
          <a:xfrm>
            <a:off x="550863" y="3429000"/>
            <a:ext cx="3600450" cy="3095625"/>
          </a:xfrm>
        </p:spPr>
        <p:txBody>
          <a:bodyPr/>
          <a:lstStyle/>
          <a:p>
            <a:pPr lvl="0">
              <a:buNone/>
            </a:pPr>
            <a:r>
              <a:t>Cliquez pour modifier les styles du texte du masque</a:t>
            </a:r>
          </a:p>
          <a:p>
            <a:pPr lvl="1">
              <a:buNone/>
            </a:pPr>
            <a:r>
              <a:t>Deuxième niveau</a:t>
            </a:r>
          </a:p>
          <a:p>
            <a:pPr lvl="2">
              <a:buNone/>
            </a:pPr>
            <a:r>
              <a:t>Troisième niveau</a:t>
            </a:r>
          </a:p>
          <a:p>
            <a:pPr lvl="3">
              <a:buNone/>
            </a:pPr>
            <a:r>
              <a:t>Quatrième niveau</a:t>
            </a:r>
          </a:p>
          <a:p>
            <a:pPr lvl="4">
              <a:buNone/>
            </a:pPr>
            <a:r>
              <a:t>Cinquième niveau</a:t>
            </a:r>
          </a:p>
        </p:txBody>
      </p:sp>
      <p:sp>
        <p:nvSpPr>
          <p:cNvPr id="9" name="Titre 8">
            <a:extLst>
              <a:ext uri="{FF2B5EF4-FFF2-40B4-BE49-F238E27FC236}">
                <a16:creationId xmlns:a16="http://schemas.microsoft.com/office/drawing/2014/main" id="{EA13F822-57A4-DFB2-BD74-42325BAF03F9}"/>
              </a:ext>
            </a:extLst>
          </p:cNvPr>
          <p:cNvSpPr>
            <a:spLocks noGrp="1"/>
          </p:cNvSpPr>
          <p:nvPr>
            <p:ph type="title"/>
          </p:nvPr>
        </p:nvSpPr>
        <p:spPr>
          <a:xfrm>
            <a:off x="526000" y="635473"/>
            <a:ext cx="3625313" cy="2106613"/>
          </a:xfrm>
        </p:spPr>
        <p:txBody>
          <a:bodyPr/>
          <a:lstStyle/>
          <a:p>
            <a:r>
              <a:t>Modifiez le style du titre</a:t>
            </a:r>
          </a:p>
        </p:txBody>
      </p:sp>
      <p:sp>
        <p:nvSpPr>
          <p:cNvPr id="2" name="Espace réservé de la date 1">
            <a:extLst>
              <a:ext uri="{FF2B5EF4-FFF2-40B4-BE49-F238E27FC236}">
                <a16:creationId xmlns:a16="http://schemas.microsoft.com/office/drawing/2014/main" id="{69D85D5B-A131-4663-BB0F-2FD2D8EA48F1}"/>
              </a:ext>
            </a:extLst>
          </p:cNvPr>
          <p:cNvSpPr>
            <a:spLocks noGrp="1"/>
          </p:cNvSpPr>
          <p:nvPr>
            <p:ph type="dt" idx="18"/>
          </p:nvPr>
        </p:nvSpPr>
        <p:spPr/>
        <p:txBody>
          <a:bodyPr/>
          <a:lstStyle/>
          <a:p>
            <a:r>
              <a:t>TITLE OF THE PRESENTATION</a:t>
            </a:r>
          </a:p>
        </p:txBody>
      </p:sp>
      <p:sp>
        <p:nvSpPr>
          <p:cNvPr id="3" name="Espace réservé du pied de page 2">
            <a:extLst>
              <a:ext uri="{FF2B5EF4-FFF2-40B4-BE49-F238E27FC236}">
                <a16:creationId xmlns:a16="http://schemas.microsoft.com/office/drawing/2014/main" id="{E1C75641-C52C-0748-91D5-A9EC6D45FDBF}"/>
              </a:ext>
            </a:extLst>
          </p:cNvPr>
          <p:cNvSpPr>
            <a:spLocks noGrp="1"/>
          </p:cNvSpPr>
          <p:nvPr>
            <p:ph type="ftr" idx="19"/>
          </p:nvPr>
        </p:nvSpPr>
        <p:spPr/>
        <p:txBody>
          <a:bodyPr/>
          <a:lstStyle/>
          <a:p>
            <a:r>
              <a:t>Speaker name</a:t>
            </a:r>
          </a:p>
        </p:txBody>
      </p:sp>
      <p:sp>
        <p:nvSpPr>
          <p:cNvPr id="10" name="Espace réservé du numéro de diapositive 9">
            <a:extLst>
              <a:ext uri="{FF2B5EF4-FFF2-40B4-BE49-F238E27FC236}">
                <a16:creationId xmlns:a16="http://schemas.microsoft.com/office/drawing/2014/main" id="{DF563173-40CF-80A1-AC40-E374BA6BC658}"/>
              </a:ext>
            </a:extLst>
          </p:cNvPr>
          <p:cNvSpPr>
            <a:spLocks noGrp="1"/>
          </p:cNvSpPr>
          <p:nvPr>
            <p:ph type="sldNum" idx="20"/>
          </p:nvPr>
        </p:nvSpPr>
        <p:spPr/>
        <p:txBody>
          <a:bodyPr/>
          <a:lstStyle/>
          <a:p>
            <a:fld id="{E1E1CD7C-2161-7D43-862E-CE4C333CD873}" type="slidenum">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9_Titre seul">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idx="13"/>
          </p:nvPr>
        </p:nvSpPr>
        <p:spPr>
          <a:xfrm>
            <a:off x="6167438" y="-6354"/>
            <a:ext cx="6024562" cy="6864353"/>
          </a:xfrm>
        </p:spPr>
        <p:txBody>
          <a:bodyPr/>
          <a:lstStyle/>
          <a:p>
            <a:r>
              <a:t>Cliquez sur l'icône pour ajouter une image</a:t>
            </a:r>
          </a:p>
        </p:txBody>
      </p:sp>
      <p:sp>
        <p:nvSpPr>
          <p:cNvPr id="4" name="Espace réservé du texte 3">
            <a:extLst>
              <a:ext uri="{FF2B5EF4-FFF2-40B4-BE49-F238E27FC236}">
                <a16:creationId xmlns:a16="http://schemas.microsoft.com/office/drawing/2014/main" id="{AFFA9D92-08D7-E5CA-85D6-8C2E54F21674}"/>
              </a:ext>
            </a:extLst>
          </p:cNvPr>
          <p:cNvSpPr>
            <a:spLocks noGrp="1"/>
          </p:cNvSpPr>
          <p:nvPr>
            <p:ph type="body" idx="17"/>
          </p:nvPr>
        </p:nvSpPr>
        <p:spPr>
          <a:xfrm>
            <a:off x="550863" y="3429000"/>
            <a:ext cx="5473700" cy="3095625"/>
          </a:xfrm>
        </p:spPr>
        <p:txBody>
          <a:bodyPr/>
          <a:lstStyle/>
          <a:p>
            <a:pPr lvl="0">
              <a:buNone/>
            </a:pPr>
            <a:r>
              <a:t>Cliquez pour modifier les styles du texte du masque</a:t>
            </a:r>
          </a:p>
          <a:p>
            <a:pPr lvl="1">
              <a:buNone/>
            </a:pPr>
            <a:r>
              <a:t>Deuxième niveau</a:t>
            </a:r>
          </a:p>
          <a:p>
            <a:pPr lvl="2">
              <a:buNone/>
            </a:pPr>
            <a:r>
              <a:t>Troisième niveau</a:t>
            </a:r>
          </a:p>
          <a:p>
            <a:pPr lvl="3">
              <a:buNone/>
            </a:pPr>
            <a:r>
              <a:t>Quatrième niveau</a:t>
            </a:r>
          </a:p>
          <a:p>
            <a:pPr lvl="4">
              <a:buNone/>
            </a:pPr>
            <a:r>
              <a:t>Cinquième niveau</a:t>
            </a:r>
          </a:p>
        </p:txBody>
      </p:sp>
      <p:sp>
        <p:nvSpPr>
          <p:cNvPr id="9" name="Titre 8">
            <a:extLst>
              <a:ext uri="{FF2B5EF4-FFF2-40B4-BE49-F238E27FC236}">
                <a16:creationId xmlns:a16="http://schemas.microsoft.com/office/drawing/2014/main" id="{EA13F822-57A4-DFB2-BD74-42325BAF03F9}"/>
              </a:ext>
            </a:extLst>
          </p:cNvPr>
          <p:cNvSpPr>
            <a:spLocks noGrp="1"/>
          </p:cNvSpPr>
          <p:nvPr>
            <p:ph type="title"/>
          </p:nvPr>
        </p:nvSpPr>
        <p:spPr>
          <a:xfrm>
            <a:off x="526000" y="635473"/>
            <a:ext cx="3625313" cy="2106613"/>
          </a:xfrm>
        </p:spPr>
        <p:txBody>
          <a:bodyPr/>
          <a:lstStyle/>
          <a:p>
            <a:r>
              <a:t>Modifiez le style du titre</a:t>
            </a:r>
          </a:p>
        </p:txBody>
      </p:sp>
      <p:sp>
        <p:nvSpPr>
          <p:cNvPr id="2" name="Espace réservé de la date 1">
            <a:extLst>
              <a:ext uri="{FF2B5EF4-FFF2-40B4-BE49-F238E27FC236}">
                <a16:creationId xmlns:a16="http://schemas.microsoft.com/office/drawing/2014/main" id="{ED81F6B9-181F-A14F-EC0D-72BB1C622B31}"/>
              </a:ext>
            </a:extLst>
          </p:cNvPr>
          <p:cNvSpPr>
            <a:spLocks noGrp="1"/>
          </p:cNvSpPr>
          <p:nvPr>
            <p:ph type="dt" idx="18"/>
          </p:nvPr>
        </p:nvSpPr>
        <p:spPr/>
        <p:txBody>
          <a:bodyPr/>
          <a:lstStyle/>
          <a:p>
            <a:r>
              <a:t>TITLE OF THE PRESENTATION</a:t>
            </a:r>
          </a:p>
        </p:txBody>
      </p:sp>
      <p:sp>
        <p:nvSpPr>
          <p:cNvPr id="3" name="Espace réservé du pied de page 2">
            <a:extLst>
              <a:ext uri="{FF2B5EF4-FFF2-40B4-BE49-F238E27FC236}">
                <a16:creationId xmlns:a16="http://schemas.microsoft.com/office/drawing/2014/main" id="{9B8AB052-5DEF-92C2-7982-B1EB40F5946F}"/>
              </a:ext>
            </a:extLst>
          </p:cNvPr>
          <p:cNvSpPr>
            <a:spLocks noGrp="1"/>
          </p:cNvSpPr>
          <p:nvPr>
            <p:ph type="ftr" idx="19"/>
          </p:nvPr>
        </p:nvSpPr>
        <p:spPr/>
        <p:txBody>
          <a:bodyPr/>
          <a:lstStyle/>
          <a:p>
            <a:r>
              <a:t>Speaker name</a:t>
            </a:r>
          </a:p>
        </p:txBody>
      </p:sp>
      <p:sp>
        <p:nvSpPr>
          <p:cNvPr id="10" name="Espace réservé du numéro de diapositive 9">
            <a:extLst>
              <a:ext uri="{FF2B5EF4-FFF2-40B4-BE49-F238E27FC236}">
                <a16:creationId xmlns:a16="http://schemas.microsoft.com/office/drawing/2014/main" id="{88F4CFBF-8E13-8DFF-1A2A-5DE644DC2787}"/>
              </a:ext>
            </a:extLst>
          </p:cNvPr>
          <p:cNvSpPr>
            <a:spLocks noGrp="1"/>
          </p:cNvSpPr>
          <p:nvPr>
            <p:ph type="sldNum" idx="20"/>
          </p:nvPr>
        </p:nvSpPr>
        <p:spPr/>
        <p:txBody>
          <a:bodyPr/>
          <a:lstStyle/>
          <a:p>
            <a:fld id="{E1E1CD7C-2161-7D43-862E-CE4C333CD873}" type="slidenum">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 middle">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idx="13"/>
          </p:nvPr>
        </p:nvSpPr>
        <p:spPr>
          <a:xfrm>
            <a:off x="4305386" y="0"/>
            <a:ext cx="3590839" cy="6857999"/>
          </a:xfrm>
        </p:spPr>
        <p:txBody>
          <a:bodyPr/>
          <a:lstStyle/>
          <a:p>
            <a:r>
              <a:t>Cliquez sur l'icône pour ajouter une image</a:t>
            </a:r>
          </a:p>
        </p:txBody>
      </p:sp>
      <p:sp>
        <p:nvSpPr>
          <p:cNvPr id="4" name="Espace réservé du texte 3">
            <a:extLst>
              <a:ext uri="{FF2B5EF4-FFF2-40B4-BE49-F238E27FC236}">
                <a16:creationId xmlns:a16="http://schemas.microsoft.com/office/drawing/2014/main" id="{AFFA9D92-08D7-E5CA-85D6-8C2E54F21674}"/>
              </a:ext>
            </a:extLst>
          </p:cNvPr>
          <p:cNvSpPr>
            <a:spLocks noGrp="1"/>
          </p:cNvSpPr>
          <p:nvPr>
            <p:ph type="body" idx="17"/>
          </p:nvPr>
        </p:nvSpPr>
        <p:spPr>
          <a:xfrm>
            <a:off x="8050298" y="2084388"/>
            <a:ext cx="3600450" cy="4440237"/>
          </a:xfrm>
        </p:spPr>
        <p:txBody>
          <a:bodyPr/>
          <a:lstStyle/>
          <a:p>
            <a:pPr lvl="0">
              <a:buNone/>
            </a:pPr>
            <a:r>
              <a:t>Cliquez pour modifier les styles du texte du masque</a:t>
            </a:r>
          </a:p>
          <a:p>
            <a:pPr lvl="1">
              <a:buNone/>
            </a:pPr>
            <a:r>
              <a:t>Deuxième niveau</a:t>
            </a:r>
          </a:p>
          <a:p>
            <a:pPr lvl="2">
              <a:buNone/>
            </a:pPr>
            <a:r>
              <a:t>Troisième niveau</a:t>
            </a:r>
          </a:p>
          <a:p>
            <a:pPr lvl="3">
              <a:buNone/>
            </a:pPr>
            <a:r>
              <a:t>Quatrième niveau</a:t>
            </a:r>
          </a:p>
          <a:p>
            <a:pPr lvl="4">
              <a:buNone/>
            </a:pPr>
            <a:r>
              <a:t>Cinquième niveau</a:t>
            </a:r>
          </a:p>
        </p:txBody>
      </p:sp>
      <p:sp>
        <p:nvSpPr>
          <p:cNvPr id="9" name="Titre 8">
            <a:extLst>
              <a:ext uri="{FF2B5EF4-FFF2-40B4-BE49-F238E27FC236}">
                <a16:creationId xmlns:a16="http://schemas.microsoft.com/office/drawing/2014/main" id="{EA13F822-57A4-DFB2-BD74-42325BAF03F9}"/>
              </a:ext>
            </a:extLst>
          </p:cNvPr>
          <p:cNvSpPr>
            <a:spLocks noGrp="1"/>
          </p:cNvSpPr>
          <p:nvPr>
            <p:ph type="title"/>
          </p:nvPr>
        </p:nvSpPr>
        <p:spPr>
          <a:xfrm>
            <a:off x="526000" y="635473"/>
            <a:ext cx="3625313" cy="2106613"/>
          </a:xfrm>
        </p:spPr>
        <p:txBody>
          <a:bodyPr/>
          <a:lstStyle/>
          <a:p>
            <a:r>
              <a:t>Modifiez le style du titre</a:t>
            </a:r>
          </a:p>
        </p:txBody>
      </p:sp>
      <p:sp>
        <p:nvSpPr>
          <p:cNvPr id="3" name="Espace réservé du texte 2">
            <a:extLst>
              <a:ext uri="{FF2B5EF4-FFF2-40B4-BE49-F238E27FC236}">
                <a16:creationId xmlns:a16="http://schemas.microsoft.com/office/drawing/2014/main" id="{C7E2F5CC-09F6-CAC3-00B8-734CED0893B3}"/>
              </a:ext>
            </a:extLst>
          </p:cNvPr>
          <p:cNvSpPr>
            <a:spLocks noGrp="1"/>
          </p:cNvSpPr>
          <p:nvPr>
            <p:ph type="body" idx="18"/>
          </p:nvPr>
        </p:nvSpPr>
        <p:spPr>
          <a:xfrm>
            <a:off x="550863" y="3122613"/>
            <a:ext cx="3600450" cy="3402012"/>
          </a:xfrm>
        </p:spPr>
        <p:txBody>
          <a:bodyPr/>
          <a:lstStyle/>
          <a:p>
            <a:pPr lvl="0">
              <a:buNone/>
            </a:pPr>
            <a:r>
              <a:t>Cliquez pour modifier les styles du texte du masque</a:t>
            </a:r>
          </a:p>
          <a:p>
            <a:pPr lvl="1">
              <a:buNone/>
            </a:pPr>
            <a:r>
              <a:t>Deuxième niveau</a:t>
            </a:r>
          </a:p>
          <a:p>
            <a:pPr lvl="2">
              <a:buNone/>
            </a:pPr>
            <a:r>
              <a:t>Troisième niveau</a:t>
            </a:r>
          </a:p>
          <a:p>
            <a:pPr lvl="3">
              <a:buNone/>
            </a:pPr>
            <a:r>
              <a:t>Quatrième niveau</a:t>
            </a:r>
          </a:p>
          <a:p>
            <a:pPr lvl="4">
              <a:buNone/>
            </a:pPr>
            <a:r>
              <a:t>Cinquième niveau</a:t>
            </a:r>
          </a:p>
        </p:txBody>
      </p:sp>
      <p:sp>
        <p:nvSpPr>
          <p:cNvPr id="2" name="Espace réservé de la date 1">
            <a:extLst>
              <a:ext uri="{FF2B5EF4-FFF2-40B4-BE49-F238E27FC236}">
                <a16:creationId xmlns:a16="http://schemas.microsoft.com/office/drawing/2014/main" id="{86432F55-8A97-1BB4-2F23-086FDAC46DF6}"/>
              </a:ext>
            </a:extLst>
          </p:cNvPr>
          <p:cNvSpPr>
            <a:spLocks noGrp="1"/>
          </p:cNvSpPr>
          <p:nvPr>
            <p:ph type="dt" idx="19"/>
          </p:nvPr>
        </p:nvSpPr>
        <p:spPr/>
        <p:txBody>
          <a:bodyPr/>
          <a:lstStyle/>
          <a:p>
            <a:r>
              <a:t>TITLE OF THE PRESENTATION</a:t>
            </a:r>
          </a:p>
        </p:txBody>
      </p:sp>
      <p:sp>
        <p:nvSpPr>
          <p:cNvPr id="10" name="Espace réservé du pied de page 9">
            <a:extLst>
              <a:ext uri="{FF2B5EF4-FFF2-40B4-BE49-F238E27FC236}">
                <a16:creationId xmlns:a16="http://schemas.microsoft.com/office/drawing/2014/main" id="{F05EDAD6-9C14-3B54-9823-67DD86CA86F1}"/>
              </a:ext>
            </a:extLst>
          </p:cNvPr>
          <p:cNvSpPr>
            <a:spLocks noGrp="1"/>
          </p:cNvSpPr>
          <p:nvPr>
            <p:ph type="ftr" idx="20"/>
          </p:nvPr>
        </p:nvSpPr>
        <p:spPr/>
        <p:txBody>
          <a:bodyPr/>
          <a:lstStyle/>
          <a:p>
            <a:r>
              <a:t>Speaker name</a:t>
            </a:r>
          </a:p>
        </p:txBody>
      </p:sp>
      <p:sp>
        <p:nvSpPr>
          <p:cNvPr id="11" name="Espace réservé du numéro de diapositive 10">
            <a:extLst>
              <a:ext uri="{FF2B5EF4-FFF2-40B4-BE49-F238E27FC236}">
                <a16:creationId xmlns:a16="http://schemas.microsoft.com/office/drawing/2014/main" id="{89A76A2C-D3BB-E03F-C381-18BB0CD1198D}"/>
              </a:ext>
            </a:extLst>
          </p:cNvPr>
          <p:cNvSpPr>
            <a:spLocks noGrp="1"/>
          </p:cNvSpPr>
          <p:nvPr>
            <p:ph type="sldNum" idx="21"/>
          </p:nvPr>
        </p:nvSpPr>
        <p:spPr/>
        <p:txBody>
          <a:bodyPr/>
          <a:lstStyle/>
          <a:p>
            <a:fld id="{E1E1CD7C-2161-7D43-862E-CE4C333CD873}" type="slidenum">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Titre seul">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idx="13"/>
          </p:nvPr>
        </p:nvSpPr>
        <p:spPr>
          <a:xfrm>
            <a:off x="0" y="4152899"/>
            <a:ext cx="12192001" cy="2705100"/>
          </a:xfrm>
        </p:spPr>
        <p:txBody>
          <a:bodyPr/>
          <a:lstStyle/>
          <a:p>
            <a:r>
              <a:t>Cliquez sur l'icône pour ajouter une image</a:t>
            </a:r>
          </a:p>
        </p:txBody>
      </p:sp>
      <p:sp>
        <p:nvSpPr>
          <p:cNvPr id="4" name="Espace réservé du texte 3">
            <a:extLst>
              <a:ext uri="{FF2B5EF4-FFF2-40B4-BE49-F238E27FC236}">
                <a16:creationId xmlns:a16="http://schemas.microsoft.com/office/drawing/2014/main" id="{1C2D8F3E-D814-4F96-BC43-16962232E702}"/>
              </a:ext>
            </a:extLst>
          </p:cNvPr>
          <p:cNvSpPr>
            <a:spLocks noGrp="1"/>
          </p:cNvSpPr>
          <p:nvPr>
            <p:ph type="body" idx="17"/>
          </p:nvPr>
        </p:nvSpPr>
        <p:spPr>
          <a:xfrm>
            <a:off x="550862" y="2084918"/>
            <a:ext cx="11090275" cy="1915583"/>
          </a:xfrm>
        </p:spPr>
        <p:txBody>
          <a:bodyPr/>
          <a:lstStyle>
            <a:lvl4pPr>
              <a:buNone/>
              <a:defRPr>
                <a:latin typeface="Arial"/>
                <a:ea typeface="Arial"/>
                <a:cs typeface="Arial"/>
              </a:defRPr>
            </a:lvl4pPr>
            <a:lvl5pPr>
              <a:buNone/>
              <a:defRPr>
                <a:latin typeface="Arial"/>
                <a:ea typeface="Arial"/>
                <a:cs typeface="Arial"/>
              </a:defRPr>
            </a:lvl5pPr>
          </a:lstStyle>
          <a:p>
            <a:pPr lvl="0">
              <a:buNone/>
            </a:pPr>
            <a:r>
              <a:t>Cliquez pour modifier les styles du texte du masque</a:t>
            </a:r>
          </a:p>
        </p:txBody>
      </p:sp>
      <p:sp>
        <p:nvSpPr>
          <p:cNvPr id="10" name="Titre 9">
            <a:extLst>
              <a:ext uri="{FF2B5EF4-FFF2-40B4-BE49-F238E27FC236}">
                <a16:creationId xmlns:a16="http://schemas.microsoft.com/office/drawing/2014/main" id="{062DF1BB-35DC-3A82-0169-B8DBE8B619D2}"/>
              </a:ext>
            </a:extLst>
          </p:cNvPr>
          <p:cNvSpPr>
            <a:spLocks noGrp="1"/>
          </p:cNvSpPr>
          <p:nvPr>
            <p:ph type="title"/>
          </p:nvPr>
        </p:nvSpPr>
        <p:spPr/>
        <p:txBody>
          <a:bodyPr/>
          <a:lstStyle/>
          <a:p>
            <a:r>
              <a:t>Modifiez le style du titre</a:t>
            </a:r>
          </a:p>
        </p:txBody>
      </p:sp>
      <p:sp>
        <p:nvSpPr>
          <p:cNvPr id="6" name="Espace réservé de la date 5">
            <a:extLst>
              <a:ext uri="{FF2B5EF4-FFF2-40B4-BE49-F238E27FC236}">
                <a16:creationId xmlns:a16="http://schemas.microsoft.com/office/drawing/2014/main" id="{1E69DB1A-EF51-40EA-B47B-454F35B329B0}"/>
              </a:ext>
            </a:extLst>
          </p:cNvPr>
          <p:cNvSpPr>
            <a:spLocks noGrp="1"/>
          </p:cNvSpPr>
          <p:nvPr>
            <p:ph type="dt" idx="18"/>
          </p:nvPr>
        </p:nvSpPr>
        <p:spPr/>
        <p:txBody>
          <a:bodyPr/>
          <a:lstStyle/>
          <a:p>
            <a:r>
              <a:t>TITLE OF THE PRESENTATION</a:t>
            </a:r>
          </a:p>
        </p:txBody>
      </p:sp>
      <p:sp>
        <p:nvSpPr>
          <p:cNvPr id="8" name="Espace réservé du pied de page 7">
            <a:extLst>
              <a:ext uri="{FF2B5EF4-FFF2-40B4-BE49-F238E27FC236}">
                <a16:creationId xmlns:a16="http://schemas.microsoft.com/office/drawing/2014/main" id="{AFEE2F84-86D7-EF9E-E1F1-6D9B4FD35115}"/>
              </a:ext>
            </a:extLst>
          </p:cNvPr>
          <p:cNvSpPr>
            <a:spLocks noGrp="1"/>
          </p:cNvSpPr>
          <p:nvPr>
            <p:ph type="ftr" idx="19"/>
          </p:nvPr>
        </p:nvSpPr>
        <p:spPr/>
        <p:txBody>
          <a:bodyPr/>
          <a:lstStyle/>
          <a:p>
            <a:r>
              <a:t>Speaker name</a:t>
            </a:r>
          </a:p>
        </p:txBody>
      </p:sp>
      <p:sp>
        <p:nvSpPr>
          <p:cNvPr id="9" name="Espace réservé du numéro de diapositive 8">
            <a:extLst>
              <a:ext uri="{FF2B5EF4-FFF2-40B4-BE49-F238E27FC236}">
                <a16:creationId xmlns:a16="http://schemas.microsoft.com/office/drawing/2014/main" id="{7294AFBB-3C11-FEBF-59B2-2F637FB53201}"/>
              </a:ext>
            </a:extLst>
          </p:cNvPr>
          <p:cNvSpPr>
            <a:spLocks noGrp="1"/>
          </p:cNvSpPr>
          <p:nvPr>
            <p:ph type="sldNum" idx="20"/>
          </p:nvPr>
        </p:nvSpPr>
        <p:spPr/>
        <p:txBody>
          <a:bodyPr/>
          <a:lstStyle/>
          <a:p>
            <a:fld id="{E1E1CD7C-2161-7D43-862E-CE4C333CD873}" type="slidenum">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0_Titre seul">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idx="13"/>
          </p:nvPr>
        </p:nvSpPr>
        <p:spPr>
          <a:xfrm>
            <a:off x="0" y="4152899"/>
            <a:ext cx="12192001" cy="2705100"/>
          </a:xfrm>
        </p:spPr>
        <p:txBody>
          <a:bodyPr/>
          <a:lstStyle/>
          <a:p>
            <a:r>
              <a:t>Cliquez sur l'icône pour ajouter une image</a:t>
            </a:r>
          </a:p>
        </p:txBody>
      </p:sp>
      <p:sp>
        <p:nvSpPr>
          <p:cNvPr id="4" name="Espace réservé du texte 3">
            <a:extLst>
              <a:ext uri="{FF2B5EF4-FFF2-40B4-BE49-F238E27FC236}">
                <a16:creationId xmlns:a16="http://schemas.microsoft.com/office/drawing/2014/main" id="{026B8E86-4E58-4983-BBEE-28EB586079E3}"/>
              </a:ext>
            </a:extLst>
          </p:cNvPr>
          <p:cNvSpPr>
            <a:spLocks noGrp="1"/>
          </p:cNvSpPr>
          <p:nvPr>
            <p:ph type="body" idx="17"/>
          </p:nvPr>
        </p:nvSpPr>
        <p:spPr>
          <a:xfrm>
            <a:off x="4295775" y="1476530"/>
            <a:ext cx="7345362" cy="2523971"/>
          </a:xfrm>
        </p:spPr>
        <p:txBody>
          <a:bodyPr/>
          <a:lstStyle>
            <a:lvl4pPr>
              <a:buNone/>
              <a:defRPr>
                <a:latin typeface="Arial"/>
                <a:ea typeface="Arial"/>
                <a:cs typeface="Arial"/>
              </a:defRPr>
            </a:lvl4pPr>
            <a:lvl5pPr>
              <a:buNone/>
              <a:defRPr>
                <a:latin typeface="Arial"/>
                <a:ea typeface="Arial"/>
                <a:cs typeface="Arial"/>
              </a:defRPr>
            </a:lvl5pPr>
          </a:lstStyle>
          <a:p>
            <a:pPr lvl="0">
              <a:buNone/>
            </a:pPr>
            <a:r>
              <a:t>Cliquez pour modifier les styles du texte du masque</a:t>
            </a:r>
          </a:p>
        </p:txBody>
      </p:sp>
      <p:sp>
        <p:nvSpPr>
          <p:cNvPr id="10" name="Titre 9">
            <a:extLst>
              <a:ext uri="{FF2B5EF4-FFF2-40B4-BE49-F238E27FC236}">
                <a16:creationId xmlns:a16="http://schemas.microsoft.com/office/drawing/2014/main" id="{062DF1BB-35DC-3A82-0169-B8DBE8B619D2}"/>
              </a:ext>
            </a:extLst>
          </p:cNvPr>
          <p:cNvSpPr>
            <a:spLocks noGrp="1"/>
          </p:cNvSpPr>
          <p:nvPr>
            <p:ph type="title"/>
          </p:nvPr>
        </p:nvSpPr>
        <p:spPr>
          <a:xfrm>
            <a:off x="526000" y="635473"/>
            <a:ext cx="3625313" cy="3037117"/>
          </a:xfrm>
        </p:spPr>
        <p:txBody>
          <a:bodyPr/>
          <a:lstStyle/>
          <a:p>
            <a:r>
              <a:t>Modifiez le style du titre</a:t>
            </a:r>
          </a:p>
        </p:txBody>
      </p:sp>
      <p:sp>
        <p:nvSpPr>
          <p:cNvPr id="6" name="Espace réservé de la date 5">
            <a:extLst>
              <a:ext uri="{FF2B5EF4-FFF2-40B4-BE49-F238E27FC236}">
                <a16:creationId xmlns:a16="http://schemas.microsoft.com/office/drawing/2014/main" id="{866AC3B0-0D3A-8762-2087-9A5794DDBAEE}"/>
              </a:ext>
            </a:extLst>
          </p:cNvPr>
          <p:cNvSpPr>
            <a:spLocks noGrp="1"/>
          </p:cNvSpPr>
          <p:nvPr>
            <p:ph type="dt" idx="18"/>
          </p:nvPr>
        </p:nvSpPr>
        <p:spPr/>
        <p:txBody>
          <a:bodyPr/>
          <a:lstStyle/>
          <a:p>
            <a:r>
              <a:t>TITLE OF THE PRESENTATION</a:t>
            </a:r>
          </a:p>
        </p:txBody>
      </p:sp>
      <p:sp>
        <p:nvSpPr>
          <p:cNvPr id="8" name="Espace réservé du pied de page 7">
            <a:extLst>
              <a:ext uri="{FF2B5EF4-FFF2-40B4-BE49-F238E27FC236}">
                <a16:creationId xmlns:a16="http://schemas.microsoft.com/office/drawing/2014/main" id="{0802C03D-8F8B-28B8-FBD5-78C5C498F546}"/>
              </a:ext>
            </a:extLst>
          </p:cNvPr>
          <p:cNvSpPr>
            <a:spLocks noGrp="1"/>
          </p:cNvSpPr>
          <p:nvPr>
            <p:ph type="ftr" idx="19"/>
          </p:nvPr>
        </p:nvSpPr>
        <p:spPr/>
        <p:txBody>
          <a:bodyPr/>
          <a:lstStyle/>
          <a:p>
            <a:r>
              <a:t>Speaker name</a:t>
            </a:r>
          </a:p>
        </p:txBody>
      </p:sp>
      <p:sp>
        <p:nvSpPr>
          <p:cNvPr id="9" name="Espace réservé du numéro de diapositive 8">
            <a:extLst>
              <a:ext uri="{FF2B5EF4-FFF2-40B4-BE49-F238E27FC236}">
                <a16:creationId xmlns:a16="http://schemas.microsoft.com/office/drawing/2014/main" id="{00952B62-C420-1723-20D4-4BCBCC67654A}"/>
              </a:ext>
            </a:extLst>
          </p:cNvPr>
          <p:cNvSpPr>
            <a:spLocks noGrp="1"/>
          </p:cNvSpPr>
          <p:nvPr>
            <p:ph type="sldNum" idx="20"/>
          </p:nvPr>
        </p:nvSpPr>
        <p:spPr/>
        <p:txBody>
          <a:bodyPr/>
          <a:lstStyle/>
          <a:p>
            <a:fld id="{E1E1CD7C-2161-7D43-862E-CE4C333CD873}" type="slidenum">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1_Titre seul">
    <p:spTree>
      <p:nvGrpSpPr>
        <p:cNvPr id="1" name=""/>
        <p:cNvGrpSpPr/>
        <p:nvPr/>
      </p:nvGrpSpPr>
      <p:grpSpPr>
        <a:xfrm>
          <a:off x="0" y="0"/>
          <a:ext cx="0" cy="0"/>
          <a:chOff x="0" y="0"/>
          <a:chExt cx="0" cy="0"/>
        </a:xfrm>
      </p:grpSpPr>
      <p:sp>
        <p:nvSpPr>
          <p:cNvPr id="49" name="Espace réservé pour une image  48">
            <a:extLst>
              <a:ext uri="{FF2B5EF4-FFF2-40B4-BE49-F238E27FC236}">
                <a16:creationId xmlns:a16="http://schemas.microsoft.com/office/drawing/2014/main" id="{EB4B76CC-D6E6-F71B-F115-CCF181F6E936}"/>
              </a:ext>
            </a:extLst>
          </p:cNvPr>
          <p:cNvSpPr>
            <a:spLocks noGrp="1"/>
          </p:cNvSpPr>
          <p:nvPr>
            <p:ph type="pic" idx="13"/>
          </p:nvPr>
        </p:nvSpPr>
        <p:spPr>
          <a:xfrm>
            <a:off x="0" y="-1"/>
            <a:ext cx="12192001" cy="3122613"/>
          </a:xfrm>
          <a:custGeom>
            <a:avLst/>
            <a:gdLst>
              <a:gd name="connsiteX0" fmla="*/ 767072 w 12192001"/>
              <a:gd name="connsiteY0" fmla="*/ 371000 h 3122613"/>
              <a:gd name="connsiteX1" fmla="*/ 799951 w 12192001"/>
              <a:gd name="connsiteY1" fmla="*/ 371000 h 3122613"/>
              <a:gd name="connsiteX2" fmla="*/ 813959 w 12192001"/>
              <a:gd name="connsiteY2" fmla="*/ 371799 h 3122613"/>
              <a:gd name="connsiteX3" fmla="*/ 825811 w 12192001"/>
              <a:gd name="connsiteY3" fmla="*/ 374901 h 3122613"/>
              <a:gd name="connsiteX4" fmla="*/ 834031 w 12192001"/>
              <a:gd name="connsiteY4" fmla="*/ 381381 h 3122613"/>
              <a:gd name="connsiteX5" fmla="*/ 837140 w 12192001"/>
              <a:gd name="connsiteY5" fmla="*/ 392376 h 3122613"/>
              <a:gd name="connsiteX6" fmla="*/ 834031 w 12192001"/>
              <a:gd name="connsiteY6" fmla="*/ 403372 h 3122613"/>
              <a:gd name="connsiteX7" fmla="*/ 834031 w 12192001"/>
              <a:gd name="connsiteY7" fmla="*/ 403341 h 3122613"/>
              <a:gd name="connsiteX8" fmla="*/ 825811 w 12192001"/>
              <a:gd name="connsiteY8" fmla="*/ 409821 h 3122613"/>
              <a:gd name="connsiteX9" fmla="*/ 813959 w 12192001"/>
              <a:gd name="connsiteY9" fmla="*/ 412923 h 3122613"/>
              <a:gd name="connsiteX10" fmla="*/ 799951 w 12192001"/>
              <a:gd name="connsiteY10" fmla="*/ 413722 h 3122613"/>
              <a:gd name="connsiteX11" fmla="*/ 767072 w 12192001"/>
              <a:gd name="connsiteY11" fmla="*/ 413722 h 3122613"/>
              <a:gd name="connsiteX12" fmla="*/ 1073698 w 12192001"/>
              <a:gd name="connsiteY12" fmla="*/ 335496 h 3122613"/>
              <a:gd name="connsiteX13" fmla="*/ 1073698 w 12192001"/>
              <a:gd name="connsiteY13" fmla="*/ 527421 h 3122613"/>
              <a:gd name="connsiteX14" fmla="*/ 1212850 w 12192001"/>
              <a:gd name="connsiteY14" fmla="*/ 527421 h 3122613"/>
              <a:gd name="connsiteX15" fmla="*/ 1212850 w 12192001"/>
              <a:gd name="connsiteY15" fmla="*/ 491948 h 3122613"/>
              <a:gd name="connsiteX16" fmla="*/ 1115167 w 12192001"/>
              <a:gd name="connsiteY16" fmla="*/ 491948 h 3122613"/>
              <a:gd name="connsiteX17" fmla="*/ 1115167 w 12192001"/>
              <a:gd name="connsiteY17" fmla="*/ 335496 h 3122613"/>
              <a:gd name="connsiteX18" fmla="*/ 904469 w 12192001"/>
              <a:gd name="connsiteY18" fmla="*/ 335496 h 3122613"/>
              <a:gd name="connsiteX19" fmla="*/ 904469 w 12192001"/>
              <a:gd name="connsiteY19" fmla="*/ 413722 h 3122613"/>
              <a:gd name="connsiteX20" fmla="*/ 945968 w 12192001"/>
              <a:gd name="connsiteY20" fmla="*/ 413722 h 3122613"/>
              <a:gd name="connsiteX21" fmla="*/ 945968 w 12192001"/>
              <a:gd name="connsiteY21" fmla="*/ 449195 h 3122613"/>
              <a:gd name="connsiteX22" fmla="*/ 904469 w 12192001"/>
              <a:gd name="connsiteY22" fmla="*/ 449195 h 3122613"/>
              <a:gd name="connsiteX23" fmla="*/ 904469 w 12192001"/>
              <a:gd name="connsiteY23" fmla="*/ 527421 h 3122613"/>
              <a:gd name="connsiteX24" fmla="*/ 945969 w 12192001"/>
              <a:gd name="connsiteY24" fmla="*/ 527421 h 3122613"/>
              <a:gd name="connsiteX25" fmla="*/ 945969 w 12192001"/>
              <a:gd name="connsiteY25" fmla="*/ 449195 h 3122613"/>
              <a:gd name="connsiteX26" fmla="*/ 1035278 w 12192001"/>
              <a:gd name="connsiteY26" fmla="*/ 449195 h 3122613"/>
              <a:gd name="connsiteX27" fmla="*/ 1035278 w 12192001"/>
              <a:gd name="connsiteY27" fmla="*/ 413722 h 3122613"/>
              <a:gd name="connsiteX28" fmla="*/ 945969 w 12192001"/>
              <a:gd name="connsiteY28" fmla="*/ 413722 h 3122613"/>
              <a:gd name="connsiteX29" fmla="*/ 945969 w 12192001"/>
              <a:gd name="connsiteY29" fmla="*/ 370969 h 3122613"/>
              <a:gd name="connsiteX30" fmla="*/ 1043652 w 12192001"/>
              <a:gd name="connsiteY30" fmla="*/ 370969 h 3122613"/>
              <a:gd name="connsiteX31" fmla="*/ 1043652 w 12192001"/>
              <a:gd name="connsiteY31" fmla="*/ 335496 h 3122613"/>
              <a:gd name="connsiteX32" fmla="*/ 725542 w 12192001"/>
              <a:gd name="connsiteY32" fmla="*/ 335496 h 3122613"/>
              <a:gd name="connsiteX33" fmla="*/ 725542 w 12192001"/>
              <a:gd name="connsiteY33" fmla="*/ 527421 h 3122613"/>
              <a:gd name="connsiteX34" fmla="*/ 767041 w 12192001"/>
              <a:gd name="connsiteY34" fmla="*/ 527421 h 3122613"/>
              <a:gd name="connsiteX35" fmla="*/ 767041 w 12192001"/>
              <a:gd name="connsiteY35" fmla="*/ 449195 h 3122613"/>
              <a:gd name="connsiteX36" fmla="*/ 811496 w 12192001"/>
              <a:gd name="connsiteY36" fmla="*/ 449195 h 3122613"/>
              <a:gd name="connsiteX37" fmla="*/ 842220 w 12192001"/>
              <a:gd name="connsiteY37" fmla="*/ 444343 h 3122613"/>
              <a:gd name="connsiteX38" fmla="*/ 862847 w 12192001"/>
              <a:gd name="connsiteY38" fmla="*/ 431566 h 3122613"/>
              <a:gd name="connsiteX39" fmla="*/ 874422 w 12192001"/>
              <a:gd name="connsiteY39" fmla="*/ 413322 h 3122613"/>
              <a:gd name="connsiteX40" fmla="*/ 878055 w 12192001"/>
              <a:gd name="connsiteY40" fmla="*/ 392346 h 3122613"/>
              <a:gd name="connsiteX41" fmla="*/ 874422 w 12192001"/>
              <a:gd name="connsiteY41" fmla="*/ 371246 h 3122613"/>
              <a:gd name="connsiteX42" fmla="*/ 862847 w 12192001"/>
              <a:gd name="connsiteY42" fmla="*/ 353125 h 3122613"/>
              <a:gd name="connsiteX43" fmla="*/ 842220 w 12192001"/>
              <a:gd name="connsiteY43" fmla="*/ 340349 h 3122613"/>
              <a:gd name="connsiteX44" fmla="*/ 811496 w 12192001"/>
              <a:gd name="connsiteY44" fmla="*/ 335496 h 3122613"/>
              <a:gd name="connsiteX45" fmla="*/ 550863 w 12192001"/>
              <a:gd name="connsiteY45" fmla="*/ 335496 h 3122613"/>
              <a:gd name="connsiteX46" fmla="*/ 550863 w 12192001"/>
              <a:gd name="connsiteY46" fmla="*/ 413722 h 3122613"/>
              <a:gd name="connsiteX47" fmla="*/ 592363 w 12192001"/>
              <a:gd name="connsiteY47" fmla="*/ 413722 h 3122613"/>
              <a:gd name="connsiteX48" fmla="*/ 592363 w 12192001"/>
              <a:gd name="connsiteY48" fmla="*/ 449195 h 3122613"/>
              <a:gd name="connsiteX49" fmla="*/ 550863 w 12192001"/>
              <a:gd name="connsiteY49" fmla="*/ 449195 h 3122613"/>
              <a:gd name="connsiteX50" fmla="*/ 550863 w 12192001"/>
              <a:gd name="connsiteY50" fmla="*/ 527421 h 3122613"/>
              <a:gd name="connsiteX51" fmla="*/ 690015 w 12192001"/>
              <a:gd name="connsiteY51" fmla="*/ 527421 h 3122613"/>
              <a:gd name="connsiteX52" fmla="*/ 690015 w 12192001"/>
              <a:gd name="connsiteY52" fmla="*/ 491948 h 3122613"/>
              <a:gd name="connsiteX53" fmla="*/ 592363 w 12192001"/>
              <a:gd name="connsiteY53" fmla="*/ 491948 h 3122613"/>
              <a:gd name="connsiteX54" fmla="*/ 592363 w 12192001"/>
              <a:gd name="connsiteY54" fmla="*/ 449195 h 3122613"/>
              <a:gd name="connsiteX55" fmla="*/ 681672 w 12192001"/>
              <a:gd name="connsiteY55" fmla="*/ 449195 h 3122613"/>
              <a:gd name="connsiteX56" fmla="*/ 681672 w 12192001"/>
              <a:gd name="connsiteY56" fmla="*/ 413722 h 3122613"/>
              <a:gd name="connsiteX57" fmla="*/ 592363 w 12192001"/>
              <a:gd name="connsiteY57" fmla="*/ 413722 h 3122613"/>
              <a:gd name="connsiteX58" fmla="*/ 592363 w 12192001"/>
              <a:gd name="connsiteY58" fmla="*/ 370969 h 3122613"/>
              <a:gd name="connsiteX59" fmla="*/ 690015 w 12192001"/>
              <a:gd name="connsiteY59" fmla="*/ 370969 h 3122613"/>
              <a:gd name="connsiteX60" fmla="*/ 690015 w 12192001"/>
              <a:gd name="connsiteY60" fmla="*/ 335496 h 3122613"/>
              <a:gd name="connsiteX61" fmla="*/ 0 w 12192001"/>
              <a:gd name="connsiteY61" fmla="*/ 0 h 3122613"/>
              <a:gd name="connsiteX62" fmla="*/ 12192001 w 12192001"/>
              <a:gd name="connsiteY62" fmla="*/ 0 h 3122613"/>
              <a:gd name="connsiteX63" fmla="*/ 12192001 w 12192001"/>
              <a:gd name="connsiteY63" fmla="*/ 3122613 h 3122613"/>
              <a:gd name="connsiteX64" fmla="*/ 0 w 12192001"/>
              <a:gd name="connsiteY64" fmla="*/ 3122613 h 3122613"/>
            </a:gdLst>
            <a:ahLst/>
            <a:cxnLst/>
            <a:rect l="l" t="t" r="r" b="b"/>
            <a:pathLst>
              <a:path w="12192001" h="3122613">
                <a:moveTo>
                  <a:pt x="767072" y="371000"/>
                </a:moveTo>
                <a:lnTo>
                  <a:pt x="799951" y="371000"/>
                </a:lnTo>
                <a:cubicBezTo>
                  <a:pt x="804815" y="371000"/>
                  <a:pt x="809464" y="371276"/>
                  <a:pt x="813959" y="371799"/>
                </a:cubicBezTo>
                <a:cubicBezTo>
                  <a:pt x="818453" y="372321"/>
                  <a:pt x="822394" y="373365"/>
                  <a:pt x="825811" y="374901"/>
                </a:cubicBezTo>
                <a:cubicBezTo>
                  <a:pt x="829228" y="376436"/>
                  <a:pt x="831969" y="378586"/>
                  <a:pt x="834031" y="381381"/>
                </a:cubicBezTo>
                <a:cubicBezTo>
                  <a:pt x="836094" y="384176"/>
                  <a:pt x="837140" y="387831"/>
                  <a:pt x="837140" y="392376"/>
                </a:cubicBezTo>
                <a:cubicBezTo>
                  <a:pt x="837140" y="396922"/>
                  <a:pt x="836094" y="400577"/>
                  <a:pt x="834031" y="403372"/>
                </a:cubicBezTo>
                <a:lnTo>
                  <a:pt x="834031" y="403341"/>
                </a:lnTo>
                <a:cubicBezTo>
                  <a:pt x="831969" y="406136"/>
                  <a:pt x="829228" y="408316"/>
                  <a:pt x="825811" y="409821"/>
                </a:cubicBezTo>
                <a:cubicBezTo>
                  <a:pt x="822394" y="411357"/>
                  <a:pt x="818453" y="412401"/>
                  <a:pt x="813959" y="412923"/>
                </a:cubicBezTo>
                <a:cubicBezTo>
                  <a:pt x="809464" y="413446"/>
                  <a:pt x="804785" y="413722"/>
                  <a:pt x="799951" y="413722"/>
                </a:cubicBezTo>
                <a:lnTo>
                  <a:pt x="767072" y="413722"/>
                </a:lnTo>
                <a:close/>
                <a:moveTo>
                  <a:pt x="1073698" y="335496"/>
                </a:moveTo>
                <a:lnTo>
                  <a:pt x="1073698" y="527421"/>
                </a:lnTo>
                <a:lnTo>
                  <a:pt x="1212850" y="527421"/>
                </a:lnTo>
                <a:lnTo>
                  <a:pt x="1212850" y="491948"/>
                </a:lnTo>
                <a:lnTo>
                  <a:pt x="1115167" y="491948"/>
                </a:lnTo>
                <a:lnTo>
                  <a:pt x="1115167" y="335496"/>
                </a:lnTo>
                <a:close/>
                <a:moveTo>
                  <a:pt x="904469" y="335496"/>
                </a:moveTo>
                <a:lnTo>
                  <a:pt x="904469" y="413722"/>
                </a:lnTo>
                <a:lnTo>
                  <a:pt x="945968" y="413722"/>
                </a:lnTo>
                <a:lnTo>
                  <a:pt x="945968" y="449195"/>
                </a:lnTo>
                <a:lnTo>
                  <a:pt x="904469" y="449195"/>
                </a:lnTo>
                <a:lnTo>
                  <a:pt x="904469" y="527421"/>
                </a:lnTo>
                <a:lnTo>
                  <a:pt x="945969" y="527421"/>
                </a:lnTo>
                <a:lnTo>
                  <a:pt x="945969" y="449195"/>
                </a:lnTo>
                <a:lnTo>
                  <a:pt x="1035278" y="449195"/>
                </a:lnTo>
                <a:lnTo>
                  <a:pt x="1035278" y="413722"/>
                </a:lnTo>
                <a:lnTo>
                  <a:pt x="945969" y="413722"/>
                </a:lnTo>
                <a:lnTo>
                  <a:pt x="945969" y="370969"/>
                </a:lnTo>
                <a:lnTo>
                  <a:pt x="1043652" y="370969"/>
                </a:lnTo>
                <a:lnTo>
                  <a:pt x="1043652" y="335496"/>
                </a:lnTo>
                <a:close/>
                <a:moveTo>
                  <a:pt x="725542" y="335496"/>
                </a:moveTo>
                <a:lnTo>
                  <a:pt x="725542" y="527421"/>
                </a:lnTo>
                <a:lnTo>
                  <a:pt x="767041" y="527421"/>
                </a:lnTo>
                <a:lnTo>
                  <a:pt x="767041" y="449195"/>
                </a:lnTo>
                <a:lnTo>
                  <a:pt x="811496" y="449195"/>
                </a:lnTo>
                <a:cubicBezTo>
                  <a:pt x="823533" y="449195"/>
                  <a:pt x="833754" y="447598"/>
                  <a:pt x="842220" y="444343"/>
                </a:cubicBezTo>
                <a:cubicBezTo>
                  <a:pt x="850656" y="441118"/>
                  <a:pt x="857521" y="436849"/>
                  <a:pt x="862847" y="431566"/>
                </a:cubicBezTo>
                <a:cubicBezTo>
                  <a:pt x="868142" y="426283"/>
                  <a:pt x="872021" y="420202"/>
                  <a:pt x="874422" y="413322"/>
                </a:cubicBezTo>
                <a:cubicBezTo>
                  <a:pt x="876854" y="406443"/>
                  <a:pt x="878055" y="399471"/>
                  <a:pt x="878055" y="392346"/>
                </a:cubicBezTo>
                <a:cubicBezTo>
                  <a:pt x="878055" y="385220"/>
                  <a:pt x="876854" y="378033"/>
                  <a:pt x="874422" y="371246"/>
                </a:cubicBezTo>
                <a:cubicBezTo>
                  <a:pt x="871990" y="364458"/>
                  <a:pt x="868142" y="358408"/>
                  <a:pt x="862847" y="353125"/>
                </a:cubicBezTo>
                <a:cubicBezTo>
                  <a:pt x="857552" y="347843"/>
                  <a:pt x="850686" y="343574"/>
                  <a:pt x="842220" y="340349"/>
                </a:cubicBezTo>
                <a:cubicBezTo>
                  <a:pt x="833785" y="337124"/>
                  <a:pt x="823533" y="335496"/>
                  <a:pt x="811496" y="335496"/>
                </a:cubicBezTo>
                <a:close/>
                <a:moveTo>
                  <a:pt x="550863" y="335496"/>
                </a:moveTo>
                <a:lnTo>
                  <a:pt x="550863" y="413722"/>
                </a:lnTo>
                <a:lnTo>
                  <a:pt x="592363" y="413722"/>
                </a:lnTo>
                <a:lnTo>
                  <a:pt x="592363" y="449195"/>
                </a:lnTo>
                <a:lnTo>
                  <a:pt x="550863" y="449195"/>
                </a:lnTo>
                <a:lnTo>
                  <a:pt x="550863" y="527421"/>
                </a:lnTo>
                <a:lnTo>
                  <a:pt x="690015" y="527421"/>
                </a:lnTo>
                <a:lnTo>
                  <a:pt x="690015" y="491948"/>
                </a:lnTo>
                <a:lnTo>
                  <a:pt x="592363" y="491948"/>
                </a:lnTo>
                <a:lnTo>
                  <a:pt x="592363" y="449195"/>
                </a:lnTo>
                <a:lnTo>
                  <a:pt x="681672" y="449195"/>
                </a:lnTo>
                <a:lnTo>
                  <a:pt x="681672" y="413722"/>
                </a:lnTo>
                <a:lnTo>
                  <a:pt x="592363" y="413722"/>
                </a:lnTo>
                <a:lnTo>
                  <a:pt x="592363" y="370969"/>
                </a:lnTo>
                <a:lnTo>
                  <a:pt x="690015" y="370969"/>
                </a:lnTo>
                <a:lnTo>
                  <a:pt x="690015" y="335496"/>
                </a:lnTo>
                <a:close/>
                <a:moveTo>
                  <a:pt x="0" y="0"/>
                </a:moveTo>
                <a:lnTo>
                  <a:pt x="12192001" y="0"/>
                </a:lnTo>
                <a:lnTo>
                  <a:pt x="12192001" y="3122613"/>
                </a:lnTo>
                <a:lnTo>
                  <a:pt x="0" y="3122613"/>
                </a:lnTo>
                <a:close/>
              </a:path>
            </a:pathLst>
          </a:custGeom>
        </p:spPr>
        <p:txBody>
          <a:bodyPr wrap="square">
            <a:noAutofit/>
          </a:bodyPr>
          <a:lstStyle/>
          <a:p>
            <a:r>
              <a:t>Cliquez sur l'icône pour ajouter une image</a:t>
            </a:r>
          </a:p>
        </p:txBody>
      </p:sp>
      <p:sp>
        <p:nvSpPr>
          <p:cNvPr id="4" name="Espace réservé du texte 3">
            <a:extLst>
              <a:ext uri="{FF2B5EF4-FFF2-40B4-BE49-F238E27FC236}">
                <a16:creationId xmlns:a16="http://schemas.microsoft.com/office/drawing/2014/main" id="{F6F08AC1-FF90-4621-BBB2-03D4FF00734C}"/>
              </a:ext>
            </a:extLst>
          </p:cNvPr>
          <p:cNvSpPr>
            <a:spLocks noGrp="1"/>
          </p:cNvSpPr>
          <p:nvPr>
            <p:ph type="body" idx="17"/>
          </p:nvPr>
        </p:nvSpPr>
        <p:spPr>
          <a:xfrm>
            <a:off x="4295775" y="4002665"/>
            <a:ext cx="7345362" cy="2523971"/>
          </a:xfrm>
        </p:spPr>
        <p:txBody>
          <a:bodyPr/>
          <a:lstStyle>
            <a:lvl4pPr>
              <a:buNone/>
              <a:defRPr>
                <a:latin typeface="Arial"/>
                <a:ea typeface="Arial"/>
                <a:cs typeface="Arial"/>
              </a:defRPr>
            </a:lvl4pPr>
            <a:lvl5pPr>
              <a:buNone/>
              <a:defRPr>
                <a:latin typeface="Arial"/>
                <a:ea typeface="Arial"/>
                <a:cs typeface="Arial"/>
              </a:defRPr>
            </a:lvl5pPr>
          </a:lstStyle>
          <a:p>
            <a:pPr lvl="0">
              <a:buNone/>
            </a:pPr>
            <a:r>
              <a:t>Cliquez pour modifier les styles du texte du masque</a:t>
            </a:r>
          </a:p>
        </p:txBody>
      </p:sp>
      <p:sp>
        <p:nvSpPr>
          <p:cNvPr id="10" name="Titre 9">
            <a:extLst>
              <a:ext uri="{FF2B5EF4-FFF2-40B4-BE49-F238E27FC236}">
                <a16:creationId xmlns:a16="http://schemas.microsoft.com/office/drawing/2014/main" id="{062DF1BB-35DC-3A82-0169-B8DBE8B619D2}"/>
              </a:ext>
            </a:extLst>
          </p:cNvPr>
          <p:cNvSpPr>
            <a:spLocks noGrp="1"/>
          </p:cNvSpPr>
          <p:nvPr>
            <p:ph type="title"/>
          </p:nvPr>
        </p:nvSpPr>
        <p:spPr>
          <a:xfrm>
            <a:off x="526000" y="3161608"/>
            <a:ext cx="3625313" cy="3037117"/>
          </a:xfrm>
        </p:spPr>
        <p:txBody>
          <a:bodyPr/>
          <a:lstStyle/>
          <a:p>
            <a:r>
              <a:t>Modifiez le style du titre</a:t>
            </a:r>
          </a:p>
        </p:txBody>
      </p:sp>
      <p:sp>
        <p:nvSpPr>
          <p:cNvPr id="50" name="Espace réservé de la date 49">
            <a:extLst>
              <a:ext uri="{FF2B5EF4-FFF2-40B4-BE49-F238E27FC236}">
                <a16:creationId xmlns:a16="http://schemas.microsoft.com/office/drawing/2014/main" id="{1F58FB1B-3FCB-DC0A-985A-A79C7796D0ED}"/>
              </a:ext>
            </a:extLst>
          </p:cNvPr>
          <p:cNvSpPr>
            <a:spLocks noGrp="1"/>
          </p:cNvSpPr>
          <p:nvPr>
            <p:ph type="dt" idx="18"/>
          </p:nvPr>
        </p:nvSpPr>
        <p:spPr/>
        <p:txBody>
          <a:bodyPr/>
          <a:lstStyle/>
          <a:p>
            <a:r>
              <a:t>TITLE OF THE PRESENTATION</a:t>
            </a:r>
          </a:p>
        </p:txBody>
      </p:sp>
      <p:sp>
        <p:nvSpPr>
          <p:cNvPr id="51" name="Espace réservé du pied de page 50">
            <a:extLst>
              <a:ext uri="{FF2B5EF4-FFF2-40B4-BE49-F238E27FC236}">
                <a16:creationId xmlns:a16="http://schemas.microsoft.com/office/drawing/2014/main" id="{FCBC8351-192B-9FDA-B249-F979A12D1B69}"/>
              </a:ext>
            </a:extLst>
          </p:cNvPr>
          <p:cNvSpPr>
            <a:spLocks noGrp="1"/>
          </p:cNvSpPr>
          <p:nvPr>
            <p:ph type="ftr" idx="19"/>
          </p:nvPr>
        </p:nvSpPr>
        <p:spPr/>
        <p:txBody>
          <a:bodyPr/>
          <a:lstStyle/>
          <a:p>
            <a:r>
              <a:t>Speaker name</a:t>
            </a:r>
          </a:p>
        </p:txBody>
      </p:sp>
      <p:sp>
        <p:nvSpPr>
          <p:cNvPr id="52" name="Espace réservé du numéro de diapositive 51">
            <a:extLst>
              <a:ext uri="{FF2B5EF4-FFF2-40B4-BE49-F238E27FC236}">
                <a16:creationId xmlns:a16="http://schemas.microsoft.com/office/drawing/2014/main" id="{0A5A4FBE-7267-1A29-AF9C-9A2954CFE7A3}"/>
              </a:ext>
            </a:extLst>
          </p:cNvPr>
          <p:cNvSpPr>
            <a:spLocks noGrp="1"/>
          </p:cNvSpPr>
          <p:nvPr>
            <p:ph type="sldNum" idx="20"/>
          </p:nvPr>
        </p:nvSpPr>
        <p:spPr/>
        <p:txBody>
          <a:bodyPr/>
          <a:lstStyle/>
          <a:p>
            <a:fld id="{E1E1CD7C-2161-7D43-862E-CE4C333CD873}" type="slidenum">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7BDFDB8-5D94-8AAC-B64A-A9FB976C6488}"/>
              </a:ext>
            </a:extLst>
          </p:cNvPr>
          <p:cNvSpPr>
            <a:spLocks noGrp="1"/>
          </p:cNvSpPr>
          <p:nvPr>
            <p:ph type="dt" idx="10"/>
          </p:nvPr>
        </p:nvSpPr>
        <p:spPr/>
        <p:txBody>
          <a:bodyPr/>
          <a:lstStyle/>
          <a:p>
            <a:r>
              <a:t>TITLE OF THE PRESENTATION</a:t>
            </a:r>
          </a:p>
        </p:txBody>
      </p:sp>
      <p:sp>
        <p:nvSpPr>
          <p:cNvPr id="3" name="Espace réservé du pied de page 2">
            <a:extLst>
              <a:ext uri="{FF2B5EF4-FFF2-40B4-BE49-F238E27FC236}">
                <a16:creationId xmlns:a16="http://schemas.microsoft.com/office/drawing/2014/main" id="{4969540E-0813-FBAC-C0A6-0D971B485669}"/>
              </a:ext>
            </a:extLst>
          </p:cNvPr>
          <p:cNvSpPr>
            <a:spLocks noGrp="1"/>
          </p:cNvSpPr>
          <p:nvPr>
            <p:ph type="ftr" idx="11"/>
          </p:nvPr>
        </p:nvSpPr>
        <p:spPr/>
        <p:txBody>
          <a:bodyPr/>
          <a:lstStyle/>
          <a:p>
            <a:r>
              <a:t>Speaker name</a:t>
            </a:r>
          </a:p>
        </p:txBody>
      </p:sp>
      <p:sp>
        <p:nvSpPr>
          <p:cNvPr id="4" name="Espace réservé du numéro de diapositive 3">
            <a:extLst>
              <a:ext uri="{FF2B5EF4-FFF2-40B4-BE49-F238E27FC236}">
                <a16:creationId xmlns:a16="http://schemas.microsoft.com/office/drawing/2014/main" id="{E41E5FCE-1EB9-A21D-4086-BD23BB30A17B}"/>
              </a:ext>
            </a:extLst>
          </p:cNvPr>
          <p:cNvSpPr>
            <a:spLocks noGrp="1"/>
          </p:cNvSpPr>
          <p:nvPr>
            <p:ph type="sldNum" idx="12"/>
          </p:nvPr>
        </p:nvSpPr>
        <p:spPr/>
        <p:txBody>
          <a:bodyPr/>
          <a:lstStyle/>
          <a:p>
            <a:fld id="{E1E1CD7C-2161-7D43-862E-CE4C333CD873}"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F7137F-34DA-49DC-85E2-3754D2DC0D15}"/>
              </a:ext>
            </a:extLst>
          </p:cNvPr>
          <p:cNvSpPr>
            <a:spLocks noGrp="1"/>
          </p:cNvSpPr>
          <p:nvPr>
            <p:ph type="title"/>
          </p:nvPr>
        </p:nvSpPr>
        <p:spPr>
          <a:xfrm>
            <a:off x="526000" y="635473"/>
            <a:ext cx="4537075" cy="2106613"/>
          </a:xfrm>
          <a:prstGeom prst="rect">
            <a:avLst/>
          </a:prstGeom>
        </p:spPr>
        <p:txBody>
          <a:bodyPr vert="horz" lIns="0" tIns="180000" rIns="0" bIns="0" anchor="t">
            <a:normAutofit/>
          </a:bodyPr>
          <a:lstStyle/>
          <a:p>
            <a:r>
              <a:t>Modifiez le style du titre</a:t>
            </a:r>
          </a:p>
        </p:txBody>
      </p:sp>
      <p:sp>
        <p:nvSpPr>
          <p:cNvPr id="3" name="Text Placeholder 2">
            <a:extLst>
              <a:ext uri="{FF2B5EF4-FFF2-40B4-BE49-F238E27FC236}">
                <a16:creationId xmlns:a16="http://schemas.microsoft.com/office/drawing/2014/main" id="{DFF1E07C-4C79-47E4-A46E-2BB037E93301}"/>
              </a:ext>
            </a:extLst>
          </p:cNvPr>
          <p:cNvSpPr>
            <a:spLocks noGrp="1"/>
          </p:cNvSpPr>
          <p:nvPr>
            <p:ph type="body" idx="1"/>
          </p:nvPr>
        </p:nvSpPr>
        <p:spPr>
          <a:xfrm>
            <a:off x="5232400" y="2084388"/>
            <a:ext cx="6408737" cy="4440237"/>
          </a:xfrm>
          <a:prstGeom prst="rect">
            <a:avLst/>
          </a:prstGeom>
        </p:spPr>
        <p:txBody>
          <a:bodyPr vert="horz" lIns="36000" tIns="46800" rIns="36000" bIns="45720">
            <a:normAutofit/>
          </a:bodyPr>
          <a:lstStyle/>
          <a:p>
            <a:pPr lvl="0">
              <a:buNone/>
            </a:pPr>
            <a:r>
              <a:t>Modifier les styles du texte du masque</a:t>
            </a:r>
          </a:p>
          <a:p>
            <a:pPr lvl="1">
              <a:buNone/>
            </a:pPr>
            <a:r>
              <a:t>Deuxième niveau</a:t>
            </a:r>
          </a:p>
          <a:p>
            <a:pPr lvl="2">
              <a:buNone/>
            </a:pPr>
            <a:r>
              <a:t>Troisième niveau</a:t>
            </a:r>
            <a:br/>
            <a:r>
              <a:t>Quatrième niveau</a:t>
            </a:r>
            <a:br/>
            <a:r>
              <a:t>Cinquième niveau</a:t>
            </a:r>
          </a:p>
        </p:txBody>
      </p:sp>
      <p:sp>
        <p:nvSpPr>
          <p:cNvPr id="4" name="Date Placeholder 3">
            <a:extLst>
              <a:ext uri="{FF2B5EF4-FFF2-40B4-BE49-F238E27FC236}">
                <a16:creationId xmlns:a16="http://schemas.microsoft.com/office/drawing/2014/main" id="{C844CC08-C118-41A6-9098-020558CDF9DE}"/>
              </a:ext>
            </a:extLst>
          </p:cNvPr>
          <p:cNvSpPr>
            <a:spLocks noGrp="1"/>
          </p:cNvSpPr>
          <p:nvPr>
            <p:ph type="dt" idx="2"/>
          </p:nvPr>
        </p:nvSpPr>
        <p:spPr>
          <a:xfrm>
            <a:off x="7132638" y="317500"/>
            <a:ext cx="3868422" cy="214830"/>
          </a:xfrm>
          <a:prstGeom prst="rect">
            <a:avLst/>
          </a:prstGeom>
        </p:spPr>
        <p:txBody>
          <a:bodyPr vert="horz" lIns="0" tIns="0" rIns="0" bIns="45720" anchor="t"/>
          <a:lstStyle>
            <a:lvl1pPr algn="r">
              <a:buNone/>
              <a:defRPr sz="700" b="1">
                <a:solidFill>
                  <a:schemeClr val="tx2"/>
                </a:solidFill>
                <a:latin typeface="Arial"/>
                <a:ea typeface="Arial"/>
                <a:cs typeface="Arial"/>
              </a:defRPr>
            </a:lvl1pPr>
          </a:lstStyle>
          <a:p>
            <a:r>
              <a:t>TITLE OF THE PRESENTATION</a:t>
            </a:r>
          </a:p>
        </p:txBody>
      </p:sp>
      <p:sp>
        <p:nvSpPr>
          <p:cNvPr id="5" name="Footer Placeholder 4">
            <a:extLst>
              <a:ext uri="{FF2B5EF4-FFF2-40B4-BE49-F238E27FC236}">
                <a16:creationId xmlns:a16="http://schemas.microsoft.com/office/drawing/2014/main" id="{F88CA088-09CA-43F7-B585-3F6BFAB4B684}"/>
              </a:ext>
            </a:extLst>
          </p:cNvPr>
          <p:cNvSpPr>
            <a:spLocks noGrp="1"/>
          </p:cNvSpPr>
          <p:nvPr>
            <p:ph type="ftr" idx="3"/>
          </p:nvPr>
        </p:nvSpPr>
        <p:spPr>
          <a:xfrm>
            <a:off x="7132639" y="432364"/>
            <a:ext cx="3868422" cy="225104"/>
          </a:xfrm>
          <a:prstGeom prst="rect">
            <a:avLst/>
          </a:prstGeom>
        </p:spPr>
        <p:txBody>
          <a:bodyPr vert="horz" lIns="0" tIns="0" rIns="0" bIns="45720" anchor="t"/>
          <a:lstStyle>
            <a:lvl1pPr algn="r">
              <a:buNone/>
              <a:defRPr sz="700">
                <a:solidFill>
                  <a:schemeClr val="tx2"/>
                </a:solidFill>
                <a:latin typeface="Arial"/>
                <a:ea typeface="Arial"/>
                <a:cs typeface="Arial"/>
              </a:defRPr>
            </a:lvl1pPr>
          </a:lstStyle>
          <a:p>
            <a:r>
              <a:t>Speaker name</a:t>
            </a:r>
          </a:p>
        </p:txBody>
      </p:sp>
      <p:sp>
        <p:nvSpPr>
          <p:cNvPr id="6" name="Slide Number Placeholder 5">
            <a:extLst>
              <a:ext uri="{FF2B5EF4-FFF2-40B4-BE49-F238E27FC236}">
                <a16:creationId xmlns:a16="http://schemas.microsoft.com/office/drawing/2014/main" id="{13A2CE9B-5BA7-4E61-A14A-684A7A222720}"/>
              </a:ext>
            </a:extLst>
          </p:cNvPr>
          <p:cNvSpPr>
            <a:spLocks noGrp="1"/>
          </p:cNvSpPr>
          <p:nvPr>
            <p:ph type="sldNum" idx="4"/>
          </p:nvPr>
        </p:nvSpPr>
        <p:spPr>
          <a:xfrm>
            <a:off x="10972485" y="-12704"/>
            <a:ext cx="683683" cy="882252"/>
          </a:xfrm>
          <a:prstGeom prst="rect">
            <a:avLst/>
          </a:prstGeom>
        </p:spPr>
        <p:txBody>
          <a:bodyPr vert="horz" lIns="90000" tIns="0" rIns="0" bIns="0" anchor="ctr"/>
          <a:lstStyle>
            <a:lvl1pPr algn="r">
              <a:buNone/>
              <a:defRPr sz="2100" b="1">
                <a:solidFill>
                  <a:schemeClr val="tx2"/>
                </a:solidFill>
                <a:latin typeface="+mn-lt"/>
                <a:ea typeface="+mn-lt"/>
                <a:cs typeface="+mn-lt"/>
              </a:defRPr>
            </a:lvl1pPr>
          </a:lstStyle>
          <a:p>
            <a:fld id="{E1E1CD7C-2161-7D43-862E-CE4C333CD873}" type="slidenum">
              <a:t>‹#›</a:t>
            </a:fld>
            <a:endParaRPr/>
          </a:p>
        </p:txBody>
      </p:sp>
      <p:pic>
        <p:nvPicPr>
          <p:cNvPr id="13" name="Image 6"/>
          <p:cNvPicPr>
            <a:picLocks noChangeAspect="1"/>
          </p:cNvPicPr>
          <p:nvPr/>
        </p:nvPicPr>
        <p:blipFill>
          <a:blip r:embed="rId40">
            <a:extLst>
              <a:ext uri="{96DAC541-7B7A-43D3-8B79-37D633B846F1}">
                <asvg:svgBlip xmlns:asvg="http://schemas.microsoft.com/office/drawing/2016/SVG/main" r:embed="rId41"/>
              </a:ext>
            </a:extLst>
          </a:blip>
          <a:srcRect/>
          <a:stretch/>
        </p:blipFill>
        <p:spPr>
          <a:xfrm>
            <a:off x="473122" y="253458"/>
            <a:ext cx="822318" cy="35627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Lst>
  <p:hf hdr="0"/>
  <p:txStyles>
    <p:titleStyle>
      <a:lvl1pPr algn="l" defTabSz="914377">
        <a:lnSpc>
          <a:spcPct val="90000"/>
        </a:lnSpc>
        <a:spcBef>
          <a:spcPct val="0"/>
        </a:spcBef>
        <a:buNone/>
        <a:defRPr sz="4400" b="1" i="0" kern="1000" spc="-150" baseline="0">
          <a:solidFill>
            <a:schemeClr val="tx1"/>
          </a:solidFill>
          <a:latin typeface="+mj-lt"/>
          <a:ea typeface="+mj-lt"/>
          <a:cs typeface="+mj-lt"/>
        </a:defRPr>
      </a:lvl1pPr>
    </p:titleStyle>
    <p:bodyStyle>
      <a:lvl1pPr marL="228594" indent="-228594" algn="l" defTabSz="914377">
        <a:lnSpc>
          <a:spcPct val="90000"/>
        </a:lnSpc>
        <a:spcBef>
          <a:spcPts val="1000"/>
        </a:spcBef>
        <a:buClr>
          <a:schemeClr val="tx2"/>
        </a:buClr>
        <a:buSzPct val="90000"/>
        <a:buFont typeface="Wingdings"/>
        <a:buChar char="§"/>
        <a:defRPr sz="2400" b="0" i="0" kern="1200">
          <a:solidFill>
            <a:schemeClr val="tx1"/>
          </a:solidFill>
          <a:latin typeface="Arial"/>
          <a:ea typeface="Arial"/>
          <a:cs typeface="Arial"/>
        </a:defRPr>
      </a:lvl1pPr>
      <a:lvl2pPr marL="447675" indent="-157163" algn="l" defTabSz="914377">
        <a:lnSpc>
          <a:spcPct val="90000"/>
        </a:lnSpc>
        <a:spcBef>
          <a:spcPts val="500"/>
        </a:spcBef>
        <a:buClr>
          <a:schemeClr val="tx2"/>
        </a:buClr>
        <a:buSzPct val="100000"/>
        <a:buFont typeface="Arial"/>
        <a:buChar char="•"/>
        <a:defRPr sz="2133" b="0" i="0" kern="1200">
          <a:solidFill>
            <a:schemeClr val="tx1"/>
          </a:solidFill>
          <a:latin typeface="Arial"/>
          <a:ea typeface="Arial"/>
          <a:cs typeface="Arial"/>
        </a:defRPr>
      </a:lvl2pPr>
      <a:lvl3pPr marL="763588" indent="-225425" algn="l" defTabSz="914377">
        <a:lnSpc>
          <a:spcPct val="90000"/>
        </a:lnSpc>
        <a:spcBef>
          <a:spcPts val="500"/>
        </a:spcBef>
        <a:buClr>
          <a:schemeClr val="tx2"/>
        </a:buClr>
        <a:buSzPct val="90000"/>
        <a:buFont typeface="Wingdings"/>
        <a:buChar char="§"/>
        <a:defRPr sz="2000" b="0" i="0" kern="1200">
          <a:solidFill>
            <a:schemeClr val="tx1"/>
          </a:solidFill>
          <a:latin typeface="Arial"/>
          <a:ea typeface="Arial"/>
          <a:cs typeface="Arial"/>
        </a:defRPr>
      </a:lvl3pPr>
      <a:lvl4pPr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marL="3886103" indent="-228594" algn="l" defTabSz="914377">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377">
        <a:buNone/>
        <a:defRPr sz="1800" kern="1200">
          <a:solidFill>
            <a:schemeClr val="tx1"/>
          </a:solidFill>
          <a:latin typeface="+mn-lt"/>
          <a:ea typeface="+mn-lt"/>
          <a:cs typeface="+mn-lt"/>
        </a:defRPr>
      </a:lvl1pPr>
      <a:lvl2pPr marL="457189" algn="l" defTabSz="914377">
        <a:buNone/>
        <a:defRPr sz="1800" kern="1200">
          <a:solidFill>
            <a:schemeClr val="tx1"/>
          </a:solidFill>
          <a:latin typeface="+mn-lt"/>
          <a:ea typeface="+mn-lt"/>
          <a:cs typeface="+mn-lt"/>
        </a:defRPr>
      </a:lvl2pPr>
      <a:lvl3pPr marL="914377" algn="l" defTabSz="914377">
        <a:buNone/>
        <a:defRPr sz="1800" kern="1200">
          <a:solidFill>
            <a:schemeClr val="tx1"/>
          </a:solidFill>
          <a:latin typeface="+mn-lt"/>
          <a:ea typeface="+mn-lt"/>
          <a:cs typeface="+mn-lt"/>
        </a:defRPr>
      </a:lvl3pPr>
      <a:lvl4pPr marL="1371566" algn="l" defTabSz="914377">
        <a:buNone/>
        <a:defRPr sz="1800" kern="1200">
          <a:solidFill>
            <a:schemeClr val="tx1"/>
          </a:solidFill>
          <a:latin typeface="+mn-lt"/>
          <a:ea typeface="+mn-lt"/>
          <a:cs typeface="+mn-lt"/>
        </a:defRPr>
      </a:lvl4pPr>
      <a:lvl5pPr marL="1828754" algn="l" defTabSz="914377">
        <a:buNone/>
        <a:defRPr sz="1800" kern="1200">
          <a:solidFill>
            <a:schemeClr val="tx1"/>
          </a:solidFill>
          <a:latin typeface="+mn-lt"/>
          <a:ea typeface="+mn-lt"/>
          <a:cs typeface="+mn-lt"/>
        </a:defRPr>
      </a:lvl5pPr>
      <a:lvl6pPr marL="2285943" algn="l" defTabSz="914377">
        <a:buNone/>
        <a:defRPr sz="1800" kern="1200">
          <a:solidFill>
            <a:schemeClr val="tx1"/>
          </a:solidFill>
          <a:latin typeface="+mn-lt"/>
          <a:ea typeface="+mn-lt"/>
          <a:cs typeface="+mn-lt"/>
        </a:defRPr>
      </a:lvl6pPr>
      <a:lvl7pPr marL="2743131" algn="l" defTabSz="914377">
        <a:buNone/>
        <a:defRPr sz="1800" kern="1200">
          <a:solidFill>
            <a:schemeClr val="tx1"/>
          </a:solidFill>
          <a:latin typeface="+mn-lt"/>
          <a:ea typeface="+mn-lt"/>
          <a:cs typeface="+mn-lt"/>
        </a:defRPr>
      </a:lvl7pPr>
      <a:lvl8pPr marL="3200320" algn="l" defTabSz="914377">
        <a:buNone/>
        <a:defRPr sz="1800" kern="1200">
          <a:solidFill>
            <a:schemeClr val="tx1"/>
          </a:solidFill>
          <a:latin typeface="+mn-lt"/>
          <a:ea typeface="+mn-lt"/>
          <a:cs typeface="+mn-lt"/>
        </a:defRPr>
      </a:lvl8pPr>
      <a:lvl9pPr marL="3657509" algn="l" defTabSz="914377">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val="F26B43"/>
          </p15:clr>
        </p15:guide>
        <p15:guide id="2" pos="347" userDrawn="1">
          <p15:clr>
            <a:srgbClr val="F26B43"/>
          </p15:clr>
        </p15:guide>
        <p15:guide id="3" pos="7680" userDrawn="1">
          <p15:clr>
            <a:srgbClr val="F26B43"/>
          </p15:clr>
        </p15:guide>
        <p15:guide id="4" pos="3885" userDrawn="1">
          <p15:clr>
            <a:srgbClr val="F26B43"/>
          </p15:clr>
        </p15:guide>
        <p15:guide id="5" orient="horz" pos="210" userDrawn="1">
          <p15:clr>
            <a:srgbClr val="F26B43"/>
          </p15:clr>
        </p15:guide>
        <p15:guide id="6" orient="horz" pos="4110" userDrawn="1">
          <p15:clr>
            <a:srgbClr val="F26B43"/>
          </p15:clr>
        </p15:guide>
        <p15:guide id="7" pos="846" userDrawn="1">
          <p15:clr>
            <a:srgbClr val="F26B43"/>
          </p15:clr>
        </p15:guide>
        <p15:guide id="8" userDrawn="1">
          <p15:clr>
            <a:srgbClr val="F26B43"/>
          </p15:clr>
        </p15:guide>
        <p15:guide id="10" pos="4384" userDrawn="1">
          <p15:clr>
            <a:srgbClr val="F26B43"/>
          </p15:clr>
        </p15:guide>
        <p15:guide id="11" pos="4475" userDrawn="1">
          <p15:clr>
            <a:srgbClr val="F26B43"/>
          </p15:clr>
        </p15:guide>
        <p15:guide id="12" pos="4974" userDrawn="1">
          <p15:clr>
            <a:srgbClr val="F26B43"/>
          </p15:clr>
        </p15:guide>
        <p15:guide id="13" pos="5065" userDrawn="1">
          <p15:clr>
            <a:srgbClr val="F26B43"/>
          </p15:clr>
        </p15:guide>
        <p15:guide id="14" pos="6834" userDrawn="1">
          <p15:clr>
            <a:srgbClr val="F26B43"/>
          </p15:clr>
        </p15:guide>
        <p15:guide id="15" orient="horz" pos="550" userDrawn="1">
          <p15:clr>
            <a:srgbClr val="F26B43"/>
          </p15:clr>
        </p15:guide>
        <p15:guide id="16" orient="horz" pos="1313" userDrawn="1">
          <p15:clr>
            <a:srgbClr val="F26B43"/>
          </p15:clr>
        </p15:guide>
        <p15:guide id="17" orient="horz" pos="1967" userDrawn="1">
          <p15:clr>
            <a:srgbClr val="F26B43"/>
          </p15:clr>
        </p15:guide>
        <p15:guide id="18" orient="horz" pos="2616" userDrawn="1">
          <p15:clr>
            <a:srgbClr val="F26B43"/>
          </p15:clr>
        </p15:guide>
        <p15:guide id="19" orient="horz" pos="3277" userDrawn="1">
          <p15:clr>
            <a:srgbClr val="F26B43"/>
          </p15:clr>
        </p15:guide>
        <p15:guide id="20" orient="horz" pos="4320" userDrawn="1">
          <p15:clr>
            <a:srgbClr val="F26B43"/>
          </p15:clr>
        </p15:guide>
        <p15:guide id="21" pos="7333" userDrawn="1">
          <p15:clr>
            <a:srgbClr val="F26B43"/>
          </p15:clr>
        </p15:guide>
        <p15:guide id="22" orient="horz" userDrawn="1">
          <p15:clr>
            <a:srgbClr val="F26B43"/>
          </p15:clr>
        </p15:guide>
        <p15:guide id="23" pos="937" userDrawn="1">
          <p15:clr>
            <a:srgbClr val="F26B43"/>
          </p15:clr>
        </p15:guide>
        <p15:guide id="24" pos="1436" userDrawn="1">
          <p15:clr>
            <a:srgbClr val="F26B43"/>
          </p15:clr>
        </p15:guide>
        <p15:guide id="25" pos="1527" userDrawn="1">
          <p15:clr>
            <a:srgbClr val="F26B43"/>
          </p15:clr>
        </p15:guide>
        <p15:guide id="26" pos="2026" userDrawn="1">
          <p15:clr>
            <a:srgbClr val="F26B43"/>
          </p15:clr>
        </p15:guide>
        <p15:guide id="27" pos="2116" userDrawn="1">
          <p15:clr>
            <a:srgbClr val="F26B43"/>
          </p15:clr>
        </p15:guide>
        <p15:guide id="28" pos="2615" userDrawn="1">
          <p15:clr>
            <a:srgbClr val="F26B43"/>
          </p15:clr>
        </p15:guide>
        <p15:guide id="29" pos="2706" userDrawn="1">
          <p15:clr>
            <a:srgbClr val="F26B43"/>
          </p15:clr>
        </p15:guide>
        <p15:guide id="30" pos="3205" userDrawn="1">
          <p15:clr>
            <a:srgbClr val="F26B43"/>
          </p15:clr>
        </p15:guide>
        <p15:guide id="31" pos="3296" userDrawn="1">
          <p15:clr>
            <a:srgbClr val="F26B43"/>
          </p15:clr>
        </p15:guide>
        <p15:guide id="32" pos="3795" userDrawn="1">
          <p15:clr>
            <a:srgbClr val="F26B43"/>
          </p15:clr>
        </p15:guide>
        <p15:guide id="33" pos="5564" userDrawn="1">
          <p15:clr>
            <a:srgbClr val="F26B43"/>
          </p15:clr>
        </p15:guide>
        <p15:guide id="34" pos="5654" userDrawn="1">
          <p15:clr>
            <a:srgbClr val="F26B43"/>
          </p15:clr>
        </p15:guide>
        <p15:guide id="35" pos="6153" userDrawn="1">
          <p15:clr>
            <a:srgbClr val="F26B43"/>
          </p15:clr>
        </p15:guide>
        <p15:guide id="36" pos="6244" userDrawn="1">
          <p15:clr>
            <a:srgbClr val="F26B43"/>
          </p15:clr>
        </p15:guide>
        <p15:guide id="37" pos="674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0.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0.sv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0.sv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chart" Target="../charts/char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0.sv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10.sv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chart" Target="../charts/chart2.xml"/><Relationship Id="rId4" Type="http://schemas.openxmlformats.org/officeDocument/2006/relationships/image" Target="../media/image10.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svg"/></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0.sv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Espace réservé pour une image  10"/>
          <p:cNvPicPr>
            <a:picLocks noGrp="1" noChangeAspect="1"/>
          </p:cNvPicPr>
          <p:nvPr>
            <p:ph type="pic" idx="10"/>
          </p:nvPr>
        </p:nvPicPr>
        <p:blipFill>
          <a:blip r:embed="rId3"/>
          <a:srcRect/>
          <a:stretch/>
        </p:blipFill>
        <p:spPr>
          <a:xfrm>
            <a:off x="2" y="0"/>
            <a:ext cx="12191998" cy="6858000"/>
          </a:xfrm>
        </p:spPr>
      </p:pic>
      <p:sp>
        <p:nvSpPr>
          <p:cNvPr id="7" name="Forme libre 6">
            <a:extLst>
              <a:ext uri="{FF2B5EF4-FFF2-40B4-BE49-F238E27FC236}">
                <a16:creationId xmlns:a16="http://schemas.microsoft.com/office/drawing/2014/main" id="{00B85DEF-AF22-23A4-CE11-A6CB8CD070C2}"/>
              </a:ext>
            </a:extLst>
          </p:cNvPr>
          <p:cNvSpPr>
            <a:spLocks noGrp="1"/>
          </p:cNvSpPr>
          <p:nvPr/>
        </p:nvSpPr>
        <p:spPr>
          <a:xfrm>
            <a:off x="0" y="0"/>
            <a:ext cx="8040688" cy="6858000"/>
          </a:xfrm>
          <a:custGeom>
            <a:avLst/>
            <a:gdLst>
              <a:gd name="connsiteX0" fmla="*/ 1047878 w 8040688"/>
              <a:gd name="connsiteY0" fmla="*/ 414079 h 6858000"/>
              <a:gd name="connsiteX1" fmla="*/ 1124414 w 8040688"/>
              <a:gd name="connsiteY1" fmla="*/ 414079 h 6858000"/>
              <a:gd name="connsiteX2" fmla="*/ 1157026 w 8040688"/>
              <a:gd name="connsiteY2" fmla="*/ 415945 h 6858000"/>
              <a:gd name="connsiteX3" fmla="*/ 1184613 w 8040688"/>
              <a:gd name="connsiteY3" fmla="*/ 423190 h 6858000"/>
              <a:gd name="connsiteX4" fmla="*/ 1203732 w 8040688"/>
              <a:gd name="connsiteY4" fmla="*/ 438343 h 6858000"/>
              <a:gd name="connsiteX5" fmla="*/ 1210937 w 8040688"/>
              <a:gd name="connsiteY5" fmla="*/ 463999 h 6858000"/>
              <a:gd name="connsiteX6" fmla="*/ 1203732 w 8040688"/>
              <a:gd name="connsiteY6" fmla="*/ 489655 h 6858000"/>
              <a:gd name="connsiteX7" fmla="*/ 1184613 w 8040688"/>
              <a:gd name="connsiteY7" fmla="*/ 504809 h 6858000"/>
              <a:gd name="connsiteX8" fmla="*/ 1157026 w 8040688"/>
              <a:gd name="connsiteY8" fmla="*/ 512053 h 6858000"/>
              <a:gd name="connsiteX9" fmla="*/ 1124414 w 8040688"/>
              <a:gd name="connsiteY9" fmla="*/ 513919 h 6858000"/>
              <a:gd name="connsiteX10" fmla="*/ 1047878 w 8040688"/>
              <a:gd name="connsiteY10" fmla="*/ 513919 h 6858000"/>
              <a:gd name="connsiteX11" fmla="*/ 1761703 w 8040688"/>
              <a:gd name="connsiteY11" fmla="*/ 331195 h 6858000"/>
              <a:gd name="connsiteX12" fmla="*/ 1761703 w 8040688"/>
              <a:gd name="connsiteY12" fmla="*/ 779561 h 6858000"/>
              <a:gd name="connsiteX13" fmla="*/ 2085672 w 8040688"/>
              <a:gd name="connsiteY13" fmla="*/ 779561 h 6858000"/>
              <a:gd name="connsiteX14" fmla="*/ 2085672 w 8040688"/>
              <a:gd name="connsiteY14" fmla="*/ 696645 h 6858000"/>
              <a:gd name="connsiteX15" fmla="*/ 1858274 w 8040688"/>
              <a:gd name="connsiteY15" fmla="*/ 696645 h 6858000"/>
              <a:gd name="connsiteX16" fmla="*/ 1858274 w 8040688"/>
              <a:gd name="connsiteY16" fmla="*/ 331195 h 6858000"/>
              <a:gd name="connsiteX17" fmla="*/ 1367739 w 8040688"/>
              <a:gd name="connsiteY17" fmla="*/ 331195 h 6858000"/>
              <a:gd name="connsiteX18" fmla="*/ 1367739 w 8040688"/>
              <a:gd name="connsiteY18" fmla="*/ 513920 h 6858000"/>
              <a:gd name="connsiteX19" fmla="*/ 1464342 w 8040688"/>
              <a:gd name="connsiteY19" fmla="*/ 513920 h 6858000"/>
              <a:gd name="connsiteX20" fmla="*/ 1464342 w 8040688"/>
              <a:gd name="connsiteY20" fmla="*/ 596804 h 6858000"/>
              <a:gd name="connsiteX21" fmla="*/ 1367739 w 8040688"/>
              <a:gd name="connsiteY21" fmla="*/ 596804 h 6858000"/>
              <a:gd name="connsiteX22" fmla="*/ 1367739 w 8040688"/>
              <a:gd name="connsiteY22" fmla="*/ 779529 h 6858000"/>
              <a:gd name="connsiteX23" fmla="*/ 1464342 w 8040688"/>
              <a:gd name="connsiteY23" fmla="*/ 779529 h 6858000"/>
              <a:gd name="connsiteX24" fmla="*/ 1464342 w 8040688"/>
              <a:gd name="connsiteY24" fmla="*/ 596804 h 6858000"/>
              <a:gd name="connsiteX25" fmla="*/ 1672306 w 8040688"/>
              <a:gd name="connsiteY25" fmla="*/ 596804 h 6858000"/>
              <a:gd name="connsiteX26" fmla="*/ 1672306 w 8040688"/>
              <a:gd name="connsiteY26" fmla="*/ 513920 h 6858000"/>
              <a:gd name="connsiteX27" fmla="*/ 1464342 w 8040688"/>
              <a:gd name="connsiteY27" fmla="*/ 513920 h 6858000"/>
              <a:gd name="connsiteX28" fmla="*/ 1464342 w 8040688"/>
              <a:gd name="connsiteY28" fmla="*/ 414079 h 6858000"/>
              <a:gd name="connsiteX29" fmla="*/ 1691740 w 8040688"/>
              <a:gd name="connsiteY29" fmla="*/ 414079 h 6858000"/>
              <a:gd name="connsiteX30" fmla="*/ 1691740 w 8040688"/>
              <a:gd name="connsiteY30" fmla="*/ 331195 h 6858000"/>
              <a:gd name="connsiteX31" fmla="*/ 544448 w 8040688"/>
              <a:gd name="connsiteY31" fmla="*/ 331195 h 6858000"/>
              <a:gd name="connsiteX32" fmla="*/ 544448 w 8040688"/>
              <a:gd name="connsiteY32" fmla="*/ 513920 h 6858000"/>
              <a:gd name="connsiteX33" fmla="*/ 641051 w 8040688"/>
              <a:gd name="connsiteY33" fmla="*/ 513920 h 6858000"/>
              <a:gd name="connsiteX34" fmla="*/ 641051 w 8040688"/>
              <a:gd name="connsiteY34" fmla="*/ 596804 h 6858000"/>
              <a:gd name="connsiteX35" fmla="*/ 544448 w 8040688"/>
              <a:gd name="connsiteY35" fmla="*/ 596804 h 6858000"/>
              <a:gd name="connsiteX36" fmla="*/ 544448 w 8040688"/>
              <a:gd name="connsiteY36" fmla="*/ 779560 h 6858000"/>
              <a:gd name="connsiteX37" fmla="*/ 868449 w 8040688"/>
              <a:gd name="connsiteY37" fmla="*/ 779560 h 6858000"/>
              <a:gd name="connsiteX38" fmla="*/ 868449 w 8040688"/>
              <a:gd name="connsiteY38" fmla="*/ 696645 h 6858000"/>
              <a:gd name="connsiteX39" fmla="*/ 641051 w 8040688"/>
              <a:gd name="connsiteY39" fmla="*/ 696645 h 6858000"/>
              <a:gd name="connsiteX40" fmla="*/ 641051 w 8040688"/>
              <a:gd name="connsiteY40" fmla="*/ 596804 h 6858000"/>
              <a:gd name="connsiteX41" fmla="*/ 849015 w 8040688"/>
              <a:gd name="connsiteY41" fmla="*/ 596804 h 6858000"/>
              <a:gd name="connsiteX42" fmla="*/ 849015 w 8040688"/>
              <a:gd name="connsiteY42" fmla="*/ 513920 h 6858000"/>
              <a:gd name="connsiteX43" fmla="*/ 641051 w 8040688"/>
              <a:gd name="connsiteY43" fmla="*/ 513920 h 6858000"/>
              <a:gd name="connsiteX44" fmla="*/ 641051 w 8040688"/>
              <a:gd name="connsiteY44" fmla="*/ 414079 h 6858000"/>
              <a:gd name="connsiteX45" fmla="*/ 868449 w 8040688"/>
              <a:gd name="connsiteY45" fmla="*/ 414079 h 6858000"/>
              <a:gd name="connsiteX46" fmla="*/ 868449 w 8040688"/>
              <a:gd name="connsiteY46" fmla="*/ 331195 h 6858000"/>
              <a:gd name="connsiteX47" fmla="*/ 951243 w 8040688"/>
              <a:gd name="connsiteY47" fmla="*/ 331163 h 6858000"/>
              <a:gd name="connsiteX48" fmla="*/ 951243 w 8040688"/>
              <a:gd name="connsiteY48" fmla="*/ 779529 h 6858000"/>
              <a:gd name="connsiteX49" fmla="*/ 1047846 w 8040688"/>
              <a:gd name="connsiteY49" fmla="*/ 779529 h 6858000"/>
              <a:gd name="connsiteX50" fmla="*/ 1047846 w 8040688"/>
              <a:gd name="connsiteY50" fmla="*/ 596772 h 6858000"/>
              <a:gd name="connsiteX51" fmla="*/ 1151338 w 8040688"/>
              <a:gd name="connsiteY51" fmla="*/ 596772 h 6858000"/>
              <a:gd name="connsiteX52" fmla="*/ 1222850 w 8040688"/>
              <a:gd name="connsiteY52" fmla="*/ 585478 h 6858000"/>
              <a:gd name="connsiteX53" fmla="*/ 1270852 w 8040688"/>
              <a:gd name="connsiteY53" fmla="*/ 555615 h 6858000"/>
              <a:gd name="connsiteX54" fmla="*/ 1297838 w 8040688"/>
              <a:gd name="connsiteY54" fmla="*/ 513002 h 6858000"/>
              <a:gd name="connsiteX55" fmla="*/ 1306307 w 8040688"/>
              <a:gd name="connsiteY55" fmla="*/ 463999 h 6858000"/>
              <a:gd name="connsiteX56" fmla="*/ 1297838 w 8040688"/>
              <a:gd name="connsiteY56" fmla="*/ 414712 h 6858000"/>
              <a:gd name="connsiteX57" fmla="*/ 1270852 w 8040688"/>
              <a:gd name="connsiteY57" fmla="*/ 372384 h 6858000"/>
              <a:gd name="connsiteX58" fmla="*/ 1270852 w 8040688"/>
              <a:gd name="connsiteY58" fmla="*/ 372352 h 6858000"/>
              <a:gd name="connsiteX59" fmla="*/ 1222850 w 8040688"/>
              <a:gd name="connsiteY59" fmla="*/ 342488 h 6858000"/>
              <a:gd name="connsiteX60" fmla="*/ 1151338 w 8040688"/>
              <a:gd name="connsiteY60" fmla="*/ 331163 h 6858000"/>
              <a:gd name="connsiteX61" fmla="*/ 0 w 8040688"/>
              <a:gd name="connsiteY61" fmla="*/ 0 h 6858000"/>
              <a:gd name="connsiteX62" fmla="*/ 8040688 w 8040688"/>
              <a:gd name="connsiteY62" fmla="*/ 0 h 6858000"/>
              <a:gd name="connsiteX63" fmla="*/ 8040688 w 8040688"/>
              <a:gd name="connsiteY63" fmla="*/ 6858000 h 6858000"/>
              <a:gd name="connsiteX64" fmla="*/ 0 w 8040688"/>
              <a:gd name="connsiteY64" fmla="*/ 6858000 h 6858000"/>
            </a:gdLst>
            <a:ahLst/>
            <a:cxnLst/>
            <a:rect l="l" t="t" r="r" b="b"/>
            <a:pathLst>
              <a:path w="8040688" h="6858000">
                <a:moveTo>
                  <a:pt x="1047878" y="414079"/>
                </a:moveTo>
                <a:lnTo>
                  <a:pt x="1124414" y="414079"/>
                </a:lnTo>
                <a:cubicBezTo>
                  <a:pt x="1135696" y="414079"/>
                  <a:pt x="1146566" y="414712"/>
                  <a:pt x="1157026" y="415945"/>
                </a:cubicBezTo>
                <a:cubicBezTo>
                  <a:pt x="1167486" y="417179"/>
                  <a:pt x="1176682" y="419615"/>
                  <a:pt x="1184613" y="423190"/>
                </a:cubicBezTo>
                <a:cubicBezTo>
                  <a:pt x="1192545" y="426765"/>
                  <a:pt x="1198929" y="431826"/>
                  <a:pt x="1203732" y="438343"/>
                </a:cubicBezTo>
                <a:cubicBezTo>
                  <a:pt x="1208535" y="444860"/>
                  <a:pt x="1210937" y="453433"/>
                  <a:pt x="1210937" y="463999"/>
                </a:cubicBezTo>
                <a:cubicBezTo>
                  <a:pt x="1210937" y="474565"/>
                  <a:pt x="1208535" y="483138"/>
                  <a:pt x="1203732" y="489655"/>
                </a:cubicBezTo>
                <a:cubicBezTo>
                  <a:pt x="1198929" y="496172"/>
                  <a:pt x="1192545" y="501234"/>
                  <a:pt x="1184613" y="504809"/>
                </a:cubicBezTo>
                <a:cubicBezTo>
                  <a:pt x="1176650" y="508383"/>
                  <a:pt x="1167454" y="510788"/>
                  <a:pt x="1157026" y="512053"/>
                </a:cubicBezTo>
                <a:cubicBezTo>
                  <a:pt x="1146566" y="513287"/>
                  <a:pt x="1135696" y="513919"/>
                  <a:pt x="1124414" y="513919"/>
                </a:cubicBezTo>
                <a:lnTo>
                  <a:pt x="1047878" y="513919"/>
                </a:lnTo>
                <a:close/>
                <a:moveTo>
                  <a:pt x="1761703" y="331195"/>
                </a:moveTo>
                <a:lnTo>
                  <a:pt x="1761703" y="779561"/>
                </a:lnTo>
                <a:lnTo>
                  <a:pt x="2085672" y="779561"/>
                </a:lnTo>
                <a:lnTo>
                  <a:pt x="2085672" y="696645"/>
                </a:lnTo>
                <a:lnTo>
                  <a:pt x="1858274" y="696645"/>
                </a:lnTo>
                <a:lnTo>
                  <a:pt x="1858274" y="331195"/>
                </a:lnTo>
                <a:close/>
                <a:moveTo>
                  <a:pt x="1367739" y="331195"/>
                </a:moveTo>
                <a:lnTo>
                  <a:pt x="1367739" y="513920"/>
                </a:lnTo>
                <a:lnTo>
                  <a:pt x="1464342" y="513920"/>
                </a:lnTo>
                <a:lnTo>
                  <a:pt x="1464342" y="596804"/>
                </a:lnTo>
                <a:lnTo>
                  <a:pt x="1367739" y="596804"/>
                </a:lnTo>
                <a:lnTo>
                  <a:pt x="1367739" y="779529"/>
                </a:lnTo>
                <a:lnTo>
                  <a:pt x="1464342" y="779529"/>
                </a:lnTo>
                <a:lnTo>
                  <a:pt x="1464342" y="596804"/>
                </a:lnTo>
                <a:lnTo>
                  <a:pt x="1672306" y="596804"/>
                </a:lnTo>
                <a:lnTo>
                  <a:pt x="1672306" y="513920"/>
                </a:lnTo>
                <a:lnTo>
                  <a:pt x="1464342" y="513920"/>
                </a:lnTo>
                <a:lnTo>
                  <a:pt x="1464342" y="414079"/>
                </a:lnTo>
                <a:lnTo>
                  <a:pt x="1691740" y="414079"/>
                </a:lnTo>
                <a:lnTo>
                  <a:pt x="1691740" y="331195"/>
                </a:lnTo>
                <a:close/>
                <a:moveTo>
                  <a:pt x="544448" y="331195"/>
                </a:moveTo>
                <a:lnTo>
                  <a:pt x="544448" y="513920"/>
                </a:lnTo>
                <a:lnTo>
                  <a:pt x="641051" y="513920"/>
                </a:lnTo>
                <a:lnTo>
                  <a:pt x="641051" y="596804"/>
                </a:lnTo>
                <a:lnTo>
                  <a:pt x="544448" y="596804"/>
                </a:lnTo>
                <a:lnTo>
                  <a:pt x="544448" y="779560"/>
                </a:lnTo>
                <a:lnTo>
                  <a:pt x="868449" y="779560"/>
                </a:lnTo>
                <a:lnTo>
                  <a:pt x="868449" y="696645"/>
                </a:lnTo>
                <a:lnTo>
                  <a:pt x="641051" y="696645"/>
                </a:lnTo>
                <a:lnTo>
                  <a:pt x="641051" y="596804"/>
                </a:lnTo>
                <a:lnTo>
                  <a:pt x="849015" y="596804"/>
                </a:lnTo>
                <a:lnTo>
                  <a:pt x="849015" y="513920"/>
                </a:lnTo>
                <a:lnTo>
                  <a:pt x="641051" y="513920"/>
                </a:lnTo>
                <a:lnTo>
                  <a:pt x="641051" y="414079"/>
                </a:lnTo>
                <a:lnTo>
                  <a:pt x="868449" y="414079"/>
                </a:lnTo>
                <a:lnTo>
                  <a:pt x="868449" y="331195"/>
                </a:lnTo>
                <a:close/>
                <a:moveTo>
                  <a:pt x="951243" y="331163"/>
                </a:moveTo>
                <a:lnTo>
                  <a:pt x="951243" y="779529"/>
                </a:lnTo>
                <a:lnTo>
                  <a:pt x="1047846" y="779529"/>
                </a:lnTo>
                <a:lnTo>
                  <a:pt x="1047846" y="596772"/>
                </a:lnTo>
                <a:lnTo>
                  <a:pt x="1151338" y="596772"/>
                </a:lnTo>
                <a:cubicBezTo>
                  <a:pt x="1179336" y="596772"/>
                  <a:pt x="1203195" y="593007"/>
                  <a:pt x="1222850" y="585478"/>
                </a:cubicBezTo>
                <a:cubicBezTo>
                  <a:pt x="1242506" y="577949"/>
                  <a:pt x="1258496" y="567984"/>
                  <a:pt x="1270852" y="555615"/>
                </a:cubicBezTo>
                <a:cubicBezTo>
                  <a:pt x="1283176" y="543245"/>
                  <a:pt x="1292182" y="529041"/>
                  <a:pt x="1297838" y="513002"/>
                </a:cubicBezTo>
                <a:cubicBezTo>
                  <a:pt x="1303495" y="496963"/>
                  <a:pt x="1306307" y="480639"/>
                  <a:pt x="1306307" y="463999"/>
                </a:cubicBezTo>
                <a:cubicBezTo>
                  <a:pt x="1306307" y="447359"/>
                  <a:pt x="1303495" y="430561"/>
                  <a:pt x="1297838" y="414712"/>
                </a:cubicBezTo>
                <a:cubicBezTo>
                  <a:pt x="1292182" y="398862"/>
                  <a:pt x="1283207" y="384753"/>
                  <a:pt x="1270852" y="372384"/>
                </a:cubicBezTo>
                <a:lnTo>
                  <a:pt x="1270852" y="372352"/>
                </a:lnTo>
                <a:cubicBezTo>
                  <a:pt x="1258496" y="359983"/>
                  <a:pt x="1242506" y="350018"/>
                  <a:pt x="1222850" y="342488"/>
                </a:cubicBezTo>
                <a:cubicBezTo>
                  <a:pt x="1203195" y="334959"/>
                  <a:pt x="1179336" y="331163"/>
                  <a:pt x="1151338" y="331163"/>
                </a:cubicBezTo>
                <a:close/>
                <a:moveTo>
                  <a:pt x="0" y="0"/>
                </a:moveTo>
                <a:lnTo>
                  <a:pt x="8040688" y="0"/>
                </a:lnTo>
                <a:lnTo>
                  <a:pt x="8040688" y="6858000"/>
                </a:lnTo>
                <a:lnTo>
                  <a:pt x="0" y="6858000"/>
                </a:lnTo>
                <a:close/>
              </a:path>
            </a:pathLst>
          </a:custGeom>
          <a:gradFill>
            <a:gsLst>
              <a:gs pos="0">
                <a:schemeClr val="tx1">
                  <a:lumMod val="50000"/>
                  <a:alpha val="0"/>
                </a:schemeClr>
              </a:gs>
              <a:gs pos="57000">
                <a:schemeClr val="tx1">
                  <a:lumMod val="50000"/>
                </a:schemeClr>
              </a:gs>
              <a:gs pos="99000">
                <a:schemeClr val="tx1">
                  <a:lumMod val="5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pic>
        <p:nvPicPr>
          <p:cNvPr id="19" name="Image 7"/>
          <p:cNvPicPr>
            <a:picLocks noChangeAspect="1"/>
          </p:cNvPicPr>
          <p:nvPr/>
        </p:nvPicPr>
        <p:blipFill>
          <a:blip r:embed="rId4"/>
          <a:stretch>
            <a:fillRect/>
          </a:stretch>
        </p:blipFill>
        <p:spPr>
          <a:xfrm>
            <a:off x="547420" y="5915487"/>
            <a:ext cx="922230" cy="603357"/>
          </a:xfrm>
          <a:prstGeom prst="rect">
            <a:avLst/>
          </a:prstGeom>
        </p:spPr>
      </p:pic>
      <p:sp>
        <p:nvSpPr>
          <p:cNvPr id="9" name="Rectangle 8">
            <a:extLst>
              <a:ext uri="{FF2B5EF4-FFF2-40B4-BE49-F238E27FC236}">
                <a16:creationId xmlns:a16="http://schemas.microsoft.com/office/drawing/2014/main" id="{94906284-6989-6CB9-E687-809F47D22243}"/>
              </a:ext>
            </a:extLst>
          </p:cNvPr>
          <p:cNvSpPr>
            <a:spLocks noGrp="1"/>
          </p:cNvSpPr>
          <p:nvPr/>
        </p:nvSpPr>
        <p:spPr>
          <a:xfrm rot="16200000">
            <a:off x="402464" y="5929526"/>
            <a:ext cx="75085" cy="981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latin typeface="Arial"/>
              <a:ea typeface="Arial"/>
              <a:cs typeface="Arial"/>
            </a:endParaRPr>
          </a:p>
        </p:txBody>
      </p:sp>
      <p:sp>
        <p:nvSpPr>
          <p:cNvPr id="3" name="Titre 2">
            <a:extLst>
              <a:ext uri="{FF2B5EF4-FFF2-40B4-BE49-F238E27FC236}">
                <a16:creationId xmlns:a16="http://schemas.microsoft.com/office/drawing/2014/main" id="{AFA72A3A-2324-4360-8FE9-08FDFF2C76A9}"/>
              </a:ext>
            </a:extLst>
          </p:cNvPr>
          <p:cNvSpPr>
            <a:spLocks noGrp="1"/>
          </p:cNvSpPr>
          <p:nvPr>
            <p:ph type="ctrTitle"/>
          </p:nvPr>
        </p:nvSpPr>
        <p:spPr>
          <a:xfrm>
            <a:off x="266700" y="2095500"/>
            <a:ext cx="9525" cy="9525"/>
          </a:xfrm>
        </p:spPr>
        <p:txBody>
          <a:bodyPr lIns="38100" tIns="38100" rIns="38100" bIns="38100" anchor="t">
            <a:normAutofit fontScale="90000"/>
          </a:bodyPr>
          <a:lstStyle/>
          <a:p>
            <a:pPr>
              <a:buNone/>
              <a:defRPr sz="100">
                <a:solidFill>
                  <a:srgbClr val="FFFFFF"/>
                </a:solidFill>
                <a:latin typeface="Roboto"/>
                <a:ea typeface="Roboto"/>
                <a:cs typeface="Roboto"/>
              </a:defRPr>
            </a:pPr>
            <a:r>
              <a:rPr sz="100">
                <a:solidFill>
                  <a:srgbClr val="FFFFFF"/>
                </a:solidFill>
                <a:latin typeface="Roboto"/>
                <a:ea typeface="Roboto"/>
                <a:cs typeface="Roboto"/>
              </a:rPr>
              <a:t>​</a:t>
            </a:r>
          </a:p>
        </p:txBody>
      </p:sp>
      <p:sp>
        <p:nvSpPr>
          <p:cNvPr id="5" name="Espace réservé du texte 4">
            <a:extLst>
              <a:ext uri="{FF2B5EF4-FFF2-40B4-BE49-F238E27FC236}">
                <a16:creationId xmlns:a16="http://schemas.microsoft.com/office/drawing/2014/main" id="{482FE952-AA42-AD54-3F14-5D7D95448080}"/>
              </a:ext>
            </a:extLst>
          </p:cNvPr>
          <p:cNvSpPr>
            <a:spLocks noGrp="1"/>
          </p:cNvSpPr>
          <p:nvPr>
            <p:ph type="body" idx="12"/>
          </p:nvPr>
        </p:nvSpPr>
        <p:spPr>
          <a:xfrm>
            <a:off x="6162675" y="5476875"/>
            <a:ext cx="2657475" cy="1047750"/>
          </a:xfrm>
        </p:spPr>
        <p:txBody>
          <a:bodyPr lIns="38100" tIns="38100" rIns="38100" bIns="38100" anchor="t">
            <a:normAutofit/>
          </a:bodyPr>
          <a:lstStyle/>
          <a:p>
            <a:pPr marL="0" marR="0" lvl="0" indent="0" algn="r" defTabSz="914377">
              <a:lnSpc>
                <a:spcPct val="100000"/>
              </a:lnSpc>
              <a:spcBef>
                <a:spcPts val="0"/>
              </a:spcBef>
              <a:spcAft>
                <a:spcPts val="0"/>
              </a:spcAft>
              <a:buClrTx/>
              <a:buSzTx/>
              <a:buFontTx/>
              <a:buNone/>
              <a:defRPr sz="1050">
                <a:solidFill>
                  <a:srgbClr val="FFFFFF"/>
                </a:solidFill>
                <a:latin typeface="Roboto"/>
                <a:ea typeface="Roboto"/>
                <a:cs typeface="Roboto"/>
              </a:defRPr>
            </a:pPr>
            <a:r>
              <a:rPr sz="1050" b="0" i="0" u="none" cap="none" spc="300">
                <a:ln>
                  <a:noFill/>
                </a:ln>
                <a:solidFill>
                  <a:srgbClr val="FFFFFF"/>
                </a:solidFill>
                <a:latin typeface="Roboto"/>
                <a:ea typeface="Roboto"/>
                <a:cs typeface="Roboto"/>
              </a:rPr>
              <a:t>VENUE &amp; DATE</a:t>
            </a:r>
          </a:p>
          <a:p>
            <a:pPr marL="0" marR="0" lvl="0" indent="0" algn="r" defTabSz="914377">
              <a:lnSpc>
                <a:spcPct val="100000"/>
              </a:lnSpc>
              <a:spcBef>
                <a:spcPts val="0"/>
              </a:spcBef>
              <a:spcAft>
                <a:spcPts val="0"/>
              </a:spcAft>
              <a:buClrTx/>
              <a:buSzTx/>
              <a:buFontTx/>
              <a:buNone/>
            </a:pPr>
            <a:endParaRPr sz="800" b="0" i="0" u="none" kern="1200" cap="none" spc="300" baseline="0">
              <a:ln>
                <a:noFill/>
              </a:ln>
              <a:solidFill>
                <a:srgbClr val="FFFFFF"/>
              </a:solidFill>
              <a:latin typeface="Arial"/>
              <a:ea typeface="Arial"/>
              <a:cs typeface="Arial"/>
            </a:endParaRPr>
          </a:p>
          <a:p>
            <a:pPr marL="0" marR="0" lvl="0" indent="0" algn="r" defTabSz="914377">
              <a:lnSpc>
                <a:spcPct val="100000"/>
              </a:lnSpc>
              <a:spcBef>
                <a:spcPts val="0"/>
              </a:spcBef>
              <a:spcAft>
                <a:spcPts val="0"/>
              </a:spcAft>
              <a:buClrTx/>
              <a:buSzTx/>
              <a:buFontTx/>
              <a:buNone/>
              <a:defRPr sz="1050">
                <a:solidFill>
                  <a:srgbClr val="FFFFFF"/>
                </a:solidFill>
                <a:latin typeface="Roboto"/>
                <a:ea typeface="Roboto"/>
                <a:cs typeface="Roboto"/>
              </a:defRPr>
            </a:pPr>
            <a:r>
              <a:rPr sz="1050">
                <a:solidFill>
                  <a:srgbClr val="FFFFFF"/>
                </a:solidFill>
                <a:latin typeface="Roboto"/>
                <a:ea typeface="Roboto"/>
                <a:cs typeface="Roboto"/>
              </a:rPr>
              <a:t>EPFL — Neuchâtel</a:t>
            </a:r>
          </a:p>
          <a:p>
            <a:pPr marL="0" marR="0" lvl="0" indent="0" algn="r" defTabSz="914377">
              <a:lnSpc>
                <a:spcPct val="100000"/>
              </a:lnSpc>
              <a:spcBef>
                <a:spcPts val="0"/>
              </a:spcBef>
              <a:spcAft>
                <a:spcPts val="0"/>
              </a:spcAft>
              <a:buClrTx/>
              <a:buSzTx/>
              <a:buFontTx/>
              <a:buNone/>
              <a:defRPr sz="1050">
                <a:solidFill>
                  <a:srgbClr val="FFFFFF"/>
                </a:solidFill>
                <a:latin typeface="Roboto"/>
                <a:ea typeface="Roboto"/>
                <a:cs typeface="Roboto"/>
              </a:defRPr>
            </a:pPr>
            <a:r>
              <a:rPr sz="1050">
                <a:solidFill>
                  <a:srgbClr val="FFFFFF"/>
                </a:solidFill>
                <a:latin typeface="Roboto"/>
                <a:ea typeface="Roboto"/>
                <a:cs typeface="Roboto"/>
              </a:rPr>
              <a:t>August 2026</a:t>
            </a:r>
          </a:p>
        </p:txBody>
      </p:sp>
      <p:sp>
        <p:nvSpPr>
          <p:cNvPr id="6" name="Espace réservé du texte 5">
            <a:extLst>
              <a:ext uri="{FF2B5EF4-FFF2-40B4-BE49-F238E27FC236}">
                <a16:creationId xmlns:a16="http://schemas.microsoft.com/office/drawing/2014/main" id="{567F8CDE-7193-4E56-068B-CC07CC06A120}"/>
              </a:ext>
            </a:extLst>
          </p:cNvPr>
          <p:cNvSpPr>
            <a:spLocks noGrp="1"/>
          </p:cNvSpPr>
          <p:nvPr>
            <p:ph type="body" idx="13"/>
          </p:nvPr>
        </p:nvSpPr>
        <p:spPr>
          <a:xfrm>
            <a:off x="8972550" y="5476875"/>
            <a:ext cx="9525" cy="9525"/>
          </a:xfrm>
        </p:spPr>
        <p:txBody>
          <a:bodyPr lIns="38100" tIns="38100" rIns="38100" bIns="38100" anchor="t">
            <a:normAutofit fontScale="25000" lnSpcReduction="20000"/>
          </a:bodyPr>
          <a:lstStyle/>
          <a:p>
            <a:pPr marL="0" marR="0" lvl="0" indent="0" algn="r" defTabSz="914377">
              <a:lnSpc>
                <a:spcPct val="100000"/>
              </a:lnSpc>
              <a:spcBef>
                <a:spcPts val="0"/>
              </a:spcBef>
              <a:spcAft>
                <a:spcPts val="0"/>
              </a:spcAft>
              <a:buClrTx/>
              <a:buSzTx/>
              <a:buFontTx/>
              <a:buNone/>
              <a:defRPr sz="100">
                <a:solidFill>
                  <a:srgbClr val="FF0000"/>
                </a:solidFill>
                <a:latin typeface="Roboto"/>
                <a:ea typeface="Roboto"/>
                <a:cs typeface="Roboto"/>
              </a:defRPr>
            </a:pPr>
            <a:r>
              <a:rPr sz="100" b="0" i="0" u="none" cap="none" spc="300">
                <a:ln>
                  <a:noFill/>
                </a:ln>
                <a:solidFill>
                  <a:srgbClr val="FF0000"/>
                </a:solidFill>
                <a:latin typeface="Roboto"/>
                <a:ea typeface="Roboto"/>
                <a:cs typeface="Roboto"/>
              </a:rPr>
              <a:t>​</a:t>
            </a:r>
          </a:p>
        </p:txBody>
      </p:sp>
      <p:sp>
        <p:nvSpPr>
          <p:cNvPr id="12" name="s01-formal-title">
            <a:extLst>
              <a:ext uri="{FF2B5EF4-FFF2-40B4-BE49-F238E27FC236}">
                <a16:creationId xmlns:a16="http://schemas.microsoft.com/office/drawing/2014/main" id="{6EBE341E-A799-41FF-9D68-5DDC8AD46E82}"/>
              </a:ext>
            </a:extLst>
          </p:cNvPr>
          <p:cNvSpPr>
            <a:spLocks noGrp="1"/>
          </p:cNvSpPr>
          <p:nvPr/>
        </p:nvSpPr>
        <p:spPr>
          <a:xfrm>
            <a:off x="266700" y="2095499"/>
            <a:ext cx="5623461" cy="3390901"/>
          </a:xfrm>
          <a:prstGeom prst="rect">
            <a:avLst/>
          </a:prstGeom>
          <a:noFill/>
          <a:ln w="0">
            <a:noFill/>
            <a:prstDash val="solid"/>
          </a:ln>
        </p:spPr>
        <p:txBody>
          <a:bodyPr lIns="0" tIns="0" rIns="0" bIns="0" anchor="t">
            <a:normAutofit/>
          </a:bodyPr>
          <a:lstStyle/>
          <a:p>
            <a:pPr>
              <a:buNone/>
              <a:defRPr sz="1200" b="1">
                <a:solidFill>
                  <a:srgbClr val="FFFFFF"/>
                </a:solidFill>
                <a:latin typeface="Roboto"/>
                <a:ea typeface="Roboto"/>
                <a:cs typeface="Roboto"/>
              </a:defRPr>
            </a:pPr>
            <a:r>
              <a:rPr sz="4000" b="1">
                <a:solidFill>
                  <a:srgbClr val="FFFFFF"/>
                </a:solidFill>
                <a:latin typeface="Roboto"/>
                <a:ea typeface="Roboto"/>
                <a:cs typeface="Roboto"/>
              </a:rPr>
              <a:t>KINETIC-INDUCTANCE TRAVELING-WAVE PARAMETRIC AMPLIFIERS</a:t>
            </a:r>
          </a:p>
        </p:txBody>
      </p:sp>
      <p:sp>
        <p:nvSpPr>
          <p:cNvPr id="13" name="s01-presented-bg">
            <a:extLst>
              <a:ext uri="{FF2B5EF4-FFF2-40B4-BE49-F238E27FC236}">
                <a16:creationId xmlns:a16="http://schemas.microsoft.com/office/drawing/2014/main" id="{60679DFC-E071-4756-AC6C-44685E610178}"/>
              </a:ext>
            </a:extLst>
          </p:cNvPr>
          <p:cNvSpPr>
            <a:spLocks noGrp="1"/>
          </p:cNvSpPr>
          <p:nvPr/>
        </p:nvSpPr>
        <p:spPr>
          <a:xfrm>
            <a:off x="8972550" y="5476875"/>
            <a:ext cx="2657475" cy="1047750"/>
          </a:xfrm>
          <a:prstGeom prst="rect">
            <a:avLst/>
          </a:prstGeom>
          <a:solidFill>
            <a:srgbClr val="FF0000"/>
          </a:solidFill>
          <a:ln w="9525">
            <a:solidFill>
              <a:srgbClr val="FF0000"/>
            </a:solidFill>
            <a:prstDash val="solid"/>
          </a:ln>
        </p:spPr>
        <p:txBody>
          <a:bodyPr/>
          <a:lstStyle/>
          <a:p>
            <a:endParaRPr/>
          </a:p>
        </p:txBody>
      </p:sp>
      <p:sp>
        <p:nvSpPr>
          <p:cNvPr id="14" name="s01-presented-by">
            <a:extLst>
              <a:ext uri="{FF2B5EF4-FFF2-40B4-BE49-F238E27FC236}">
                <a16:creationId xmlns:a16="http://schemas.microsoft.com/office/drawing/2014/main" id="{40497214-D29D-4DCA-AA53-FE8973DA2955}"/>
              </a:ext>
            </a:extLst>
          </p:cNvPr>
          <p:cNvSpPr>
            <a:spLocks noGrp="1"/>
          </p:cNvSpPr>
          <p:nvPr/>
        </p:nvSpPr>
        <p:spPr>
          <a:xfrm>
            <a:off x="8972550" y="5476875"/>
            <a:ext cx="2657475" cy="1047750"/>
          </a:xfrm>
          <a:prstGeom prst="rect">
            <a:avLst/>
          </a:prstGeom>
          <a:noFill/>
          <a:ln w="0">
            <a:noFill/>
            <a:prstDash val="solid"/>
          </a:ln>
        </p:spPr>
        <p:txBody>
          <a:bodyPr lIns="38100" tIns="38100" rIns="38100" bIns="38100" anchor="t">
            <a:normAutofit/>
          </a:bodyPr>
          <a:lstStyle/>
          <a:p>
            <a:pPr algn="r">
              <a:buNone/>
              <a:defRPr sz="1050">
                <a:solidFill>
                  <a:srgbClr val="FFFFFF"/>
                </a:solidFill>
                <a:latin typeface="Roboto"/>
                <a:ea typeface="Roboto"/>
                <a:cs typeface="Roboto"/>
              </a:defRPr>
            </a:pPr>
            <a:r>
              <a:rPr sz="1050">
                <a:solidFill>
                  <a:srgbClr val="FFFFFF"/>
                </a:solidFill>
                <a:latin typeface="Roboto"/>
                <a:ea typeface="Roboto"/>
                <a:cs typeface="Roboto"/>
              </a:rPr>
              <a:t>PRESENTED BY</a:t>
            </a:r>
          </a:p>
          <a:p>
            <a:endParaRPr sz="1050">
              <a:solidFill>
                <a:srgbClr val="FFFFFF"/>
              </a:solidFill>
              <a:latin typeface="Roboto"/>
              <a:ea typeface="Roboto"/>
              <a:cs typeface="Roboto"/>
            </a:endParaRPr>
          </a:p>
          <a:p>
            <a:pPr algn="r">
              <a:buNone/>
              <a:defRPr sz="1050">
                <a:solidFill>
                  <a:srgbClr val="FFFFFF"/>
                </a:solidFill>
                <a:latin typeface="Roboto"/>
                <a:ea typeface="Roboto"/>
                <a:cs typeface="Roboto"/>
              </a:defRPr>
            </a:pPr>
            <a:r>
              <a:rPr sz="1050">
                <a:solidFill>
                  <a:srgbClr val="FFFFFF"/>
                </a:solidFill>
                <a:latin typeface="Roboto"/>
                <a:ea typeface="Roboto"/>
                <a:cs typeface="Roboto"/>
              </a:rPr>
              <a:t>Jesus Urbaneja</a:t>
            </a:r>
          </a:p>
          <a:p>
            <a:pPr algn="r">
              <a:buNone/>
              <a:defRPr sz="1050">
                <a:solidFill>
                  <a:srgbClr val="FFFFFF"/>
                </a:solidFill>
                <a:latin typeface="Roboto"/>
                <a:ea typeface="Roboto"/>
                <a:cs typeface="Roboto"/>
              </a:defRPr>
            </a:pPr>
            <a:r>
              <a:rPr sz="1050">
                <a:solidFill>
                  <a:srgbClr val="FFFFFF"/>
                </a:solidFill>
                <a:latin typeface="Roboto"/>
                <a:ea typeface="Roboto"/>
                <a:cs typeface="Roboto"/>
              </a:rPr>
              <a:t>E3 - Internship</a:t>
            </a:r>
          </a:p>
        </p:txBody>
      </p:sp>
    </p:spTree>
    <p:extLst>
      <p:ext uri="{BB962C8B-B14F-4D97-AF65-F5344CB8AC3E}">
        <p14:creationId xmlns:p14="http://schemas.microsoft.com/office/powerpoint/2010/main" val="3224146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Espace réservé pour une image  8"/>
          <p:cNvPicPr>
            <a:picLocks noGrp="1" noChangeAspect="1"/>
          </p:cNvPicPr>
          <p:nvPr>
            <p:ph type="pic" idx="17"/>
          </p:nvPr>
        </p:nvPicPr>
        <p:blipFill rotWithShape="1">
          <a:blip r:embed="rId3"/>
          <a:srcRect/>
          <a:stretch/>
        </p:blipFill>
        <p:spPr>
          <a:xfrm>
            <a:off x="6383708" y="1049708"/>
            <a:ext cx="5808292" cy="5808292"/>
          </a:xfrm>
        </p:spPr>
      </p:pic>
      <p:sp>
        <p:nvSpPr>
          <p:cNvPr id="3" name="Titre 2">
            <a:extLst>
              <a:ext uri="{FF2B5EF4-FFF2-40B4-BE49-F238E27FC236}">
                <a16:creationId xmlns:a16="http://schemas.microsoft.com/office/drawing/2014/main" id="{6861EC10-6110-2DF8-98C0-4068F2E94D26}"/>
              </a:ext>
            </a:extLst>
          </p:cNvPr>
          <p:cNvSpPr>
            <a:spLocks noGrp="1"/>
          </p:cNvSpPr>
          <p:nvPr>
            <p:ph type="title"/>
          </p:nvPr>
        </p:nvSpPr>
        <p:spPr>
          <a:xfrm>
            <a:off x="552450" y="876300"/>
            <a:ext cx="5143500" cy="552450"/>
          </a:xfrm>
        </p:spPr>
        <p:txBody>
          <a:bodyPr lIns="38100" tIns="38100" rIns="38100" bIns="38100" anchor="t">
            <a:normAutofit/>
          </a:bodyPr>
          <a:lstStyle/>
          <a:p>
            <a:pPr>
              <a:buNone/>
              <a:defRPr sz="1350" b="1">
                <a:solidFill>
                  <a:srgbClr val="FFFFFF"/>
                </a:solidFill>
                <a:latin typeface="Roboto"/>
                <a:ea typeface="Roboto"/>
                <a:cs typeface="Roboto"/>
              </a:defRPr>
            </a:pPr>
            <a:r>
              <a:rPr sz="1350" b="1">
                <a:solidFill>
                  <a:srgbClr val="FFFFFF"/>
                </a:solidFill>
                <a:latin typeface="Roboto"/>
                <a:ea typeface="Roboto"/>
                <a:cs typeface="Roboto"/>
              </a:rPr>
              <a:t>OUTLINE</a:t>
            </a:r>
          </a:p>
        </p:txBody>
      </p:sp>
      <p:sp>
        <p:nvSpPr>
          <p:cNvPr id="4" name="Espace réservé du texte 3">
            <a:extLst>
              <a:ext uri="{FF2B5EF4-FFF2-40B4-BE49-F238E27FC236}">
                <a16:creationId xmlns:a16="http://schemas.microsoft.com/office/drawing/2014/main" id="{C219C9AC-50DF-B087-113F-8165278A92F6}"/>
              </a:ext>
            </a:extLst>
          </p:cNvPr>
          <p:cNvSpPr>
            <a:spLocks noGrp="1"/>
          </p:cNvSpPr>
          <p:nvPr>
            <p:ph type="body" idx="11"/>
          </p:nvPr>
        </p:nvSpPr>
        <p:spPr>
          <a:xfrm>
            <a:off x="571500" y="1714500"/>
            <a:ext cx="266700" cy="228600"/>
          </a:xfrm>
        </p:spPr>
        <p:txBody>
          <a:bodyPr lIns="38100" tIns="38100" rIns="38100" bIns="38100" anchor="ctr">
            <a:normAutofit fontScale="89804" lnSpcReduction="10000"/>
          </a:bodyPr>
          <a:lstStyle/>
          <a:p>
            <a:pPr algn="ctr">
              <a:spcBef>
                <a:spcPts val="1600"/>
              </a:spcBef>
              <a:spcAft>
                <a:spcPts val="1400"/>
              </a:spcAft>
              <a:buNone/>
              <a:defRPr sz="1350" b="1">
                <a:solidFill>
                  <a:srgbClr val="FF0000"/>
                </a:solidFill>
                <a:latin typeface="Roboto"/>
                <a:ea typeface="Roboto"/>
                <a:cs typeface="Roboto"/>
              </a:defRPr>
            </a:pPr>
            <a:r>
              <a:rPr sz="1350" b="1">
                <a:solidFill>
                  <a:srgbClr val="FF0000"/>
                </a:solidFill>
                <a:latin typeface="Roboto"/>
                <a:ea typeface="Roboto"/>
                <a:cs typeface="Roboto"/>
              </a:rPr>
              <a:t>→</a:t>
            </a:r>
            <a:endParaRPr sz="6600" spc="-150">
              <a:effectLst>
                <a:outerShdw blurRad="50800" dist="38100" dir="2700000" algn="tl" rotWithShape="0">
                  <a:prstClr val="black">
                    <a:alpha val="40000"/>
                  </a:prstClr>
                </a:outerShdw>
              </a:effectLst>
            </a:endParaRPr>
          </a:p>
        </p:txBody>
      </p:sp>
      <p:sp>
        <p:nvSpPr>
          <p:cNvPr id="5" name="Espace réservé de la date 4">
            <a:extLst>
              <a:ext uri="{FF2B5EF4-FFF2-40B4-BE49-F238E27FC236}">
                <a16:creationId xmlns:a16="http://schemas.microsoft.com/office/drawing/2014/main" id="{A4D71E82-D823-F80C-DA3C-379B47F07580}"/>
              </a:ext>
            </a:extLst>
          </p:cNvPr>
          <p:cNvSpPr>
            <a:spLocks noGrp="1"/>
          </p:cNvSpPr>
          <p:nvPr>
            <p:ph type="dt" idx="18"/>
          </p:nvPr>
        </p:nvSpPr>
        <p:spPr>
          <a:xfrm>
            <a:off x="8055583" y="339452"/>
            <a:ext cx="3868422" cy="214830"/>
          </a:xfrm>
        </p:spPr>
        <p:txBody>
          <a:bodyPr lIns="38100" tIns="38100" rIns="38100" bIns="38100" anchor="t">
            <a:normAutofit/>
          </a:bodyPr>
          <a:lstStyle/>
          <a:p>
            <a:pPr>
              <a:buNone/>
              <a:defRPr sz="825">
                <a:solidFill>
                  <a:srgbClr val="FFFFFF"/>
                </a:solidFill>
                <a:latin typeface="Roboto"/>
                <a:ea typeface="Roboto"/>
                <a:cs typeface="Roboto"/>
              </a:defRPr>
            </a:pPr>
            <a:r>
              <a:rPr sz="825">
                <a:solidFill>
                  <a:srgbClr val="FFFFFF"/>
                </a:solidFill>
                <a:latin typeface="Roboto"/>
                <a:ea typeface="Roboto"/>
                <a:cs typeface="Roboto"/>
              </a:rPr>
              <a:t>KI-TWPA • 3WM • VALIDATION</a:t>
            </a:r>
            <a:endParaRPr/>
          </a:p>
        </p:txBody>
      </p:sp>
      <p:sp>
        <p:nvSpPr>
          <p:cNvPr id="6" name="Espace réservé du pied de page 5">
            <a:extLst>
              <a:ext uri="{FF2B5EF4-FFF2-40B4-BE49-F238E27FC236}">
                <a16:creationId xmlns:a16="http://schemas.microsoft.com/office/drawing/2014/main" id="{A9EB96C6-CFCD-4D38-4A6D-AC0F6C6BF93F}"/>
              </a:ext>
            </a:extLst>
          </p:cNvPr>
          <p:cNvSpPr>
            <a:spLocks noGrp="1"/>
          </p:cNvSpPr>
          <p:nvPr>
            <p:ph type="ftr" idx="19"/>
          </p:nvPr>
        </p:nvSpPr>
        <p:spPr>
          <a:xfrm>
            <a:off x="8055583" y="549419"/>
            <a:ext cx="3868422" cy="225104"/>
          </a:xfrm>
        </p:spPr>
        <p:txBody>
          <a:bodyPr lIns="38100" tIns="38100" rIns="38100" bIns="38100" anchor="t">
            <a:normAutofit/>
          </a:bodyPr>
          <a:lstStyle/>
          <a:p>
            <a:pPr>
              <a:buNone/>
              <a:defRPr sz="825">
                <a:solidFill>
                  <a:srgbClr val="FFFFFF"/>
                </a:solidFill>
                <a:latin typeface="Roboto"/>
                <a:ea typeface="Roboto"/>
                <a:cs typeface="Roboto"/>
              </a:defRPr>
            </a:pPr>
            <a:r>
              <a:rPr sz="825">
                <a:solidFill>
                  <a:srgbClr val="FFFFFF"/>
                </a:solidFill>
                <a:latin typeface="Roboto"/>
                <a:ea typeface="Roboto"/>
                <a:cs typeface="Roboto"/>
              </a:rPr>
              <a:t>Jesus Urbaneja</a:t>
            </a:r>
            <a:endParaRPr/>
          </a:p>
        </p:txBody>
      </p:sp>
      <p:sp>
        <p:nvSpPr>
          <p:cNvPr id="7" name="Espace réservé du numéro de diapositive 6">
            <a:extLst>
              <a:ext uri="{FF2B5EF4-FFF2-40B4-BE49-F238E27FC236}">
                <a16:creationId xmlns:a16="http://schemas.microsoft.com/office/drawing/2014/main" id="{A0F5E2C5-C4BB-33EA-EA02-016E27FFDB51}"/>
              </a:ext>
            </a:extLst>
          </p:cNvPr>
          <p:cNvSpPr>
            <a:spLocks noGrp="1"/>
          </p:cNvSpPr>
          <p:nvPr>
            <p:ph type="sldNum" idx="20"/>
          </p:nvPr>
        </p:nvSpPr>
        <p:spPr>
          <a:xfrm>
            <a:off x="11508317" y="52157"/>
            <a:ext cx="683683" cy="882252"/>
          </a:xfrm>
        </p:spPr>
        <p:txBody>
          <a:bodyPr lIns="38100" tIns="38100" rIns="38100" bIns="38100" anchor="t">
            <a:normAutofit/>
          </a:bodyPr>
          <a:lstStyle/>
          <a:p>
            <a:pPr algn="ctr">
              <a:buNone/>
              <a:defRPr sz="900" b="1">
                <a:solidFill>
                  <a:srgbClr val="FFFFFF"/>
                </a:solidFill>
                <a:latin typeface="Roboto"/>
                <a:ea typeface="Roboto"/>
                <a:cs typeface="Roboto"/>
              </a:defRPr>
            </a:pPr>
            <a:fld id="{E2598689-54C9-18A7-3A19-ED76AA08988F}" type="slidenum">
              <a:rPr sz="900" b="1">
                <a:solidFill>
                  <a:srgbClr val="FFFFFF"/>
                </a:solidFill>
                <a:latin typeface="Roboto"/>
                <a:ea typeface="Roboto"/>
                <a:cs typeface="Roboto"/>
              </a:rPr>
              <a:t>2</a:t>
            </a:fld>
            <a:endParaRPr/>
          </a:p>
        </p:txBody>
      </p:sp>
      <p:sp>
        <p:nvSpPr>
          <p:cNvPr id="9" name="s02-num-0">
            <a:extLst>
              <a:ext uri="{FF2B5EF4-FFF2-40B4-BE49-F238E27FC236}">
                <a16:creationId xmlns:a16="http://schemas.microsoft.com/office/drawing/2014/main" id="{20A04E99-929F-42C7-BBE4-778DD15521AA}"/>
              </a:ext>
            </a:extLst>
          </p:cNvPr>
          <p:cNvSpPr>
            <a:spLocks noGrp="1"/>
          </p:cNvSpPr>
          <p:nvPr/>
        </p:nvSpPr>
        <p:spPr>
          <a:xfrm>
            <a:off x="571500" y="2095500"/>
            <a:ext cx="523875" cy="523875"/>
          </a:xfrm>
          <a:prstGeom prst="rect">
            <a:avLst/>
          </a:prstGeom>
          <a:noFill/>
          <a:ln w="0">
            <a:noFill/>
            <a:prstDash val="solid"/>
          </a:ln>
        </p:spPr>
        <p:txBody>
          <a:bodyPr lIns="38100" tIns="38100" rIns="38100" bIns="38100" anchor="ctr">
            <a:normAutofit/>
          </a:bodyPr>
          <a:lstStyle/>
          <a:p>
            <a:pPr algn="ctr">
              <a:buNone/>
              <a:defRPr sz="2025" b="1">
                <a:solidFill>
                  <a:srgbClr val="FF0000"/>
                </a:solidFill>
                <a:latin typeface="Roboto"/>
                <a:ea typeface="Roboto"/>
                <a:cs typeface="Roboto"/>
              </a:defRPr>
            </a:pPr>
            <a:r>
              <a:rPr sz="2025" b="1">
                <a:solidFill>
                  <a:srgbClr val="FF0000"/>
                </a:solidFill>
                <a:latin typeface="Roboto"/>
                <a:ea typeface="Roboto"/>
                <a:cs typeface="Roboto"/>
              </a:rPr>
              <a:t>01</a:t>
            </a:r>
          </a:p>
        </p:txBody>
      </p:sp>
      <p:sp>
        <p:nvSpPr>
          <p:cNvPr id="10" name="s02-row-0">
            <a:extLst>
              <a:ext uri="{FF2B5EF4-FFF2-40B4-BE49-F238E27FC236}">
                <a16:creationId xmlns:a16="http://schemas.microsoft.com/office/drawing/2014/main" id="{1CB1892D-E108-4EFC-979A-153228719254}"/>
              </a:ext>
            </a:extLst>
          </p:cNvPr>
          <p:cNvSpPr>
            <a:spLocks noGrp="1"/>
          </p:cNvSpPr>
          <p:nvPr/>
        </p:nvSpPr>
        <p:spPr>
          <a:xfrm>
            <a:off x="1285875" y="2076450"/>
            <a:ext cx="4333875" cy="571500"/>
          </a:xfrm>
          <a:prstGeom prst="rect">
            <a:avLst/>
          </a:prstGeom>
          <a:noFill/>
          <a:ln w="0">
            <a:noFill/>
            <a:prstDash val="solid"/>
          </a:ln>
        </p:spPr>
        <p:txBody>
          <a:bodyPr lIns="38100" tIns="38100" rIns="38100" bIns="38100" anchor="ctr">
            <a:normAutofit fontScale="99927"/>
          </a:bodyPr>
          <a:lstStyle/>
          <a:p>
            <a:pPr>
              <a:lnSpc>
                <a:spcPct val="102000"/>
              </a:lnSpc>
              <a:buNone/>
              <a:defRPr sz="1500" b="1">
                <a:solidFill>
                  <a:srgbClr val="FFFFFF"/>
                </a:solidFill>
                <a:latin typeface="Roboto"/>
                <a:ea typeface="Roboto"/>
                <a:cs typeface="Roboto"/>
              </a:defRPr>
            </a:pPr>
            <a:r>
              <a:rPr sz="1500" b="1">
                <a:solidFill>
                  <a:srgbClr val="FFFFFF"/>
                </a:solidFill>
                <a:latin typeface="Roboto"/>
                <a:ea typeface="Roboto"/>
                <a:cs typeface="Roboto"/>
              </a:rPr>
              <a:t>REQUIREMENT</a:t>
            </a:r>
          </a:p>
          <a:p>
            <a:pPr>
              <a:lnSpc>
                <a:spcPct val="102000"/>
              </a:lnSpc>
              <a:buNone/>
              <a:defRPr sz="1500" b="1">
                <a:solidFill>
                  <a:srgbClr val="FFFFFF"/>
                </a:solidFill>
                <a:latin typeface="Roboto"/>
                <a:ea typeface="Roboto"/>
                <a:cs typeface="Roboto"/>
              </a:defRPr>
            </a:pPr>
            <a:r>
              <a:rPr sz="1500" b="1">
                <a:solidFill>
                  <a:srgbClr val="FFFFFF"/>
                </a:solidFill>
                <a:latin typeface="Roboto"/>
                <a:ea typeface="Roboto"/>
                <a:cs typeface="Roboto"/>
              </a:rPr>
              <a:t>Low-noise, broadband first-stage amplification</a:t>
            </a:r>
          </a:p>
        </p:txBody>
      </p:sp>
      <p:sp>
        <p:nvSpPr>
          <p:cNvPr id="11" name="s02-num-1">
            <a:extLst>
              <a:ext uri="{FF2B5EF4-FFF2-40B4-BE49-F238E27FC236}">
                <a16:creationId xmlns:a16="http://schemas.microsoft.com/office/drawing/2014/main" id="{470EDFEA-3E71-4B05-A66B-BB5E8F3A3BDB}"/>
              </a:ext>
            </a:extLst>
          </p:cNvPr>
          <p:cNvSpPr>
            <a:spLocks noGrp="1"/>
          </p:cNvSpPr>
          <p:nvPr/>
        </p:nvSpPr>
        <p:spPr>
          <a:xfrm>
            <a:off x="571500" y="2847975"/>
            <a:ext cx="523875" cy="523875"/>
          </a:xfrm>
          <a:prstGeom prst="rect">
            <a:avLst/>
          </a:prstGeom>
          <a:noFill/>
          <a:ln w="0">
            <a:noFill/>
            <a:prstDash val="solid"/>
          </a:ln>
        </p:spPr>
        <p:txBody>
          <a:bodyPr lIns="38100" tIns="38100" rIns="38100" bIns="38100" anchor="ctr">
            <a:normAutofit/>
          </a:bodyPr>
          <a:lstStyle/>
          <a:p>
            <a:pPr algn="ctr">
              <a:buNone/>
              <a:defRPr sz="2025" b="1">
                <a:solidFill>
                  <a:srgbClr val="FF0000"/>
                </a:solidFill>
                <a:latin typeface="Roboto"/>
                <a:ea typeface="Roboto"/>
                <a:cs typeface="Roboto"/>
              </a:defRPr>
            </a:pPr>
            <a:r>
              <a:rPr sz="2025" b="1">
                <a:solidFill>
                  <a:srgbClr val="FF0000"/>
                </a:solidFill>
                <a:latin typeface="Roboto"/>
                <a:ea typeface="Roboto"/>
                <a:cs typeface="Roboto"/>
              </a:rPr>
              <a:t>02</a:t>
            </a:r>
          </a:p>
        </p:txBody>
      </p:sp>
      <p:sp>
        <p:nvSpPr>
          <p:cNvPr id="12" name="s02-row-1">
            <a:extLst>
              <a:ext uri="{FF2B5EF4-FFF2-40B4-BE49-F238E27FC236}">
                <a16:creationId xmlns:a16="http://schemas.microsoft.com/office/drawing/2014/main" id="{6AE629E4-8B4F-4BD0-9042-835000B5D7BF}"/>
              </a:ext>
            </a:extLst>
          </p:cNvPr>
          <p:cNvSpPr>
            <a:spLocks noGrp="1"/>
          </p:cNvSpPr>
          <p:nvPr/>
        </p:nvSpPr>
        <p:spPr>
          <a:xfrm>
            <a:off x="1285875" y="2828925"/>
            <a:ext cx="4333875" cy="571500"/>
          </a:xfrm>
          <a:prstGeom prst="rect">
            <a:avLst/>
          </a:prstGeom>
          <a:noFill/>
          <a:ln w="0">
            <a:noFill/>
            <a:prstDash val="solid"/>
          </a:ln>
        </p:spPr>
        <p:txBody>
          <a:bodyPr lIns="38100" tIns="38100" rIns="38100" bIns="38100" anchor="ctr">
            <a:normAutofit fontScale="95872"/>
          </a:bodyPr>
          <a:lstStyle/>
          <a:p>
            <a:pPr>
              <a:lnSpc>
                <a:spcPct val="102000"/>
              </a:lnSpc>
              <a:buNone/>
              <a:defRPr sz="1500" b="1">
                <a:solidFill>
                  <a:srgbClr val="FFFFFF"/>
                </a:solidFill>
                <a:latin typeface="Roboto"/>
                <a:ea typeface="Roboto"/>
                <a:cs typeface="Roboto"/>
              </a:defRPr>
            </a:pPr>
            <a:r>
              <a:rPr sz="1500" b="1">
                <a:solidFill>
                  <a:srgbClr val="FFFFFF"/>
                </a:solidFill>
                <a:latin typeface="Roboto"/>
                <a:ea typeface="Roboto"/>
                <a:cs typeface="Roboto"/>
              </a:rPr>
              <a:t>MIXING</a:t>
            </a:r>
          </a:p>
          <a:p>
            <a:pPr>
              <a:lnSpc>
                <a:spcPct val="102000"/>
              </a:lnSpc>
              <a:buNone/>
              <a:defRPr sz="1500" b="1">
                <a:solidFill>
                  <a:srgbClr val="FFFFFF"/>
                </a:solidFill>
                <a:latin typeface="Roboto"/>
                <a:ea typeface="Roboto"/>
                <a:cs typeface="Roboto"/>
              </a:defRPr>
            </a:pPr>
            <a:r>
              <a:rPr sz="1500" b="1">
                <a:solidFill>
                  <a:srgbClr val="FFFFFF"/>
                </a:solidFill>
                <a:latin typeface="Roboto"/>
                <a:ea typeface="Roboto"/>
                <a:cs typeface="Roboto"/>
              </a:rPr>
              <a:t>DC-biased kinetic inductance generates the idler</a:t>
            </a:r>
          </a:p>
        </p:txBody>
      </p:sp>
      <p:sp>
        <p:nvSpPr>
          <p:cNvPr id="13" name="s02-num-2">
            <a:extLst>
              <a:ext uri="{FF2B5EF4-FFF2-40B4-BE49-F238E27FC236}">
                <a16:creationId xmlns:a16="http://schemas.microsoft.com/office/drawing/2014/main" id="{8598D0C6-28DF-4F51-A715-4B5C5262F53B}"/>
              </a:ext>
            </a:extLst>
          </p:cNvPr>
          <p:cNvSpPr>
            <a:spLocks noGrp="1"/>
          </p:cNvSpPr>
          <p:nvPr/>
        </p:nvSpPr>
        <p:spPr>
          <a:xfrm>
            <a:off x="571500" y="3600450"/>
            <a:ext cx="523875" cy="523875"/>
          </a:xfrm>
          <a:prstGeom prst="rect">
            <a:avLst/>
          </a:prstGeom>
          <a:noFill/>
          <a:ln w="0">
            <a:noFill/>
            <a:prstDash val="solid"/>
          </a:ln>
        </p:spPr>
        <p:txBody>
          <a:bodyPr lIns="38100" tIns="38100" rIns="38100" bIns="38100" anchor="ctr">
            <a:normAutofit/>
          </a:bodyPr>
          <a:lstStyle/>
          <a:p>
            <a:pPr algn="ctr">
              <a:buNone/>
              <a:defRPr sz="2025" b="1">
                <a:solidFill>
                  <a:srgbClr val="FF0000"/>
                </a:solidFill>
                <a:latin typeface="Roboto"/>
                <a:ea typeface="Roboto"/>
                <a:cs typeface="Roboto"/>
              </a:defRPr>
            </a:pPr>
            <a:r>
              <a:rPr sz="2025" b="1">
                <a:solidFill>
                  <a:srgbClr val="FF0000"/>
                </a:solidFill>
                <a:latin typeface="Roboto"/>
                <a:ea typeface="Roboto"/>
                <a:cs typeface="Roboto"/>
              </a:rPr>
              <a:t>03</a:t>
            </a:r>
          </a:p>
        </p:txBody>
      </p:sp>
      <p:sp>
        <p:nvSpPr>
          <p:cNvPr id="14" name="s02-row-2">
            <a:extLst>
              <a:ext uri="{FF2B5EF4-FFF2-40B4-BE49-F238E27FC236}">
                <a16:creationId xmlns:a16="http://schemas.microsoft.com/office/drawing/2014/main" id="{418252F5-DDF9-4D3C-967C-565FBF2BAAF0}"/>
              </a:ext>
            </a:extLst>
          </p:cNvPr>
          <p:cNvSpPr>
            <a:spLocks noGrp="1"/>
          </p:cNvSpPr>
          <p:nvPr/>
        </p:nvSpPr>
        <p:spPr>
          <a:xfrm>
            <a:off x="1285875" y="3581400"/>
            <a:ext cx="4333875" cy="571500"/>
          </a:xfrm>
          <a:prstGeom prst="rect">
            <a:avLst/>
          </a:prstGeom>
          <a:noFill/>
          <a:ln w="0">
            <a:noFill/>
            <a:prstDash val="solid"/>
          </a:ln>
        </p:spPr>
        <p:txBody>
          <a:bodyPr lIns="38100" tIns="38100" rIns="38100" bIns="38100" anchor="ctr">
            <a:normAutofit fontScale="97677"/>
          </a:bodyPr>
          <a:lstStyle/>
          <a:p>
            <a:pPr>
              <a:lnSpc>
                <a:spcPct val="102000"/>
              </a:lnSpc>
              <a:buNone/>
              <a:defRPr sz="1500" b="1">
                <a:solidFill>
                  <a:srgbClr val="FFFFFF"/>
                </a:solidFill>
                <a:latin typeface="Roboto"/>
                <a:ea typeface="Roboto"/>
                <a:cs typeface="Roboto"/>
              </a:defRPr>
            </a:pPr>
            <a:r>
              <a:rPr sz="1500" b="1">
                <a:solidFill>
                  <a:srgbClr val="FFFFFF"/>
                </a:solidFill>
                <a:latin typeface="Roboto"/>
                <a:ea typeface="Roboto"/>
                <a:cs typeface="Roboto"/>
              </a:rPr>
              <a:t>GAIN</a:t>
            </a:r>
          </a:p>
          <a:p>
            <a:pPr>
              <a:lnSpc>
                <a:spcPct val="102000"/>
              </a:lnSpc>
              <a:buNone/>
              <a:defRPr sz="1500" b="1">
                <a:solidFill>
                  <a:srgbClr val="FFFFFF"/>
                </a:solidFill>
                <a:latin typeface="Roboto"/>
                <a:ea typeface="Roboto"/>
                <a:cs typeface="Roboto"/>
              </a:defRPr>
            </a:pPr>
            <a:r>
              <a:rPr sz="1500" b="1">
                <a:solidFill>
                  <a:srgbClr val="FFFFFF"/>
                </a:solidFill>
                <a:latin typeface="Roboto"/>
                <a:ea typeface="Roboto"/>
                <a:cs typeface="Roboto"/>
              </a:rPr>
              <a:t>Phase matching enables coherent accumulation</a:t>
            </a:r>
          </a:p>
        </p:txBody>
      </p:sp>
      <p:sp>
        <p:nvSpPr>
          <p:cNvPr id="15" name="s02-num-3">
            <a:extLst>
              <a:ext uri="{FF2B5EF4-FFF2-40B4-BE49-F238E27FC236}">
                <a16:creationId xmlns:a16="http://schemas.microsoft.com/office/drawing/2014/main" id="{EB49B111-C70B-4797-8A63-88DFD3C59DC8}"/>
              </a:ext>
            </a:extLst>
          </p:cNvPr>
          <p:cNvSpPr>
            <a:spLocks noGrp="1"/>
          </p:cNvSpPr>
          <p:nvPr/>
        </p:nvSpPr>
        <p:spPr>
          <a:xfrm>
            <a:off x="571500" y="4352925"/>
            <a:ext cx="523875" cy="523875"/>
          </a:xfrm>
          <a:prstGeom prst="rect">
            <a:avLst/>
          </a:prstGeom>
          <a:noFill/>
          <a:ln w="0">
            <a:noFill/>
            <a:prstDash val="solid"/>
          </a:ln>
        </p:spPr>
        <p:txBody>
          <a:bodyPr lIns="38100" tIns="38100" rIns="38100" bIns="38100" anchor="ctr">
            <a:normAutofit/>
          </a:bodyPr>
          <a:lstStyle/>
          <a:p>
            <a:pPr algn="ctr">
              <a:buNone/>
              <a:defRPr sz="2025" b="1">
                <a:solidFill>
                  <a:srgbClr val="FF0000"/>
                </a:solidFill>
                <a:latin typeface="Roboto"/>
                <a:ea typeface="Roboto"/>
                <a:cs typeface="Roboto"/>
              </a:defRPr>
            </a:pPr>
            <a:r>
              <a:rPr sz="2025" b="1">
                <a:solidFill>
                  <a:srgbClr val="FF0000"/>
                </a:solidFill>
                <a:latin typeface="Roboto"/>
                <a:ea typeface="Roboto"/>
                <a:cs typeface="Roboto"/>
              </a:rPr>
              <a:t>04</a:t>
            </a:r>
          </a:p>
        </p:txBody>
      </p:sp>
      <p:sp>
        <p:nvSpPr>
          <p:cNvPr id="16" name="s02-row-3">
            <a:extLst>
              <a:ext uri="{FF2B5EF4-FFF2-40B4-BE49-F238E27FC236}">
                <a16:creationId xmlns:a16="http://schemas.microsoft.com/office/drawing/2014/main" id="{BE536ED2-A2A6-41F3-BD55-BEC996AE2D82}"/>
              </a:ext>
            </a:extLst>
          </p:cNvPr>
          <p:cNvSpPr>
            <a:spLocks noGrp="1"/>
          </p:cNvSpPr>
          <p:nvPr/>
        </p:nvSpPr>
        <p:spPr>
          <a:xfrm>
            <a:off x="1285875" y="4333875"/>
            <a:ext cx="4333875" cy="571500"/>
          </a:xfrm>
          <a:prstGeom prst="rect">
            <a:avLst/>
          </a:prstGeom>
          <a:noFill/>
          <a:ln w="0">
            <a:noFill/>
            <a:prstDash val="solid"/>
          </a:ln>
        </p:spPr>
        <p:txBody>
          <a:bodyPr lIns="38100" tIns="38100" rIns="38100" bIns="38100" anchor="ctr">
            <a:normAutofit fontScale="94332"/>
          </a:bodyPr>
          <a:lstStyle/>
          <a:p>
            <a:pPr>
              <a:lnSpc>
                <a:spcPct val="102000"/>
              </a:lnSpc>
              <a:buNone/>
              <a:defRPr sz="1500" b="1">
                <a:solidFill>
                  <a:srgbClr val="FFFFFF"/>
                </a:solidFill>
                <a:latin typeface="Roboto"/>
                <a:ea typeface="Roboto"/>
                <a:cs typeface="Roboto"/>
              </a:defRPr>
            </a:pPr>
            <a:r>
              <a:rPr sz="1500" b="1">
                <a:solidFill>
                  <a:srgbClr val="FFFFFF"/>
                </a:solidFill>
                <a:latin typeface="Roboto"/>
                <a:ea typeface="Roboto"/>
                <a:cs typeface="Roboto"/>
              </a:rPr>
              <a:t>VALIDATION</a:t>
            </a:r>
          </a:p>
          <a:p>
            <a:pPr>
              <a:lnSpc>
                <a:spcPct val="102000"/>
              </a:lnSpc>
              <a:buNone/>
              <a:defRPr sz="1500" b="1">
                <a:solidFill>
                  <a:srgbClr val="FFFFFF"/>
                </a:solidFill>
                <a:latin typeface="Roboto"/>
                <a:ea typeface="Roboto"/>
                <a:cs typeface="Roboto"/>
              </a:defRPr>
            </a:pPr>
            <a:r>
              <a:rPr sz="1500" b="1">
                <a:solidFill>
                  <a:srgbClr val="FFFFFF"/>
                </a:solidFill>
                <a:latin typeface="Roboto"/>
                <a:ea typeface="Roboto"/>
                <a:cs typeface="Roboto"/>
              </a:rPr>
              <a:t>Passive response precedes nonlinear comparison</a:t>
            </a:r>
          </a:p>
        </p:txBody>
      </p:sp>
      <p:sp>
        <p:nvSpPr>
          <p:cNvPr id="17" name="s02-num-4">
            <a:extLst>
              <a:ext uri="{FF2B5EF4-FFF2-40B4-BE49-F238E27FC236}">
                <a16:creationId xmlns:a16="http://schemas.microsoft.com/office/drawing/2014/main" id="{FCBFD572-BCE9-474F-AFDB-489ED324A642}"/>
              </a:ext>
            </a:extLst>
          </p:cNvPr>
          <p:cNvSpPr>
            <a:spLocks noGrp="1"/>
          </p:cNvSpPr>
          <p:nvPr/>
        </p:nvSpPr>
        <p:spPr>
          <a:xfrm>
            <a:off x="571500" y="5105400"/>
            <a:ext cx="523875" cy="523875"/>
          </a:xfrm>
          <a:prstGeom prst="rect">
            <a:avLst/>
          </a:prstGeom>
          <a:noFill/>
          <a:ln w="0">
            <a:noFill/>
            <a:prstDash val="solid"/>
          </a:ln>
        </p:spPr>
        <p:txBody>
          <a:bodyPr lIns="38100" tIns="38100" rIns="38100" bIns="38100" anchor="ctr">
            <a:normAutofit/>
          </a:bodyPr>
          <a:lstStyle/>
          <a:p>
            <a:pPr algn="ctr">
              <a:buNone/>
              <a:defRPr sz="2025" b="1">
                <a:solidFill>
                  <a:srgbClr val="FF0000"/>
                </a:solidFill>
                <a:latin typeface="Roboto"/>
                <a:ea typeface="Roboto"/>
                <a:cs typeface="Roboto"/>
              </a:defRPr>
            </a:pPr>
            <a:r>
              <a:rPr sz="2025" b="1">
                <a:solidFill>
                  <a:srgbClr val="FF0000"/>
                </a:solidFill>
                <a:latin typeface="Roboto"/>
                <a:ea typeface="Roboto"/>
                <a:cs typeface="Roboto"/>
              </a:rPr>
              <a:t>05</a:t>
            </a:r>
          </a:p>
        </p:txBody>
      </p:sp>
      <p:sp>
        <p:nvSpPr>
          <p:cNvPr id="18" name="s02-row-4">
            <a:extLst>
              <a:ext uri="{FF2B5EF4-FFF2-40B4-BE49-F238E27FC236}">
                <a16:creationId xmlns:a16="http://schemas.microsoft.com/office/drawing/2014/main" id="{F3BC4444-037B-4EF0-9675-5E7EC794A1C4}"/>
              </a:ext>
            </a:extLst>
          </p:cNvPr>
          <p:cNvSpPr>
            <a:spLocks noGrp="1"/>
          </p:cNvSpPr>
          <p:nvPr/>
        </p:nvSpPr>
        <p:spPr>
          <a:xfrm>
            <a:off x="1285875" y="5086350"/>
            <a:ext cx="4333875" cy="571500"/>
          </a:xfrm>
          <a:prstGeom prst="rect">
            <a:avLst/>
          </a:prstGeom>
          <a:noFill/>
          <a:ln w="0">
            <a:noFill/>
            <a:prstDash val="solid"/>
          </a:ln>
        </p:spPr>
        <p:txBody>
          <a:bodyPr lIns="38100" tIns="38100" rIns="38100" bIns="38100" anchor="ctr">
            <a:normAutofit/>
          </a:bodyPr>
          <a:lstStyle/>
          <a:p>
            <a:pPr>
              <a:lnSpc>
                <a:spcPct val="102000"/>
              </a:lnSpc>
              <a:buNone/>
              <a:defRPr sz="1500" b="1">
                <a:solidFill>
                  <a:srgbClr val="FFFFFF"/>
                </a:solidFill>
                <a:latin typeface="Roboto"/>
                <a:ea typeface="Roboto"/>
                <a:cs typeface="Roboto"/>
              </a:defRPr>
            </a:pPr>
            <a:r>
              <a:rPr sz="1500" b="1">
                <a:solidFill>
                  <a:srgbClr val="FFFFFF"/>
                </a:solidFill>
                <a:latin typeface="Roboto"/>
                <a:ea typeface="Roboto"/>
                <a:cs typeface="Roboto"/>
              </a:rPr>
              <a:t>INTERPRETATION</a:t>
            </a:r>
          </a:p>
          <a:p>
            <a:pPr>
              <a:lnSpc>
                <a:spcPct val="102000"/>
              </a:lnSpc>
              <a:buNone/>
              <a:defRPr sz="1500" b="1">
                <a:solidFill>
                  <a:srgbClr val="FFFFFF"/>
                </a:solidFill>
                <a:latin typeface="Roboto"/>
                <a:ea typeface="Roboto"/>
                <a:cs typeface="Roboto"/>
              </a:defRPr>
            </a:pPr>
            <a:r>
              <a:rPr sz="1500" b="1">
                <a:solidFill>
                  <a:srgbClr val="FFFFFF"/>
                </a:solidFill>
                <a:latin typeface="Roboto"/>
                <a:ea typeface="Roboto"/>
                <a:cs typeface="Roboto"/>
              </a:rPr>
              <a:t>Frequency offset and reflection-induced ripple</a:t>
            </a:r>
          </a:p>
        </p:txBody>
      </p:sp>
    </p:spTree>
    <p:extLst>
      <p:ext uri="{BB962C8B-B14F-4D97-AF65-F5344CB8AC3E}">
        <p14:creationId xmlns:p14="http://schemas.microsoft.com/office/powerpoint/2010/main" val="3994004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226D67-2ECF-4A70-9BAE-AD08A8C5BE7A}"/>
              </a:ext>
            </a:extLst>
          </p:cNvPr>
          <p:cNvSpPr>
            <a:spLocks noGrp="1"/>
          </p:cNvSpPr>
          <p:nvPr>
            <p:ph idx="1"/>
          </p:nvPr>
        </p:nvSpPr>
        <p:spPr>
          <a:xfrm>
            <a:off x="552450" y="2211491"/>
            <a:ext cx="10668000" cy="400050"/>
          </a:xfrm>
        </p:spPr>
        <p:txBody>
          <a:bodyPr wrap="square" lIns="38100" tIns="38100" rIns="38100" bIns="38100" anchor="t">
            <a:normAutofit fontScale="90102"/>
          </a:bodyPr>
          <a:lstStyle/>
          <a:p>
            <a:pPr>
              <a:buNone/>
              <a:defRPr sz="1800" b="1">
                <a:solidFill>
                  <a:srgbClr val="5A5A5A"/>
                </a:solidFill>
                <a:latin typeface="Roboto"/>
                <a:ea typeface="Roboto"/>
                <a:cs typeface="Roboto"/>
              </a:defRPr>
            </a:pPr>
            <a:r>
              <a:rPr sz="1800" b="1" dirty="0">
                <a:solidFill>
                  <a:srgbClr val="5A5A5A"/>
                </a:solidFill>
                <a:latin typeface="Roboto"/>
                <a:ea typeface="Roboto"/>
                <a:cs typeface="Roboto"/>
              </a:rPr>
              <a:t>The nonlinear KI-TWPA transfers pump energy into the signal, increasing its amplitude before measurement.</a:t>
            </a:r>
          </a:p>
        </p:txBody>
      </p:sp>
      <p:sp>
        <p:nvSpPr>
          <p:cNvPr id="3" name="Title 2">
            <a:extLst>
              <a:ext uri="{FF2B5EF4-FFF2-40B4-BE49-F238E27FC236}">
                <a16:creationId xmlns:a16="http://schemas.microsoft.com/office/drawing/2014/main" id="{5938B914-01E0-42FF-9E51-A9CC5CE393BB}"/>
              </a:ext>
            </a:extLst>
          </p:cNvPr>
          <p:cNvSpPr>
            <a:spLocks noGrp="1"/>
          </p:cNvSpPr>
          <p:nvPr>
            <p:ph type="title"/>
          </p:nvPr>
        </p:nvSpPr>
        <p:spPr>
          <a:xfrm>
            <a:off x="523875" y="914400"/>
            <a:ext cx="10382250" cy="1428750"/>
          </a:xfrm>
        </p:spPr>
        <p:txBody>
          <a:bodyPr lIns="0" tIns="0" rIns="0" bIns="0" anchor="t">
            <a:normAutofit/>
          </a:bodyPr>
          <a:lstStyle/>
          <a:p>
            <a:pPr>
              <a:lnSpc>
                <a:spcPct val="94000"/>
              </a:lnSpc>
              <a:defRPr sz="3600" b="1">
                <a:solidFill>
                  <a:srgbClr val="111111"/>
                </a:solidFill>
                <a:latin typeface="Roboto"/>
                <a:ea typeface="Roboto"/>
                <a:cs typeface="Roboto"/>
              </a:defRPr>
            </a:pPr>
            <a:r>
              <a:rPr sz="3600" b="1" dirty="0">
                <a:solidFill>
                  <a:srgbClr val="111111"/>
                </a:solidFill>
                <a:latin typeface="Roboto"/>
                <a:ea typeface="Roboto"/>
                <a:cs typeface="Roboto"/>
              </a:rPr>
              <a:t>The </a:t>
            </a:r>
            <a:r>
              <a:rPr lang="en-US" sz="3600" dirty="0">
                <a:solidFill>
                  <a:schemeClr val="tx1">
                    <a:lumMod val="50000"/>
                  </a:schemeClr>
                </a:solidFill>
                <a:latin typeface="Roboto"/>
                <a:ea typeface="Roboto"/>
                <a:cs typeface="Roboto"/>
              </a:rPr>
              <a:t>KI-TWPA</a:t>
            </a:r>
            <a:r>
              <a:rPr sz="3600" b="1" dirty="0">
                <a:solidFill>
                  <a:srgbClr val="111111"/>
                </a:solidFill>
                <a:latin typeface="Roboto"/>
                <a:ea typeface="Roboto"/>
                <a:cs typeface="Roboto"/>
              </a:rPr>
              <a:t> turns a weak signal into one we can measure</a:t>
            </a:r>
          </a:p>
        </p:txBody>
      </p:sp>
      <p:sp>
        <p:nvSpPr>
          <p:cNvPr id="5" name="s11-divider">
            <a:extLst>
              <a:ext uri="{FF2B5EF4-FFF2-40B4-BE49-F238E27FC236}">
                <a16:creationId xmlns:a16="http://schemas.microsoft.com/office/drawing/2014/main" id="{07C8A937-B033-43D4-ACA6-92BF749F1551}"/>
              </a:ext>
            </a:extLst>
          </p:cNvPr>
          <p:cNvSpPr>
            <a:spLocks noGrp="1"/>
          </p:cNvSpPr>
          <p:nvPr/>
        </p:nvSpPr>
        <p:spPr>
          <a:xfrm>
            <a:off x="7858125" y="3257550"/>
            <a:ext cx="0" cy="2905125"/>
          </a:xfrm>
          <a:prstGeom prst="line">
            <a:avLst/>
          </a:prstGeom>
          <a:noFill/>
          <a:ln w="19050">
            <a:solidFill>
              <a:srgbClr val="D8D8D8"/>
            </a:solidFill>
            <a:prstDash val="solid"/>
          </a:ln>
        </p:spPr>
        <p:txBody>
          <a:bodyPr/>
          <a:lstStyle/>
          <a:p>
            <a:endParaRPr/>
          </a:p>
        </p:txBody>
      </p:sp>
      <p:sp>
        <p:nvSpPr>
          <p:cNvPr id="6" name="s11-paper">
            <a:extLst>
              <a:ext uri="{FF2B5EF4-FFF2-40B4-BE49-F238E27FC236}">
                <a16:creationId xmlns:a16="http://schemas.microsoft.com/office/drawing/2014/main" id="{022481E4-0375-4EC6-8C3C-7A61A11FCEE2}"/>
              </a:ext>
            </a:extLst>
          </p:cNvPr>
          <p:cNvSpPr>
            <a:spLocks noGrp="1"/>
          </p:cNvSpPr>
          <p:nvPr/>
        </p:nvSpPr>
        <p:spPr>
          <a:xfrm>
            <a:off x="8239125" y="3429000"/>
            <a:ext cx="1428750" cy="266700"/>
          </a:xfrm>
          <a:prstGeom prst="rect">
            <a:avLst/>
          </a:prstGeom>
          <a:noFill/>
          <a:ln w="0">
            <a:noFill/>
            <a:prstDash val="solid"/>
          </a:ln>
        </p:spPr>
        <p:txBody>
          <a:bodyPr lIns="38100" tIns="38100" rIns="38100" bIns="38100" anchor="t">
            <a:normAutofit fontScale="91047"/>
          </a:bodyPr>
          <a:lstStyle/>
          <a:p>
            <a:pPr>
              <a:buNone/>
              <a:defRPr sz="1350" b="1">
                <a:solidFill>
                  <a:srgbClr val="5A5A5A"/>
                </a:solidFill>
                <a:latin typeface="Roboto"/>
                <a:ea typeface="Roboto"/>
                <a:cs typeface="Roboto"/>
              </a:defRPr>
            </a:pPr>
            <a:r>
              <a:rPr sz="1350" b="1">
                <a:solidFill>
                  <a:srgbClr val="5A5A5A"/>
                </a:solidFill>
                <a:latin typeface="Roboto"/>
                <a:ea typeface="Roboto"/>
                <a:cs typeface="Roboto"/>
              </a:rPr>
              <a:t>1  WEAK SIGNAL IN</a:t>
            </a:r>
          </a:p>
        </p:txBody>
      </p:sp>
      <p:sp>
        <p:nvSpPr>
          <p:cNvPr id="7" name="s11-paper-value">
            <a:extLst>
              <a:ext uri="{FF2B5EF4-FFF2-40B4-BE49-F238E27FC236}">
                <a16:creationId xmlns:a16="http://schemas.microsoft.com/office/drawing/2014/main" id="{DC0F0AF5-9DCE-44DD-A40A-67F75D5031A3}"/>
              </a:ext>
            </a:extLst>
          </p:cNvPr>
          <p:cNvSpPr>
            <a:spLocks noGrp="1"/>
          </p:cNvSpPr>
          <p:nvPr/>
        </p:nvSpPr>
        <p:spPr>
          <a:xfrm>
            <a:off x="8239125" y="3714750"/>
            <a:ext cx="3048000" cy="495300"/>
          </a:xfrm>
          <a:prstGeom prst="rect">
            <a:avLst/>
          </a:prstGeom>
          <a:noFill/>
          <a:ln w="0">
            <a:noFill/>
            <a:prstDash val="solid"/>
          </a:ln>
        </p:spPr>
        <p:txBody>
          <a:bodyPr lIns="38100" tIns="38100" rIns="38100" bIns="38100" anchor="t">
            <a:normAutofit fontScale="87302" lnSpcReduction="10000"/>
          </a:bodyPr>
          <a:lstStyle/>
          <a:p>
            <a:pPr>
              <a:buNone/>
              <a:defRPr sz="1575" b="1">
                <a:solidFill>
                  <a:srgbClr val="111111"/>
                </a:solidFill>
                <a:latin typeface="Roboto"/>
                <a:ea typeface="Roboto"/>
                <a:cs typeface="Roboto"/>
              </a:defRPr>
            </a:pPr>
            <a:r>
              <a:rPr sz="1575" b="1">
                <a:solidFill>
                  <a:srgbClr val="111111"/>
                </a:solidFill>
                <a:latin typeface="Roboto"/>
                <a:ea typeface="Roboto"/>
                <a:cs typeface="Roboto"/>
              </a:rPr>
              <a:t>A small microwave tone carries the qubit or detector information.</a:t>
            </a:r>
          </a:p>
        </p:txBody>
      </p:sp>
      <p:sp>
        <p:nvSpPr>
          <p:cNvPr id="8" name="s11-model">
            <a:extLst>
              <a:ext uri="{FF2B5EF4-FFF2-40B4-BE49-F238E27FC236}">
                <a16:creationId xmlns:a16="http://schemas.microsoft.com/office/drawing/2014/main" id="{845A3B50-75ED-43B7-A060-5DA19EA9C417}"/>
              </a:ext>
            </a:extLst>
          </p:cNvPr>
          <p:cNvSpPr>
            <a:spLocks noGrp="1"/>
          </p:cNvSpPr>
          <p:nvPr/>
        </p:nvSpPr>
        <p:spPr>
          <a:xfrm>
            <a:off x="8239125" y="4524375"/>
            <a:ext cx="1714500" cy="266700"/>
          </a:xfrm>
          <a:prstGeom prst="rect">
            <a:avLst/>
          </a:prstGeom>
          <a:noFill/>
          <a:ln w="0">
            <a:noFill/>
            <a:prstDash val="solid"/>
          </a:ln>
        </p:spPr>
        <p:txBody>
          <a:bodyPr lIns="38100" tIns="38100" rIns="38100" bIns="38100" anchor="t">
            <a:normAutofit/>
          </a:bodyPr>
          <a:lstStyle/>
          <a:p>
            <a:pPr>
              <a:buNone/>
              <a:defRPr sz="975" b="1">
                <a:solidFill>
                  <a:srgbClr val="FF0000"/>
                </a:solidFill>
                <a:latin typeface="Roboto"/>
                <a:ea typeface="Roboto"/>
                <a:cs typeface="Roboto"/>
              </a:defRPr>
            </a:pPr>
            <a:r>
              <a:rPr sz="975" b="1">
                <a:solidFill>
                  <a:srgbClr val="FF0000"/>
                </a:solidFill>
                <a:latin typeface="Roboto"/>
                <a:ea typeface="Roboto"/>
                <a:cs typeface="Roboto"/>
              </a:rPr>
              <a:t>2  PUMP ADDS ENERGY</a:t>
            </a:r>
          </a:p>
        </p:txBody>
      </p:sp>
      <p:sp>
        <p:nvSpPr>
          <p:cNvPr id="9" name="s11-model-value">
            <a:extLst>
              <a:ext uri="{FF2B5EF4-FFF2-40B4-BE49-F238E27FC236}">
                <a16:creationId xmlns:a16="http://schemas.microsoft.com/office/drawing/2014/main" id="{A85D7DF5-6597-4BCA-8890-6908635721DC}"/>
              </a:ext>
            </a:extLst>
          </p:cNvPr>
          <p:cNvSpPr>
            <a:spLocks noGrp="1"/>
          </p:cNvSpPr>
          <p:nvPr/>
        </p:nvSpPr>
        <p:spPr>
          <a:xfrm>
            <a:off x="8239125" y="4810125"/>
            <a:ext cx="3048000" cy="495300"/>
          </a:xfrm>
          <a:prstGeom prst="rect">
            <a:avLst/>
          </a:prstGeom>
          <a:noFill/>
          <a:ln w="0">
            <a:noFill/>
            <a:prstDash val="solid"/>
          </a:ln>
        </p:spPr>
        <p:txBody>
          <a:bodyPr lIns="38100" tIns="38100" rIns="38100" bIns="38100" anchor="t">
            <a:normAutofit/>
          </a:bodyPr>
          <a:lstStyle/>
          <a:p>
            <a:pPr>
              <a:buNone/>
              <a:defRPr sz="1125" b="1">
                <a:solidFill>
                  <a:srgbClr val="111111"/>
                </a:solidFill>
                <a:latin typeface="Roboto"/>
                <a:ea typeface="Roboto"/>
                <a:cs typeface="Roboto"/>
              </a:defRPr>
            </a:pPr>
            <a:r>
              <a:rPr sz="1125" b="1">
                <a:solidFill>
                  <a:srgbClr val="111111"/>
                </a:solidFill>
                <a:latin typeface="Roboto"/>
                <a:ea typeface="Roboto"/>
                <a:cs typeface="Roboto"/>
              </a:rPr>
              <a:t>Nonlinear coupling transfers pump energy into the signal.</a:t>
            </a:r>
          </a:p>
        </p:txBody>
      </p:sp>
      <p:sp>
        <p:nvSpPr>
          <p:cNvPr id="10" name="s11-small-rule">
            <a:extLst>
              <a:ext uri="{FF2B5EF4-FFF2-40B4-BE49-F238E27FC236}">
                <a16:creationId xmlns:a16="http://schemas.microsoft.com/office/drawing/2014/main" id="{0D8ACBA6-C9CF-4A4C-A32F-04E05D121CA0}"/>
              </a:ext>
            </a:extLst>
          </p:cNvPr>
          <p:cNvSpPr>
            <a:spLocks noGrp="1"/>
          </p:cNvSpPr>
          <p:nvPr/>
        </p:nvSpPr>
        <p:spPr>
          <a:xfrm>
            <a:off x="8239125" y="5476875"/>
            <a:ext cx="2809875" cy="0"/>
          </a:xfrm>
          <a:prstGeom prst="line">
            <a:avLst/>
          </a:prstGeom>
          <a:noFill/>
          <a:ln w="28575">
            <a:solidFill>
              <a:srgbClr val="FF0000"/>
            </a:solidFill>
            <a:prstDash val="solid"/>
          </a:ln>
        </p:spPr>
        <p:txBody>
          <a:bodyPr/>
          <a:lstStyle/>
          <a:p>
            <a:endParaRPr/>
          </a:p>
        </p:txBody>
      </p:sp>
      <p:sp>
        <p:nvSpPr>
          <p:cNvPr id="11" name="s11-proof">
            <a:extLst>
              <a:ext uri="{FF2B5EF4-FFF2-40B4-BE49-F238E27FC236}">
                <a16:creationId xmlns:a16="http://schemas.microsoft.com/office/drawing/2014/main" id="{7C4B8C46-AF03-42B6-A832-894F4A651767}"/>
              </a:ext>
            </a:extLst>
          </p:cNvPr>
          <p:cNvSpPr>
            <a:spLocks noGrp="1"/>
          </p:cNvSpPr>
          <p:nvPr/>
        </p:nvSpPr>
        <p:spPr>
          <a:xfrm>
            <a:off x="8239125" y="5638800"/>
            <a:ext cx="3048000" cy="590550"/>
          </a:xfrm>
          <a:prstGeom prst="rect">
            <a:avLst/>
          </a:prstGeom>
          <a:noFill/>
          <a:ln w="0">
            <a:noFill/>
            <a:prstDash val="solid"/>
          </a:ln>
        </p:spPr>
        <p:txBody>
          <a:bodyPr lIns="38100" tIns="38100" rIns="38100" bIns="38100" anchor="t">
            <a:normAutofit/>
          </a:bodyPr>
          <a:lstStyle/>
          <a:p>
            <a:pPr>
              <a:buNone/>
              <a:defRPr sz="975" b="1">
                <a:solidFill>
                  <a:srgbClr val="5A5A5A"/>
                </a:solidFill>
                <a:latin typeface="Roboto"/>
                <a:ea typeface="Roboto"/>
                <a:cs typeface="Roboto"/>
              </a:defRPr>
            </a:pPr>
            <a:r>
              <a:rPr sz="975" b="1">
                <a:solidFill>
                  <a:srgbClr val="5A5A5A"/>
                </a:solidFill>
                <a:latin typeface="Roboto"/>
                <a:ea typeface="Roboto"/>
                <a:cs typeface="Roboto"/>
              </a:rPr>
              <a:t>3  AMPLIFIED SIGNAL OUT
Its larger amplitude is easier for the measurement chain to distinguish from noise.</a:t>
            </a:r>
          </a:p>
        </p:txBody>
      </p:sp>
      <p:sp>
        <p:nvSpPr>
          <p:cNvPr id="4" name="s4-meta">
            <a:extLst>
              <a:ext uri="{FF2B5EF4-FFF2-40B4-BE49-F238E27FC236}">
                <a16:creationId xmlns:a16="http://schemas.microsoft.com/office/drawing/2014/main" id="{A25E6032-047D-7157-7D8B-42614FA21F71}"/>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12" name="s4-page">
            <a:extLst>
              <a:ext uri="{FF2B5EF4-FFF2-40B4-BE49-F238E27FC236}">
                <a16:creationId xmlns:a16="http://schemas.microsoft.com/office/drawing/2014/main" id="{2EA95560-11CA-813B-CC1E-85D829ADCC2A}"/>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3</a:t>
            </a:r>
          </a:p>
        </p:txBody>
      </p:sp>
      <p:sp>
        <p:nvSpPr>
          <p:cNvPr id="14" name="s11-graph-title">
            <a:extLst>
              <a:ext uri="{FF2B5EF4-FFF2-40B4-BE49-F238E27FC236}">
                <a16:creationId xmlns:a16="http://schemas.microsoft.com/office/drawing/2014/main" id="{4EB4EDF9-9F1C-4C07-A0D9-4807F78C548A}"/>
              </a:ext>
            </a:extLst>
          </p:cNvPr>
          <p:cNvSpPr>
            <a:spLocks noGrp="1"/>
          </p:cNvSpPr>
          <p:nvPr/>
        </p:nvSpPr>
        <p:spPr>
          <a:xfrm>
            <a:off x="552450" y="2846917"/>
            <a:ext cx="7000875" cy="228600"/>
          </a:xfrm>
          <a:prstGeom prst="rect">
            <a:avLst/>
          </a:prstGeom>
          <a:noFill/>
          <a:ln w="0">
            <a:noFill/>
            <a:prstDash val="solid"/>
          </a:ln>
        </p:spPr>
        <p:txBody>
          <a:bodyPr lIns="19050" tIns="0" rIns="19050" bIns="0" anchor="ctr"/>
          <a:lstStyle/>
          <a:p>
            <a:pPr algn="ctr">
              <a:buNone/>
              <a:defRPr sz="1275" b="1">
                <a:solidFill>
                  <a:srgbClr val="111111"/>
                </a:solidFill>
                <a:latin typeface="Roboto"/>
                <a:ea typeface="Roboto"/>
                <a:cs typeface="Roboto"/>
              </a:defRPr>
            </a:pPr>
            <a:r>
              <a:rPr sz="1275" b="1">
                <a:solidFill>
                  <a:srgbClr val="111111"/>
                </a:solidFill>
                <a:latin typeface="Roboto"/>
                <a:ea typeface="Roboto"/>
                <a:cs typeface="Roboto"/>
              </a:rPr>
              <a:t>Weak input → pump-powered KI-TWPA → larger output → measurement</a:t>
            </a:r>
          </a:p>
        </p:txBody>
      </p:sp>
      <p:pic>
        <p:nvPicPr>
          <p:cNvPr id="34" name="Picture 27"/>
          <p:cNvPicPr>
            <a:picLocks noChangeAspect="1"/>
          </p:cNvPicPr>
          <p:nvPr/>
        </p:nvPicPr>
        <p:blipFill>
          <a:blip r:embed="rId3"/>
          <a:stretch/>
        </p:blipFill>
        <p:spPr>
          <a:xfrm>
            <a:off x="904875" y="3429000"/>
            <a:ext cx="6286500" cy="3143250"/>
          </a:xfrm>
          <a:prstGeom prst="rect">
            <a:avLst/>
          </a:prstGeom>
        </p:spPr>
      </p:pic>
      <p:sp>
        <p:nvSpPr>
          <p:cNvPr id="15" name="TextBox 14">
            <a:extLst>
              <a:ext uri="{FF2B5EF4-FFF2-40B4-BE49-F238E27FC236}">
                <a16:creationId xmlns:a16="http://schemas.microsoft.com/office/drawing/2014/main" id="{91D738AC-B3ED-DCD9-D6B5-47A543089D78}"/>
              </a:ext>
            </a:extLst>
          </p:cNvPr>
          <p:cNvSpPr>
            <a:spLocks noGrp="1"/>
          </p:cNvSpPr>
          <p:nvPr/>
        </p:nvSpPr>
        <p:spPr>
          <a:xfrm>
            <a:off x="378695" y="5439059"/>
            <a:ext cx="2123768" cy="261610"/>
          </a:xfrm>
          <a:prstGeom prst="rect">
            <a:avLst/>
          </a:prstGeom>
          <a:noFill/>
        </p:spPr>
        <p:txBody>
          <a:bodyPr wrap="square">
            <a:spAutoFit/>
          </a:bodyPr>
          <a:lstStyle/>
          <a:p>
            <a:r>
              <a:rPr sz="1100" b="1">
                <a:solidFill>
                  <a:srgbClr val="5A5A5A"/>
                </a:solidFill>
                <a:latin typeface="Roboto"/>
                <a:ea typeface="Roboto"/>
                <a:cs typeface="Roboto"/>
              </a:rPr>
              <a:t>WEAK SIGNAL IN</a:t>
            </a:r>
            <a:endParaRPr sz="1100"/>
          </a:p>
        </p:txBody>
      </p:sp>
      <p:sp>
        <p:nvSpPr>
          <p:cNvPr id="17" name="TextBox 16">
            <a:extLst>
              <a:ext uri="{FF2B5EF4-FFF2-40B4-BE49-F238E27FC236}">
                <a16:creationId xmlns:a16="http://schemas.microsoft.com/office/drawing/2014/main" id="{2893C469-14DE-22B3-426E-AD5B929F976E}"/>
              </a:ext>
            </a:extLst>
          </p:cNvPr>
          <p:cNvSpPr>
            <a:spLocks noGrp="1"/>
          </p:cNvSpPr>
          <p:nvPr/>
        </p:nvSpPr>
        <p:spPr>
          <a:xfrm>
            <a:off x="2838450" y="3437153"/>
            <a:ext cx="1595898" cy="261610"/>
          </a:xfrm>
          <a:prstGeom prst="rect">
            <a:avLst/>
          </a:prstGeom>
          <a:noFill/>
        </p:spPr>
        <p:txBody>
          <a:bodyPr wrap="square">
            <a:spAutoFit/>
          </a:bodyPr>
          <a:lstStyle/>
          <a:p>
            <a:r>
              <a:rPr sz="1100" b="1">
                <a:solidFill>
                  <a:srgbClr val="FF0000"/>
                </a:solidFill>
                <a:latin typeface="Roboto"/>
                <a:ea typeface="Roboto"/>
                <a:cs typeface="Roboto"/>
              </a:rPr>
              <a:t>PUMP ADDS ENERGY</a:t>
            </a:r>
            <a:endParaRPr sz="1100"/>
          </a:p>
        </p:txBody>
      </p:sp>
      <p:sp>
        <p:nvSpPr>
          <p:cNvPr id="19" name="TextBox 18">
            <a:extLst>
              <a:ext uri="{FF2B5EF4-FFF2-40B4-BE49-F238E27FC236}">
                <a16:creationId xmlns:a16="http://schemas.microsoft.com/office/drawing/2014/main" id="{EC34DA4A-7563-0FC2-8D05-06DD4832B863}"/>
              </a:ext>
            </a:extLst>
          </p:cNvPr>
          <p:cNvSpPr>
            <a:spLocks noGrp="1"/>
          </p:cNvSpPr>
          <p:nvPr/>
        </p:nvSpPr>
        <p:spPr>
          <a:xfrm>
            <a:off x="3567112" y="4106333"/>
            <a:ext cx="1737544" cy="261610"/>
          </a:xfrm>
          <a:prstGeom prst="rect">
            <a:avLst/>
          </a:prstGeom>
          <a:noFill/>
        </p:spPr>
        <p:txBody>
          <a:bodyPr wrap="square">
            <a:spAutoFit/>
          </a:bodyPr>
          <a:lstStyle/>
          <a:p>
            <a:r>
              <a:rPr sz="1100" b="1">
                <a:solidFill>
                  <a:srgbClr val="5A5A5A"/>
                </a:solidFill>
                <a:latin typeface="Roboto"/>
                <a:ea typeface="Roboto"/>
                <a:cs typeface="Roboto"/>
              </a:rPr>
              <a:t>AMPLIFIED SIGNAL OUT</a:t>
            </a:r>
            <a:endParaRPr sz="1100"/>
          </a:p>
        </p:txBody>
      </p:sp>
      <p:sp>
        <p:nvSpPr>
          <p:cNvPr id="20" name="TextBox 19">
            <a:extLst>
              <a:ext uri="{FF2B5EF4-FFF2-40B4-BE49-F238E27FC236}">
                <a16:creationId xmlns:a16="http://schemas.microsoft.com/office/drawing/2014/main" id="{651F4092-6E33-25CC-C810-F9450F741F94}"/>
              </a:ext>
            </a:extLst>
          </p:cNvPr>
          <p:cNvSpPr>
            <a:spLocks noGrp="1"/>
          </p:cNvSpPr>
          <p:nvPr/>
        </p:nvSpPr>
        <p:spPr>
          <a:xfrm>
            <a:off x="3565576" y="6229350"/>
            <a:ext cx="1737544" cy="261610"/>
          </a:xfrm>
          <a:prstGeom prst="rect">
            <a:avLst/>
          </a:prstGeom>
          <a:noFill/>
        </p:spPr>
        <p:txBody>
          <a:bodyPr wrap="square">
            <a:spAutoFit/>
          </a:bodyPr>
          <a:lstStyle/>
          <a:p>
            <a:r>
              <a:rPr sz="1100" b="1">
                <a:solidFill>
                  <a:srgbClr val="5A5A5A"/>
                </a:solidFill>
                <a:latin typeface="Roboto"/>
                <a:ea typeface="Roboto"/>
                <a:cs typeface="Roboto"/>
              </a:rPr>
              <a:t>IDLER</a:t>
            </a:r>
            <a:endParaRPr sz="1100"/>
          </a:p>
        </p:txBody>
      </p:sp>
    </p:spTree>
    <p:extLst>
      <p:ext uri="{BB962C8B-B14F-4D97-AF65-F5344CB8AC3E}">
        <p14:creationId xmlns:p14="http://schemas.microsoft.com/office/powerpoint/2010/main" val="1976281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2AD02C2-B4E1-4000-E3C5-6112A4B23274}"/>
              </a:ext>
            </a:extLst>
          </p:cNvPr>
          <p:cNvSpPr>
            <a:spLocks noGrp="1"/>
          </p:cNvSpPr>
          <p:nvPr>
            <p:ph idx="1"/>
          </p:nvPr>
        </p:nvSpPr>
        <p:spPr>
          <a:xfrm>
            <a:off x="552450" y="2386013"/>
            <a:ext cx="5619750" cy="3709987"/>
          </a:xfrm>
        </p:spPr>
        <p:txBody>
          <a:bodyPr wrap="square" lIns="38100" tIns="38100" rIns="38100" bIns="38100" anchor="t">
            <a:normAutofit fontScale="91066" lnSpcReduction="20000"/>
          </a:bodyPr>
          <a:lstStyle/>
          <a:p>
            <a:pPr>
              <a:lnSpc>
                <a:spcPct val="115000"/>
              </a:lnSpc>
              <a:buNone/>
              <a:defRPr sz="1650">
                <a:solidFill>
                  <a:srgbClr val="111111"/>
                </a:solidFill>
                <a:latin typeface="Roboto"/>
                <a:ea typeface="Roboto"/>
                <a:cs typeface="Roboto"/>
              </a:defRPr>
            </a:pPr>
            <a:r>
              <a:rPr sz="2000" b="1" dirty="0">
                <a:solidFill>
                  <a:srgbClr val="111111"/>
                </a:solidFill>
                <a:latin typeface="Roboto"/>
                <a:ea typeface="Roboto"/>
                <a:cs typeface="Roboto"/>
              </a:rPr>
              <a:t>Qubit Measurement</a:t>
            </a:r>
            <a:br>
              <a:rPr dirty="0"/>
            </a:br>
            <a:r>
              <a:rPr sz="1650" dirty="0">
                <a:solidFill>
                  <a:srgbClr val="111111"/>
                </a:solidFill>
                <a:latin typeface="Roboto"/>
                <a:ea typeface="Roboto"/>
                <a:cs typeface="Roboto"/>
              </a:rPr>
              <a:t>Many qubits use different readout frequencies on one shared microwave line.</a:t>
            </a:r>
          </a:p>
          <a:p>
            <a:pPr>
              <a:lnSpc>
                <a:spcPct val="115000"/>
              </a:lnSpc>
              <a:buNone/>
              <a:defRPr sz="1650">
                <a:solidFill>
                  <a:srgbClr val="111111"/>
                </a:solidFill>
                <a:latin typeface="Roboto"/>
                <a:ea typeface="Roboto"/>
                <a:cs typeface="Roboto"/>
              </a:defRPr>
            </a:pPr>
            <a:endParaRPr sz="1650" dirty="0">
              <a:solidFill>
                <a:srgbClr val="111111"/>
              </a:solidFill>
              <a:latin typeface="Roboto"/>
              <a:ea typeface="Roboto"/>
              <a:cs typeface="Roboto"/>
            </a:endParaRPr>
          </a:p>
          <a:p>
            <a:pPr>
              <a:lnSpc>
                <a:spcPct val="115000"/>
              </a:lnSpc>
              <a:buNone/>
              <a:defRPr sz="1650">
                <a:solidFill>
                  <a:srgbClr val="111111"/>
                </a:solidFill>
                <a:latin typeface="Roboto"/>
                <a:ea typeface="Roboto"/>
                <a:cs typeface="Roboto"/>
              </a:defRPr>
            </a:pPr>
            <a:r>
              <a:rPr sz="2000" b="1" dirty="0">
                <a:solidFill>
                  <a:srgbClr val="111111"/>
                </a:solidFill>
                <a:latin typeface="Roboto"/>
                <a:ea typeface="Roboto"/>
                <a:cs typeface="Roboto"/>
              </a:rPr>
              <a:t>Bandwidth and the JPA</a:t>
            </a:r>
            <a:br>
              <a:rPr dirty="0"/>
            </a:br>
            <a:r>
              <a:rPr sz="1650" dirty="0">
                <a:solidFill>
                  <a:srgbClr val="111111"/>
                </a:solidFill>
                <a:latin typeface="Roboto"/>
                <a:ea typeface="Roboto"/>
                <a:cs typeface="Roboto"/>
              </a:rPr>
              <a:t>Bandwidth is the frequency range with useful gain. </a:t>
            </a:r>
            <a:endParaRPr lang="en-US" sz="1650" dirty="0">
              <a:solidFill>
                <a:srgbClr val="111111"/>
              </a:solidFill>
              <a:latin typeface="Roboto"/>
              <a:ea typeface="Roboto"/>
              <a:cs typeface="Roboto"/>
            </a:endParaRPr>
          </a:p>
          <a:p>
            <a:pPr>
              <a:lnSpc>
                <a:spcPct val="115000"/>
              </a:lnSpc>
              <a:buNone/>
              <a:defRPr sz="1650">
                <a:solidFill>
                  <a:srgbClr val="111111"/>
                </a:solidFill>
                <a:latin typeface="Roboto"/>
                <a:ea typeface="Roboto"/>
                <a:cs typeface="Roboto"/>
              </a:defRPr>
            </a:pPr>
            <a:r>
              <a:rPr lang="en-JP" sz="1650" dirty="0">
                <a:solidFill>
                  <a:srgbClr val="111111"/>
                </a:solidFill>
                <a:latin typeface="Roboto"/>
                <a:ea typeface="Roboto"/>
                <a:cs typeface="Roboto"/>
              </a:rPr>
              <a:t>	</a:t>
            </a:r>
            <a:r>
              <a:rPr sz="1650" dirty="0">
                <a:solidFill>
                  <a:srgbClr val="111111"/>
                </a:solidFill>
                <a:latin typeface="Roboto"/>
                <a:ea typeface="Roboto"/>
                <a:cs typeface="Roboto"/>
              </a:rPr>
              <a:t>A JPA—Josephson parametric amplifier—is very low-noise, but typically narrowband.</a:t>
            </a:r>
          </a:p>
          <a:p>
            <a:pPr>
              <a:lnSpc>
                <a:spcPct val="115000"/>
              </a:lnSpc>
              <a:buNone/>
              <a:defRPr sz="1650">
                <a:solidFill>
                  <a:srgbClr val="111111"/>
                </a:solidFill>
                <a:latin typeface="Roboto"/>
                <a:ea typeface="Roboto"/>
                <a:cs typeface="Roboto"/>
              </a:defRPr>
            </a:pPr>
            <a:endParaRPr sz="1650" dirty="0">
              <a:solidFill>
                <a:srgbClr val="111111"/>
              </a:solidFill>
              <a:latin typeface="Roboto"/>
              <a:ea typeface="Roboto"/>
              <a:cs typeface="Roboto"/>
            </a:endParaRPr>
          </a:p>
          <a:p>
            <a:pPr>
              <a:lnSpc>
                <a:spcPct val="115000"/>
              </a:lnSpc>
              <a:buNone/>
              <a:defRPr sz="1650">
                <a:solidFill>
                  <a:srgbClr val="111111"/>
                </a:solidFill>
                <a:latin typeface="Roboto"/>
                <a:ea typeface="Roboto"/>
                <a:cs typeface="Roboto"/>
              </a:defRPr>
            </a:pPr>
            <a:r>
              <a:rPr sz="2000" b="1" dirty="0">
                <a:solidFill>
                  <a:srgbClr val="111111"/>
                </a:solidFill>
                <a:latin typeface="Roboto"/>
                <a:ea typeface="Roboto"/>
                <a:cs typeface="Roboto"/>
              </a:rPr>
              <a:t>Why a KI-TWPA</a:t>
            </a:r>
            <a:br>
              <a:rPr dirty="0"/>
            </a:br>
            <a:r>
              <a:rPr sz="1650" dirty="0">
                <a:solidFill>
                  <a:srgbClr val="111111"/>
                </a:solidFill>
                <a:latin typeface="Roboto"/>
                <a:ea typeface="Roboto"/>
                <a:cs typeface="Roboto"/>
              </a:rPr>
              <a:t>A KI-TWPA spreads nonlinear amplification along a long 50 </a:t>
            </a:r>
            <a:r>
              <a:rPr sz="1650" dirty="0" err="1">
                <a:solidFill>
                  <a:srgbClr val="111111"/>
                </a:solidFill>
                <a:latin typeface="Roboto"/>
                <a:ea typeface="Roboto"/>
                <a:cs typeface="Roboto"/>
              </a:rPr>
              <a:t>Ω</a:t>
            </a:r>
            <a:r>
              <a:rPr sz="1650" dirty="0">
                <a:solidFill>
                  <a:srgbClr val="111111"/>
                </a:solidFill>
                <a:latin typeface="Roboto"/>
                <a:ea typeface="Roboto"/>
                <a:cs typeface="Roboto"/>
              </a:rPr>
              <a:t> line, giving GHz-scale bandwidth so many readout tones can be amplified together.</a:t>
            </a:r>
          </a:p>
        </p:txBody>
      </p:sp>
      <p:sp>
        <p:nvSpPr>
          <p:cNvPr id="3" name="Titre 2">
            <a:extLst>
              <a:ext uri="{FF2B5EF4-FFF2-40B4-BE49-F238E27FC236}">
                <a16:creationId xmlns:a16="http://schemas.microsoft.com/office/drawing/2014/main" id="{36E85105-DF26-0728-D543-042A64B131C8}"/>
              </a:ext>
            </a:extLst>
          </p:cNvPr>
          <p:cNvSpPr>
            <a:spLocks noGrp="1"/>
          </p:cNvSpPr>
          <p:nvPr>
            <p:ph type="title"/>
          </p:nvPr>
        </p:nvSpPr>
        <p:spPr>
          <a:xfrm>
            <a:off x="552450" y="957263"/>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Many readout tones need one wide, low-noise amplifier</a:t>
            </a:r>
            <a:endParaRPr/>
          </a:p>
        </p:txBody>
      </p:sp>
      <p:sp>
        <p:nvSpPr>
          <p:cNvPr id="4" name="Espace réservé de la date 3">
            <a:extLst>
              <a:ext uri="{FF2B5EF4-FFF2-40B4-BE49-F238E27FC236}">
                <a16:creationId xmlns:a16="http://schemas.microsoft.com/office/drawing/2014/main" id="{D5272F52-FE9B-5878-94DE-FFBD73C876EA}"/>
              </a:ext>
            </a:extLst>
          </p:cNvPr>
          <p:cNvSpPr>
            <a:spLocks noGrp="1"/>
          </p:cNvSpPr>
          <p:nvPr>
            <p:ph type="dt" idx="10"/>
          </p:nvPr>
        </p:nvSpPr>
        <p:spPr>
          <a:xfrm>
            <a:off x="8055584" y="326782"/>
            <a:ext cx="3868422" cy="214830"/>
          </a:xfrm>
        </p:spPr>
        <p:txBody>
          <a:bodyPr lIns="38100" tIns="38100" rIns="38100" bIns="38100" anchor="t">
            <a:normAutofit/>
          </a:bodyPr>
          <a:lstStyle/>
          <a:p>
            <a:pPr>
              <a:buNone/>
              <a:defRPr sz="825">
                <a:solidFill>
                  <a:srgbClr val="FF0000"/>
                </a:solidFill>
                <a:latin typeface="Roboto"/>
                <a:ea typeface="Roboto"/>
                <a:cs typeface="Roboto"/>
              </a:defRPr>
            </a:pPr>
            <a:r>
              <a:rPr sz="825">
                <a:solidFill>
                  <a:srgbClr val="FF0000"/>
                </a:solidFill>
                <a:latin typeface="Roboto"/>
                <a:ea typeface="Roboto"/>
                <a:cs typeface="Roboto"/>
              </a:rPr>
              <a:t>KI-TWPA • MOTIVATION</a:t>
            </a:r>
            <a:endParaRPr/>
          </a:p>
        </p:txBody>
      </p:sp>
      <p:sp>
        <p:nvSpPr>
          <p:cNvPr id="5" name="Espace réservé du pied de page 4">
            <a:extLst>
              <a:ext uri="{FF2B5EF4-FFF2-40B4-BE49-F238E27FC236}">
                <a16:creationId xmlns:a16="http://schemas.microsoft.com/office/drawing/2014/main" id="{5EC07AFD-1EAE-77E3-1B43-98D089B5A4FA}"/>
              </a:ext>
            </a:extLst>
          </p:cNvPr>
          <p:cNvSpPr>
            <a:spLocks noGrp="1"/>
          </p:cNvSpPr>
          <p:nvPr>
            <p:ph type="ftr" idx="11"/>
          </p:nvPr>
        </p:nvSpPr>
        <p:spPr>
          <a:xfrm>
            <a:off x="8055585" y="441646"/>
            <a:ext cx="3868422" cy="225104"/>
          </a:xfrm>
        </p:spPr>
        <p:txBody>
          <a:bodyPr lIns="38100" tIns="38100" rIns="38100" bIns="38100" anchor="t">
            <a:normAutofit/>
          </a:bodyPr>
          <a:lstStyle/>
          <a:p>
            <a:pPr>
              <a:buNone/>
              <a:defRPr sz="825">
                <a:solidFill>
                  <a:srgbClr val="FF0000"/>
                </a:solidFill>
                <a:latin typeface="Roboto"/>
                <a:ea typeface="Roboto"/>
                <a:cs typeface="Roboto"/>
              </a:defRPr>
            </a:pPr>
            <a:r>
              <a:rPr sz="825">
                <a:solidFill>
                  <a:srgbClr val="FF0000"/>
                </a:solidFill>
                <a:latin typeface="Roboto"/>
                <a:ea typeface="Roboto"/>
                <a:cs typeface="Roboto"/>
              </a:rPr>
              <a:t>Jesus Urbaneja</a:t>
            </a:r>
            <a:endParaRPr/>
          </a:p>
        </p:txBody>
      </p:sp>
      <p:sp>
        <p:nvSpPr>
          <p:cNvPr id="6" name="Espace réservé du numéro de diapositive 5">
            <a:extLst>
              <a:ext uri="{FF2B5EF4-FFF2-40B4-BE49-F238E27FC236}">
                <a16:creationId xmlns:a16="http://schemas.microsoft.com/office/drawing/2014/main" id="{C752694F-6629-8112-91ED-0B22A3CC7BB4}"/>
              </a:ext>
            </a:extLst>
          </p:cNvPr>
          <p:cNvSpPr>
            <a:spLocks noGrp="1"/>
          </p:cNvSpPr>
          <p:nvPr>
            <p:ph type="sldNum" idx="12"/>
          </p:nvPr>
        </p:nvSpPr>
        <p:spPr>
          <a:xfrm>
            <a:off x="11508317" y="0"/>
            <a:ext cx="683683" cy="882252"/>
          </a:xfrm>
        </p:spPr>
        <p:txBody>
          <a:bodyPr lIns="38100" tIns="38100" rIns="38100" bIns="38100" anchor="t">
            <a:normAutofit/>
          </a:bodyPr>
          <a:lstStyle/>
          <a:p>
            <a:pPr algn="ctr">
              <a:buNone/>
              <a:defRPr sz="900" b="1">
                <a:solidFill>
                  <a:srgbClr val="FF0000"/>
                </a:solidFill>
                <a:latin typeface="Roboto"/>
                <a:ea typeface="Roboto"/>
                <a:cs typeface="Roboto"/>
              </a:defRPr>
            </a:pPr>
            <a:fld id="{202359C0-8A7A-196E-DD58-8E6569619F09}" type="slidenum">
              <a:rPr sz="900" b="1">
                <a:solidFill>
                  <a:srgbClr val="FF0000"/>
                </a:solidFill>
                <a:latin typeface="Roboto"/>
                <a:ea typeface="Roboto"/>
                <a:cs typeface="Roboto"/>
              </a:rPr>
              <a:t>4</a:t>
            </a:fld>
            <a:endParaRPr/>
          </a:p>
        </p:txBody>
      </p:sp>
      <p:sp>
        <p:nvSpPr>
          <p:cNvPr id="7" name="s03-divider">
            <a:extLst>
              <a:ext uri="{FF2B5EF4-FFF2-40B4-BE49-F238E27FC236}">
                <a16:creationId xmlns:a16="http://schemas.microsoft.com/office/drawing/2014/main" id="{744D54D4-AD13-41DD-BBFA-FEC377C35FB7}"/>
              </a:ext>
            </a:extLst>
          </p:cNvPr>
          <p:cNvSpPr>
            <a:spLocks noGrp="1"/>
          </p:cNvSpPr>
          <p:nvPr/>
        </p:nvSpPr>
        <p:spPr>
          <a:xfrm>
            <a:off x="6572250" y="2895600"/>
            <a:ext cx="0" cy="3095625"/>
          </a:xfrm>
          <a:prstGeom prst="line">
            <a:avLst/>
          </a:prstGeom>
          <a:noFill/>
          <a:ln w="19050">
            <a:solidFill>
              <a:srgbClr val="D8D8D8"/>
            </a:solidFill>
            <a:prstDash val="solid"/>
          </a:ln>
        </p:spPr>
        <p:txBody>
          <a:bodyPr/>
          <a:lstStyle/>
          <a:p>
            <a:endParaRPr/>
          </a:p>
        </p:txBody>
      </p:sp>
      <p:sp>
        <p:nvSpPr>
          <p:cNvPr id="8" name="s03-jpa-label">
            <a:extLst>
              <a:ext uri="{FF2B5EF4-FFF2-40B4-BE49-F238E27FC236}">
                <a16:creationId xmlns:a16="http://schemas.microsoft.com/office/drawing/2014/main" id="{BDF3C0ED-2792-4924-87B3-4E174F09AAF8}"/>
              </a:ext>
            </a:extLst>
          </p:cNvPr>
          <p:cNvSpPr>
            <a:spLocks noGrp="1"/>
          </p:cNvSpPr>
          <p:nvPr/>
        </p:nvSpPr>
        <p:spPr>
          <a:xfrm>
            <a:off x="7000875" y="2952750"/>
            <a:ext cx="2000250" cy="266700"/>
          </a:xfrm>
          <a:prstGeom prst="rect">
            <a:avLst/>
          </a:prstGeom>
          <a:noFill/>
          <a:ln w="0">
            <a:noFill/>
            <a:prstDash val="solid"/>
          </a:ln>
        </p:spPr>
        <p:txBody>
          <a:bodyPr lIns="38100" tIns="38100" rIns="38100" bIns="38100" anchor="t">
            <a:normAutofit fontScale="92593" lnSpcReduction="10000"/>
          </a:bodyPr>
          <a:lstStyle/>
          <a:p>
            <a:pPr>
              <a:buNone/>
              <a:defRPr sz="1350" b="1">
                <a:solidFill>
                  <a:srgbClr val="5A5A5A"/>
                </a:solidFill>
                <a:latin typeface="Roboto"/>
                <a:ea typeface="Roboto"/>
                <a:cs typeface="Roboto"/>
              </a:defRPr>
            </a:pPr>
            <a:r>
              <a:rPr sz="1350" b="1">
                <a:solidFill>
                  <a:srgbClr val="5A5A5A"/>
                </a:solidFill>
                <a:latin typeface="Roboto"/>
                <a:ea typeface="Roboto"/>
                <a:cs typeface="Roboto"/>
              </a:rPr>
              <a:t>RESONANT JPA</a:t>
            </a:r>
          </a:p>
        </p:txBody>
      </p:sp>
      <p:sp>
        <p:nvSpPr>
          <p:cNvPr id="9" name="s03-jpa-metric">
            <a:extLst>
              <a:ext uri="{FF2B5EF4-FFF2-40B4-BE49-F238E27FC236}">
                <a16:creationId xmlns:a16="http://schemas.microsoft.com/office/drawing/2014/main" id="{8225582D-72CC-4766-BCAF-2ABFF5A2A4DA}"/>
              </a:ext>
            </a:extLst>
          </p:cNvPr>
          <p:cNvSpPr>
            <a:spLocks noGrp="1"/>
          </p:cNvSpPr>
          <p:nvPr/>
        </p:nvSpPr>
        <p:spPr>
          <a:xfrm>
            <a:off x="7000875" y="3295650"/>
            <a:ext cx="3429000" cy="609600"/>
          </a:xfrm>
          <a:prstGeom prst="rect">
            <a:avLst/>
          </a:prstGeom>
          <a:noFill/>
          <a:ln w="0">
            <a:noFill/>
            <a:prstDash val="solid"/>
          </a:ln>
        </p:spPr>
        <p:txBody>
          <a:bodyPr lIns="38100" tIns="38100" rIns="38100" bIns="38100" anchor="t">
            <a:normAutofit/>
          </a:bodyPr>
          <a:lstStyle/>
          <a:p>
            <a:pPr>
              <a:buNone/>
              <a:defRPr sz="3225" b="1">
                <a:solidFill>
                  <a:srgbClr val="111111"/>
                </a:solidFill>
                <a:latin typeface="Roboto"/>
                <a:ea typeface="Roboto"/>
                <a:cs typeface="Roboto"/>
              </a:defRPr>
            </a:pPr>
            <a:r>
              <a:rPr sz="3225" b="1">
                <a:solidFill>
                  <a:srgbClr val="111111"/>
                </a:solidFill>
                <a:latin typeface="Roboto"/>
                <a:ea typeface="Roboto"/>
                <a:cs typeface="Roboto"/>
              </a:rPr>
              <a:t>≲ 100 MHz</a:t>
            </a:r>
          </a:p>
        </p:txBody>
      </p:sp>
      <p:sp>
        <p:nvSpPr>
          <p:cNvPr id="10" name="s03-jpa-caption">
            <a:extLst>
              <a:ext uri="{FF2B5EF4-FFF2-40B4-BE49-F238E27FC236}">
                <a16:creationId xmlns:a16="http://schemas.microsoft.com/office/drawing/2014/main" id="{A1F35074-BAC4-4B0F-BDF0-9FE915EFF2E3}"/>
              </a:ext>
            </a:extLst>
          </p:cNvPr>
          <p:cNvSpPr>
            <a:spLocks noGrp="1"/>
          </p:cNvSpPr>
          <p:nvPr/>
        </p:nvSpPr>
        <p:spPr>
          <a:xfrm>
            <a:off x="7000875" y="3857625"/>
            <a:ext cx="3333750" cy="323850"/>
          </a:xfrm>
          <a:prstGeom prst="rect">
            <a:avLst/>
          </a:prstGeom>
          <a:noFill/>
          <a:ln w="0">
            <a:noFill/>
            <a:prstDash val="solid"/>
          </a:ln>
        </p:spPr>
        <p:txBody>
          <a:bodyPr lIns="38100" tIns="38100" rIns="38100" bIns="38100" anchor="t">
            <a:normAutofit/>
          </a:bodyPr>
          <a:lstStyle/>
          <a:p>
            <a:pPr>
              <a:buNone/>
              <a:defRPr sz="1275">
                <a:solidFill>
                  <a:srgbClr val="5A5A5A"/>
                </a:solidFill>
                <a:latin typeface="Roboto"/>
                <a:ea typeface="Roboto"/>
                <a:cs typeface="Roboto"/>
              </a:defRPr>
            </a:pPr>
            <a:r>
              <a:rPr sz="1275">
                <a:solidFill>
                  <a:srgbClr val="5A5A5A"/>
                </a:solidFill>
                <a:latin typeface="Roboto"/>
                <a:ea typeface="Roboto"/>
                <a:cs typeface="Roboto"/>
              </a:rPr>
              <a:t>typical bandwidth ceiling</a:t>
            </a:r>
          </a:p>
        </p:txBody>
      </p:sp>
      <p:sp>
        <p:nvSpPr>
          <p:cNvPr id="11" name="s03-metric-rule">
            <a:extLst>
              <a:ext uri="{FF2B5EF4-FFF2-40B4-BE49-F238E27FC236}">
                <a16:creationId xmlns:a16="http://schemas.microsoft.com/office/drawing/2014/main" id="{C00996CC-7572-483F-855A-478F45BF2BCD}"/>
              </a:ext>
            </a:extLst>
          </p:cNvPr>
          <p:cNvSpPr>
            <a:spLocks noGrp="1"/>
          </p:cNvSpPr>
          <p:nvPr/>
        </p:nvSpPr>
        <p:spPr>
          <a:xfrm>
            <a:off x="7000875" y="4362450"/>
            <a:ext cx="4048125" cy="0"/>
          </a:xfrm>
          <a:prstGeom prst="line">
            <a:avLst/>
          </a:prstGeom>
          <a:noFill/>
          <a:ln w="19050">
            <a:solidFill>
              <a:srgbClr val="D8D8D8"/>
            </a:solidFill>
            <a:prstDash val="solid"/>
          </a:ln>
        </p:spPr>
        <p:txBody>
          <a:bodyPr/>
          <a:lstStyle/>
          <a:p>
            <a:endParaRPr/>
          </a:p>
        </p:txBody>
      </p:sp>
      <p:sp>
        <p:nvSpPr>
          <p:cNvPr id="12" name="s03-kit-label">
            <a:extLst>
              <a:ext uri="{FF2B5EF4-FFF2-40B4-BE49-F238E27FC236}">
                <a16:creationId xmlns:a16="http://schemas.microsoft.com/office/drawing/2014/main" id="{10A6B566-7421-4AFF-9B2F-FF4527CA3900}"/>
              </a:ext>
            </a:extLst>
          </p:cNvPr>
          <p:cNvSpPr>
            <a:spLocks noGrp="1"/>
          </p:cNvSpPr>
          <p:nvPr/>
        </p:nvSpPr>
        <p:spPr>
          <a:xfrm>
            <a:off x="7000875" y="4572000"/>
            <a:ext cx="3429000" cy="266700"/>
          </a:xfrm>
          <a:prstGeom prst="rect">
            <a:avLst/>
          </a:prstGeom>
          <a:noFill/>
          <a:ln w="0">
            <a:noFill/>
            <a:prstDash val="solid"/>
          </a:ln>
        </p:spPr>
        <p:txBody>
          <a:bodyPr lIns="38100" tIns="38100" rIns="38100" bIns="38100" anchor="t">
            <a:normAutofit fontScale="92593" lnSpcReduction="10000"/>
          </a:bodyPr>
          <a:lstStyle/>
          <a:p>
            <a:pPr>
              <a:buNone/>
              <a:defRPr sz="1350" b="1">
                <a:solidFill>
                  <a:srgbClr val="FF0000"/>
                </a:solidFill>
                <a:latin typeface="Roboto"/>
                <a:ea typeface="Roboto"/>
                <a:cs typeface="Roboto"/>
              </a:defRPr>
            </a:pPr>
            <a:r>
              <a:rPr sz="1350" b="1">
                <a:solidFill>
                  <a:srgbClr val="FF0000"/>
                </a:solidFill>
                <a:latin typeface="Roboto"/>
                <a:ea typeface="Roboto"/>
                <a:cs typeface="Roboto"/>
              </a:rPr>
              <a:t>KINETIC-INDUCTANCE TWPA</a:t>
            </a:r>
          </a:p>
        </p:txBody>
      </p:sp>
      <p:sp>
        <p:nvSpPr>
          <p:cNvPr id="13" name="s03-kit-metric">
            <a:extLst>
              <a:ext uri="{FF2B5EF4-FFF2-40B4-BE49-F238E27FC236}">
                <a16:creationId xmlns:a16="http://schemas.microsoft.com/office/drawing/2014/main" id="{0CE5340D-B20D-4C4D-9C1C-7BA9F30931F4}"/>
              </a:ext>
            </a:extLst>
          </p:cNvPr>
          <p:cNvSpPr>
            <a:spLocks noGrp="1"/>
          </p:cNvSpPr>
          <p:nvPr/>
        </p:nvSpPr>
        <p:spPr>
          <a:xfrm>
            <a:off x="7000875" y="4914900"/>
            <a:ext cx="3429000" cy="609600"/>
          </a:xfrm>
          <a:prstGeom prst="rect">
            <a:avLst/>
          </a:prstGeom>
          <a:noFill/>
          <a:ln w="0">
            <a:noFill/>
            <a:prstDash val="solid"/>
          </a:ln>
        </p:spPr>
        <p:txBody>
          <a:bodyPr lIns="38100" tIns="38100" rIns="38100" bIns="38100" anchor="t">
            <a:normAutofit/>
          </a:bodyPr>
          <a:lstStyle/>
          <a:p>
            <a:pPr>
              <a:buNone/>
              <a:defRPr sz="3225" b="1">
                <a:solidFill>
                  <a:srgbClr val="111111"/>
                </a:solidFill>
                <a:latin typeface="Roboto"/>
                <a:ea typeface="Roboto"/>
                <a:cs typeface="Roboto"/>
              </a:defRPr>
            </a:pPr>
            <a:r>
              <a:rPr sz="3225" b="1">
                <a:solidFill>
                  <a:srgbClr val="111111"/>
                </a:solidFill>
                <a:latin typeface="Roboto"/>
                <a:ea typeface="Roboto"/>
                <a:cs typeface="Roboto"/>
              </a:rPr>
              <a:t>&gt; 3 GHz</a:t>
            </a:r>
          </a:p>
        </p:txBody>
      </p:sp>
      <p:sp>
        <p:nvSpPr>
          <p:cNvPr id="14" name="s03-kit-caption">
            <a:extLst>
              <a:ext uri="{FF2B5EF4-FFF2-40B4-BE49-F238E27FC236}">
                <a16:creationId xmlns:a16="http://schemas.microsoft.com/office/drawing/2014/main" id="{A27A3BAB-7C99-471F-BD9F-68824AFA4A4D}"/>
              </a:ext>
            </a:extLst>
          </p:cNvPr>
          <p:cNvSpPr>
            <a:spLocks noGrp="1"/>
          </p:cNvSpPr>
          <p:nvPr/>
        </p:nvSpPr>
        <p:spPr>
          <a:xfrm>
            <a:off x="7000875" y="5495925"/>
            <a:ext cx="4000500" cy="361950"/>
          </a:xfrm>
          <a:prstGeom prst="rect">
            <a:avLst/>
          </a:prstGeom>
          <a:noFill/>
          <a:ln w="0">
            <a:noFill/>
            <a:prstDash val="solid"/>
          </a:ln>
        </p:spPr>
        <p:txBody>
          <a:bodyPr lIns="38100" tIns="38100" rIns="38100" bIns="38100" anchor="t">
            <a:normAutofit/>
          </a:bodyPr>
          <a:lstStyle/>
          <a:p>
            <a:pPr>
              <a:buNone/>
              <a:defRPr sz="1275">
                <a:solidFill>
                  <a:srgbClr val="5A5A5A"/>
                </a:solidFill>
                <a:latin typeface="Roboto"/>
                <a:ea typeface="Roboto"/>
                <a:cs typeface="Roboto"/>
              </a:defRPr>
            </a:pPr>
            <a:r>
              <a:rPr sz="1275">
                <a:solidFill>
                  <a:srgbClr val="5A5A5A"/>
                </a:solidFill>
                <a:latin typeface="Roboto"/>
                <a:ea typeface="Roboto"/>
                <a:cs typeface="Roboto"/>
              </a:rPr>
              <a:t>reported gain bandwidth • &gt;25 dB gain</a:t>
            </a:r>
          </a:p>
        </p:txBody>
      </p:sp>
    </p:spTree>
    <p:extLst>
      <p:ext uri="{BB962C8B-B14F-4D97-AF65-F5344CB8AC3E}">
        <p14:creationId xmlns:p14="http://schemas.microsoft.com/office/powerpoint/2010/main" val="1478144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D3AF48-F612-405A-A0A2-ADBC8184365C}"/>
              </a:ext>
            </a:extLst>
          </p:cNvPr>
          <p:cNvSpPr>
            <a:spLocks noGrp="1"/>
          </p:cNvSpPr>
          <p:nvPr>
            <p:ph idx="1"/>
          </p:nvPr>
        </p:nvSpPr>
        <p:spPr>
          <a:xfrm>
            <a:off x="904875" y="2314575"/>
            <a:ext cx="4286250" cy="3795141"/>
          </a:xfrm>
        </p:spPr>
        <p:txBody>
          <a:bodyPr wrap="square" lIns="38100" tIns="38100" rIns="38100" bIns="38100" anchor="t">
            <a:normAutofit fontScale="84978" lnSpcReduction="20000"/>
          </a:bodyPr>
          <a:lstStyle/>
          <a:p>
            <a:pPr>
              <a:lnSpc>
                <a:spcPct val="120000"/>
              </a:lnSpc>
              <a:buNone/>
              <a:defRPr sz="1875">
                <a:solidFill>
                  <a:srgbClr val="111111"/>
                </a:solidFill>
                <a:latin typeface="Roboto"/>
                <a:ea typeface="Roboto"/>
                <a:cs typeface="Roboto"/>
              </a:defRPr>
            </a:pPr>
            <a:r>
              <a:rPr sz="1875" b="1" dirty="0">
                <a:solidFill>
                  <a:srgbClr val="111111"/>
                </a:solidFill>
                <a:latin typeface="Roboto"/>
                <a:ea typeface="Roboto"/>
                <a:cs typeface="Roboto"/>
              </a:rPr>
              <a:t>Energy</a:t>
            </a:r>
            <a:br>
              <a:rPr dirty="0"/>
            </a:br>
            <a:r>
              <a:rPr sz="1875" dirty="0" err="1">
                <a:solidFill>
                  <a:srgbClr val="111111"/>
                </a:solidFill>
                <a:latin typeface="Roboto"/>
                <a:ea typeface="Roboto"/>
                <a:cs typeface="Roboto"/>
              </a:rPr>
              <a:t>ω</a:t>
            </a:r>
            <a:r>
              <a:rPr sz="1875" dirty="0">
                <a:solidFill>
                  <a:srgbClr val="111111"/>
                </a:solidFill>
                <a:latin typeface="Roboto"/>
                <a:ea typeface="Roboto"/>
                <a:cs typeface="Roboto"/>
              </a:rPr>
              <a:t>ₚ = </a:t>
            </a:r>
            <a:r>
              <a:rPr sz="1875" dirty="0" err="1">
                <a:solidFill>
                  <a:srgbClr val="111111"/>
                </a:solidFill>
                <a:latin typeface="Roboto"/>
                <a:ea typeface="Roboto"/>
                <a:cs typeface="Roboto"/>
              </a:rPr>
              <a:t>ω</a:t>
            </a:r>
            <a:r>
              <a:rPr sz="1875" dirty="0">
                <a:solidFill>
                  <a:srgbClr val="111111"/>
                </a:solidFill>
                <a:latin typeface="Roboto"/>
                <a:ea typeface="Roboto"/>
                <a:cs typeface="Roboto"/>
              </a:rPr>
              <a:t>ₛ + </a:t>
            </a:r>
            <a:r>
              <a:rPr sz="1875" dirty="0" err="1">
                <a:solidFill>
                  <a:srgbClr val="111111"/>
                </a:solidFill>
                <a:latin typeface="Roboto"/>
                <a:ea typeface="Roboto"/>
                <a:cs typeface="Roboto"/>
              </a:rPr>
              <a:t>ω</a:t>
            </a:r>
            <a:r>
              <a:rPr sz="1875" dirty="0">
                <a:solidFill>
                  <a:srgbClr val="111111"/>
                </a:solidFill>
                <a:latin typeface="Roboto"/>
                <a:ea typeface="Roboto"/>
                <a:cs typeface="Roboto"/>
              </a:rPr>
              <a:t>ᵢ</a:t>
            </a:r>
          </a:p>
          <a:p>
            <a:pPr>
              <a:lnSpc>
                <a:spcPct val="120000"/>
              </a:lnSpc>
              <a:buNone/>
              <a:defRPr sz="1875">
                <a:solidFill>
                  <a:srgbClr val="111111"/>
                </a:solidFill>
                <a:latin typeface="Roboto"/>
                <a:ea typeface="Roboto"/>
                <a:cs typeface="Roboto"/>
              </a:defRPr>
            </a:pPr>
            <a:r>
              <a:rPr sz="1875" b="1" dirty="0">
                <a:solidFill>
                  <a:srgbClr val="111111"/>
                </a:solidFill>
                <a:latin typeface="Roboto"/>
                <a:ea typeface="Roboto"/>
                <a:cs typeface="Roboto"/>
              </a:rPr>
              <a:t>Momentum</a:t>
            </a:r>
            <a:br>
              <a:rPr dirty="0"/>
            </a:br>
            <a:r>
              <a:rPr sz="1875" dirty="0" err="1">
                <a:solidFill>
                  <a:srgbClr val="111111"/>
                </a:solidFill>
                <a:latin typeface="Roboto"/>
                <a:ea typeface="Roboto"/>
                <a:cs typeface="Roboto"/>
              </a:rPr>
              <a:t>Δ</a:t>
            </a:r>
            <a:r>
              <a:rPr sz="1875" dirty="0">
                <a:solidFill>
                  <a:srgbClr val="111111"/>
                </a:solidFill>
                <a:latin typeface="Roboto"/>
                <a:ea typeface="Roboto"/>
                <a:cs typeface="Roboto"/>
              </a:rPr>
              <a:t>β = kₚ − kₛ − kᵢ ≈ 0</a:t>
            </a:r>
          </a:p>
          <a:p>
            <a:pPr>
              <a:lnSpc>
                <a:spcPct val="120000"/>
              </a:lnSpc>
              <a:buNone/>
              <a:defRPr sz="1875">
                <a:solidFill>
                  <a:srgbClr val="111111"/>
                </a:solidFill>
                <a:latin typeface="Roboto"/>
                <a:ea typeface="Roboto"/>
                <a:cs typeface="Roboto"/>
              </a:defRPr>
            </a:pPr>
            <a:endParaRPr sz="1875" dirty="0">
              <a:solidFill>
                <a:srgbClr val="111111"/>
              </a:solidFill>
              <a:latin typeface="Roboto"/>
              <a:ea typeface="Roboto"/>
              <a:cs typeface="Roboto"/>
            </a:endParaRPr>
          </a:p>
          <a:p>
            <a:pPr>
              <a:lnSpc>
                <a:spcPct val="120000"/>
              </a:lnSpc>
              <a:buNone/>
              <a:defRPr sz="1875">
                <a:solidFill>
                  <a:srgbClr val="111111"/>
                </a:solidFill>
                <a:latin typeface="Roboto"/>
                <a:ea typeface="Roboto"/>
                <a:cs typeface="Roboto"/>
              </a:defRPr>
            </a:pPr>
            <a:r>
              <a:rPr sz="1875" b="1" dirty="0">
                <a:solidFill>
                  <a:srgbClr val="111111"/>
                </a:solidFill>
                <a:latin typeface="Roboto"/>
                <a:ea typeface="Roboto"/>
                <a:cs typeface="Roboto"/>
              </a:rPr>
              <a:t>Why nonlinearity matters</a:t>
            </a:r>
            <a:r>
              <a:rPr lang="en-US" sz="1875" b="1" dirty="0">
                <a:solidFill>
                  <a:srgbClr val="111111"/>
                </a:solidFill>
                <a:latin typeface="Roboto"/>
                <a:ea typeface="Roboto"/>
                <a:cs typeface="Roboto"/>
              </a:rPr>
              <a:t>?</a:t>
            </a:r>
          </a:p>
          <a:p>
            <a:pPr>
              <a:lnSpc>
                <a:spcPct val="120000"/>
              </a:lnSpc>
              <a:defRPr sz="1875">
                <a:solidFill>
                  <a:srgbClr val="111111"/>
                </a:solidFill>
                <a:latin typeface="Roboto"/>
                <a:ea typeface="Roboto"/>
                <a:cs typeface="Roboto"/>
              </a:defRPr>
            </a:pPr>
            <a:r>
              <a:rPr sz="1875" dirty="0">
                <a:solidFill>
                  <a:srgbClr val="111111"/>
                </a:solidFill>
                <a:latin typeface="Roboto"/>
                <a:ea typeface="Roboto"/>
                <a:cs typeface="Roboto"/>
              </a:rPr>
              <a:t>A linear element keeps the waves separate. </a:t>
            </a:r>
            <a:endParaRPr lang="en-US" sz="1875" dirty="0">
              <a:solidFill>
                <a:srgbClr val="111111"/>
              </a:solidFill>
              <a:latin typeface="Roboto"/>
              <a:ea typeface="Roboto"/>
              <a:cs typeface="Roboto"/>
            </a:endParaRPr>
          </a:p>
          <a:p>
            <a:pPr>
              <a:lnSpc>
                <a:spcPct val="120000"/>
              </a:lnSpc>
              <a:defRPr sz="1875">
                <a:solidFill>
                  <a:srgbClr val="111111"/>
                </a:solidFill>
                <a:latin typeface="Roboto"/>
                <a:ea typeface="Roboto"/>
                <a:cs typeface="Roboto"/>
              </a:defRPr>
            </a:pPr>
            <a:r>
              <a:rPr sz="1875" dirty="0">
                <a:solidFill>
                  <a:srgbClr val="111111"/>
                </a:solidFill>
                <a:latin typeface="Roboto"/>
                <a:ea typeface="Roboto"/>
                <a:cs typeface="Roboto"/>
              </a:rPr>
              <a:t>The nonlinear inductance couples them, so pump energy can flow into the signal and idler. </a:t>
            </a:r>
            <a:endParaRPr lang="en-US" sz="1875" dirty="0">
              <a:solidFill>
                <a:srgbClr val="111111"/>
              </a:solidFill>
              <a:latin typeface="Roboto"/>
              <a:ea typeface="Roboto"/>
              <a:cs typeface="Roboto"/>
            </a:endParaRPr>
          </a:p>
          <a:p>
            <a:pPr>
              <a:lnSpc>
                <a:spcPct val="120000"/>
              </a:lnSpc>
              <a:defRPr sz="1875">
                <a:solidFill>
                  <a:srgbClr val="111111"/>
                </a:solidFill>
                <a:latin typeface="Roboto"/>
                <a:ea typeface="Roboto"/>
                <a:cs typeface="Roboto"/>
              </a:defRPr>
            </a:pPr>
            <a:r>
              <a:rPr sz="1875" dirty="0">
                <a:solidFill>
                  <a:srgbClr val="111111"/>
                </a:solidFill>
                <a:latin typeface="Roboto"/>
                <a:ea typeface="Roboto"/>
                <a:cs typeface="Roboto"/>
              </a:rPr>
              <a:t>Phase matching keeps the transfer adding along the line.</a:t>
            </a:r>
          </a:p>
        </p:txBody>
      </p:sp>
      <p:sp>
        <p:nvSpPr>
          <p:cNvPr id="3" name="Title 2">
            <a:extLst>
              <a:ext uri="{FF2B5EF4-FFF2-40B4-BE49-F238E27FC236}">
                <a16:creationId xmlns:a16="http://schemas.microsoft.com/office/drawing/2014/main" id="{50C2EAF5-D4E5-42FF-B44D-E5502B41E5DE}"/>
              </a:ext>
            </a:extLst>
          </p:cNvPr>
          <p:cNvSpPr>
            <a:spLocks noGrp="1"/>
          </p:cNvSpPr>
          <p:nvPr>
            <p:ph type="title"/>
          </p:nvPr>
        </p:nvSpPr>
        <p:spPr>
          <a:xfrm>
            <a:off x="523875" y="885825"/>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Nonlinear coupling lets pump energy amplify the signal</a:t>
            </a:r>
          </a:p>
        </p:txBody>
      </p:sp>
      <p:pic>
        <p:nvPicPr>
          <p:cNvPr id="21" name="Picture 3"/>
          <p:cNvPicPr>
            <a:picLocks noChangeAspect="1"/>
          </p:cNvPicPr>
          <p:nvPr/>
        </p:nvPicPr>
        <p:blipFill>
          <a:blip r:embed="rId3"/>
          <a:stretch>
            <a:fillRect/>
          </a:stretch>
        </p:blipFill>
        <p:spPr>
          <a:xfrm>
            <a:off x="11572875" y="5962650"/>
            <a:ext cx="9525" cy="9525"/>
          </a:xfrm>
          <a:prstGeom prst="rect">
            <a:avLst/>
          </a:prstGeom>
        </p:spPr>
      </p:pic>
      <p:pic>
        <p:nvPicPr>
          <p:cNvPr id="22" name="Graphic 19"/>
          <p:cNvPicPr>
            <a:picLocks noChangeAspect="1"/>
          </p:cNvPicPr>
          <p:nvPr/>
        </p:nvPicPr>
        <p:blipFill>
          <a:blip r:embed="rId4">
            <a:extLst>
              <a:ext uri="{96DAC541-7B7A-43D3-8B79-37D633B846F1}">
                <asvg:svgBlip xmlns:asvg="http://schemas.microsoft.com/office/drawing/2016/SVG/main" r:embed="rId5"/>
              </a:ext>
            </a:extLst>
          </a:blip>
          <a:stretch/>
        </p:blipFill>
        <p:spPr>
          <a:xfrm>
            <a:off x="476250" y="266700"/>
            <a:ext cx="857250" cy="400050"/>
          </a:xfrm>
          <a:prstGeom prst="rect">
            <a:avLst/>
          </a:prstGeom>
        </p:spPr>
      </p:pic>
      <p:sp>
        <p:nvSpPr>
          <p:cNvPr id="6" name="s4-meta">
            <a:extLst>
              <a:ext uri="{FF2B5EF4-FFF2-40B4-BE49-F238E27FC236}">
                <a16:creationId xmlns:a16="http://schemas.microsoft.com/office/drawing/2014/main" id="{AFDD21BF-2EF6-48C7-ACAB-098DE6DA4461}"/>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7" name="s4-page">
            <a:extLst>
              <a:ext uri="{FF2B5EF4-FFF2-40B4-BE49-F238E27FC236}">
                <a16:creationId xmlns:a16="http://schemas.microsoft.com/office/drawing/2014/main" id="{1A2A7390-5EB0-42AE-A483-EB959C56DE18}"/>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5</a:t>
            </a:r>
          </a:p>
        </p:txBody>
      </p:sp>
      <p:sp>
        <p:nvSpPr>
          <p:cNvPr id="8" name="s04-pump-arrow">
            <a:extLst>
              <a:ext uri="{FF2B5EF4-FFF2-40B4-BE49-F238E27FC236}">
                <a16:creationId xmlns:a16="http://schemas.microsoft.com/office/drawing/2014/main" id="{5E9FAADF-00C9-449C-85D6-1A7D2F15140E}"/>
              </a:ext>
            </a:extLst>
          </p:cNvPr>
          <p:cNvSpPr>
            <a:spLocks noGrp="1"/>
          </p:cNvSpPr>
          <p:nvPr/>
        </p:nvSpPr>
        <p:spPr>
          <a:xfrm>
            <a:off x="5734050" y="3676650"/>
            <a:ext cx="1619250" cy="400050"/>
          </a:xfrm>
          <a:prstGeom prst="rightArrow">
            <a:avLst/>
          </a:prstGeom>
          <a:solidFill>
            <a:srgbClr val="FF0000"/>
          </a:solidFill>
          <a:ln w="0">
            <a:solidFill>
              <a:srgbClr val="FF0000"/>
            </a:solidFill>
            <a:prstDash val="solid"/>
          </a:ln>
        </p:spPr>
        <p:txBody>
          <a:bodyPr/>
          <a:lstStyle/>
          <a:p>
            <a:endParaRPr/>
          </a:p>
        </p:txBody>
      </p:sp>
      <p:sp>
        <p:nvSpPr>
          <p:cNvPr id="9" name="s04-pump">
            <a:extLst>
              <a:ext uri="{FF2B5EF4-FFF2-40B4-BE49-F238E27FC236}">
                <a16:creationId xmlns:a16="http://schemas.microsoft.com/office/drawing/2014/main" id="{DC89FEE5-9EC2-448A-A2F6-FFEE2DBFDBEA}"/>
              </a:ext>
            </a:extLst>
          </p:cNvPr>
          <p:cNvSpPr>
            <a:spLocks noGrp="1"/>
          </p:cNvSpPr>
          <p:nvPr/>
        </p:nvSpPr>
        <p:spPr>
          <a:xfrm>
            <a:off x="5686425" y="2952750"/>
            <a:ext cx="1714500" cy="666750"/>
          </a:xfrm>
          <a:prstGeom prst="rect">
            <a:avLst/>
          </a:prstGeom>
          <a:noFill/>
          <a:ln w="0">
            <a:noFill/>
            <a:prstDash val="solid"/>
          </a:ln>
        </p:spPr>
        <p:txBody>
          <a:bodyPr lIns="38100" tIns="38100" rIns="38100" bIns="38100" anchor="ctr">
            <a:normAutofit fontScale="99762" lnSpcReduction="10000"/>
          </a:bodyPr>
          <a:lstStyle/>
          <a:p>
            <a:pPr algn="ctr">
              <a:buNone/>
              <a:defRPr sz="2100" b="1">
                <a:solidFill>
                  <a:srgbClr val="FF0000"/>
                </a:solidFill>
                <a:latin typeface="Roboto"/>
                <a:ea typeface="Roboto"/>
                <a:cs typeface="Roboto"/>
              </a:defRPr>
            </a:pPr>
            <a:r>
              <a:rPr sz="2100" b="1">
                <a:solidFill>
                  <a:srgbClr val="FF0000"/>
                </a:solidFill>
                <a:latin typeface="Roboto"/>
                <a:ea typeface="Roboto"/>
                <a:cs typeface="Roboto"/>
              </a:rPr>
              <a:t>PUMP</a:t>
            </a:r>
          </a:p>
          <a:p>
            <a:pPr algn="ctr">
              <a:buNone/>
              <a:defRPr sz="2100" b="1">
                <a:solidFill>
                  <a:srgbClr val="FF0000"/>
                </a:solidFill>
                <a:latin typeface="Roboto"/>
                <a:ea typeface="Roboto"/>
                <a:cs typeface="Roboto"/>
              </a:defRPr>
            </a:pPr>
            <a:r>
              <a:rPr sz="2100" b="1">
                <a:solidFill>
                  <a:srgbClr val="FF0000"/>
                </a:solidFill>
                <a:latin typeface="Roboto"/>
                <a:ea typeface="Roboto"/>
                <a:cs typeface="Roboto"/>
              </a:rPr>
              <a:t>ωₚ</a:t>
            </a:r>
          </a:p>
        </p:txBody>
      </p:sp>
      <p:sp>
        <p:nvSpPr>
          <p:cNvPr id="10" name="s04-mixer">
            <a:extLst>
              <a:ext uri="{FF2B5EF4-FFF2-40B4-BE49-F238E27FC236}">
                <a16:creationId xmlns:a16="http://schemas.microsoft.com/office/drawing/2014/main" id="{16BFA566-D74B-464D-B004-D7F4CC9A18A1}"/>
              </a:ext>
            </a:extLst>
          </p:cNvPr>
          <p:cNvSpPr>
            <a:spLocks noGrp="1"/>
          </p:cNvSpPr>
          <p:nvPr/>
        </p:nvSpPr>
        <p:spPr>
          <a:xfrm>
            <a:off x="7496175" y="3248025"/>
            <a:ext cx="1524000" cy="1333500"/>
          </a:xfrm>
          <a:prstGeom prst="roundRect">
            <a:avLst>
              <a:gd name="adj" fmla="val 7143"/>
            </a:avLst>
          </a:prstGeom>
          <a:noFill/>
          <a:ln w="9525">
            <a:solidFill>
              <a:srgbClr val="111111"/>
            </a:solidFill>
            <a:prstDash val="solid"/>
          </a:ln>
        </p:spPr>
        <p:txBody>
          <a:bodyPr/>
          <a:lstStyle/>
          <a:p>
            <a:endParaRPr/>
          </a:p>
        </p:txBody>
      </p:sp>
      <p:sp>
        <p:nvSpPr>
          <p:cNvPr id="11" name="s04-mixer-text">
            <a:extLst>
              <a:ext uri="{FF2B5EF4-FFF2-40B4-BE49-F238E27FC236}">
                <a16:creationId xmlns:a16="http://schemas.microsoft.com/office/drawing/2014/main" id="{284EA4CA-104F-4844-91AA-8C02B0A9D63F}"/>
              </a:ext>
            </a:extLst>
          </p:cNvPr>
          <p:cNvSpPr>
            <a:spLocks noGrp="1"/>
          </p:cNvSpPr>
          <p:nvPr/>
        </p:nvSpPr>
        <p:spPr>
          <a:xfrm>
            <a:off x="7629525" y="3409950"/>
            <a:ext cx="1257300" cy="1000125"/>
          </a:xfrm>
          <a:prstGeom prst="rect">
            <a:avLst/>
          </a:prstGeom>
          <a:noFill/>
          <a:ln w="0">
            <a:noFill/>
            <a:prstDash val="solid"/>
          </a:ln>
        </p:spPr>
        <p:txBody>
          <a:bodyPr lIns="38100" tIns="38100" rIns="38100" bIns="38100" anchor="ctr">
            <a:normAutofit/>
          </a:bodyPr>
          <a:lstStyle/>
          <a:p>
            <a:pPr algn="ctr">
              <a:buNone/>
              <a:defRPr sz="1350" b="1">
                <a:solidFill>
                  <a:srgbClr val="111111"/>
                </a:solidFill>
                <a:latin typeface="Roboto"/>
                <a:ea typeface="Roboto"/>
                <a:cs typeface="Roboto"/>
              </a:defRPr>
            </a:pPr>
            <a:r>
              <a:rPr sz="1350" b="1">
                <a:solidFill>
                  <a:srgbClr val="111111"/>
                </a:solidFill>
                <a:latin typeface="Roboto"/>
                <a:ea typeface="Roboto"/>
                <a:cs typeface="Roboto"/>
              </a:rPr>
              <a:t>NONLINEAR</a:t>
            </a:r>
          </a:p>
          <a:p>
            <a:pPr algn="ctr">
              <a:buNone/>
              <a:defRPr sz="1350" b="1">
                <a:solidFill>
                  <a:srgbClr val="111111"/>
                </a:solidFill>
                <a:latin typeface="Roboto"/>
                <a:ea typeface="Roboto"/>
                <a:cs typeface="Roboto"/>
              </a:defRPr>
            </a:pPr>
            <a:r>
              <a:rPr sz="1350" b="1">
                <a:solidFill>
                  <a:srgbClr val="111111"/>
                </a:solidFill>
                <a:latin typeface="Roboto"/>
                <a:ea typeface="Roboto"/>
                <a:cs typeface="Roboto"/>
              </a:rPr>
              <a:t>KINETIC</a:t>
            </a:r>
          </a:p>
          <a:p>
            <a:pPr algn="ctr">
              <a:buNone/>
              <a:defRPr sz="1350" b="1">
                <a:solidFill>
                  <a:srgbClr val="111111"/>
                </a:solidFill>
                <a:latin typeface="Roboto"/>
                <a:ea typeface="Roboto"/>
                <a:cs typeface="Roboto"/>
              </a:defRPr>
            </a:pPr>
            <a:r>
              <a:rPr sz="1350" b="1">
                <a:solidFill>
                  <a:srgbClr val="111111"/>
                </a:solidFill>
                <a:latin typeface="Roboto"/>
                <a:ea typeface="Roboto"/>
                <a:cs typeface="Roboto"/>
              </a:rPr>
              <a:t>INDUCTANCE</a:t>
            </a:r>
          </a:p>
        </p:txBody>
      </p:sp>
      <p:sp>
        <p:nvSpPr>
          <p:cNvPr id="12" name="s04-signal-arrow">
            <a:extLst>
              <a:ext uri="{FF2B5EF4-FFF2-40B4-BE49-F238E27FC236}">
                <a16:creationId xmlns:a16="http://schemas.microsoft.com/office/drawing/2014/main" id="{F2BD4190-DCD6-4EF9-894B-3BA3A35B2D37}"/>
              </a:ext>
            </a:extLst>
          </p:cNvPr>
          <p:cNvSpPr>
            <a:spLocks noGrp="1"/>
          </p:cNvSpPr>
          <p:nvPr/>
        </p:nvSpPr>
        <p:spPr>
          <a:xfrm>
            <a:off x="9134475" y="3343275"/>
            <a:ext cx="1381125" cy="342900"/>
          </a:xfrm>
          <a:prstGeom prst="rightArrow">
            <a:avLst/>
          </a:prstGeom>
          <a:solidFill>
            <a:srgbClr val="2374AB"/>
          </a:solidFill>
          <a:ln w="0">
            <a:solidFill>
              <a:srgbClr val="2374AB"/>
            </a:solidFill>
            <a:prstDash val="solid"/>
          </a:ln>
        </p:spPr>
        <p:txBody>
          <a:bodyPr/>
          <a:lstStyle/>
          <a:p>
            <a:endParaRPr/>
          </a:p>
        </p:txBody>
      </p:sp>
      <p:sp>
        <p:nvSpPr>
          <p:cNvPr id="13" name="s04-idler-arrow">
            <a:extLst>
              <a:ext uri="{FF2B5EF4-FFF2-40B4-BE49-F238E27FC236}">
                <a16:creationId xmlns:a16="http://schemas.microsoft.com/office/drawing/2014/main" id="{2EB8D624-D130-47F9-8197-DF2B6D04E46C}"/>
              </a:ext>
            </a:extLst>
          </p:cNvPr>
          <p:cNvSpPr>
            <a:spLocks noGrp="1"/>
          </p:cNvSpPr>
          <p:nvPr/>
        </p:nvSpPr>
        <p:spPr>
          <a:xfrm>
            <a:off x="9134475" y="4133850"/>
            <a:ext cx="1381125" cy="342900"/>
          </a:xfrm>
          <a:prstGeom prst="rightArrow">
            <a:avLst/>
          </a:prstGeom>
          <a:solidFill>
            <a:srgbClr val="13A8A8"/>
          </a:solidFill>
          <a:ln w="0">
            <a:solidFill>
              <a:srgbClr val="13A8A8"/>
            </a:solidFill>
            <a:prstDash val="solid"/>
          </a:ln>
        </p:spPr>
        <p:txBody>
          <a:bodyPr/>
          <a:lstStyle/>
          <a:p>
            <a:endParaRPr/>
          </a:p>
        </p:txBody>
      </p:sp>
      <p:sp>
        <p:nvSpPr>
          <p:cNvPr id="14" name="s04-signal">
            <a:extLst>
              <a:ext uri="{FF2B5EF4-FFF2-40B4-BE49-F238E27FC236}">
                <a16:creationId xmlns:a16="http://schemas.microsoft.com/office/drawing/2014/main" id="{E7709526-33CB-44D1-A8C3-85E69804E34F}"/>
              </a:ext>
            </a:extLst>
          </p:cNvPr>
          <p:cNvSpPr>
            <a:spLocks noGrp="1"/>
          </p:cNvSpPr>
          <p:nvPr/>
        </p:nvSpPr>
        <p:spPr>
          <a:xfrm>
            <a:off x="10277475" y="3048000"/>
            <a:ext cx="1333500" cy="514350"/>
          </a:xfrm>
          <a:prstGeom prst="rect">
            <a:avLst/>
          </a:prstGeom>
          <a:noFill/>
          <a:ln w="0">
            <a:noFill/>
            <a:prstDash val="solid"/>
          </a:ln>
        </p:spPr>
        <p:txBody>
          <a:bodyPr lIns="38100" tIns="38100" rIns="38100" bIns="38100" anchor="t">
            <a:normAutofit/>
          </a:bodyPr>
          <a:lstStyle/>
          <a:p>
            <a:pPr algn="ctr">
              <a:buNone/>
              <a:defRPr sz="1575" b="1">
                <a:solidFill>
                  <a:srgbClr val="2374AB"/>
                </a:solidFill>
                <a:latin typeface="Roboto"/>
                <a:ea typeface="Roboto"/>
                <a:cs typeface="Roboto"/>
              </a:defRPr>
            </a:pPr>
            <a:r>
              <a:rPr sz="1575" b="1">
                <a:solidFill>
                  <a:srgbClr val="2374AB"/>
                </a:solidFill>
                <a:latin typeface="Roboto"/>
                <a:ea typeface="Roboto"/>
                <a:cs typeface="Roboto"/>
              </a:rPr>
              <a:t>SIGNAL  ωₛ</a:t>
            </a:r>
          </a:p>
        </p:txBody>
      </p:sp>
      <p:sp>
        <p:nvSpPr>
          <p:cNvPr id="15" name="s04-idler">
            <a:extLst>
              <a:ext uri="{FF2B5EF4-FFF2-40B4-BE49-F238E27FC236}">
                <a16:creationId xmlns:a16="http://schemas.microsoft.com/office/drawing/2014/main" id="{B9F153FF-7304-4427-B7BC-864983BCCBE2}"/>
              </a:ext>
            </a:extLst>
          </p:cNvPr>
          <p:cNvSpPr>
            <a:spLocks noGrp="1"/>
          </p:cNvSpPr>
          <p:nvPr/>
        </p:nvSpPr>
        <p:spPr>
          <a:xfrm>
            <a:off x="10277475" y="4229100"/>
            <a:ext cx="1333500" cy="514350"/>
          </a:xfrm>
          <a:prstGeom prst="rect">
            <a:avLst/>
          </a:prstGeom>
          <a:noFill/>
          <a:ln w="0">
            <a:noFill/>
            <a:prstDash val="solid"/>
          </a:ln>
        </p:spPr>
        <p:txBody>
          <a:bodyPr lIns="38100" tIns="38100" rIns="38100" bIns="38100" anchor="t">
            <a:normAutofit/>
          </a:bodyPr>
          <a:lstStyle/>
          <a:p>
            <a:pPr algn="ctr">
              <a:buNone/>
              <a:defRPr sz="1575" b="1">
                <a:solidFill>
                  <a:srgbClr val="13A8A8"/>
                </a:solidFill>
                <a:latin typeface="Roboto"/>
                <a:ea typeface="Roboto"/>
                <a:cs typeface="Roboto"/>
              </a:defRPr>
            </a:pPr>
            <a:r>
              <a:rPr sz="1575" b="1">
                <a:solidFill>
                  <a:srgbClr val="13A8A8"/>
                </a:solidFill>
                <a:latin typeface="Roboto"/>
                <a:ea typeface="Roboto"/>
                <a:cs typeface="Roboto"/>
              </a:rPr>
              <a:t>IDLER  ωᵢ</a:t>
            </a:r>
          </a:p>
        </p:txBody>
      </p:sp>
      <p:sp>
        <p:nvSpPr>
          <p:cNvPr id="16" name="s04-balance">
            <a:extLst>
              <a:ext uri="{FF2B5EF4-FFF2-40B4-BE49-F238E27FC236}">
                <a16:creationId xmlns:a16="http://schemas.microsoft.com/office/drawing/2014/main" id="{AF4175EB-0FD1-4117-AF7E-9F84445467E5}"/>
              </a:ext>
            </a:extLst>
          </p:cNvPr>
          <p:cNvSpPr>
            <a:spLocks noGrp="1"/>
          </p:cNvSpPr>
          <p:nvPr/>
        </p:nvSpPr>
        <p:spPr>
          <a:xfrm>
            <a:off x="7210425" y="5010150"/>
            <a:ext cx="3714750" cy="495300"/>
          </a:xfrm>
          <a:prstGeom prst="rect">
            <a:avLst/>
          </a:prstGeom>
          <a:noFill/>
          <a:ln w="0">
            <a:noFill/>
            <a:prstDash val="solid"/>
          </a:ln>
        </p:spPr>
        <p:txBody>
          <a:bodyPr lIns="38100" tIns="38100" rIns="38100" bIns="38100" anchor="t">
            <a:normAutofit/>
          </a:bodyPr>
          <a:lstStyle/>
          <a:p>
            <a:pPr algn="ctr">
              <a:buNone/>
              <a:defRPr sz="2325" b="1">
                <a:solidFill>
                  <a:srgbClr val="111111"/>
                </a:solidFill>
                <a:latin typeface="Roboto"/>
                <a:ea typeface="Roboto"/>
                <a:cs typeface="Roboto"/>
              </a:defRPr>
            </a:pPr>
            <a:r>
              <a:rPr sz="2325" b="1">
                <a:solidFill>
                  <a:srgbClr val="111111"/>
                </a:solidFill>
                <a:latin typeface="Roboto"/>
                <a:ea typeface="Roboto"/>
                <a:cs typeface="Roboto"/>
              </a:rPr>
              <a:t>ωᵢ = ωₚ − ωₛ</a:t>
            </a:r>
          </a:p>
        </p:txBody>
      </p:sp>
    </p:spTree>
    <p:extLst>
      <p:ext uri="{BB962C8B-B14F-4D97-AF65-F5344CB8AC3E}">
        <p14:creationId xmlns:p14="http://schemas.microsoft.com/office/powerpoint/2010/main" val="1194608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497503-5E56-4CB7-A572-1915F24505A7}"/>
              </a:ext>
            </a:extLst>
          </p:cNvPr>
          <p:cNvSpPr>
            <a:spLocks noGrp="1"/>
          </p:cNvSpPr>
          <p:nvPr>
            <p:ph idx="1"/>
          </p:nvPr>
        </p:nvSpPr>
        <p:spPr>
          <a:xfrm>
            <a:off x="552450" y="2433637"/>
            <a:ext cx="4572000" cy="2900363"/>
          </a:xfrm>
        </p:spPr>
        <p:txBody>
          <a:bodyPr wrap="square" lIns="38100" tIns="38100" rIns="38100" bIns="38100" anchor="ctr">
            <a:normAutofit/>
          </a:bodyPr>
          <a:lstStyle/>
          <a:p>
            <a:pPr>
              <a:lnSpc>
                <a:spcPct val="125000"/>
              </a:lnSpc>
              <a:buNone/>
              <a:defRPr sz="1650">
                <a:solidFill>
                  <a:srgbClr val="111111"/>
                </a:solidFill>
                <a:latin typeface="Roboto"/>
                <a:ea typeface="Roboto"/>
                <a:cs typeface="Roboto"/>
              </a:defRPr>
            </a:pPr>
            <a:r>
              <a:rPr sz="1650" b="1">
                <a:solidFill>
                  <a:srgbClr val="111111"/>
                </a:solidFill>
                <a:latin typeface="Roboto"/>
                <a:ea typeface="Roboto"/>
                <a:cs typeface="Roboto"/>
              </a:rPr>
              <a:t>SIGNAL AND PUMP</a:t>
            </a:r>
          </a:p>
          <a:p>
            <a:pPr>
              <a:lnSpc>
                <a:spcPct val="125000"/>
              </a:lnSpc>
              <a:buNone/>
              <a:defRPr sz="1650">
                <a:solidFill>
                  <a:srgbClr val="111111"/>
                </a:solidFill>
                <a:latin typeface="Roboto"/>
                <a:ea typeface="Roboto"/>
                <a:cs typeface="Roboto"/>
              </a:defRPr>
            </a:pPr>
            <a:r>
              <a:rPr sz="1650" b="1">
                <a:solidFill>
                  <a:srgbClr val="111111"/>
                </a:solidFill>
                <a:latin typeface="Roboto"/>
                <a:ea typeface="Roboto"/>
                <a:cs typeface="Roboto"/>
              </a:rPr>
              <a:t>s(t) = Aₛ cos(ωₛt)</a:t>
            </a:r>
          </a:p>
          <a:p>
            <a:pPr>
              <a:lnSpc>
                <a:spcPct val="125000"/>
              </a:lnSpc>
              <a:buNone/>
              <a:defRPr sz="1650">
                <a:solidFill>
                  <a:srgbClr val="111111"/>
                </a:solidFill>
                <a:latin typeface="Roboto"/>
                <a:ea typeface="Roboto"/>
                <a:cs typeface="Roboto"/>
              </a:defRPr>
            </a:pPr>
            <a:r>
              <a:rPr sz="1650">
                <a:solidFill>
                  <a:srgbClr val="111111"/>
                </a:solidFill>
                <a:latin typeface="Roboto"/>
                <a:ea typeface="Roboto"/>
                <a:cs typeface="Roboto"/>
              </a:rPr>
              <a:t>p(t) = Aₚ cos(ωₚt)</a:t>
            </a:r>
          </a:p>
          <a:p>
            <a:pPr>
              <a:lnSpc>
                <a:spcPct val="125000"/>
              </a:lnSpc>
              <a:buNone/>
              <a:defRPr sz="1650">
                <a:solidFill>
                  <a:srgbClr val="111111"/>
                </a:solidFill>
                <a:latin typeface="Roboto"/>
                <a:ea typeface="Roboto"/>
                <a:cs typeface="Roboto"/>
              </a:defRPr>
            </a:pPr>
            <a:endParaRPr sz="1650">
              <a:solidFill>
                <a:srgbClr val="111111"/>
              </a:solidFill>
              <a:latin typeface="Roboto"/>
              <a:ea typeface="Roboto"/>
              <a:cs typeface="Roboto"/>
            </a:endParaRPr>
          </a:p>
          <a:p>
            <a:pPr>
              <a:lnSpc>
                <a:spcPct val="125000"/>
              </a:lnSpc>
              <a:buNone/>
              <a:defRPr sz="1650">
                <a:solidFill>
                  <a:srgbClr val="111111"/>
                </a:solidFill>
                <a:latin typeface="Roboto"/>
                <a:ea typeface="Roboto"/>
                <a:cs typeface="Roboto"/>
              </a:defRPr>
            </a:pPr>
            <a:r>
              <a:rPr sz="1650">
                <a:solidFill>
                  <a:srgbClr val="111111"/>
                </a:solidFill>
                <a:latin typeface="Roboto"/>
                <a:ea typeface="Roboto"/>
                <a:cs typeface="Roboto"/>
              </a:rPr>
              <a:t>A linear element only scales these waves.</a:t>
            </a:r>
          </a:p>
          <a:p>
            <a:pPr>
              <a:lnSpc>
                <a:spcPct val="125000"/>
              </a:lnSpc>
              <a:buNone/>
              <a:defRPr sz="1650">
                <a:solidFill>
                  <a:srgbClr val="111111"/>
                </a:solidFill>
                <a:latin typeface="Roboto"/>
                <a:ea typeface="Roboto"/>
                <a:cs typeface="Roboto"/>
              </a:defRPr>
            </a:pPr>
            <a:r>
              <a:rPr sz="1650">
                <a:solidFill>
                  <a:srgbClr val="111111"/>
                </a:solidFill>
                <a:latin typeface="Roboto"/>
                <a:ea typeface="Roboto"/>
                <a:cs typeface="Roboto"/>
              </a:rPr>
              <a:t>It does not multiply them or create an idler.</a:t>
            </a:r>
          </a:p>
        </p:txBody>
      </p:sp>
      <p:sp>
        <p:nvSpPr>
          <p:cNvPr id="3" name="Title 2">
            <a:extLst>
              <a:ext uri="{FF2B5EF4-FFF2-40B4-BE49-F238E27FC236}">
                <a16:creationId xmlns:a16="http://schemas.microsoft.com/office/drawing/2014/main" id="{0612415A-DDEB-4803-AB7C-8986B9F18136}"/>
              </a:ext>
            </a:extLst>
          </p:cNvPr>
          <p:cNvSpPr>
            <a:spLocks noGrp="1"/>
          </p:cNvSpPr>
          <p:nvPr>
            <p:ph type="title"/>
          </p:nvPr>
        </p:nvSpPr>
        <p:spPr>
          <a:xfrm>
            <a:off x="523875" y="1004887"/>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Pump–signal multiplication creates the idler</a:t>
            </a:r>
          </a:p>
        </p:txBody>
      </p:sp>
      <p:sp>
        <p:nvSpPr>
          <p:cNvPr id="4" name="TextBox 3">
            <a:extLst>
              <a:ext uri="{FF2B5EF4-FFF2-40B4-BE49-F238E27FC236}">
                <a16:creationId xmlns:a16="http://schemas.microsoft.com/office/drawing/2014/main" id="{511B785C-F73F-4209-858A-0CD3D0667332}"/>
              </a:ext>
            </a:extLst>
          </p:cNvPr>
          <p:cNvSpPr>
            <a:spLocks noGrp="1"/>
          </p:cNvSpPr>
          <p:nvPr/>
        </p:nvSpPr>
        <p:spPr>
          <a:xfrm>
            <a:off x="6162675" y="2433637"/>
            <a:ext cx="5381625" cy="3090863"/>
          </a:xfrm>
          <a:prstGeom prst="rect">
            <a:avLst/>
          </a:prstGeom>
          <a:noFill/>
        </p:spPr>
        <p:txBody>
          <a:bodyPr wrap="square" lIns="38100" tIns="38100" rIns="38100" bIns="38100" anchor="ctr">
            <a:normAutofit/>
          </a:bodyPr>
          <a:lstStyle/>
          <a:p>
            <a:pPr>
              <a:lnSpc>
                <a:spcPct val="110000"/>
              </a:lnSpc>
              <a:buNone/>
              <a:defRPr sz="1575">
                <a:solidFill>
                  <a:srgbClr val="111111"/>
                </a:solidFill>
                <a:latin typeface="Roboto"/>
                <a:ea typeface="Roboto"/>
                <a:cs typeface="Roboto"/>
              </a:defRPr>
            </a:pPr>
            <a:r>
              <a:rPr b="1">
                <a:solidFill>
                  <a:srgbClr val="111111"/>
                </a:solidFill>
                <a:latin typeface="Roboto"/>
                <a:ea typeface="Roboto"/>
                <a:cs typeface="Roboto"/>
              </a:rPr>
              <a:t>NONLINEAR MIXING</a:t>
            </a:r>
          </a:p>
          <a:p>
            <a:pPr>
              <a:lnSpc>
                <a:spcPct val="110000"/>
              </a:lnSpc>
              <a:buNone/>
              <a:defRPr sz="1575">
                <a:solidFill>
                  <a:srgbClr val="111111"/>
                </a:solidFill>
                <a:latin typeface="Roboto"/>
                <a:ea typeface="Roboto"/>
                <a:cs typeface="Roboto"/>
              </a:defRPr>
            </a:pPr>
            <a:endParaRPr b="1">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b="1">
                <a:solidFill>
                  <a:srgbClr val="111111"/>
                </a:solidFill>
                <a:latin typeface="Roboto"/>
                <a:ea typeface="Roboto"/>
                <a:cs typeface="Roboto"/>
              </a:rPr>
              <a:t>The quadratic response contains the cross-term:</a:t>
            </a:r>
          </a:p>
          <a:p>
            <a:pPr>
              <a:lnSpc>
                <a:spcPct val="110000"/>
              </a:lnSpc>
              <a:buNone/>
              <a:defRPr sz="1575">
                <a:solidFill>
                  <a:srgbClr val="111111"/>
                </a:solidFill>
                <a:latin typeface="Roboto"/>
                <a:ea typeface="Roboto"/>
                <a:cs typeface="Roboto"/>
              </a:defRPr>
            </a:pPr>
            <a:endParaRPr b="1">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b="1">
                <a:solidFill>
                  <a:srgbClr val="111111"/>
                </a:solidFill>
                <a:latin typeface="Roboto"/>
                <a:ea typeface="Roboto"/>
                <a:cs typeface="Roboto"/>
              </a:rPr>
              <a:t>2s(t)p(t) = 2AₛAₚ cos(ωₛt)cos(ωₚt)</a:t>
            </a:r>
          </a:p>
          <a:p>
            <a:pPr>
              <a:lnSpc>
                <a:spcPct val="110000"/>
              </a:lnSpc>
              <a:buNone/>
              <a:defRPr sz="1575">
                <a:solidFill>
                  <a:srgbClr val="111111"/>
                </a:solidFill>
                <a:latin typeface="Roboto"/>
                <a:ea typeface="Roboto"/>
                <a:cs typeface="Roboto"/>
              </a:defRPr>
            </a:pPr>
            <a:endParaRPr>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a:solidFill>
                  <a:srgbClr val="111111"/>
                </a:solidFill>
                <a:latin typeface="Roboto"/>
                <a:ea typeface="Roboto"/>
                <a:cs typeface="Roboto"/>
              </a:rPr>
              <a:t>Use 2cos(a)cos(b) = cos(a−b) + cos(a+b)</a:t>
            </a:r>
          </a:p>
          <a:p>
            <a:pPr>
              <a:lnSpc>
                <a:spcPct val="110000"/>
              </a:lnSpc>
              <a:buNone/>
              <a:defRPr sz="1575">
                <a:solidFill>
                  <a:srgbClr val="111111"/>
                </a:solidFill>
                <a:latin typeface="Roboto"/>
                <a:ea typeface="Roboto"/>
                <a:cs typeface="Roboto"/>
              </a:defRPr>
            </a:pPr>
            <a:endParaRPr>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endParaRPr>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b="1">
                <a:solidFill>
                  <a:srgbClr val="111111"/>
                </a:solidFill>
                <a:latin typeface="Roboto"/>
                <a:ea typeface="Roboto"/>
                <a:cs typeface="Roboto"/>
              </a:rPr>
              <a:t>= AₛAₚ[cos((ωₚ−ωₛ)t) + cos((ωₚ+ωₛ)t)]</a:t>
            </a:r>
          </a:p>
        </p:txBody>
      </p:sp>
      <p:sp>
        <p:nvSpPr>
          <p:cNvPr id="5" name="s05-arrow">
            <a:extLst>
              <a:ext uri="{FF2B5EF4-FFF2-40B4-BE49-F238E27FC236}">
                <a16:creationId xmlns:a16="http://schemas.microsoft.com/office/drawing/2014/main" id="{DA7FC56C-80DF-4B08-972B-09C0BDE45DA4}"/>
              </a:ext>
            </a:extLst>
          </p:cNvPr>
          <p:cNvSpPr>
            <a:spLocks noGrp="1"/>
          </p:cNvSpPr>
          <p:nvPr/>
        </p:nvSpPr>
        <p:spPr>
          <a:xfrm>
            <a:off x="5286375" y="3943350"/>
            <a:ext cx="714375" cy="333375"/>
          </a:xfrm>
          <a:prstGeom prst="rightArrow">
            <a:avLst/>
          </a:prstGeom>
          <a:solidFill>
            <a:srgbClr val="FF0000"/>
          </a:solidFill>
          <a:ln w="0">
            <a:solidFill>
              <a:srgbClr val="FF0000"/>
            </a:solidFill>
            <a:prstDash val="solid"/>
          </a:ln>
        </p:spPr>
        <p:txBody>
          <a:bodyPr/>
          <a:lstStyle/>
          <a:p>
            <a:endParaRPr/>
          </a:p>
        </p:txBody>
      </p:sp>
      <p:sp>
        <p:nvSpPr>
          <p:cNvPr id="6" name="s05-bottom-rule">
            <a:extLst>
              <a:ext uri="{FF2B5EF4-FFF2-40B4-BE49-F238E27FC236}">
                <a16:creationId xmlns:a16="http://schemas.microsoft.com/office/drawing/2014/main" id="{1BA0C267-563C-4C53-974A-925354B2F5EB}"/>
              </a:ext>
            </a:extLst>
          </p:cNvPr>
          <p:cNvSpPr>
            <a:spLocks noGrp="1"/>
          </p:cNvSpPr>
          <p:nvPr/>
        </p:nvSpPr>
        <p:spPr>
          <a:xfrm>
            <a:off x="552450" y="5667375"/>
            <a:ext cx="11029950" cy="0"/>
          </a:xfrm>
          <a:prstGeom prst="line">
            <a:avLst/>
          </a:prstGeom>
          <a:noFill/>
          <a:ln w="28575">
            <a:solidFill>
              <a:srgbClr val="FF0000"/>
            </a:solidFill>
            <a:prstDash val="solid"/>
          </a:ln>
        </p:spPr>
        <p:txBody>
          <a:bodyPr/>
          <a:lstStyle/>
          <a:p>
            <a:endParaRPr/>
          </a:p>
        </p:txBody>
      </p:sp>
      <p:sp>
        <p:nvSpPr>
          <p:cNvPr id="7" name="s05-result">
            <a:extLst>
              <a:ext uri="{FF2B5EF4-FFF2-40B4-BE49-F238E27FC236}">
                <a16:creationId xmlns:a16="http://schemas.microsoft.com/office/drawing/2014/main" id="{D24720D5-A3C0-45BC-BC42-C95F2D4A59D3}"/>
              </a:ext>
            </a:extLst>
          </p:cNvPr>
          <p:cNvSpPr>
            <a:spLocks noGrp="1"/>
          </p:cNvSpPr>
          <p:nvPr/>
        </p:nvSpPr>
        <p:spPr>
          <a:xfrm>
            <a:off x="857250" y="5810250"/>
            <a:ext cx="10429875" cy="428625"/>
          </a:xfrm>
          <a:prstGeom prst="rect">
            <a:avLst/>
          </a:prstGeom>
          <a:noFill/>
          <a:ln w="0">
            <a:noFill/>
            <a:prstDash val="solid"/>
          </a:ln>
        </p:spPr>
        <p:txBody>
          <a:bodyPr lIns="38100" tIns="38100" rIns="38100" bIns="38100" anchor="ctr">
            <a:normAutofit/>
          </a:bodyPr>
          <a:lstStyle/>
          <a:p>
            <a:pPr algn="ctr">
              <a:buNone/>
              <a:defRPr sz="1875" b="1">
                <a:solidFill>
                  <a:srgbClr val="111111"/>
                </a:solidFill>
                <a:latin typeface="Roboto"/>
                <a:ea typeface="Roboto"/>
                <a:cs typeface="Roboto"/>
              </a:defRPr>
            </a:pPr>
            <a:r>
              <a:rPr sz="1875" b="1">
                <a:solidFill>
                  <a:srgbClr val="111111"/>
                </a:solidFill>
                <a:latin typeface="Roboto"/>
                <a:ea typeface="Roboto"/>
                <a:cs typeface="Roboto"/>
              </a:rPr>
              <a:t>Difference term:  cos((ωₚ−ωₛ)t)   →   ωᵢ = ωₚ − ωₛ   →   IDLER</a:t>
            </a:r>
          </a:p>
        </p:txBody>
      </p:sp>
      <p:sp>
        <p:nvSpPr>
          <p:cNvPr id="8" name="s4-meta">
            <a:extLst>
              <a:ext uri="{FF2B5EF4-FFF2-40B4-BE49-F238E27FC236}">
                <a16:creationId xmlns:a16="http://schemas.microsoft.com/office/drawing/2014/main" id="{8D983E78-6A20-2DDE-F16C-A0E8AFFB964E}"/>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9" name="s4-page">
            <a:extLst>
              <a:ext uri="{FF2B5EF4-FFF2-40B4-BE49-F238E27FC236}">
                <a16:creationId xmlns:a16="http://schemas.microsoft.com/office/drawing/2014/main" id="{D889596F-D517-A05E-FC9F-064CCB1C755C}"/>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6</a:t>
            </a:r>
          </a:p>
        </p:txBody>
      </p:sp>
    </p:spTree>
    <p:extLst>
      <p:ext uri="{BB962C8B-B14F-4D97-AF65-F5344CB8AC3E}">
        <p14:creationId xmlns:p14="http://schemas.microsoft.com/office/powerpoint/2010/main" val="979156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CA31A5-E09E-4E67-9C58-D7708F785CEA}"/>
              </a:ext>
            </a:extLst>
          </p:cNvPr>
          <p:cNvSpPr>
            <a:spLocks noGrp="1"/>
          </p:cNvSpPr>
          <p:nvPr>
            <p:ph idx="1"/>
          </p:nvPr>
        </p:nvSpPr>
        <p:spPr>
          <a:xfrm>
            <a:off x="552450" y="2905125"/>
            <a:ext cx="4762500" cy="3143250"/>
          </a:xfrm>
        </p:spPr>
        <p:txBody>
          <a:bodyPr wrap="square" lIns="38100" tIns="38100" rIns="38100" bIns="38100" anchor="t">
            <a:normAutofit/>
          </a:bodyPr>
          <a:lstStyle/>
          <a:p>
            <a:pPr>
              <a:lnSpc>
                <a:spcPct val="118000"/>
              </a:lnSpc>
              <a:buNone/>
              <a:defRPr sz="1650">
                <a:solidFill>
                  <a:srgbClr val="111111"/>
                </a:solidFill>
                <a:latin typeface="Roboto"/>
                <a:ea typeface="Roboto"/>
                <a:cs typeface="Roboto"/>
              </a:defRPr>
            </a:pPr>
            <a:r>
              <a:rPr sz="1650" b="1" dirty="0">
                <a:solidFill>
                  <a:srgbClr val="111111"/>
                </a:solidFill>
                <a:latin typeface="Roboto"/>
                <a:ea typeface="Roboto"/>
                <a:cs typeface="Roboto"/>
              </a:rPr>
              <a:t>CURRENT-DEPENDENT INDUCTANCE</a:t>
            </a:r>
          </a:p>
          <a:p>
            <a:pPr>
              <a:lnSpc>
                <a:spcPct val="118000"/>
              </a:lnSpc>
              <a:buNone/>
              <a:defRPr sz="1650">
                <a:solidFill>
                  <a:srgbClr val="111111"/>
                </a:solidFill>
                <a:latin typeface="Roboto"/>
                <a:ea typeface="Roboto"/>
                <a:cs typeface="Roboto"/>
              </a:defRPr>
            </a:pPr>
            <a:endParaRPr lang="en-US" sz="1650" b="1" dirty="0">
              <a:solidFill>
                <a:srgbClr val="111111"/>
              </a:solidFill>
              <a:latin typeface="Roboto"/>
              <a:ea typeface="Roboto"/>
              <a:cs typeface="Roboto"/>
            </a:endParaRPr>
          </a:p>
          <a:p>
            <a:pPr>
              <a:lnSpc>
                <a:spcPct val="118000"/>
              </a:lnSpc>
              <a:buNone/>
              <a:defRPr sz="1650">
                <a:solidFill>
                  <a:srgbClr val="111111"/>
                </a:solidFill>
                <a:latin typeface="Roboto"/>
                <a:ea typeface="Roboto"/>
                <a:cs typeface="Roboto"/>
              </a:defRPr>
            </a:pPr>
            <a:endParaRPr lang="en-JP" sz="1650" b="1" dirty="0">
              <a:solidFill>
                <a:srgbClr val="111111"/>
              </a:solidFill>
              <a:latin typeface="Roboto"/>
              <a:ea typeface="Roboto"/>
              <a:cs typeface="Roboto"/>
            </a:endParaRPr>
          </a:p>
          <a:p>
            <a:pPr>
              <a:lnSpc>
                <a:spcPct val="118000"/>
              </a:lnSpc>
              <a:buNone/>
              <a:defRPr sz="1650">
                <a:solidFill>
                  <a:srgbClr val="111111"/>
                </a:solidFill>
                <a:latin typeface="Roboto"/>
                <a:ea typeface="Roboto"/>
                <a:cs typeface="Roboto"/>
              </a:defRPr>
            </a:pPr>
            <a:endParaRPr sz="1650" b="1" dirty="0">
              <a:solidFill>
                <a:srgbClr val="111111"/>
              </a:solidFill>
              <a:latin typeface="Roboto"/>
              <a:ea typeface="Roboto"/>
              <a:cs typeface="Roboto"/>
            </a:endParaRPr>
          </a:p>
          <a:p>
            <a:pPr>
              <a:lnSpc>
                <a:spcPct val="118000"/>
              </a:lnSpc>
              <a:buNone/>
              <a:defRPr sz="1650">
                <a:solidFill>
                  <a:srgbClr val="111111"/>
                </a:solidFill>
                <a:latin typeface="Roboto"/>
                <a:ea typeface="Roboto"/>
                <a:cs typeface="Roboto"/>
              </a:defRPr>
            </a:pPr>
            <a:r>
              <a:rPr sz="1650" b="1" dirty="0">
                <a:solidFill>
                  <a:srgbClr val="111111"/>
                </a:solidFill>
                <a:latin typeface="Roboto"/>
                <a:ea typeface="Roboto"/>
                <a:cs typeface="Roboto"/>
              </a:rPr>
              <a:t>L₀</a:t>
            </a:r>
            <a:r>
              <a:rPr sz="1650" dirty="0">
                <a:solidFill>
                  <a:srgbClr val="111111"/>
                </a:solidFill>
                <a:latin typeface="Roboto"/>
                <a:ea typeface="Roboto"/>
                <a:cs typeface="Roboto"/>
              </a:rPr>
              <a:t>  zero-bias kinetic inductance per unit length</a:t>
            </a:r>
          </a:p>
          <a:p>
            <a:pPr>
              <a:lnSpc>
                <a:spcPct val="118000"/>
              </a:lnSpc>
              <a:buNone/>
              <a:defRPr sz="1650">
                <a:solidFill>
                  <a:srgbClr val="111111"/>
                </a:solidFill>
                <a:latin typeface="Roboto"/>
                <a:ea typeface="Roboto"/>
                <a:cs typeface="Roboto"/>
              </a:defRPr>
            </a:pPr>
            <a:r>
              <a:rPr sz="1650" b="1" dirty="0">
                <a:solidFill>
                  <a:srgbClr val="111111"/>
                </a:solidFill>
                <a:latin typeface="Roboto"/>
                <a:ea typeface="Roboto"/>
                <a:cs typeface="Roboto"/>
              </a:rPr>
              <a:t>I* </a:t>
            </a:r>
            <a:r>
              <a:rPr sz="1650" dirty="0">
                <a:solidFill>
                  <a:srgbClr val="111111"/>
                </a:solidFill>
                <a:latin typeface="Roboto"/>
                <a:ea typeface="Roboto"/>
                <a:cs typeface="Roboto"/>
              </a:rPr>
              <a:t>  nonlinear scaling currents</a:t>
            </a:r>
          </a:p>
          <a:p>
            <a:pPr>
              <a:lnSpc>
                <a:spcPct val="118000"/>
              </a:lnSpc>
              <a:buNone/>
              <a:defRPr sz="1650">
                <a:solidFill>
                  <a:srgbClr val="111111"/>
                </a:solidFill>
                <a:latin typeface="Roboto"/>
                <a:ea typeface="Roboto"/>
                <a:cs typeface="Roboto"/>
              </a:defRPr>
            </a:pPr>
            <a:r>
              <a:rPr sz="1650" dirty="0">
                <a:solidFill>
                  <a:srgbClr val="111111"/>
                </a:solidFill>
                <a:latin typeface="Roboto"/>
                <a:ea typeface="Roboto"/>
                <a:cs typeface="Roboto"/>
              </a:rPr>
              <a:t>Lowest order: Lₖ rises as I², an even nonlinearity.</a:t>
            </a:r>
          </a:p>
        </p:txBody>
      </p:sp>
      <p:sp>
        <p:nvSpPr>
          <p:cNvPr id="3" name="Title 2">
            <a:extLst>
              <a:ext uri="{FF2B5EF4-FFF2-40B4-BE49-F238E27FC236}">
                <a16:creationId xmlns:a16="http://schemas.microsoft.com/office/drawing/2014/main" id="{E5942FB8-E3C9-442D-A8B7-E2764794C303}"/>
              </a:ext>
            </a:extLst>
          </p:cNvPr>
          <p:cNvSpPr>
            <a:spLocks noGrp="1"/>
          </p:cNvSpPr>
          <p:nvPr>
            <p:ph type="title"/>
          </p:nvPr>
        </p:nvSpPr>
        <p:spPr>
          <a:xfrm>
            <a:off x="523875" y="904875"/>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A DC bias activates three-wave mixing in the kinetic inductance</a:t>
            </a:r>
          </a:p>
        </p:txBody>
      </p:sp>
      <p:pic>
        <p:nvPicPr>
          <p:cNvPr id="17" name="Picture 3"/>
          <p:cNvPicPr>
            <a:picLocks noChangeAspect="1"/>
          </p:cNvPicPr>
          <p:nvPr/>
        </p:nvPicPr>
        <p:blipFill>
          <a:blip r:embed="rId3"/>
          <a:stretch>
            <a:fillRect/>
          </a:stretch>
        </p:blipFill>
        <p:spPr>
          <a:xfrm>
            <a:off x="11601450" y="6286500"/>
            <a:ext cx="9525" cy="9525"/>
          </a:xfrm>
          <a:prstGeom prst="rect">
            <a:avLst/>
          </a:prstGeom>
        </p:spPr>
      </p:pic>
      <p:pic>
        <p:nvPicPr>
          <p:cNvPr id="18" name="Graphic 15"/>
          <p:cNvPicPr>
            <a:picLocks noChangeAspect="1"/>
          </p:cNvPicPr>
          <p:nvPr/>
        </p:nvPicPr>
        <p:blipFill>
          <a:blip r:embed="rId4">
            <a:extLst>
              <a:ext uri="{96DAC541-7B7A-43D3-8B79-37D633B846F1}">
                <asvg:svgBlip xmlns:asvg="http://schemas.microsoft.com/office/drawing/2016/SVG/main" r:embed="rId5"/>
              </a:ext>
            </a:extLst>
          </a:blip>
          <a:stretch/>
        </p:blipFill>
        <p:spPr>
          <a:xfrm>
            <a:off x="476250" y="266700"/>
            <a:ext cx="857250" cy="400050"/>
          </a:xfrm>
          <a:prstGeom prst="rect">
            <a:avLst/>
          </a:prstGeom>
        </p:spPr>
      </p:pic>
      <p:sp>
        <p:nvSpPr>
          <p:cNvPr id="6" name="s6-meta">
            <a:extLst>
              <a:ext uri="{FF2B5EF4-FFF2-40B4-BE49-F238E27FC236}">
                <a16:creationId xmlns:a16="http://schemas.microsoft.com/office/drawing/2014/main" id="{04CE47B5-7680-4B9E-BB3B-373EA31D99FC}"/>
              </a:ext>
            </a:extLst>
          </p:cNvPr>
          <p:cNvSpPr>
            <a:spLocks noGrp="1"/>
          </p:cNvSpPr>
          <p:nvPr/>
        </p:nvSpPr>
        <p:spPr>
          <a:xfrm>
            <a:off x="9858375" y="352425"/>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7" name="s6-page">
            <a:extLst>
              <a:ext uri="{FF2B5EF4-FFF2-40B4-BE49-F238E27FC236}">
                <a16:creationId xmlns:a16="http://schemas.microsoft.com/office/drawing/2014/main" id="{BDC803D7-1D12-43E8-B90A-79E787EDAFE5}"/>
              </a:ext>
            </a:extLst>
          </p:cNvPr>
          <p:cNvSpPr>
            <a:spLocks noGrp="1"/>
          </p:cNvSpPr>
          <p:nvPr/>
        </p:nvSpPr>
        <p:spPr>
          <a:xfrm>
            <a:off x="11662606" y="0"/>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7</a:t>
            </a:r>
          </a:p>
        </p:txBody>
      </p:sp>
      <p:sp>
        <p:nvSpPr>
          <p:cNvPr id="8" name="s06-bias">
            <a:extLst>
              <a:ext uri="{FF2B5EF4-FFF2-40B4-BE49-F238E27FC236}">
                <a16:creationId xmlns:a16="http://schemas.microsoft.com/office/drawing/2014/main" id="{36E8511B-0A56-4DCC-9A08-7B8EFD0FE993}"/>
              </a:ext>
            </a:extLst>
          </p:cNvPr>
          <p:cNvSpPr>
            <a:spLocks noGrp="1"/>
          </p:cNvSpPr>
          <p:nvPr/>
        </p:nvSpPr>
        <p:spPr>
          <a:xfrm>
            <a:off x="5953125" y="2952750"/>
            <a:ext cx="5334000" cy="400050"/>
          </a:xfrm>
          <a:prstGeom prst="rect">
            <a:avLst/>
          </a:prstGeom>
          <a:noFill/>
          <a:ln w="0">
            <a:noFill/>
            <a:prstDash val="solid"/>
          </a:ln>
        </p:spPr>
        <p:txBody>
          <a:bodyPr lIns="38100" tIns="38100" rIns="38100" bIns="38100" anchor="t">
            <a:normAutofit/>
          </a:bodyPr>
          <a:lstStyle/>
          <a:p>
            <a:pPr algn="ctr">
              <a:buNone/>
              <a:defRPr sz="1725" b="1">
                <a:solidFill>
                  <a:srgbClr val="FF0000"/>
                </a:solidFill>
                <a:latin typeface="Roboto"/>
                <a:ea typeface="Roboto"/>
                <a:cs typeface="Roboto"/>
              </a:defRPr>
            </a:pPr>
            <a:r>
              <a:rPr sz="1725" b="1">
                <a:solidFill>
                  <a:srgbClr val="FF0000"/>
                </a:solidFill>
                <a:latin typeface="Roboto"/>
                <a:ea typeface="Roboto"/>
                <a:cs typeface="Roboto"/>
              </a:rPr>
              <a:t>Bias the line around a nonzero operating point</a:t>
            </a:r>
          </a:p>
        </p:txBody>
      </p:sp>
      <p:sp>
        <p:nvSpPr>
          <p:cNvPr id="9" name="s06-current">
            <a:extLst>
              <a:ext uri="{FF2B5EF4-FFF2-40B4-BE49-F238E27FC236}">
                <a16:creationId xmlns:a16="http://schemas.microsoft.com/office/drawing/2014/main" id="{3CEFBD7F-A9EF-4B96-82CD-9E9526F397E6}"/>
              </a:ext>
            </a:extLst>
          </p:cNvPr>
          <p:cNvSpPr>
            <a:spLocks noGrp="1"/>
          </p:cNvSpPr>
          <p:nvPr/>
        </p:nvSpPr>
        <p:spPr>
          <a:xfrm>
            <a:off x="6762750" y="3524250"/>
            <a:ext cx="3714750" cy="523875"/>
          </a:xfrm>
          <a:prstGeom prst="rect">
            <a:avLst/>
          </a:prstGeom>
          <a:noFill/>
          <a:ln w="0">
            <a:noFill/>
            <a:prstDash val="solid"/>
          </a:ln>
        </p:spPr>
        <p:txBody>
          <a:bodyPr lIns="38100" tIns="38100" rIns="38100" bIns="38100" anchor="t">
            <a:normAutofit/>
          </a:bodyPr>
          <a:lstStyle/>
          <a:p>
            <a:pPr algn="ctr">
              <a:buNone/>
              <a:defRPr sz="2550" b="1">
                <a:solidFill>
                  <a:srgbClr val="111111"/>
                </a:solidFill>
                <a:latin typeface="Roboto"/>
                <a:ea typeface="Roboto"/>
                <a:cs typeface="Roboto"/>
              </a:defRPr>
            </a:pPr>
            <a:r>
              <a:rPr sz="2550" b="1" dirty="0">
                <a:solidFill>
                  <a:srgbClr val="111111"/>
                </a:solidFill>
                <a:latin typeface="Roboto"/>
                <a:ea typeface="Roboto"/>
                <a:cs typeface="Roboto"/>
              </a:rPr>
              <a:t>I = I_DC + </a:t>
            </a:r>
            <a:r>
              <a:rPr lang="en-US" sz="2550" b="1" dirty="0">
                <a:solidFill>
                  <a:srgbClr val="111111"/>
                </a:solidFill>
                <a:latin typeface="Roboto"/>
                <a:ea typeface="Roboto"/>
                <a:cs typeface="Roboto"/>
              </a:rPr>
              <a:t>Ip</a:t>
            </a:r>
            <a:endParaRPr sz="2550" b="1" dirty="0">
              <a:solidFill>
                <a:srgbClr val="111111"/>
              </a:solidFill>
              <a:latin typeface="Roboto"/>
              <a:ea typeface="Roboto"/>
              <a:cs typeface="Roboto"/>
            </a:endParaRPr>
          </a:p>
        </p:txBody>
      </p:sp>
      <p:sp>
        <p:nvSpPr>
          <p:cNvPr id="10" name="s06-arrow">
            <a:extLst>
              <a:ext uri="{FF2B5EF4-FFF2-40B4-BE49-F238E27FC236}">
                <a16:creationId xmlns:a16="http://schemas.microsoft.com/office/drawing/2014/main" id="{EE4AFE70-ADBB-47FA-8C34-DF1040F7E13E}"/>
              </a:ext>
            </a:extLst>
          </p:cNvPr>
          <p:cNvSpPr>
            <a:spLocks noGrp="1"/>
          </p:cNvSpPr>
          <p:nvPr/>
        </p:nvSpPr>
        <p:spPr>
          <a:xfrm>
            <a:off x="7810500" y="4191000"/>
            <a:ext cx="1571625" cy="333375"/>
          </a:xfrm>
          <a:prstGeom prst="rightArrow">
            <a:avLst/>
          </a:prstGeom>
          <a:solidFill>
            <a:srgbClr val="FF0000"/>
          </a:solidFill>
          <a:ln w="0">
            <a:solidFill>
              <a:srgbClr val="FF0000"/>
            </a:solidFill>
            <a:prstDash val="solid"/>
          </a:ln>
        </p:spPr>
        <p:txBody>
          <a:bodyPr/>
          <a:lstStyle/>
          <a:p>
            <a:endParaRPr/>
          </a:p>
        </p:txBody>
      </p:sp>
      <p:sp>
        <p:nvSpPr>
          <p:cNvPr id="11" name="s06-expanded">
            <a:extLst>
              <a:ext uri="{FF2B5EF4-FFF2-40B4-BE49-F238E27FC236}">
                <a16:creationId xmlns:a16="http://schemas.microsoft.com/office/drawing/2014/main" id="{34F96AB6-BD0C-4F05-AC3D-8F92CF55FB1B}"/>
              </a:ext>
            </a:extLst>
          </p:cNvPr>
          <p:cNvSpPr>
            <a:spLocks noGrp="1"/>
          </p:cNvSpPr>
          <p:nvPr/>
        </p:nvSpPr>
        <p:spPr>
          <a:xfrm>
            <a:off x="6191250" y="4619625"/>
            <a:ext cx="4953000" cy="1190625"/>
          </a:xfrm>
          <a:prstGeom prst="rect">
            <a:avLst/>
          </a:prstGeom>
          <a:noFill/>
          <a:ln w="0">
            <a:noFill/>
            <a:prstDash val="solid"/>
          </a:ln>
        </p:spPr>
        <p:txBody>
          <a:bodyPr lIns="38100" tIns="38100" rIns="38100" bIns="38100" anchor="ctr">
            <a:normAutofit lnSpcReduction="10000"/>
          </a:bodyPr>
          <a:lstStyle/>
          <a:p>
            <a:pPr algn="ctr">
              <a:buNone/>
              <a:defRPr sz="1875" b="1">
                <a:solidFill>
                  <a:srgbClr val="111111"/>
                </a:solidFill>
                <a:latin typeface="Roboto"/>
                <a:ea typeface="Roboto"/>
                <a:cs typeface="Roboto"/>
              </a:defRPr>
            </a:pPr>
            <a:r>
              <a:rPr sz="1875" b="1" dirty="0">
                <a:solidFill>
                  <a:srgbClr val="111111"/>
                </a:solidFill>
                <a:latin typeface="Roboto"/>
                <a:ea typeface="Roboto"/>
                <a:cs typeface="Roboto"/>
              </a:rPr>
              <a:t>Lₖ(I) ≈ L₀[1 + Iₚ(</a:t>
            </a:r>
            <a:r>
              <a:rPr sz="1875" b="1" dirty="0" err="1">
                <a:solidFill>
                  <a:srgbClr val="111111"/>
                </a:solidFill>
                <a:latin typeface="Roboto"/>
                <a:ea typeface="Roboto"/>
                <a:cs typeface="Roboto"/>
              </a:rPr>
              <a:t>ε</a:t>
            </a:r>
            <a:r>
              <a:rPr sz="1875" b="1" dirty="0">
                <a:solidFill>
                  <a:srgbClr val="111111"/>
                </a:solidFill>
                <a:latin typeface="Roboto"/>
                <a:ea typeface="Roboto"/>
                <a:cs typeface="Roboto"/>
              </a:rPr>
              <a:t> + </a:t>
            </a:r>
            <a:r>
              <a:rPr sz="1875" b="1" dirty="0" err="1">
                <a:solidFill>
                  <a:srgbClr val="111111"/>
                </a:solidFill>
                <a:latin typeface="Roboto"/>
                <a:ea typeface="Roboto"/>
                <a:cs typeface="Roboto"/>
              </a:rPr>
              <a:t>ξI</a:t>
            </a:r>
            <a:r>
              <a:rPr sz="1875" b="1" dirty="0">
                <a:solidFill>
                  <a:srgbClr val="111111"/>
                </a:solidFill>
                <a:latin typeface="Roboto"/>
                <a:ea typeface="Roboto"/>
                <a:cs typeface="Roboto"/>
              </a:rPr>
              <a:t>ₚ)]</a:t>
            </a:r>
          </a:p>
          <a:p>
            <a:endParaRPr sz="1875" b="1" dirty="0">
              <a:solidFill>
                <a:srgbClr val="111111"/>
              </a:solidFill>
              <a:latin typeface="Roboto"/>
              <a:ea typeface="Roboto"/>
              <a:cs typeface="Roboto"/>
            </a:endParaRPr>
          </a:p>
          <a:p>
            <a:pPr algn="ctr">
              <a:buNone/>
              <a:defRPr sz="1875" b="1">
                <a:solidFill>
                  <a:srgbClr val="111111"/>
                </a:solidFill>
                <a:latin typeface="Roboto"/>
                <a:ea typeface="Roboto"/>
                <a:cs typeface="Roboto"/>
              </a:defRPr>
            </a:pPr>
            <a:endParaRPr lang="en-US" sz="1875" b="1" dirty="0">
              <a:solidFill>
                <a:srgbClr val="111111"/>
              </a:solidFill>
              <a:latin typeface="Roboto"/>
              <a:ea typeface="Roboto"/>
              <a:cs typeface="Roboto"/>
            </a:endParaRPr>
          </a:p>
          <a:p>
            <a:pPr algn="ctr">
              <a:buNone/>
              <a:defRPr sz="1875" b="1">
                <a:solidFill>
                  <a:srgbClr val="111111"/>
                </a:solidFill>
                <a:latin typeface="Roboto"/>
                <a:ea typeface="Roboto"/>
                <a:cs typeface="Roboto"/>
              </a:defRPr>
            </a:pPr>
            <a:r>
              <a:rPr sz="1875" b="1" dirty="0" err="1">
                <a:solidFill>
                  <a:srgbClr val="111111"/>
                </a:solidFill>
                <a:latin typeface="Roboto"/>
                <a:ea typeface="Roboto"/>
                <a:cs typeface="Roboto"/>
              </a:rPr>
              <a:t>ε</a:t>
            </a:r>
            <a:r>
              <a:rPr sz="1875" b="1" dirty="0">
                <a:solidFill>
                  <a:srgbClr val="111111"/>
                </a:solidFill>
                <a:latin typeface="Roboto"/>
                <a:ea typeface="Roboto"/>
                <a:cs typeface="Roboto"/>
              </a:rPr>
              <a:t> = 2I_DC / (I*² + I_DC²)</a:t>
            </a:r>
          </a:p>
        </p:txBody>
      </p:sp>
      <p:sp>
        <p:nvSpPr>
          <p:cNvPr id="12" name="s06-key">
            <a:extLst>
              <a:ext uri="{FF2B5EF4-FFF2-40B4-BE49-F238E27FC236}">
                <a16:creationId xmlns:a16="http://schemas.microsoft.com/office/drawing/2014/main" id="{4E80A386-C5E0-4CCF-9309-34C70018EB8A}"/>
              </a:ext>
            </a:extLst>
          </p:cNvPr>
          <p:cNvSpPr>
            <a:spLocks noGrp="1"/>
          </p:cNvSpPr>
          <p:nvPr/>
        </p:nvSpPr>
        <p:spPr>
          <a:xfrm>
            <a:off x="6498941" y="6269428"/>
            <a:ext cx="4429125" cy="361950"/>
          </a:xfrm>
          <a:prstGeom prst="rect">
            <a:avLst/>
          </a:prstGeom>
          <a:noFill/>
          <a:ln w="0">
            <a:noFill/>
            <a:prstDash val="solid"/>
          </a:ln>
        </p:spPr>
        <p:txBody>
          <a:bodyPr lIns="38100" tIns="38100" rIns="38100" bIns="38100" anchor="t">
            <a:normAutofit/>
          </a:bodyPr>
          <a:lstStyle/>
          <a:p>
            <a:pPr algn="ctr">
              <a:buNone/>
              <a:defRPr sz="1725" b="1">
                <a:solidFill>
                  <a:srgbClr val="FF0000"/>
                </a:solidFill>
                <a:latin typeface="Roboto"/>
                <a:ea typeface="Roboto"/>
                <a:cs typeface="Roboto"/>
              </a:defRPr>
            </a:pPr>
            <a:r>
              <a:rPr sz="1725" b="1" dirty="0">
                <a:solidFill>
                  <a:srgbClr val="FF0000"/>
                </a:solidFill>
                <a:latin typeface="Roboto"/>
                <a:ea typeface="Roboto"/>
                <a:cs typeface="Roboto"/>
              </a:rPr>
              <a:t>I_DC ≠ 0  ⇒  </a:t>
            </a:r>
            <a:r>
              <a:rPr sz="1725" b="1" dirty="0" err="1">
                <a:solidFill>
                  <a:srgbClr val="FF0000"/>
                </a:solidFill>
                <a:latin typeface="Roboto"/>
                <a:ea typeface="Roboto"/>
                <a:cs typeface="Roboto"/>
              </a:rPr>
              <a:t>ε</a:t>
            </a:r>
            <a:r>
              <a:rPr sz="1725" b="1" dirty="0">
                <a:solidFill>
                  <a:srgbClr val="FF0000"/>
                </a:solidFill>
                <a:latin typeface="Roboto"/>
                <a:ea typeface="Roboto"/>
                <a:cs typeface="Roboto"/>
              </a:rPr>
              <a:t> ≠ 0  ⇒  3WM is allowed</a:t>
            </a:r>
          </a:p>
        </p:txBody>
      </p:sp>
      <p:pic>
        <p:nvPicPr>
          <p:cNvPr id="4" name="Picture 3">
            <a:extLst>
              <a:ext uri="{FF2B5EF4-FFF2-40B4-BE49-F238E27FC236}">
                <a16:creationId xmlns:a16="http://schemas.microsoft.com/office/drawing/2014/main" id="{D5AC97D3-D3C9-6234-4A0B-1EE96E7E7086}"/>
              </a:ext>
            </a:extLst>
          </p:cNvPr>
          <p:cNvPicPr>
            <a:picLocks noChangeAspect="1"/>
          </p:cNvPicPr>
          <p:nvPr/>
        </p:nvPicPr>
        <p:blipFill>
          <a:blip r:embed="rId6"/>
          <a:srcRect t="8760"/>
          <a:stretch>
            <a:fillRect/>
          </a:stretch>
        </p:blipFill>
        <p:spPr>
          <a:xfrm>
            <a:off x="783349" y="3399111"/>
            <a:ext cx="3695700" cy="1077639"/>
          </a:xfrm>
          <a:prstGeom prst="rect">
            <a:avLst/>
          </a:prstGeom>
        </p:spPr>
      </p:pic>
      <p:pic>
        <p:nvPicPr>
          <p:cNvPr id="14" name="Picture 13">
            <a:extLst>
              <a:ext uri="{FF2B5EF4-FFF2-40B4-BE49-F238E27FC236}">
                <a16:creationId xmlns:a16="http://schemas.microsoft.com/office/drawing/2014/main" id="{D82BA09D-83C0-C431-7546-562E232ADE14}"/>
              </a:ext>
            </a:extLst>
          </p:cNvPr>
          <p:cNvPicPr>
            <a:picLocks noChangeAspect="1"/>
          </p:cNvPicPr>
          <p:nvPr/>
        </p:nvPicPr>
        <p:blipFill>
          <a:blip r:embed="rId7"/>
          <a:stretch>
            <a:fillRect/>
          </a:stretch>
        </p:blipFill>
        <p:spPr>
          <a:xfrm>
            <a:off x="6455058" y="4573197"/>
            <a:ext cx="4473008" cy="636956"/>
          </a:xfrm>
          <a:prstGeom prst="rect">
            <a:avLst/>
          </a:prstGeom>
        </p:spPr>
      </p:pic>
      <p:pic>
        <p:nvPicPr>
          <p:cNvPr id="16" name="Picture 15" descr="A black and white math equations&#10;&#10;AI-generated content may be incorrect.">
            <a:extLst>
              <a:ext uri="{FF2B5EF4-FFF2-40B4-BE49-F238E27FC236}">
                <a16:creationId xmlns:a16="http://schemas.microsoft.com/office/drawing/2014/main" id="{8B067D4B-95EF-AB72-DAB6-5FE31148E2C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62750" y="5165495"/>
            <a:ext cx="3960926" cy="1007672"/>
          </a:xfrm>
          <a:prstGeom prst="rect">
            <a:avLst/>
          </a:prstGeom>
        </p:spPr>
      </p:pic>
    </p:spTree>
    <p:extLst>
      <p:ext uri="{BB962C8B-B14F-4D97-AF65-F5344CB8AC3E}">
        <p14:creationId xmlns:p14="http://schemas.microsoft.com/office/powerpoint/2010/main" val="1744845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497503-5E56-4CB7-A572-1915F24505A7}"/>
              </a:ext>
            </a:extLst>
          </p:cNvPr>
          <p:cNvSpPr>
            <a:spLocks noGrp="1"/>
          </p:cNvSpPr>
          <p:nvPr>
            <p:ph idx="1"/>
          </p:nvPr>
        </p:nvSpPr>
        <p:spPr>
          <a:xfrm>
            <a:off x="952500" y="2402340"/>
            <a:ext cx="4572000" cy="2900363"/>
          </a:xfrm>
        </p:spPr>
        <p:txBody>
          <a:bodyPr wrap="square" lIns="38100" tIns="38100" rIns="38100" bIns="38100" anchor="ctr">
            <a:normAutofit lnSpcReduction="10000"/>
          </a:bodyPr>
          <a:lstStyle/>
          <a:p>
            <a:pPr>
              <a:lnSpc>
                <a:spcPct val="125000"/>
              </a:lnSpc>
              <a:buNone/>
              <a:defRPr sz="1650">
                <a:solidFill>
                  <a:srgbClr val="111111"/>
                </a:solidFill>
                <a:latin typeface="Roboto"/>
                <a:ea typeface="Roboto"/>
                <a:cs typeface="Roboto"/>
              </a:defRPr>
            </a:pPr>
            <a:r>
              <a:rPr sz="1650" b="1" dirty="0">
                <a:solidFill>
                  <a:schemeClr val="tx1">
                    <a:lumMod val="50000"/>
                  </a:schemeClr>
                </a:solidFill>
                <a:latin typeface="Roboto"/>
                <a:ea typeface="Roboto"/>
                <a:cs typeface="Roboto"/>
              </a:rPr>
              <a:t>THREE-WAVE MIXING</a:t>
            </a:r>
          </a:p>
          <a:p>
            <a:pPr>
              <a:lnSpc>
                <a:spcPct val="125000"/>
              </a:lnSpc>
              <a:buNone/>
              <a:defRPr sz="1650">
                <a:solidFill>
                  <a:srgbClr val="111111"/>
                </a:solidFill>
                <a:latin typeface="Roboto"/>
                <a:ea typeface="Roboto"/>
                <a:cs typeface="Roboto"/>
              </a:defRPr>
            </a:pPr>
            <a:r>
              <a:rPr sz="1650" b="1" dirty="0" err="1">
                <a:solidFill>
                  <a:srgbClr val="111111"/>
                </a:solidFill>
                <a:latin typeface="Roboto"/>
                <a:ea typeface="Roboto"/>
                <a:cs typeface="Roboto"/>
              </a:rPr>
              <a:t>ω</a:t>
            </a:r>
            <a:r>
              <a:rPr sz="1650" b="1" dirty="0">
                <a:solidFill>
                  <a:srgbClr val="111111"/>
                </a:solidFill>
                <a:latin typeface="Roboto"/>
                <a:ea typeface="Roboto"/>
                <a:cs typeface="Roboto"/>
              </a:rPr>
              <a:t>ₚ = </a:t>
            </a:r>
            <a:r>
              <a:rPr sz="1650" b="1" dirty="0" err="1">
                <a:solidFill>
                  <a:srgbClr val="111111"/>
                </a:solidFill>
                <a:latin typeface="Roboto"/>
                <a:ea typeface="Roboto"/>
                <a:cs typeface="Roboto"/>
              </a:rPr>
              <a:t>ω</a:t>
            </a:r>
            <a:r>
              <a:rPr sz="1650" b="1" dirty="0">
                <a:solidFill>
                  <a:srgbClr val="111111"/>
                </a:solidFill>
                <a:latin typeface="Roboto"/>
                <a:ea typeface="Roboto"/>
                <a:cs typeface="Roboto"/>
              </a:rPr>
              <a:t>ₛ + </a:t>
            </a:r>
            <a:r>
              <a:rPr sz="1650" b="1" dirty="0" err="1">
                <a:solidFill>
                  <a:srgbClr val="111111"/>
                </a:solidFill>
                <a:latin typeface="Roboto"/>
                <a:ea typeface="Roboto"/>
                <a:cs typeface="Roboto"/>
              </a:rPr>
              <a:t>ω</a:t>
            </a:r>
            <a:r>
              <a:rPr sz="1650" b="1" dirty="0">
                <a:solidFill>
                  <a:srgbClr val="111111"/>
                </a:solidFill>
                <a:latin typeface="Roboto"/>
                <a:ea typeface="Roboto"/>
                <a:cs typeface="Roboto"/>
              </a:rPr>
              <a:t>ᵢ</a:t>
            </a:r>
          </a:p>
          <a:p>
            <a:pPr>
              <a:lnSpc>
                <a:spcPct val="125000"/>
              </a:lnSpc>
              <a:buNone/>
              <a:defRPr sz="1650">
                <a:solidFill>
                  <a:srgbClr val="111111"/>
                </a:solidFill>
                <a:latin typeface="Roboto"/>
                <a:ea typeface="Roboto"/>
                <a:cs typeface="Roboto"/>
              </a:defRPr>
            </a:pPr>
            <a:endParaRPr lang="en-US" sz="1650" dirty="0">
              <a:solidFill>
                <a:srgbClr val="111111"/>
              </a:solidFill>
              <a:latin typeface="Roboto"/>
              <a:ea typeface="Roboto"/>
              <a:cs typeface="Roboto"/>
            </a:endParaRPr>
          </a:p>
          <a:p>
            <a:pPr>
              <a:lnSpc>
                <a:spcPct val="125000"/>
              </a:lnSpc>
              <a:buNone/>
              <a:defRPr sz="1650">
                <a:solidFill>
                  <a:srgbClr val="111111"/>
                </a:solidFill>
                <a:latin typeface="Roboto"/>
                <a:ea typeface="Roboto"/>
                <a:cs typeface="Roboto"/>
              </a:defRPr>
            </a:pPr>
            <a:endParaRPr sz="1650" dirty="0">
              <a:solidFill>
                <a:srgbClr val="111111"/>
              </a:solidFill>
              <a:latin typeface="Roboto"/>
              <a:ea typeface="Roboto"/>
              <a:cs typeface="Roboto"/>
            </a:endParaRPr>
          </a:p>
          <a:p>
            <a:pPr>
              <a:lnSpc>
                <a:spcPct val="125000"/>
              </a:lnSpc>
              <a:buNone/>
              <a:defRPr sz="1650">
                <a:solidFill>
                  <a:srgbClr val="111111"/>
                </a:solidFill>
                <a:latin typeface="Roboto"/>
                <a:ea typeface="Roboto"/>
                <a:cs typeface="Roboto"/>
              </a:defRPr>
            </a:pPr>
            <a:r>
              <a:rPr sz="1650" dirty="0">
                <a:solidFill>
                  <a:srgbClr val="111111"/>
                </a:solidFill>
                <a:latin typeface="Roboto"/>
                <a:ea typeface="Roboto"/>
                <a:cs typeface="Roboto"/>
              </a:rPr>
              <a:t>Signal and idler can lie near </a:t>
            </a:r>
            <a:r>
              <a:rPr sz="1650" dirty="0" err="1">
                <a:solidFill>
                  <a:srgbClr val="111111"/>
                </a:solidFill>
                <a:latin typeface="Roboto"/>
                <a:ea typeface="Roboto"/>
                <a:cs typeface="Roboto"/>
              </a:rPr>
              <a:t>ω</a:t>
            </a:r>
            <a:r>
              <a:rPr sz="1650" dirty="0">
                <a:solidFill>
                  <a:srgbClr val="111111"/>
                </a:solidFill>
                <a:latin typeface="Roboto"/>
                <a:ea typeface="Roboto"/>
                <a:cs typeface="Roboto"/>
              </a:rPr>
              <a:t>ₚ/2.</a:t>
            </a:r>
            <a:endParaRPr lang="en-US" sz="1650" dirty="0">
              <a:solidFill>
                <a:srgbClr val="111111"/>
              </a:solidFill>
              <a:latin typeface="Roboto"/>
              <a:ea typeface="Roboto"/>
              <a:cs typeface="Roboto"/>
            </a:endParaRPr>
          </a:p>
          <a:p>
            <a:pPr>
              <a:lnSpc>
                <a:spcPct val="125000"/>
              </a:lnSpc>
              <a:buNone/>
              <a:defRPr sz="1650">
                <a:solidFill>
                  <a:srgbClr val="111111"/>
                </a:solidFill>
                <a:latin typeface="Roboto"/>
                <a:ea typeface="Roboto"/>
                <a:cs typeface="Roboto"/>
              </a:defRPr>
            </a:pPr>
            <a:endParaRPr sz="1650" dirty="0">
              <a:solidFill>
                <a:srgbClr val="111111"/>
              </a:solidFill>
              <a:latin typeface="Roboto"/>
              <a:ea typeface="Roboto"/>
              <a:cs typeface="Roboto"/>
            </a:endParaRPr>
          </a:p>
          <a:p>
            <a:pPr>
              <a:lnSpc>
                <a:spcPct val="125000"/>
              </a:lnSpc>
              <a:buNone/>
              <a:defRPr sz="1650">
                <a:solidFill>
                  <a:srgbClr val="111111"/>
                </a:solidFill>
                <a:latin typeface="Roboto"/>
                <a:ea typeface="Roboto"/>
                <a:cs typeface="Roboto"/>
              </a:defRPr>
            </a:pPr>
            <a:r>
              <a:rPr sz="1650" b="1" dirty="0">
                <a:solidFill>
                  <a:srgbClr val="111111"/>
                </a:solidFill>
                <a:latin typeface="Roboto"/>
                <a:ea typeface="Roboto"/>
                <a:cs typeface="Roboto"/>
              </a:rPr>
              <a:t>The pump is far from the amplified band.</a:t>
            </a:r>
          </a:p>
        </p:txBody>
      </p:sp>
      <p:sp>
        <p:nvSpPr>
          <p:cNvPr id="3" name="Title 2">
            <a:extLst>
              <a:ext uri="{FF2B5EF4-FFF2-40B4-BE49-F238E27FC236}">
                <a16:creationId xmlns:a16="http://schemas.microsoft.com/office/drawing/2014/main" id="{0612415A-DDEB-4803-AB7C-8986B9F18136}"/>
              </a:ext>
            </a:extLst>
          </p:cNvPr>
          <p:cNvSpPr>
            <a:spLocks noGrp="1"/>
          </p:cNvSpPr>
          <p:nvPr>
            <p:ph type="title"/>
          </p:nvPr>
        </p:nvSpPr>
        <p:spPr>
          <a:xfrm>
            <a:off x="523875" y="1004887"/>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3WM separates the pump from the amplified signal band</a:t>
            </a:r>
          </a:p>
        </p:txBody>
      </p:sp>
      <p:sp>
        <p:nvSpPr>
          <p:cNvPr id="4" name="TextBox 3">
            <a:extLst>
              <a:ext uri="{FF2B5EF4-FFF2-40B4-BE49-F238E27FC236}">
                <a16:creationId xmlns:a16="http://schemas.microsoft.com/office/drawing/2014/main" id="{511B785C-F73F-4209-858A-0CD3D0667332}"/>
              </a:ext>
            </a:extLst>
          </p:cNvPr>
          <p:cNvSpPr>
            <a:spLocks noGrp="1"/>
          </p:cNvSpPr>
          <p:nvPr/>
        </p:nvSpPr>
        <p:spPr>
          <a:xfrm>
            <a:off x="6096000" y="2238374"/>
            <a:ext cx="5381625" cy="3090863"/>
          </a:xfrm>
          <a:prstGeom prst="rect">
            <a:avLst/>
          </a:prstGeom>
          <a:noFill/>
        </p:spPr>
        <p:txBody>
          <a:bodyPr wrap="square" lIns="38100" tIns="38100" rIns="38100" bIns="38100" anchor="ctr">
            <a:normAutofit/>
          </a:bodyPr>
          <a:lstStyle/>
          <a:p>
            <a:pPr>
              <a:lnSpc>
                <a:spcPct val="110000"/>
              </a:lnSpc>
              <a:buNone/>
              <a:defRPr sz="1575">
                <a:solidFill>
                  <a:srgbClr val="111111"/>
                </a:solidFill>
                <a:latin typeface="Roboto"/>
                <a:ea typeface="Roboto"/>
                <a:cs typeface="Roboto"/>
              </a:defRPr>
            </a:pPr>
            <a:r>
              <a:rPr b="1" dirty="0">
                <a:solidFill>
                  <a:srgbClr val="111111"/>
                </a:solidFill>
                <a:latin typeface="Roboto"/>
                <a:ea typeface="Roboto"/>
                <a:cs typeface="Roboto"/>
              </a:rPr>
              <a:t>FOUR-WAVE MIXING</a:t>
            </a:r>
          </a:p>
          <a:p>
            <a:pPr>
              <a:lnSpc>
                <a:spcPct val="110000"/>
              </a:lnSpc>
              <a:buNone/>
              <a:defRPr sz="1575">
                <a:solidFill>
                  <a:srgbClr val="111111"/>
                </a:solidFill>
                <a:latin typeface="Roboto"/>
                <a:ea typeface="Roboto"/>
                <a:cs typeface="Roboto"/>
              </a:defRPr>
            </a:pPr>
            <a:endParaRPr b="1"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b="1" dirty="0">
                <a:solidFill>
                  <a:srgbClr val="111111"/>
                </a:solidFill>
                <a:latin typeface="Roboto"/>
                <a:ea typeface="Roboto"/>
                <a:cs typeface="Roboto"/>
              </a:rPr>
              <a:t>2ωₚ = </a:t>
            </a:r>
            <a:r>
              <a:rPr b="1" dirty="0" err="1">
                <a:solidFill>
                  <a:srgbClr val="111111"/>
                </a:solidFill>
                <a:latin typeface="Roboto"/>
                <a:ea typeface="Roboto"/>
                <a:cs typeface="Roboto"/>
              </a:rPr>
              <a:t>ω</a:t>
            </a:r>
            <a:r>
              <a:rPr b="1" dirty="0">
                <a:solidFill>
                  <a:srgbClr val="111111"/>
                </a:solidFill>
                <a:latin typeface="Roboto"/>
                <a:ea typeface="Roboto"/>
                <a:cs typeface="Roboto"/>
              </a:rPr>
              <a:t>ₛ + </a:t>
            </a:r>
            <a:r>
              <a:rPr b="1" dirty="0" err="1">
                <a:solidFill>
                  <a:srgbClr val="111111"/>
                </a:solidFill>
                <a:latin typeface="Roboto"/>
                <a:ea typeface="Roboto"/>
                <a:cs typeface="Roboto"/>
              </a:rPr>
              <a:t>ω</a:t>
            </a:r>
            <a:r>
              <a:rPr b="1" dirty="0">
                <a:solidFill>
                  <a:srgbClr val="111111"/>
                </a:solidFill>
                <a:latin typeface="Roboto"/>
                <a:ea typeface="Roboto"/>
                <a:cs typeface="Roboto"/>
              </a:rPr>
              <a:t>ᵢ</a:t>
            </a:r>
          </a:p>
          <a:p>
            <a:pPr>
              <a:lnSpc>
                <a:spcPct val="110000"/>
              </a:lnSpc>
              <a:buNone/>
              <a:defRPr sz="1575">
                <a:solidFill>
                  <a:srgbClr val="111111"/>
                </a:solidFill>
                <a:latin typeface="Roboto"/>
                <a:ea typeface="Roboto"/>
                <a:cs typeface="Roboto"/>
              </a:defRPr>
            </a:pPr>
            <a:endParaRPr b="1"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endParaRPr lang="en-US"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endParaRPr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dirty="0">
                <a:solidFill>
                  <a:srgbClr val="111111"/>
                </a:solidFill>
                <a:latin typeface="Roboto"/>
                <a:ea typeface="Roboto"/>
                <a:cs typeface="Roboto"/>
              </a:rPr>
              <a:t>Signal and idler lie around </a:t>
            </a:r>
            <a:r>
              <a:rPr dirty="0" err="1">
                <a:solidFill>
                  <a:srgbClr val="111111"/>
                </a:solidFill>
                <a:latin typeface="Roboto"/>
                <a:ea typeface="Roboto"/>
                <a:cs typeface="Roboto"/>
              </a:rPr>
              <a:t>ω</a:t>
            </a:r>
            <a:r>
              <a:rPr dirty="0">
                <a:solidFill>
                  <a:srgbClr val="111111"/>
                </a:solidFill>
                <a:latin typeface="Roboto"/>
                <a:ea typeface="Roboto"/>
                <a:cs typeface="Roboto"/>
              </a:rPr>
              <a:t>ₚ.</a:t>
            </a:r>
          </a:p>
          <a:p>
            <a:pPr>
              <a:lnSpc>
                <a:spcPct val="110000"/>
              </a:lnSpc>
              <a:buNone/>
              <a:defRPr sz="1575">
                <a:solidFill>
                  <a:srgbClr val="111111"/>
                </a:solidFill>
                <a:latin typeface="Roboto"/>
                <a:ea typeface="Roboto"/>
                <a:cs typeface="Roboto"/>
              </a:defRPr>
            </a:pPr>
            <a:endParaRPr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endParaRPr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b="1" dirty="0">
                <a:solidFill>
                  <a:srgbClr val="111111"/>
                </a:solidFill>
                <a:latin typeface="Roboto"/>
                <a:ea typeface="Roboto"/>
                <a:cs typeface="Roboto"/>
              </a:rPr>
              <a:t>The pump is close to the amplified band.</a:t>
            </a:r>
          </a:p>
        </p:txBody>
      </p:sp>
      <p:sp>
        <p:nvSpPr>
          <p:cNvPr id="6" name="s05-bottom-rule">
            <a:extLst>
              <a:ext uri="{FF2B5EF4-FFF2-40B4-BE49-F238E27FC236}">
                <a16:creationId xmlns:a16="http://schemas.microsoft.com/office/drawing/2014/main" id="{1BA0C267-563C-4C53-974A-925354B2F5EB}"/>
              </a:ext>
            </a:extLst>
          </p:cNvPr>
          <p:cNvSpPr>
            <a:spLocks noGrp="1"/>
          </p:cNvSpPr>
          <p:nvPr/>
        </p:nvSpPr>
        <p:spPr>
          <a:xfrm>
            <a:off x="552450" y="5667375"/>
            <a:ext cx="11029950" cy="0"/>
          </a:xfrm>
          <a:prstGeom prst="line">
            <a:avLst/>
          </a:prstGeom>
          <a:noFill/>
          <a:ln w="28575">
            <a:solidFill>
              <a:srgbClr val="FF0000"/>
            </a:solidFill>
            <a:prstDash val="solid"/>
          </a:ln>
        </p:spPr>
        <p:txBody>
          <a:bodyPr/>
          <a:lstStyle/>
          <a:p>
            <a:endParaRPr/>
          </a:p>
        </p:txBody>
      </p:sp>
      <p:sp>
        <p:nvSpPr>
          <p:cNvPr id="7" name="s05-result">
            <a:extLst>
              <a:ext uri="{FF2B5EF4-FFF2-40B4-BE49-F238E27FC236}">
                <a16:creationId xmlns:a16="http://schemas.microsoft.com/office/drawing/2014/main" id="{D24720D5-A3C0-45BC-BC42-C95F2D4A59D3}"/>
              </a:ext>
            </a:extLst>
          </p:cNvPr>
          <p:cNvSpPr>
            <a:spLocks noGrp="1"/>
          </p:cNvSpPr>
          <p:nvPr/>
        </p:nvSpPr>
        <p:spPr>
          <a:xfrm>
            <a:off x="857250" y="5810250"/>
            <a:ext cx="10429875" cy="428625"/>
          </a:xfrm>
          <a:prstGeom prst="rect">
            <a:avLst/>
          </a:prstGeom>
          <a:noFill/>
          <a:ln w="0">
            <a:noFill/>
            <a:prstDash val="solid"/>
          </a:ln>
        </p:spPr>
        <p:txBody>
          <a:bodyPr lIns="38100" tIns="38100" rIns="38100" bIns="38100" anchor="ctr">
            <a:normAutofit/>
          </a:bodyPr>
          <a:lstStyle/>
          <a:p>
            <a:pPr algn="ctr">
              <a:buNone/>
              <a:defRPr sz="1875" b="1">
                <a:solidFill>
                  <a:srgbClr val="111111"/>
                </a:solidFill>
                <a:latin typeface="Roboto"/>
                <a:ea typeface="Roboto"/>
                <a:cs typeface="Roboto"/>
              </a:defRPr>
            </a:pPr>
            <a:r>
              <a:rPr sz="1875" b="1">
                <a:solidFill>
                  <a:srgbClr val="111111"/>
                </a:solidFill>
                <a:latin typeface="Roboto"/>
                <a:ea typeface="Roboto"/>
                <a:cs typeface="Roboto"/>
              </a:rPr>
              <a:t>3WM advantage: signal band near ωₚ/2 → lower pump frequency and easier filtering</a:t>
            </a:r>
          </a:p>
        </p:txBody>
      </p:sp>
      <p:sp>
        <p:nvSpPr>
          <p:cNvPr id="8" name="s4-meta">
            <a:extLst>
              <a:ext uri="{FF2B5EF4-FFF2-40B4-BE49-F238E27FC236}">
                <a16:creationId xmlns:a16="http://schemas.microsoft.com/office/drawing/2014/main" id="{8D983E78-6A20-2DDE-F16C-A0E8AFFB964E}"/>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9" name="s4-page">
            <a:extLst>
              <a:ext uri="{FF2B5EF4-FFF2-40B4-BE49-F238E27FC236}">
                <a16:creationId xmlns:a16="http://schemas.microsoft.com/office/drawing/2014/main" id="{D889596F-D517-A05E-FC9F-064CCB1C755C}"/>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8</a:t>
            </a:r>
          </a:p>
        </p:txBody>
      </p:sp>
    </p:spTree>
    <p:extLst>
      <p:ext uri="{BB962C8B-B14F-4D97-AF65-F5344CB8AC3E}">
        <p14:creationId xmlns:p14="http://schemas.microsoft.com/office/powerpoint/2010/main" val="979156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226D67-2ECF-4A70-9BAE-AD08A8C5BE7A}"/>
              </a:ext>
            </a:extLst>
          </p:cNvPr>
          <p:cNvSpPr>
            <a:spLocks noGrp="1"/>
          </p:cNvSpPr>
          <p:nvPr>
            <p:ph idx="1"/>
          </p:nvPr>
        </p:nvSpPr>
        <p:spPr>
          <a:xfrm>
            <a:off x="552450" y="2211491"/>
            <a:ext cx="10668000" cy="400050"/>
          </a:xfrm>
        </p:spPr>
        <p:txBody>
          <a:bodyPr wrap="square" lIns="38100" tIns="38100" rIns="38100" bIns="38100" anchor="t">
            <a:normAutofit fontScale="75590" lnSpcReduction="20000"/>
          </a:bodyPr>
          <a:lstStyle/>
          <a:p>
            <a:pPr>
              <a:buNone/>
              <a:defRPr sz="1800" b="1">
                <a:solidFill>
                  <a:srgbClr val="5A5A5A"/>
                </a:solidFill>
                <a:latin typeface="Roboto"/>
                <a:ea typeface="Roboto"/>
                <a:cs typeface="Roboto"/>
              </a:defRPr>
            </a:pPr>
            <a:r>
              <a:rPr sz="1800" b="1" dirty="0">
                <a:solidFill>
                  <a:srgbClr val="5A5A5A"/>
                </a:solidFill>
                <a:latin typeface="Roboto"/>
                <a:ea typeface="Roboto"/>
                <a:cs typeface="Roboto"/>
              </a:rPr>
              <a:t>Each section of the line generates a small signal contribution; their relative phase determines whether the total grows or cancels.</a:t>
            </a:r>
          </a:p>
        </p:txBody>
      </p:sp>
      <p:sp>
        <p:nvSpPr>
          <p:cNvPr id="3" name="Title 2">
            <a:extLst>
              <a:ext uri="{FF2B5EF4-FFF2-40B4-BE49-F238E27FC236}">
                <a16:creationId xmlns:a16="http://schemas.microsoft.com/office/drawing/2014/main" id="{5938B914-01E0-42FF-9E51-A9CC5CE393BB}"/>
              </a:ext>
            </a:extLst>
          </p:cNvPr>
          <p:cNvSpPr>
            <a:spLocks noGrp="1"/>
          </p:cNvSpPr>
          <p:nvPr>
            <p:ph type="title"/>
          </p:nvPr>
        </p:nvSpPr>
        <p:spPr>
          <a:xfrm>
            <a:off x="523875" y="914400"/>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Phase matching keeps every small contribution adding to the signal</a:t>
            </a:r>
          </a:p>
        </p:txBody>
      </p:sp>
      <p:sp>
        <p:nvSpPr>
          <p:cNvPr id="5" name="s11-divider">
            <a:extLst>
              <a:ext uri="{FF2B5EF4-FFF2-40B4-BE49-F238E27FC236}">
                <a16:creationId xmlns:a16="http://schemas.microsoft.com/office/drawing/2014/main" id="{07C8A937-B033-43D4-ACA6-92BF749F1551}"/>
              </a:ext>
            </a:extLst>
          </p:cNvPr>
          <p:cNvSpPr>
            <a:spLocks noGrp="1"/>
          </p:cNvSpPr>
          <p:nvPr/>
        </p:nvSpPr>
        <p:spPr>
          <a:xfrm>
            <a:off x="7858125" y="3257550"/>
            <a:ext cx="0" cy="2905125"/>
          </a:xfrm>
          <a:prstGeom prst="line">
            <a:avLst/>
          </a:prstGeom>
          <a:noFill/>
          <a:ln w="19050">
            <a:solidFill>
              <a:srgbClr val="D8D8D8"/>
            </a:solidFill>
            <a:prstDash val="solid"/>
          </a:ln>
        </p:spPr>
        <p:txBody>
          <a:bodyPr/>
          <a:lstStyle/>
          <a:p>
            <a:endParaRPr/>
          </a:p>
        </p:txBody>
      </p:sp>
      <p:sp>
        <p:nvSpPr>
          <p:cNvPr id="6" name="s11-paper">
            <a:extLst>
              <a:ext uri="{FF2B5EF4-FFF2-40B4-BE49-F238E27FC236}">
                <a16:creationId xmlns:a16="http://schemas.microsoft.com/office/drawing/2014/main" id="{022481E4-0375-4EC6-8C3C-7A61A11FCEE2}"/>
              </a:ext>
            </a:extLst>
          </p:cNvPr>
          <p:cNvSpPr>
            <a:spLocks noGrp="1"/>
          </p:cNvSpPr>
          <p:nvPr/>
        </p:nvSpPr>
        <p:spPr>
          <a:xfrm>
            <a:off x="8239125" y="3429000"/>
            <a:ext cx="1428750" cy="266700"/>
          </a:xfrm>
          <a:prstGeom prst="rect">
            <a:avLst/>
          </a:prstGeom>
          <a:noFill/>
          <a:ln w="0">
            <a:noFill/>
            <a:prstDash val="solid"/>
          </a:ln>
        </p:spPr>
        <p:txBody>
          <a:bodyPr lIns="38100" tIns="38100" rIns="38100" bIns="38100" anchor="t">
            <a:normAutofit lnSpcReduction="10000"/>
          </a:bodyPr>
          <a:lstStyle/>
          <a:p>
            <a:pPr>
              <a:buNone/>
              <a:defRPr sz="1350" b="1">
                <a:solidFill>
                  <a:srgbClr val="5A5A5A"/>
                </a:solidFill>
                <a:latin typeface="Roboto"/>
                <a:ea typeface="Roboto"/>
                <a:cs typeface="Roboto"/>
              </a:defRPr>
            </a:pPr>
            <a:r>
              <a:rPr sz="1350" b="1">
                <a:solidFill>
                  <a:srgbClr val="5A5A5A"/>
                </a:solidFill>
                <a:latin typeface="Roboto"/>
                <a:ea typeface="Roboto"/>
                <a:cs typeface="Roboto"/>
              </a:rPr>
              <a:t>MATCHED</a:t>
            </a:r>
          </a:p>
        </p:txBody>
      </p:sp>
      <p:sp>
        <p:nvSpPr>
          <p:cNvPr id="7" name="s11-paper-value">
            <a:extLst>
              <a:ext uri="{FF2B5EF4-FFF2-40B4-BE49-F238E27FC236}">
                <a16:creationId xmlns:a16="http://schemas.microsoft.com/office/drawing/2014/main" id="{DC0F0AF5-9DCE-44DD-A40A-67F75D5031A3}"/>
              </a:ext>
            </a:extLst>
          </p:cNvPr>
          <p:cNvSpPr>
            <a:spLocks noGrp="1"/>
          </p:cNvSpPr>
          <p:nvPr/>
        </p:nvSpPr>
        <p:spPr>
          <a:xfrm>
            <a:off x="8239125" y="3714750"/>
            <a:ext cx="3048000" cy="495300"/>
          </a:xfrm>
          <a:prstGeom prst="rect">
            <a:avLst/>
          </a:prstGeom>
          <a:noFill/>
          <a:ln w="0">
            <a:noFill/>
            <a:prstDash val="solid"/>
          </a:ln>
        </p:spPr>
        <p:txBody>
          <a:bodyPr lIns="38100" tIns="38100" rIns="38100" bIns="38100" anchor="t">
            <a:normAutofit fontScale="72751" lnSpcReduction="20000"/>
          </a:bodyPr>
          <a:lstStyle/>
          <a:p>
            <a:pPr>
              <a:buNone/>
              <a:defRPr sz="1575" b="1">
                <a:solidFill>
                  <a:srgbClr val="111111"/>
                </a:solidFill>
                <a:latin typeface="Roboto"/>
                <a:ea typeface="Roboto"/>
                <a:cs typeface="Roboto"/>
              </a:defRPr>
            </a:pPr>
            <a:r>
              <a:rPr sz="1575" b="1">
                <a:solidFill>
                  <a:srgbClr val="111111"/>
                </a:solidFill>
                <a:latin typeface="Roboto"/>
                <a:ea typeface="Roboto"/>
                <a:cs typeface="Roboto"/>
              </a:rPr>
              <a:t>Δβ ≈ 0
Crests stay aligned, so the contributions add.</a:t>
            </a:r>
          </a:p>
        </p:txBody>
      </p:sp>
      <p:sp>
        <p:nvSpPr>
          <p:cNvPr id="8" name="s11-model">
            <a:extLst>
              <a:ext uri="{FF2B5EF4-FFF2-40B4-BE49-F238E27FC236}">
                <a16:creationId xmlns:a16="http://schemas.microsoft.com/office/drawing/2014/main" id="{845A3B50-75ED-43B7-A060-5DA19EA9C417}"/>
              </a:ext>
            </a:extLst>
          </p:cNvPr>
          <p:cNvSpPr>
            <a:spLocks noGrp="1"/>
          </p:cNvSpPr>
          <p:nvPr/>
        </p:nvSpPr>
        <p:spPr>
          <a:xfrm>
            <a:off x="8239125" y="4524375"/>
            <a:ext cx="1714500" cy="266700"/>
          </a:xfrm>
          <a:prstGeom prst="rect">
            <a:avLst/>
          </a:prstGeom>
          <a:noFill/>
          <a:ln w="0">
            <a:noFill/>
            <a:prstDash val="solid"/>
          </a:ln>
        </p:spPr>
        <p:txBody>
          <a:bodyPr lIns="38100" tIns="38100" rIns="38100" bIns="38100" anchor="t">
            <a:normAutofit/>
          </a:bodyPr>
          <a:lstStyle/>
          <a:p>
            <a:pPr>
              <a:buNone/>
              <a:defRPr sz="975" b="1">
                <a:solidFill>
                  <a:srgbClr val="FF0000"/>
                </a:solidFill>
                <a:latin typeface="Roboto"/>
                <a:ea typeface="Roboto"/>
                <a:cs typeface="Roboto"/>
              </a:defRPr>
            </a:pPr>
            <a:r>
              <a:rPr sz="975" b="1">
                <a:solidFill>
                  <a:srgbClr val="FF0000"/>
                </a:solidFill>
                <a:latin typeface="Roboto"/>
                <a:ea typeface="Roboto"/>
                <a:cs typeface="Roboto"/>
              </a:rPr>
              <a:t>PHASE MISMATCH</a:t>
            </a:r>
          </a:p>
        </p:txBody>
      </p:sp>
      <p:sp>
        <p:nvSpPr>
          <p:cNvPr id="9" name="s11-model-value">
            <a:extLst>
              <a:ext uri="{FF2B5EF4-FFF2-40B4-BE49-F238E27FC236}">
                <a16:creationId xmlns:a16="http://schemas.microsoft.com/office/drawing/2014/main" id="{A85D7DF5-6597-4BCA-8890-6908635721DC}"/>
              </a:ext>
            </a:extLst>
          </p:cNvPr>
          <p:cNvSpPr>
            <a:spLocks noGrp="1"/>
          </p:cNvSpPr>
          <p:nvPr/>
        </p:nvSpPr>
        <p:spPr>
          <a:xfrm>
            <a:off x="8239125" y="4810125"/>
            <a:ext cx="3048000" cy="495300"/>
          </a:xfrm>
          <a:prstGeom prst="rect">
            <a:avLst/>
          </a:prstGeom>
          <a:noFill/>
          <a:ln w="0">
            <a:noFill/>
            <a:prstDash val="solid"/>
          </a:ln>
        </p:spPr>
        <p:txBody>
          <a:bodyPr lIns="38100" tIns="38100" rIns="38100" bIns="38100" anchor="t">
            <a:normAutofit fontScale="89390" lnSpcReduction="10000"/>
          </a:bodyPr>
          <a:lstStyle/>
          <a:p>
            <a:pPr>
              <a:buNone/>
              <a:defRPr sz="1125" b="1">
                <a:solidFill>
                  <a:srgbClr val="111111"/>
                </a:solidFill>
                <a:latin typeface="Roboto"/>
                <a:ea typeface="Roboto"/>
                <a:cs typeface="Roboto"/>
              </a:defRPr>
            </a:pPr>
            <a:r>
              <a:rPr sz="1125" b="1">
                <a:solidFill>
                  <a:srgbClr val="111111"/>
                </a:solidFill>
                <a:latin typeface="Roboto"/>
                <a:ea typeface="Roboto"/>
                <a:cs typeface="Roboto"/>
              </a:rPr>
              <a:t>Δβ ≠ 0
The phase drifts, so crests and troughs partly cancel.</a:t>
            </a:r>
          </a:p>
        </p:txBody>
      </p:sp>
      <p:sp>
        <p:nvSpPr>
          <p:cNvPr id="10" name="s11-small-rule">
            <a:extLst>
              <a:ext uri="{FF2B5EF4-FFF2-40B4-BE49-F238E27FC236}">
                <a16:creationId xmlns:a16="http://schemas.microsoft.com/office/drawing/2014/main" id="{0D8ACBA6-C9CF-4A4C-A32F-04E05D121CA0}"/>
              </a:ext>
            </a:extLst>
          </p:cNvPr>
          <p:cNvSpPr>
            <a:spLocks noGrp="1"/>
          </p:cNvSpPr>
          <p:nvPr/>
        </p:nvSpPr>
        <p:spPr>
          <a:xfrm>
            <a:off x="8239125" y="5476875"/>
            <a:ext cx="2809875" cy="0"/>
          </a:xfrm>
          <a:prstGeom prst="line">
            <a:avLst/>
          </a:prstGeom>
          <a:noFill/>
          <a:ln w="28575">
            <a:solidFill>
              <a:srgbClr val="FF0000"/>
            </a:solidFill>
            <a:prstDash val="solid"/>
          </a:ln>
        </p:spPr>
        <p:txBody>
          <a:bodyPr/>
          <a:lstStyle/>
          <a:p>
            <a:endParaRPr/>
          </a:p>
        </p:txBody>
      </p:sp>
      <p:sp>
        <p:nvSpPr>
          <p:cNvPr id="11" name="s11-proof">
            <a:extLst>
              <a:ext uri="{FF2B5EF4-FFF2-40B4-BE49-F238E27FC236}">
                <a16:creationId xmlns:a16="http://schemas.microsoft.com/office/drawing/2014/main" id="{7C4B8C46-AF03-42B6-A832-894F4A651767}"/>
              </a:ext>
            </a:extLst>
          </p:cNvPr>
          <p:cNvSpPr>
            <a:spLocks noGrp="1"/>
          </p:cNvSpPr>
          <p:nvPr/>
        </p:nvSpPr>
        <p:spPr>
          <a:xfrm>
            <a:off x="8239125" y="5638800"/>
            <a:ext cx="3048000" cy="590550"/>
          </a:xfrm>
          <a:prstGeom prst="rect">
            <a:avLst/>
          </a:prstGeom>
          <a:noFill/>
          <a:ln w="0">
            <a:noFill/>
            <a:prstDash val="solid"/>
          </a:ln>
        </p:spPr>
        <p:txBody>
          <a:bodyPr lIns="38100" tIns="38100" rIns="38100" bIns="38100" anchor="t">
            <a:normAutofit/>
          </a:bodyPr>
          <a:lstStyle/>
          <a:p>
            <a:pPr>
              <a:buNone/>
              <a:defRPr sz="975" b="1">
                <a:solidFill>
                  <a:srgbClr val="5A5A5A"/>
                </a:solidFill>
                <a:latin typeface="Roboto"/>
                <a:ea typeface="Roboto"/>
                <a:cs typeface="Roboto"/>
              </a:defRPr>
            </a:pPr>
            <a:r>
              <a:rPr sz="975" b="1">
                <a:solidFill>
                  <a:srgbClr val="5A5A5A"/>
                </a:solidFill>
                <a:latin typeface="Roboto"/>
                <a:ea typeface="Roboto"/>
                <a:cs typeface="Roboto"/>
              </a:rPr>
              <a:t>DESIGN GOAL
Engineer the dispersion so Δβ stays near zero across the useful signal band.</a:t>
            </a:r>
          </a:p>
        </p:txBody>
      </p:sp>
      <p:sp>
        <p:nvSpPr>
          <p:cNvPr id="4" name="s4-meta">
            <a:extLst>
              <a:ext uri="{FF2B5EF4-FFF2-40B4-BE49-F238E27FC236}">
                <a16:creationId xmlns:a16="http://schemas.microsoft.com/office/drawing/2014/main" id="{A25E6032-047D-7157-7D8B-42614FA21F71}"/>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12" name="s4-page">
            <a:extLst>
              <a:ext uri="{FF2B5EF4-FFF2-40B4-BE49-F238E27FC236}">
                <a16:creationId xmlns:a16="http://schemas.microsoft.com/office/drawing/2014/main" id="{2EA95560-11CA-813B-CC1E-85D829ADCC2A}"/>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9</a:t>
            </a:r>
          </a:p>
        </p:txBody>
      </p:sp>
      <p:sp>
        <p:nvSpPr>
          <p:cNvPr id="14" name="s11-graph-title">
            <a:extLst>
              <a:ext uri="{FF2B5EF4-FFF2-40B4-BE49-F238E27FC236}">
                <a16:creationId xmlns:a16="http://schemas.microsoft.com/office/drawing/2014/main" id="{4EB4EDF9-9F1C-4C07-A0D9-4807F78C548A}"/>
              </a:ext>
            </a:extLst>
          </p:cNvPr>
          <p:cNvSpPr>
            <a:spLocks noGrp="1"/>
          </p:cNvSpPr>
          <p:nvPr/>
        </p:nvSpPr>
        <p:spPr>
          <a:xfrm>
            <a:off x="552450" y="2609850"/>
            <a:ext cx="7000875" cy="228600"/>
          </a:xfrm>
          <a:prstGeom prst="rect">
            <a:avLst/>
          </a:prstGeom>
          <a:noFill/>
          <a:ln w="0">
            <a:noFill/>
            <a:prstDash val="solid"/>
          </a:ln>
        </p:spPr>
        <p:txBody>
          <a:bodyPr lIns="19050" tIns="0" rIns="19050" bIns="0" anchor="ctr"/>
          <a:lstStyle/>
          <a:p>
            <a:pPr algn="ctr">
              <a:buNone/>
              <a:defRPr sz="1275" b="1">
                <a:solidFill>
                  <a:srgbClr val="111111"/>
                </a:solidFill>
                <a:latin typeface="Roboto"/>
                <a:ea typeface="Roboto"/>
                <a:cs typeface="Roboto"/>
              </a:defRPr>
            </a:pPr>
            <a:r>
              <a:rPr sz="1275" b="1">
                <a:solidFill>
                  <a:srgbClr val="111111"/>
                </a:solidFill>
                <a:latin typeface="Roboto"/>
                <a:ea typeface="Roboto"/>
                <a:cs typeface="Roboto"/>
              </a:rPr>
              <a:t>Aligned contributions build a large output; phase drift leaves a small output</a:t>
            </a:r>
          </a:p>
        </p:txBody>
      </p:sp>
      <p:pic>
        <p:nvPicPr>
          <p:cNvPr id="28" name="Picture 27"/>
          <p:cNvPicPr>
            <a:picLocks noChangeAspect="1"/>
          </p:cNvPicPr>
          <p:nvPr/>
        </p:nvPicPr>
        <p:blipFill>
          <a:blip r:embed="rId3"/>
          <a:stretch/>
        </p:blipFill>
        <p:spPr>
          <a:xfrm>
            <a:off x="1175750" y="2952750"/>
            <a:ext cx="5754274" cy="3238500"/>
          </a:xfrm>
          <a:prstGeom prst="rect">
            <a:avLst/>
          </a:prstGeom>
        </p:spPr>
      </p:pic>
    </p:spTree>
    <p:extLst>
      <p:ext uri="{BB962C8B-B14F-4D97-AF65-F5344CB8AC3E}">
        <p14:creationId xmlns:p14="http://schemas.microsoft.com/office/powerpoint/2010/main" val="1976281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A7042E-B3B3-7F4D-0A5D-EE419112683C}"/>
              </a:ext>
            </a:extLst>
          </p:cNvPr>
          <p:cNvSpPr>
            <a:spLocks noGrp="1"/>
          </p:cNvSpPr>
          <p:nvPr>
            <p:ph type="title"/>
          </p:nvPr>
        </p:nvSpPr>
        <p:spPr>
          <a:xfrm>
            <a:off x="523875" y="914400"/>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a:solidFill>
                  <a:srgbClr val="111111"/>
                </a:solidFill>
                <a:latin typeface="Roboto"/>
                <a:ea typeface="Roboto"/>
                <a:cs typeface="Roboto"/>
              </a:rPr>
              <a:t>Periodic loading supplies the dispersion required for phase matching</a:t>
            </a:r>
            <a:endParaRPr sz="3600" b="1">
              <a:solidFill>
                <a:srgbClr val="111111"/>
              </a:solidFill>
              <a:latin typeface="Roboto"/>
              <a:ea typeface="Roboto"/>
              <a:cs typeface="Roboto"/>
            </a:endParaRPr>
          </a:p>
        </p:txBody>
      </p:sp>
      <p:sp>
        <p:nvSpPr>
          <p:cNvPr id="4" name="s4-meta">
            <a:extLst>
              <a:ext uri="{FF2B5EF4-FFF2-40B4-BE49-F238E27FC236}">
                <a16:creationId xmlns:a16="http://schemas.microsoft.com/office/drawing/2014/main" id="{4A878132-E960-A1F7-E800-13455CD8CF29}"/>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12" name="s4-page">
            <a:extLst>
              <a:ext uri="{FF2B5EF4-FFF2-40B4-BE49-F238E27FC236}">
                <a16:creationId xmlns:a16="http://schemas.microsoft.com/office/drawing/2014/main" id="{A662F590-E33B-28D6-2E93-AD2F0F9C0A9B}"/>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9</a:t>
            </a:r>
          </a:p>
        </p:txBody>
      </p:sp>
      <p:pic>
        <p:nvPicPr>
          <p:cNvPr id="37" name="Picture 2"/>
          <p:cNvPicPr>
            <a:picLocks noChangeAspect="1"/>
          </p:cNvPicPr>
          <p:nvPr/>
        </p:nvPicPr>
        <p:blipFill>
          <a:blip r:embed="rId3"/>
          <a:srcRect/>
          <a:stretch>
            <a:fillRect/>
          </a:stretch>
        </p:blipFill>
        <p:spPr>
          <a:xfrm>
            <a:off x="790575" y="2170872"/>
            <a:ext cx="3388236" cy="4017890"/>
          </a:xfrm>
          <a:prstGeom prst="rect">
            <a:avLst/>
          </a:prstGeom>
        </p:spPr>
      </p:pic>
      <p:sp>
        <p:nvSpPr>
          <p:cNvPr id="16" name="s09-line">
            <a:extLst>
              <a:ext uri="{FF2B5EF4-FFF2-40B4-BE49-F238E27FC236}">
                <a16:creationId xmlns:a16="http://schemas.microsoft.com/office/drawing/2014/main" id="{E05385F0-09FA-F8A4-B4D7-89EBF2275FCB}"/>
              </a:ext>
            </a:extLst>
          </p:cNvPr>
          <p:cNvSpPr>
            <a:spLocks noGrp="1"/>
          </p:cNvSpPr>
          <p:nvPr/>
        </p:nvSpPr>
        <p:spPr>
          <a:xfrm>
            <a:off x="5972175" y="3991805"/>
            <a:ext cx="5429250" cy="0"/>
          </a:xfrm>
          <a:prstGeom prst="line">
            <a:avLst/>
          </a:prstGeom>
          <a:noFill/>
          <a:ln w="47625">
            <a:solidFill>
              <a:srgbClr val="111111"/>
            </a:solidFill>
            <a:prstDash val="solid"/>
          </a:ln>
        </p:spPr>
        <p:txBody>
          <a:bodyPr/>
          <a:lstStyle/>
          <a:p>
            <a:endParaRPr/>
          </a:p>
        </p:txBody>
      </p:sp>
      <p:sp>
        <p:nvSpPr>
          <p:cNvPr id="17" name="s09-cell-0">
            <a:extLst>
              <a:ext uri="{FF2B5EF4-FFF2-40B4-BE49-F238E27FC236}">
                <a16:creationId xmlns:a16="http://schemas.microsoft.com/office/drawing/2014/main" id="{83AF9512-C8D8-C789-C5C5-05CD9F1CD237}"/>
              </a:ext>
            </a:extLst>
          </p:cNvPr>
          <p:cNvSpPr>
            <a:spLocks noGrp="1"/>
          </p:cNvSpPr>
          <p:nvPr/>
        </p:nvSpPr>
        <p:spPr>
          <a:xfrm>
            <a:off x="6096000" y="3325055"/>
            <a:ext cx="361950" cy="1333500"/>
          </a:xfrm>
          <a:prstGeom prst="roundRect">
            <a:avLst>
              <a:gd name="adj" fmla="val 7895"/>
            </a:avLst>
          </a:prstGeom>
          <a:solidFill>
            <a:srgbClr val="111111"/>
          </a:solidFill>
          <a:ln w="9525">
            <a:solidFill>
              <a:srgbClr val="111111"/>
            </a:solidFill>
            <a:prstDash val="solid"/>
          </a:ln>
        </p:spPr>
        <p:txBody>
          <a:bodyPr/>
          <a:lstStyle/>
          <a:p>
            <a:endParaRPr/>
          </a:p>
        </p:txBody>
      </p:sp>
      <p:sp>
        <p:nvSpPr>
          <p:cNvPr id="18" name="s09-cell-1">
            <a:extLst>
              <a:ext uri="{FF2B5EF4-FFF2-40B4-BE49-F238E27FC236}">
                <a16:creationId xmlns:a16="http://schemas.microsoft.com/office/drawing/2014/main" id="{2A8E599B-6D60-0314-FE4E-BB7D5EACA9F8}"/>
              </a:ext>
            </a:extLst>
          </p:cNvPr>
          <p:cNvSpPr>
            <a:spLocks noGrp="1"/>
          </p:cNvSpPr>
          <p:nvPr/>
        </p:nvSpPr>
        <p:spPr>
          <a:xfrm>
            <a:off x="6743700" y="3325055"/>
            <a:ext cx="361950" cy="1333500"/>
          </a:xfrm>
          <a:prstGeom prst="roundRect">
            <a:avLst>
              <a:gd name="adj" fmla="val 7895"/>
            </a:avLst>
          </a:prstGeom>
          <a:solidFill>
            <a:srgbClr val="111111"/>
          </a:solidFill>
          <a:ln w="9525">
            <a:solidFill>
              <a:srgbClr val="111111"/>
            </a:solidFill>
            <a:prstDash val="solid"/>
          </a:ln>
        </p:spPr>
        <p:txBody>
          <a:bodyPr/>
          <a:lstStyle/>
          <a:p>
            <a:endParaRPr/>
          </a:p>
        </p:txBody>
      </p:sp>
      <p:sp>
        <p:nvSpPr>
          <p:cNvPr id="19" name="s09-cell-3">
            <a:extLst>
              <a:ext uri="{FF2B5EF4-FFF2-40B4-BE49-F238E27FC236}">
                <a16:creationId xmlns:a16="http://schemas.microsoft.com/office/drawing/2014/main" id="{E5F28EC0-6B5C-DB33-8600-CB2138135E76}"/>
              </a:ext>
            </a:extLst>
          </p:cNvPr>
          <p:cNvSpPr>
            <a:spLocks noGrp="1"/>
          </p:cNvSpPr>
          <p:nvPr/>
        </p:nvSpPr>
        <p:spPr>
          <a:xfrm>
            <a:off x="8039100" y="3610805"/>
            <a:ext cx="361950" cy="762000"/>
          </a:xfrm>
          <a:prstGeom prst="roundRect">
            <a:avLst>
              <a:gd name="adj" fmla="val 7895"/>
            </a:avLst>
          </a:prstGeom>
          <a:solidFill>
            <a:srgbClr val="FF0000"/>
          </a:solidFill>
          <a:ln w="9525">
            <a:solidFill>
              <a:srgbClr val="FF0000"/>
            </a:solidFill>
            <a:prstDash val="solid"/>
          </a:ln>
        </p:spPr>
        <p:txBody>
          <a:bodyPr/>
          <a:lstStyle/>
          <a:p>
            <a:endParaRPr/>
          </a:p>
        </p:txBody>
      </p:sp>
      <p:sp>
        <p:nvSpPr>
          <p:cNvPr id="20" name="s09-cell-4">
            <a:extLst>
              <a:ext uri="{FF2B5EF4-FFF2-40B4-BE49-F238E27FC236}">
                <a16:creationId xmlns:a16="http://schemas.microsoft.com/office/drawing/2014/main" id="{15E71262-A778-465A-0F76-B732766C6317}"/>
              </a:ext>
            </a:extLst>
          </p:cNvPr>
          <p:cNvSpPr>
            <a:spLocks noGrp="1"/>
          </p:cNvSpPr>
          <p:nvPr/>
        </p:nvSpPr>
        <p:spPr>
          <a:xfrm>
            <a:off x="8686800" y="3610805"/>
            <a:ext cx="361950" cy="762000"/>
          </a:xfrm>
          <a:prstGeom prst="roundRect">
            <a:avLst>
              <a:gd name="adj" fmla="val 7895"/>
            </a:avLst>
          </a:prstGeom>
          <a:solidFill>
            <a:srgbClr val="FF0000"/>
          </a:solidFill>
          <a:ln w="9525">
            <a:solidFill>
              <a:srgbClr val="FF0000"/>
            </a:solidFill>
            <a:prstDash val="solid"/>
          </a:ln>
        </p:spPr>
        <p:txBody>
          <a:bodyPr/>
          <a:lstStyle/>
          <a:p>
            <a:endParaRPr/>
          </a:p>
        </p:txBody>
      </p:sp>
      <p:sp>
        <p:nvSpPr>
          <p:cNvPr id="21" name="s09-cell-6">
            <a:extLst>
              <a:ext uri="{FF2B5EF4-FFF2-40B4-BE49-F238E27FC236}">
                <a16:creationId xmlns:a16="http://schemas.microsoft.com/office/drawing/2014/main" id="{0297EA5F-7A1C-A3D7-64DD-1DE192AA4B8E}"/>
              </a:ext>
            </a:extLst>
          </p:cNvPr>
          <p:cNvSpPr>
            <a:spLocks noGrp="1"/>
          </p:cNvSpPr>
          <p:nvPr/>
        </p:nvSpPr>
        <p:spPr>
          <a:xfrm>
            <a:off x="9982200" y="3325055"/>
            <a:ext cx="361950" cy="1333500"/>
          </a:xfrm>
          <a:prstGeom prst="roundRect">
            <a:avLst>
              <a:gd name="adj" fmla="val 7895"/>
            </a:avLst>
          </a:prstGeom>
          <a:solidFill>
            <a:srgbClr val="111111"/>
          </a:solidFill>
          <a:ln w="9525">
            <a:solidFill>
              <a:srgbClr val="111111"/>
            </a:solidFill>
            <a:prstDash val="solid"/>
          </a:ln>
        </p:spPr>
        <p:txBody>
          <a:bodyPr/>
          <a:lstStyle/>
          <a:p>
            <a:endParaRPr/>
          </a:p>
        </p:txBody>
      </p:sp>
      <p:sp>
        <p:nvSpPr>
          <p:cNvPr id="22" name="s09-cell-7">
            <a:extLst>
              <a:ext uri="{FF2B5EF4-FFF2-40B4-BE49-F238E27FC236}">
                <a16:creationId xmlns:a16="http://schemas.microsoft.com/office/drawing/2014/main" id="{13282006-B600-93DF-C4DF-18A062EDB02E}"/>
              </a:ext>
            </a:extLst>
          </p:cNvPr>
          <p:cNvSpPr>
            <a:spLocks noGrp="1"/>
          </p:cNvSpPr>
          <p:nvPr/>
        </p:nvSpPr>
        <p:spPr>
          <a:xfrm>
            <a:off x="10629900" y="3325055"/>
            <a:ext cx="361950" cy="1333500"/>
          </a:xfrm>
          <a:prstGeom prst="roundRect">
            <a:avLst>
              <a:gd name="adj" fmla="val 7895"/>
            </a:avLst>
          </a:prstGeom>
          <a:solidFill>
            <a:srgbClr val="111111"/>
          </a:solidFill>
          <a:ln w="9525">
            <a:solidFill>
              <a:srgbClr val="111111"/>
            </a:solidFill>
            <a:prstDash val="solid"/>
          </a:ln>
        </p:spPr>
        <p:txBody>
          <a:bodyPr/>
          <a:lstStyle/>
          <a:p>
            <a:endParaRPr/>
          </a:p>
        </p:txBody>
      </p:sp>
      <p:sp>
        <p:nvSpPr>
          <p:cNvPr id="23" name="s09-cell-3">
            <a:extLst>
              <a:ext uri="{FF2B5EF4-FFF2-40B4-BE49-F238E27FC236}">
                <a16:creationId xmlns:a16="http://schemas.microsoft.com/office/drawing/2014/main" id="{99A10E66-F7A2-F10F-B166-9CB679DD8296}"/>
              </a:ext>
            </a:extLst>
          </p:cNvPr>
          <p:cNvSpPr>
            <a:spLocks noGrp="1"/>
          </p:cNvSpPr>
          <p:nvPr/>
        </p:nvSpPr>
        <p:spPr>
          <a:xfrm>
            <a:off x="7372350" y="3610805"/>
            <a:ext cx="361950" cy="762000"/>
          </a:xfrm>
          <a:prstGeom prst="roundRect">
            <a:avLst>
              <a:gd name="adj" fmla="val 7895"/>
            </a:avLst>
          </a:prstGeom>
          <a:solidFill>
            <a:srgbClr val="FF0000"/>
          </a:solidFill>
          <a:ln w="9525">
            <a:solidFill>
              <a:srgbClr val="FF0000"/>
            </a:solidFill>
            <a:prstDash val="solid"/>
          </a:ln>
        </p:spPr>
        <p:txBody>
          <a:bodyPr/>
          <a:lstStyle/>
          <a:p>
            <a:endParaRPr/>
          </a:p>
        </p:txBody>
      </p:sp>
      <p:sp>
        <p:nvSpPr>
          <p:cNvPr id="24" name="s09-cell-4">
            <a:extLst>
              <a:ext uri="{FF2B5EF4-FFF2-40B4-BE49-F238E27FC236}">
                <a16:creationId xmlns:a16="http://schemas.microsoft.com/office/drawing/2014/main" id="{FFBA6331-3E4D-16D9-0013-D8B5444C5F21}"/>
              </a:ext>
            </a:extLst>
          </p:cNvPr>
          <p:cNvSpPr>
            <a:spLocks noGrp="1"/>
          </p:cNvSpPr>
          <p:nvPr/>
        </p:nvSpPr>
        <p:spPr>
          <a:xfrm>
            <a:off x="9334858" y="3626470"/>
            <a:ext cx="361950" cy="762000"/>
          </a:xfrm>
          <a:prstGeom prst="roundRect">
            <a:avLst>
              <a:gd name="adj" fmla="val 7895"/>
            </a:avLst>
          </a:prstGeom>
          <a:solidFill>
            <a:srgbClr val="FF0000"/>
          </a:solidFill>
          <a:ln w="9525">
            <a:solidFill>
              <a:srgbClr val="FF0000"/>
            </a:solidFill>
            <a:prstDash val="solid"/>
          </a:ln>
        </p:spPr>
        <p:txBody>
          <a:bodyPr/>
          <a:lstStyle/>
          <a:p>
            <a:endParaRPr/>
          </a:p>
        </p:txBody>
      </p:sp>
      <p:sp>
        <p:nvSpPr>
          <p:cNvPr id="25" name="s09-geometry-label">
            <a:extLst>
              <a:ext uri="{FF2B5EF4-FFF2-40B4-BE49-F238E27FC236}">
                <a16:creationId xmlns:a16="http://schemas.microsoft.com/office/drawing/2014/main" id="{607135BF-1D29-5CF3-55B0-D755F62346F0}"/>
              </a:ext>
            </a:extLst>
          </p:cNvPr>
          <p:cNvSpPr>
            <a:spLocks noGrp="1"/>
          </p:cNvSpPr>
          <p:nvPr/>
        </p:nvSpPr>
        <p:spPr>
          <a:xfrm>
            <a:off x="5829300" y="2858330"/>
            <a:ext cx="5715000" cy="266700"/>
          </a:xfrm>
          <a:prstGeom prst="rect">
            <a:avLst/>
          </a:prstGeom>
          <a:noFill/>
          <a:ln w="0">
            <a:noFill/>
            <a:prstDash val="solid"/>
          </a:ln>
        </p:spPr>
        <p:txBody>
          <a:bodyPr lIns="38100" tIns="38100" rIns="38100" bIns="38100" anchor="t">
            <a:normAutofit fontScale="92593" lnSpcReduction="10000"/>
          </a:bodyPr>
          <a:lstStyle/>
          <a:p>
            <a:pPr>
              <a:buNone/>
              <a:defRPr sz="1350" b="1">
                <a:solidFill>
                  <a:srgbClr val="FF0000"/>
                </a:solidFill>
                <a:latin typeface="Roboto"/>
                <a:ea typeface="Roboto"/>
                <a:cs typeface="Roboto"/>
              </a:defRPr>
            </a:pPr>
            <a:r>
              <a:rPr sz="1350" b="1">
                <a:solidFill>
                  <a:srgbClr val="FF0000"/>
                </a:solidFill>
                <a:latin typeface="Roboto"/>
                <a:ea typeface="Roboto"/>
                <a:cs typeface="Roboto"/>
              </a:rPr>
              <a:t>PERIODIC LINE GEOMETRY</a:t>
            </a:r>
          </a:p>
        </p:txBody>
      </p:sp>
      <p:sp>
        <p:nvSpPr>
          <p:cNvPr id="27" name="TextBox 26">
            <a:extLst>
              <a:ext uri="{FF2B5EF4-FFF2-40B4-BE49-F238E27FC236}">
                <a16:creationId xmlns:a16="http://schemas.microsoft.com/office/drawing/2014/main" id="{41696E79-F8E0-E2B7-644F-5C34256D7ADC}"/>
              </a:ext>
            </a:extLst>
          </p:cNvPr>
          <p:cNvSpPr>
            <a:spLocks noGrp="1"/>
          </p:cNvSpPr>
          <p:nvPr/>
        </p:nvSpPr>
        <p:spPr>
          <a:xfrm>
            <a:off x="5664062" y="5536998"/>
            <a:ext cx="6096000" cy="923330"/>
          </a:xfrm>
          <a:prstGeom prst="rect">
            <a:avLst/>
          </a:prstGeom>
          <a:noFill/>
        </p:spPr>
        <p:txBody>
          <a:bodyPr wrap="square">
            <a:spAutoFit/>
          </a:bodyPr>
          <a:lstStyle/>
          <a:p>
            <a:r>
              <a:rPr sz="1800" b="1">
                <a:solidFill>
                  <a:srgbClr val="5A5A5A"/>
                </a:solidFill>
                <a:latin typeface="Roboto"/>
                <a:ea typeface="Roboto"/>
                <a:cs typeface="Roboto"/>
              </a:rPr>
              <a:t>Paper design targets: </a:t>
            </a:r>
          </a:p>
          <a:p>
            <a:endParaRPr sz="1800" b="1">
              <a:solidFill>
                <a:srgbClr val="5A5A5A"/>
              </a:solidFill>
              <a:latin typeface="Roboto"/>
              <a:ea typeface="Roboto"/>
              <a:cs typeface="Roboto"/>
            </a:endParaRPr>
          </a:p>
          <a:p>
            <a:r>
              <a:rPr b="1">
                <a:solidFill>
                  <a:srgbClr val="5A5A5A"/>
                </a:solidFill>
                <a:latin typeface="Roboto"/>
                <a:ea typeface="Roboto"/>
                <a:cs typeface="Roboto"/>
              </a:rPr>
              <a:t>	</a:t>
            </a:r>
            <a:r>
              <a:rPr sz="1800" b="1">
                <a:solidFill>
                  <a:srgbClr val="5A5A5A"/>
                </a:solidFill>
                <a:latin typeface="Roboto"/>
                <a:ea typeface="Roboto"/>
                <a:cs typeface="Roboto"/>
              </a:rPr>
              <a:t>unloaded ≈48 Ω and loaded ≈78 Ω. </a:t>
            </a:r>
            <a:endParaRPr/>
          </a:p>
        </p:txBody>
      </p:sp>
      <p:sp>
        <p:nvSpPr>
          <p:cNvPr id="30" name="TextBox 29">
            <a:extLst>
              <a:ext uri="{FF2B5EF4-FFF2-40B4-BE49-F238E27FC236}">
                <a16:creationId xmlns:a16="http://schemas.microsoft.com/office/drawing/2014/main" id="{06911291-50D4-5135-4C78-69B3A0C79383}"/>
              </a:ext>
            </a:extLst>
          </p:cNvPr>
          <p:cNvSpPr>
            <a:spLocks noGrp="1"/>
          </p:cNvSpPr>
          <p:nvPr/>
        </p:nvSpPr>
        <p:spPr>
          <a:xfrm>
            <a:off x="5233926" y="4764402"/>
            <a:ext cx="1724147" cy="369332"/>
          </a:xfrm>
          <a:prstGeom prst="rect">
            <a:avLst/>
          </a:prstGeom>
          <a:noFill/>
        </p:spPr>
        <p:txBody>
          <a:bodyPr wrap="square">
            <a:spAutoFit/>
          </a:bodyPr>
          <a:lstStyle/>
          <a:p>
            <a:pPr algn="ctr">
              <a:buNone/>
              <a:defRPr sz="975" b="1">
                <a:solidFill>
                  <a:srgbClr val="5A5A5A"/>
                </a:solidFill>
                <a:latin typeface="Roboto"/>
                <a:ea typeface="Roboto"/>
                <a:cs typeface="Roboto"/>
              </a:defRPr>
            </a:pPr>
            <a:r>
              <a:rPr sz="1800" b="1">
                <a:solidFill>
                  <a:srgbClr val="5A5A5A"/>
                </a:solidFill>
                <a:latin typeface="Roboto"/>
                <a:ea typeface="Roboto"/>
                <a:cs typeface="Roboto"/>
              </a:rPr>
              <a:t>unloaded cells</a:t>
            </a:r>
          </a:p>
        </p:txBody>
      </p:sp>
      <p:sp>
        <p:nvSpPr>
          <p:cNvPr id="32" name="TextBox 31">
            <a:extLst>
              <a:ext uri="{FF2B5EF4-FFF2-40B4-BE49-F238E27FC236}">
                <a16:creationId xmlns:a16="http://schemas.microsoft.com/office/drawing/2014/main" id="{70549F43-9EAA-611B-9364-F466A868CBFC}"/>
              </a:ext>
            </a:extLst>
          </p:cNvPr>
          <p:cNvSpPr>
            <a:spLocks noGrp="1"/>
          </p:cNvSpPr>
          <p:nvPr/>
        </p:nvSpPr>
        <p:spPr>
          <a:xfrm>
            <a:off x="7887058" y="4473888"/>
            <a:ext cx="1466492" cy="369332"/>
          </a:xfrm>
          <a:prstGeom prst="rect">
            <a:avLst/>
          </a:prstGeom>
          <a:noFill/>
        </p:spPr>
        <p:txBody>
          <a:bodyPr wrap="square">
            <a:spAutoFit/>
          </a:bodyPr>
          <a:lstStyle/>
          <a:p>
            <a:pPr algn="ctr">
              <a:buNone/>
              <a:defRPr sz="975" b="1">
                <a:solidFill>
                  <a:srgbClr val="FF0000"/>
                </a:solidFill>
                <a:latin typeface="Roboto"/>
                <a:ea typeface="Roboto"/>
                <a:cs typeface="Roboto"/>
              </a:defRPr>
            </a:pPr>
            <a:r>
              <a:rPr sz="1800" b="1">
                <a:solidFill>
                  <a:srgbClr val="FF0000"/>
                </a:solidFill>
                <a:latin typeface="Roboto"/>
                <a:ea typeface="Roboto"/>
                <a:cs typeface="Roboto"/>
              </a:rPr>
              <a:t>loaded cells</a:t>
            </a:r>
          </a:p>
        </p:txBody>
      </p:sp>
    </p:spTree>
    <p:extLst>
      <p:ext uri="{BB962C8B-B14F-4D97-AF65-F5344CB8AC3E}">
        <p14:creationId xmlns:p14="http://schemas.microsoft.com/office/powerpoint/2010/main" val="847671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C23647-403F-4E23-BD7D-90D488FF0D41}"/>
              </a:ext>
            </a:extLst>
          </p:cNvPr>
          <p:cNvSpPr>
            <a:spLocks noGrp="1"/>
          </p:cNvSpPr>
          <p:nvPr>
            <p:ph idx="1"/>
          </p:nvPr>
        </p:nvSpPr>
        <p:spPr>
          <a:xfrm>
            <a:off x="523875" y="2168422"/>
            <a:ext cx="4762500" cy="333375"/>
          </a:xfrm>
        </p:spPr>
        <p:txBody>
          <a:bodyPr wrap="square" lIns="38100" tIns="38100" rIns="38100" bIns="38100" anchor="t">
            <a:normAutofit/>
          </a:bodyPr>
          <a:lstStyle/>
          <a:p>
            <a:pPr marL="228600" indent="-228600">
              <a:lnSpc>
                <a:spcPct val="105000"/>
              </a:lnSpc>
              <a:spcAft>
                <a:spcPts val="1000"/>
              </a:spcAft>
              <a:buClr>
                <a:srgbClr val="B51F1F"/>
              </a:buClr>
              <a:buFont typeface="Arial"/>
              <a:buChar char="•"/>
              <a:defRPr sz="1425" b="1">
                <a:solidFill>
                  <a:srgbClr val="FF0000"/>
                </a:solidFill>
                <a:latin typeface="Roboto"/>
                <a:ea typeface="Roboto"/>
                <a:cs typeface="Roboto"/>
              </a:defRPr>
            </a:pPr>
            <a:r>
              <a:rPr sz="1425" b="1">
                <a:solidFill>
                  <a:srgbClr val="FF0000"/>
                </a:solidFill>
                <a:latin typeface="Roboto"/>
                <a:ea typeface="Roboto"/>
                <a:cs typeface="Roboto"/>
              </a:rPr>
              <a:t>HFSS MATERIAL STACK</a:t>
            </a:r>
          </a:p>
        </p:txBody>
      </p:sp>
      <p:sp>
        <p:nvSpPr>
          <p:cNvPr id="3" name="Title 2">
            <a:extLst>
              <a:ext uri="{FF2B5EF4-FFF2-40B4-BE49-F238E27FC236}">
                <a16:creationId xmlns:a16="http://schemas.microsoft.com/office/drawing/2014/main" id="{B8C87AE1-2AB1-4961-8020-87CA9C78B456}"/>
              </a:ext>
            </a:extLst>
          </p:cNvPr>
          <p:cNvSpPr>
            <a:spLocks noGrp="1"/>
          </p:cNvSpPr>
          <p:nvPr>
            <p:ph type="title"/>
          </p:nvPr>
        </p:nvSpPr>
        <p:spPr>
          <a:xfrm>
            <a:off x="523875" y="876300"/>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dirty="0">
                <a:solidFill>
                  <a:srgbClr val="111111"/>
                </a:solidFill>
                <a:latin typeface="Roboto"/>
                <a:ea typeface="Roboto"/>
                <a:cs typeface="Roboto"/>
              </a:rPr>
              <a:t>HFSS captures field coupling and the superconducting surface impedance</a:t>
            </a:r>
          </a:p>
        </p:txBody>
      </p:sp>
      <p:pic>
        <p:nvPicPr>
          <p:cNvPr id="324" name="Picture 3"/>
          <p:cNvPicPr>
            <a:picLocks noChangeAspect="1"/>
          </p:cNvPicPr>
          <p:nvPr/>
        </p:nvPicPr>
        <p:blipFill>
          <a:blip r:embed="rId3"/>
          <a:stretch>
            <a:fillRect/>
          </a:stretch>
        </p:blipFill>
        <p:spPr>
          <a:xfrm>
            <a:off x="11423896" y="4819650"/>
            <a:ext cx="9525" cy="9525"/>
          </a:xfrm>
          <a:prstGeom prst="rect">
            <a:avLst/>
          </a:prstGeom>
        </p:spPr>
      </p:pic>
      <p:pic>
        <p:nvPicPr>
          <p:cNvPr id="325" name="Graphic 35"/>
          <p:cNvPicPr>
            <a:picLocks noChangeAspect="1"/>
          </p:cNvPicPr>
          <p:nvPr/>
        </p:nvPicPr>
        <p:blipFill>
          <a:blip r:embed="rId4">
            <a:extLst>
              <a:ext uri="{96DAC541-7B7A-43D3-8B79-37D633B846F1}">
                <asvg:svgBlip xmlns:asvg="http://schemas.microsoft.com/office/drawing/2016/SVG/main" r:embed="rId5"/>
              </a:ext>
            </a:extLst>
          </a:blip>
          <a:stretch/>
        </p:blipFill>
        <p:spPr>
          <a:xfrm>
            <a:off x="476250" y="266700"/>
            <a:ext cx="857250" cy="400050"/>
          </a:xfrm>
          <a:prstGeom prst="rect">
            <a:avLst/>
          </a:prstGeom>
        </p:spPr>
      </p:pic>
      <p:sp>
        <p:nvSpPr>
          <p:cNvPr id="11" name="s10-box-0">
            <a:extLst>
              <a:ext uri="{FF2B5EF4-FFF2-40B4-BE49-F238E27FC236}">
                <a16:creationId xmlns:a16="http://schemas.microsoft.com/office/drawing/2014/main" id="{D8C771FB-B540-425C-BD95-76B92A17AAF6}"/>
              </a:ext>
            </a:extLst>
          </p:cNvPr>
          <p:cNvSpPr>
            <a:spLocks noGrp="1"/>
          </p:cNvSpPr>
          <p:nvPr/>
        </p:nvSpPr>
        <p:spPr>
          <a:xfrm>
            <a:off x="1336078" y="2619375"/>
            <a:ext cx="2931543" cy="3648903"/>
          </a:xfrm>
          <a:prstGeom prst="roundRect">
            <a:avLst>
              <a:gd name="adj" fmla="val 9756"/>
            </a:avLst>
          </a:prstGeom>
          <a:solidFill>
            <a:srgbClr val="F2F2F2"/>
          </a:solidFill>
          <a:ln w="9525">
            <a:solidFill>
              <a:srgbClr val="D8D8D8"/>
            </a:solidFill>
            <a:prstDash val="solid"/>
          </a:ln>
        </p:spPr>
        <p:txBody>
          <a:bodyPr/>
          <a:lstStyle/>
          <a:p>
            <a:endParaRPr/>
          </a:p>
        </p:txBody>
      </p:sp>
      <p:sp>
        <p:nvSpPr>
          <p:cNvPr id="12" name="s10-label-0">
            <a:extLst>
              <a:ext uri="{FF2B5EF4-FFF2-40B4-BE49-F238E27FC236}">
                <a16:creationId xmlns:a16="http://schemas.microsoft.com/office/drawing/2014/main" id="{57AD73FE-547D-46D8-97E0-A3F4F20C0569}"/>
              </a:ext>
            </a:extLst>
          </p:cNvPr>
          <p:cNvSpPr>
            <a:spLocks noGrp="1"/>
          </p:cNvSpPr>
          <p:nvPr/>
        </p:nvSpPr>
        <p:spPr>
          <a:xfrm>
            <a:off x="1455298" y="3089814"/>
            <a:ext cx="2693101" cy="2708023"/>
          </a:xfrm>
          <a:prstGeom prst="rect">
            <a:avLst/>
          </a:prstGeom>
          <a:noFill/>
          <a:ln w="0">
            <a:noFill/>
            <a:prstDash val="solid"/>
          </a:ln>
        </p:spPr>
        <p:txBody>
          <a:bodyPr lIns="38100" tIns="38100" rIns="38100" bIns="38100" anchor="ctr">
            <a:noAutofit/>
          </a:bodyPr>
          <a:lstStyle/>
          <a:p>
            <a:pPr algn="ctr">
              <a:buNone/>
              <a:defRPr sz="1575" b="1">
                <a:solidFill>
                  <a:srgbClr val="111111"/>
                </a:solidFill>
                <a:latin typeface="Roboto"/>
                <a:ea typeface="Roboto"/>
                <a:cs typeface="Roboto"/>
              </a:defRPr>
            </a:pPr>
            <a:endParaRPr sz="1600" b="1">
              <a:solidFill>
                <a:srgbClr val="111111"/>
              </a:solidFill>
              <a:latin typeface="Roboto"/>
              <a:ea typeface="Roboto"/>
              <a:cs typeface="Roboto"/>
            </a:endParaRPr>
          </a:p>
          <a:p>
            <a:pPr algn="ctr">
              <a:buNone/>
              <a:defRPr sz="1575" b="1">
                <a:solidFill>
                  <a:srgbClr val="111111"/>
                </a:solidFill>
                <a:latin typeface="Roboto"/>
                <a:ea typeface="Roboto"/>
                <a:cs typeface="Roboto"/>
              </a:defRPr>
            </a:pPr>
            <a:r>
              <a:rPr sz="1600" b="1">
                <a:solidFill>
                  <a:srgbClr val="111111"/>
                </a:solidFill>
                <a:latin typeface="Roboto"/>
                <a:ea typeface="Roboto"/>
                <a:cs typeface="Roboto"/>
              </a:rPr>
              <a:t>Nb ground </a:t>
            </a:r>
          </a:p>
          <a:p>
            <a:pPr algn="ctr">
              <a:buNone/>
              <a:defRPr sz="1575" b="1">
                <a:solidFill>
                  <a:srgbClr val="111111"/>
                </a:solidFill>
                <a:latin typeface="Roboto"/>
                <a:ea typeface="Roboto"/>
                <a:cs typeface="Roboto"/>
              </a:defRPr>
            </a:pPr>
            <a:r>
              <a:rPr sz="1600" b="1">
                <a:solidFill>
                  <a:srgbClr val="111111"/>
                </a:solidFill>
                <a:latin typeface="Roboto"/>
                <a:ea typeface="Roboto"/>
                <a:cs typeface="Roboto"/>
              </a:rPr>
              <a:t>100 nm</a:t>
            </a:r>
          </a:p>
          <a:p>
            <a:pPr algn="ctr">
              <a:buNone/>
              <a:defRPr sz="1575" b="1">
                <a:solidFill>
                  <a:srgbClr val="111111"/>
                </a:solidFill>
                <a:latin typeface="Roboto"/>
                <a:ea typeface="Roboto"/>
                <a:cs typeface="Roboto"/>
              </a:defRPr>
            </a:pPr>
            <a:endParaRPr sz="1600" b="1">
              <a:solidFill>
                <a:srgbClr val="111111"/>
              </a:solidFill>
              <a:latin typeface="Roboto"/>
              <a:ea typeface="Roboto"/>
              <a:cs typeface="Roboto"/>
            </a:endParaRPr>
          </a:p>
          <a:p>
            <a:pPr algn="ctr">
              <a:buNone/>
              <a:defRPr sz="1575" b="1">
                <a:solidFill>
                  <a:srgbClr val="111111"/>
                </a:solidFill>
                <a:latin typeface="Roboto"/>
                <a:ea typeface="Roboto"/>
                <a:cs typeface="Roboto"/>
              </a:defRPr>
            </a:pPr>
            <a:r>
              <a:rPr sz="1600" b="1">
                <a:solidFill>
                  <a:srgbClr val="111111"/>
                </a:solidFill>
                <a:latin typeface="Roboto"/>
                <a:ea typeface="Roboto"/>
                <a:cs typeface="Roboto"/>
              </a:rPr>
              <a:t>a-Si dielectric</a:t>
            </a:r>
          </a:p>
          <a:p>
            <a:pPr algn="ctr">
              <a:buNone/>
              <a:defRPr sz="1575" b="1">
                <a:solidFill>
                  <a:srgbClr val="111111"/>
                </a:solidFill>
                <a:latin typeface="Roboto"/>
                <a:ea typeface="Roboto"/>
                <a:cs typeface="Roboto"/>
              </a:defRPr>
            </a:pPr>
            <a:r>
              <a:rPr sz="1600" b="1">
                <a:solidFill>
                  <a:srgbClr val="111111"/>
                </a:solidFill>
                <a:latin typeface="Roboto"/>
                <a:ea typeface="Roboto"/>
                <a:cs typeface="Roboto"/>
              </a:rPr>
              <a:t>100 nm | εᵣ 9.1</a:t>
            </a:r>
          </a:p>
          <a:p>
            <a:pPr algn="ctr">
              <a:buNone/>
              <a:defRPr sz="1575" b="1">
                <a:solidFill>
                  <a:srgbClr val="111111"/>
                </a:solidFill>
                <a:latin typeface="Roboto"/>
                <a:ea typeface="Roboto"/>
                <a:cs typeface="Roboto"/>
              </a:defRPr>
            </a:pPr>
            <a:endParaRPr sz="1600" b="1">
              <a:solidFill>
                <a:srgbClr val="111111"/>
              </a:solidFill>
              <a:latin typeface="Roboto"/>
              <a:ea typeface="Roboto"/>
              <a:cs typeface="Roboto"/>
            </a:endParaRPr>
          </a:p>
          <a:p>
            <a:pPr algn="ctr">
              <a:buNone/>
              <a:defRPr sz="1575" b="1">
                <a:solidFill>
                  <a:srgbClr val="111111"/>
                </a:solidFill>
                <a:latin typeface="Roboto"/>
                <a:ea typeface="Roboto"/>
                <a:cs typeface="Roboto"/>
              </a:defRPr>
            </a:pPr>
            <a:endParaRPr sz="1600" b="1">
              <a:solidFill>
                <a:srgbClr val="111111"/>
              </a:solidFill>
              <a:latin typeface="Roboto"/>
              <a:ea typeface="Roboto"/>
              <a:cs typeface="Roboto"/>
            </a:endParaRPr>
          </a:p>
          <a:p>
            <a:pPr algn="ctr">
              <a:buNone/>
              <a:defRPr sz="1575" b="1">
                <a:solidFill>
                  <a:srgbClr val="111111"/>
                </a:solidFill>
                <a:latin typeface="Roboto"/>
                <a:ea typeface="Roboto"/>
                <a:cs typeface="Roboto"/>
              </a:defRPr>
            </a:pPr>
            <a:r>
              <a:rPr sz="1600" b="1">
                <a:solidFill>
                  <a:srgbClr val="111111"/>
                </a:solidFill>
                <a:latin typeface="Roboto"/>
                <a:ea typeface="Roboto"/>
                <a:cs typeface="Roboto"/>
              </a:rPr>
              <a:t>NbTiN signal
Zₛ = Rₛ + jωLₖ,sq
Rₛ=0; Lₖ,sq=30 pH/sq</a:t>
            </a:r>
          </a:p>
          <a:p>
            <a:pPr algn="ctr">
              <a:buNone/>
              <a:defRPr sz="1575" b="1">
                <a:solidFill>
                  <a:srgbClr val="111111"/>
                </a:solidFill>
                <a:latin typeface="Roboto"/>
                <a:ea typeface="Roboto"/>
                <a:cs typeface="Roboto"/>
              </a:defRPr>
            </a:pPr>
            <a:endParaRPr sz="1600" b="1">
              <a:solidFill>
                <a:srgbClr val="111111"/>
              </a:solidFill>
              <a:latin typeface="Roboto"/>
              <a:ea typeface="Roboto"/>
              <a:cs typeface="Roboto"/>
            </a:endParaRPr>
          </a:p>
          <a:p>
            <a:pPr algn="ctr">
              <a:buNone/>
              <a:defRPr sz="1575" b="1">
                <a:solidFill>
                  <a:srgbClr val="111111"/>
                </a:solidFill>
                <a:latin typeface="Roboto"/>
                <a:ea typeface="Roboto"/>
                <a:cs typeface="Roboto"/>
              </a:defRPr>
            </a:pPr>
            <a:r>
              <a:rPr sz="1600" b="1">
                <a:solidFill>
                  <a:srgbClr val="111111"/>
                </a:solidFill>
                <a:latin typeface="Roboto"/>
                <a:ea typeface="Roboto"/>
                <a:cs typeface="Roboto"/>
              </a:rPr>
              <a:t>Si substrate 
500 µm | εᵣ 11.7</a:t>
            </a:r>
          </a:p>
          <a:p>
            <a:pPr algn="ctr">
              <a:buNone/>
              <a:defRPr sz="1575" b="1">
                <a:solidFill>
                  <a:srgbClr val="111111"/>
                </a:solidFill>
                <a:latin typeface="Roboto"/>
                <a:ea typeface="Roboto"/>
                <a:cs typeface="Roboto"/>
              </a:defRPr>
            </a:pPr>
            <a:endParaRPr sz="1600" b="1">
              <a:solidFill>
                <a:srgbClr val="111111"/>
              </a:solidFill>
              <a:latin typeface="Roboto"/>
              <a:ea typeface="Roboto"/>
              <a:cs typeface="Roboto"/>
            </a:endParaRPr>
          </a:p>
          <a:p>
            <a:pPr algn="ctr">
              <a:buNone/>
              <a:defRPr sz="1575" b="1">
                <a:solidFill>
                  <a:srgbClr val="111111"/>
                </a:solidFill>
                <a:latin typeface="Roboto"/>
                <a:ea typeface="Roboto"/>
                <a:cs typeface="Roboto"/>
              </a:defRPr>
            </a:pPr>
            <a:endParaRPr sz="1600" b="1">
              <a:solidFill>
                <a:srgbClr val="111111"/>
              </a:solidFill>
              <a:latin typeface="Roboto"/>
              <a:ea typeface="Roboto"/>
              <a:cs typeface="Roboto"/>
            </a:endParaRPr>
          </a:p>
        </p:txBody>
      </p:sp>
      <p:sp>
        <p:nvSpPr>
          <p:cNvPr id="28" name="s10-hfss-frame">
            <a:extLst>
              <a:ext uri="{FF2B5EF4-FFF2-40B4-BE49-F238E27FC236}">
                <a16:creationId xmlns:a16="http://schemas.microsoft.com/office/drawing/2014/main" id="{B260CE1D-6897-41B1-B35A-9D423989E882}"/>
              </a:ext>
            </a:extLst>
          </p:cNvPr>
          <p:cNvSpPr>
            <a:spLocks noGrp="1"/>
          </p:cNvSpPr>
          <p:nvPr/>
        </p:nvSpPr>
        <p:spPr>
          <a:xfrm>
            <a:off x="6318007" y="3509967"/>
            <a:ext cx="4762500" cy="2949778"/>
          </a:xfrm>
          <a:prstGeom prst="roundRect">
            <a:avLst>
              <a:gd name="adj" fmla="val 6452"/>
            </a:avLst>
          </a:prstGeom>
          <a:noFill/>
          <a:ln w="9525">
            <a:solidFill>
              <a:srgbClr val="FF0000"/>
            </a:solidFill>
            <a:prstDash val="solid"/>
          </a:ln>
        </p:spPr>
        <p:txBody>
          <a:bodyPr/>
          <a:lstStyle/>
          <a:p>
            <a:endParaRPr/>
          </a:p>
        </p:txBody>
      </p:sp>
      <p:sp>
        <p:nvSpPr>
          <p:cNvPr id="4" name="s4-meta">
            <a:extLst>
              <a:ext uri="{FF2B5EF4-FFF2-40B4-BE49-F238E27FC236}">
                <a16:creationId xmlns:a16="http://schemas.microsoft.com/office/drawing/2014/main" id="{20877D96-E452-D6F3-BE57-F96F26A04ABF}"/>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5" name="s4-page">
            <a:extLst>
              <a:ext uri="{FF2B5EF4-FFF2-40B4-BE49-F238E27FC236}">
                <a16:creationId xmlns:a16="http://schemas.microsoft.com/office/drawing/2014/main" id="{CDC1E575-1170-D955-9A34-FCEEE3E1DD5D}"/>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10</a:t>
            </a:r>
          </a:p>
        </p:txBody>
      </p:sp>
      <p:pic>
        <p:nvPicPr>
          <p:cNvPr id="340" name="Picture 5"/>
          <p:cNvPicPr>
            <a:picLocks noChangeAspect="1"/>
          </p:cNvPicPr>
          <p:nvPr/>
        </p:nvPicPr>
        <p:blipFill>
          <a:blip r:embed="rId6"/>
          <a:stretch>
            <a:fillRect/>
          </a:stretch>
        </p:blipFill>
        <p:spPr>
          <a:xfrm>
            <a:off x="6413254" y="3604114"/>
            <a:ext cx="4604067" cy="2784192"/>
          </a:xfrm>
          <a:prstGeom prst="rect">
            <a:avLst/>
          </a:prstGeom>
        </p:spPr>
      </p:pic>
      <p:sp>
        <p:nvSpPr>
          <p:cNvPr id="31" name="TextBox 30">
            <a:extLst>
              <a:ext uri="{FF2B5EF4-FFF2-40B4-BE49-F238E27FC236}">
                <a16:creationId xmlns:a16="http://schemas.microsoft.com/office/drawing/2014/main" id="{E5AB00BF-5CDC-4A0B-5ADA-1DE718A7AC2F}"/>
              </a:ext>
            </a:extLst>
          </p:cNvPr>
          <p:cNvSpPr>
            <a:spLocks noGrp="1"/>
          </p:cNvSpPr>
          <p:nvPr/>
        </p:nvSpPr>
        <p:spPr>
          <a:xfrm>
            <a:off x="10084064" y="5640863"/>
            <a:ext cx="1791690" cy="369332"/>
          </a:xfrm>
          <a:prstGeom prst="rect">
            <a:avLst/>
          </a:prstGeom>
          <a:noFill/>
        </p:spPr>
        <p:txBody>
          <a:bodyPr wrap="square">
            <a:spAutoFit/>
          </a:bodyPr>
          <a:lstStyle/>
          <a:p>
            <a:r>
              <a:rPr sz="1800" b="1">
                <a:solidFill>
                  <a:srgbClr val="111111"/>
                </a:solidFill>
                <a:latin typeface="Roboto"/>
                <a:ea typeface="Roboto"/>
                <a:cs typeface="Roboto"/>
              </a:rPr>
              <a:t>Si substrate</a:t>
            </a:r>
            <a:endParaRPr/>
          </a:p>
        </p:txBody>
      </p:sp>
      <p:sp>
        <p:nvSpPr>
          <p:cNvPr id="34" name="TextBox 33">
            <a:extLst>
              <a:ext uri="{FF2B5EF4-FFF2-40B4-BE49-F238E27FC236}">
                <a16:creationId xmlns:a16="http://schemas.microsoft.com/office/drawing/2014/main" id="{0E66C58D-4682-77D3-E045-A9E03735C10E}"/>
              </a:ext>
            </a:extLst>
          </p:cNvPr>
          <p:cNvSpPr>
            <a:spLocks noGrp="1"/>
          </p:cNvSpPr>
          <p:nvPr/>
        </p:nvSpPr>
        <p:spPr>
          <a:xfrm>
            <a:off x="6928096" y="3892039"/>
            <a:ext cx="1428750" cy="369332"/>
          </a:xfrm>
          <a:prstGeom prst="rect">
            <a:avLst/>
          </a:prstGeom>
          <a:noFill/>
        </p:spPr>
        <p:txBody>
          <a:bodyPr wrap="square">
            <a:spAutoFit/>
          </a:bodyPr>
          <a:lstStyle/>
          <a:p>
            <a:pPr algn="ctr">
              <a:buNone/>
              <a:defRPr sz="1575" b="1">
                <a:solidFill>
                  <a:srgbClr val="111111"/>
                </a:solidFill>
                <a:latin typeface="Roboto"/>
                <a:ea typeface="Roboto"/>
                <a:cs typeface="Roboto"/>
              </a:defRPr>
            </a:pPr>
            <a:r>
              <a:rPr sz="1800" b="1">
                <a:solidFill>
                  <a:srgbClr val="111111"/>
                </a:solidFill>
                <a:latin typeface="Roboto"/>
                <a:ea typeface="Roboto"/>
                <a:cs typeface="Roboto"/>
              </a:rPr>
              <a:t>Nb ground </a:t>
            </a:r>
          </a:p>
        </p:txBody>
      </p:sp>
      <p:sp>
        <p:nvSpPr>
          <p:cNvPr id="36" name="TextBox 35">
            <a:extLst>
              <a:ext uri="{FF2B5EF4-FFF2-40B4-BE49-F238E27FC236}">
                <a16:creationId xmlns:a16="http://schemas.microsoft.com/office/drawing/2014/main" id="{338DD286-22DA-678B-FB35-E793095DC6CD}"/>
              </a:ext>
            </a:extLst>
          </p:cNvPr>
          <p:cNvSpPr>
            <a:spLocks noGrp="1"/>
          </p:cNvSpPr>
          <p:nvPr/>
        </p:nvSpPr>
        <p:spPr>
          <a:xfrm>
            <a:off x="5730834" y="4593108"/>
            <a:ext cx="1675205" cy="369332"/>
          </a:xfrm>
          <a:prstGeom prst="rect">
            <a:avLst/>
          </a:prstGeom>
          <a:noFill/>
        </p:spPr>
        <p:txBody>
          <a:bodyPr wrap="square">
            <a:spAutoFit/>
          </a:bodyPr>
          <a:lstStyle/>
          <a:p>
            <a:pPr algn="ctr">
              <a:buNone/>
              <a:defRPr sz="1575" b="1">
                <a:solidFill>
                  <a:srgbClr val="111111"/>
                </a:solidFill>
                <a:latin typeface="Roboto"/>
                <a:ea typeface="Roboto"/>
                <a:cs typeface="Roboto"/>
              </a:defRPr>
            </a:pPr>
            <a:r>
              <a:rPr sz="1800" b="1">
                <a:solidFill>
                  <a:srgbClr val="111111"/>
                </a:solidFill>
                <a:latin typeface="Roboto"/>
                <a:ea typeface="Roboto"/>
                <a:cs typeface="Roboto"/>
              </a:rPr>
              <a:t>a-Si dielectric</a:t>
            </a:r>
          </a:p>
        </p:txBody>
      </p:sp>
      <p:sp>
        <p:nvSpPr>
          <p:cNvPr id="40" name="TextBox 39">
            <a:extLst>
              <a:ext uri="{FF2B5EF4-FFF2-40B4-BE49-F238E27FC236}">
                <a16:creationId xmlns:a16="http://schemas.microsoft.com/office/drawing/2014/main" id="{9189352F-E83A-D6D3-BA20-A2FF5DD4FA02}"/>
              </a:ext>
            </a:extLst>
          </p:cNvPr>
          <p:cNvSpPr>
            <a:spLocks noGrp="1"/>
          </p:cNvSpPr>
          <p:nvPr/>
        </p:nvSpPr>
        <p:spPr>
          <a:xfrm>
            <a:off x="10084064" y="4408442"/>
            <a:ext cx="1534886" cy="369332"/>
          </a:xfrm>
          <a:prstGeom prst="rect">
            <a:avLst/>
          </a:prstGeom>
          <a:noFill/>
        </p:spPr>
        <p:txBody>
          <a:bodyPr wrap="square">
            <a:spAutoFit/>
          </a:bodyPr>
          <a:lstStyle/>
          <a:p>
            <a:r>
              <a:rPr sz="1800" b="1">
                <a:solidFill>
                  <a:srgbClr val="111111"/>
                </a:solidFill>
                <a:latin typeface="Roboto"/>
                <a:ea typeface="Roboto"/>
                <a:cs typeface="Roboto"/>
              </a:rPr>
              <a:t>NbTiN signal</a:t>
            </a:r>
            <a:endParaRPr/>
          </a:p>
        </p:txBody>
      </p:sp>
      <p:cxnSp>
        <p:nvCxnSpPr>
          <p:cNvPr id="345" name="Straight Arrow Connector 42"/>
          <p:cNvCxnSpPr>
            <a:stCxn id="31" idx="1"/>
          </p:cNvCxnSpPr>
          <p:nvPr/>
        </p:nvCxnSpPr>
        <p:spPr>
          <a:xfrm flipH="1" flipV="1">
            <a:off x="9499846" y="5723906"/>
            <a:ext cx="584218" cy="101623"/>
          </a:xfrm>
          <a:prstGeom prst="straightConnector1">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6" name="Straight Arrow Connector 43"/>
          <p:cNvCxnSpPr/>
          <p:nvPr/>
        </p:nvCxnSpPr>
        <p:spPr>
          <a:xfrm flipH="1">
            <a:off x="9227127" y="4593108"/>
            <a:ext cx="872257" cy="484978"/>
          </a:xfrm>
          <a:prstGeom prst="straightConnector1">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7" name="Straight Arrow Connector 45"/>
          <p:cNvCxnSpPr/>
          <p:nvPr/>
        </p:nvCxnSpPr>
        <p:spPr>
          <a:xfrm>
            <a:off x="6935970" y="4936805"/>
            <a:ext cx="706501" cy="187398"/>
          </a:xfrm>
          <a:prstGeom prst="straightConnector1">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 name="Straight Arrow Connector 47"/>
          <p:cNvCxnSpPr>
            <a:stCxn id="34" idx="2"/>
          </p:cNvCxnSpPr>
          <p:nvPr/>
        </p:nvCxnSpPr>
        <p:spPr>
          <a:xfrm>
            <a:off x="7642471" y="4261371"/>
            <a:ext cx="286284" cy="675434"/>
          </a:xfrm>
          <a:prstGeom prst="straightConnector1">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6647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015707-4B8E-45DB-8B29-6A5BDE2FFD51}"/>
              </a:ext>
            </a:extLst>
          </p:cNvPr>
          <p:cNvSpPr>
            <a:spLocks noGrp="1"/>
          </p:cNvSpPr>
          <p:nvPr>
            <p:ph idx="1"/>
          </p:nvPr>
        </p:nvSpPr>
        <p:spPr>
          <a:xfrm>
            <a:off x="766403" y="3304817"/>
            <a:ext cx="6264137" cy="1922684"/>
          </a:xfrm>
        </p:spPr>
        <p:txBody>
          <a:bodyPr wrap="square" lIns="38100" tIns="38100" rIns="38100" bIns="38100" anchor="ctr">
            <a:normAutofit fontScale="97126"/>
          </a:bodyPr>
          <a:lstStyle/>
          <a:p>
            <a:pPr marL="228600" indent="-228600">
              <a:lnSpc>
                <a:spcPct val="105000"/>
              </a:lnSpc>
              <a:spcAft>
                <a:spcPts val="1000"/>
              </a:spcAft>
              <a:buClr>
                <a:srgbClr val="B51F1F"/>
              </a:buClr>
              <a:buFont typeface="Arial"/>
              <a:buChar char="•"/>
              <a:defRPr sz="1725" b="1">
                <a:solidFill>
                  <a:srgbClr val="5A5A5A"/>
                </a:solidFill>
                <a:latin typeface="Roboto"/>
                <a:ea typeface="Roboto"/>
                <a:cs typeface="Roboto"/>
              </a:defRPr>
            </a:pPr>
            <a:r>
              <a:rPr sz="1725" b="1" dirty="0">
                <a:solidFill>
                  <a:schemeClr val="tx1">
                    <a:lumMod val="50000"/>
                  </a:schemeClr>
                </a:solidFill>
                <a:latin typeface="Roboto"/>
                <a:ea typeface="Roboto"/>
                <a:cs typeface="Roboto"/>
              </a:rPr>
              <a:t>Paper design targets: </a:t>
            </a:r>
            <a:endParaRPr lang="en-US" sz="1725" b="1" dirty="0">
              <a:solidFill>
                <a:schemeClr val="tx1">
                  <a:lumMod val="50000"/>
                </a:schemeClr>
              </a:solidFill>
              <a:latin typeface="Roboto"/>
              <a:ea typeface="Roboto"/>
              <a:cs typeface="Roboto"/>
            </a:endParaRPr>
          </a:p>
          <a:p>
            <a:pPr marL="447681" lvl="1" indent="-228600">
              <a:lnSpc>
                <a:spcPct val="105000"/>
              </a:lnSpc>
              <a:spcAft>
                <a:spcPts val="1000"/>
              </a:spcAft>
              <a:buClr>
                <a:srgbClr val="B51F1F"/>
              </a:buClr>
              <a:defRPr sz="1725" b="1">
                <a:solidFill>
                  <a:srgbClr val="5A5A5A"/>
                </a:solidFill>
                <a:latin typeface="Roboto"/>
                <a:ea typeface="Roboto"/>
                <a:cs typeface="Roboto"/>
              </a:defRPr>
            </a:pPr>
            <a:r>
              <a:rPr sz="1458" b="1" dirty="0">
                <a:solidFill>
                  <a:schemeClr val="tx1">
                    <a:lumMod val="50000"/>
                  </a:schemeClr>
                </a:solidFill>
                <a:latin typeface="Roboto"/>
                <a:ea typeface="Roboto"/>
                <a:cs typeface="Roboto"/>
              </a:rPr>
              <a:t>unloaded ≈48 </a:t>
            </a:r>
            <a:r>
              <a:rPr sz="1458" b="1" dirty="0" err="1">
                <a:solidFill>
                  <a:schemeClr val="tx1">
                    <a:lumMod val="50000"/>
                  </a:schemeClr>
                </a:solidFill>
                <a:latin typeface="Roboto"/>
                <a:ea typeface="Roboto"/>
                <a:cs typeface="Roboto"/>
              </a:rPr>
              <a:t>Ω</a:t>
            </a:r>
            <a:r>
              <a:rPr sz="1458" b="1" dirty="0">
                <a:solidFill>
                  <a:schemeClr val="tx1">
                    <a:lumMod val="50000"/>
                  </a:schemeClr>
                </a:solidFill>
                <a:latin typeface="Roboto"/>
                <a:ea typeface="Roboto"/>
                <a:cs typeface="Roboto"/>
              </a:rPr>
              <a:t> and loaded ≈78 </a:t>
            </a:r>
            <a:r>
              <a:rPr sz="1458" b="1" dirty="0" err="1">
                <a:solidFill>
                  <a:schemeClr val="tx1">
                    <a:lumMod val="50000"/>
                  </a:schemeClr>
                </a:solidFill>
                <a:latin typeface="Roboto"/>
                <a:ea typeface="Roboto"/>
                <a:cs typeface="Roboto"/>
              </a:rPr>
              <a:t>Ω</a:t>
            </a:r>
            <a:r>
              <a:rPr sz="1458" b="1" dirty="0">
                <a:solidFill>
                  <a:schemeClr val="tx1">
                    <a:lumMod val="50000"/>
                  </a:schemeClr>
                </a:solidFill>
                <a:latin typeface="Roboto"/>
                <a:ea typeface="Roboto"/>
                <a:cs typeface="Roboto"/>
              </a:rPr>
              <a:t>. </a:t>
            </a:r>
          </a:p>
          <a:p>
            <a:pPr marL="228600" indent="-228600">
              <a:lnSpc>
                <a:spcPct val="105000"/>
              </a:lnSpc>
              <a:spcAft>
                <a:spcPts val="1000"/>
              </a:spcAft>
              <a:buClr>
                <a:srgbClr val="B51F1F"/>
              </a:buClr>
              <a:buFont typeface="Arial"/>
              <a:buChar char="•"/>
              <a:defRPr sz="1725" b="1">
                <a:solidFill>
                  <a:srgbClr val="5A5A5A"/>
                </a:solidFill>
                <a:latin typeface="Roboto"/>
                <a:ea typeface="Roboto"/>
                <a:cs typeface="Roboto"/>
              </a:defRPr>
            </a:pPr>
            <a:r>
              <a:rPr sz="1725" b="1" dirty="0">
                <a:solidFill>
                  <a:schemeClr val="tx1">
                    <a:lumMod val="50000"/>
                  </a:schemeClr>
                </a:solidFill>
                <a:latin typeface="Roboto"/>
                <a:ea typeface="Roboto"/>
                <a:cs typeface="Roboto"/>
              </a:rPr>
              <a:t>HFSS-extracted sections: </a:t>
            </a:r>
            <a:endParaRPr lang="en-US" sz="1725" b="1" dirty="0">
              <a:solidFill>
                <a:schemeClr val="tx1">
                  <a:lumMod val="50000"/>
                </a:schemeClr>
              </a:solidFill>
              <a:latin typeface="Roboto"/>
              <a:ea typeface="Roboto"/>
              <a:cs typeface="Roboto"/>
            </a:endParaRPr>
          </a:p>
          <a:p>
            <a:pPr marL="447681" lvl="1" indent="-228600">
              <a:lnSpc>
                <a:spcPct val="105000"/>
              </a:lnSpc>
              <a:spcAft>
                <a:spcPts val="1000"/>
              </a:spcAft>
              <a:buClr>
                <a:srgbClr val="B51F1F"/>
              </a:buClr>
              <a:defRPr sz="1725" b="1">
                <a:solidFill>
                  <a:srgbClr val="5A5A5A"/>
                </a:solidFill>
                <a:latin typeface="Roboto"/>
                <a:ea typeface="Roboto"/>
                <a:cs typeface="Roboto"/>
              </a:defRPr>
            </a:pPr>
            <a:r>
              <a:rPr sz="1458" b="1" dirty="0">
                <a:solidFill>
                  <a:schemeClr val="tx1">
                    <a:lumMod val="50000"/>
                  </a:schemeClr>
                </a:solidFill>
                <a:latin typeface="Roboto"/>
                <a:ea typeface="Roboto"/>
                <a:cs typeface="Roboto"/>
              </a:rPr>
              <a:t>unloaded ≈43.09 </a:t>
            </a:r>
            <a:r>
              <a:rPr sz="1458" b="1" dirty="0" err="1">
                <a:solidFill>
                  <a:schemeClr val="tx1">
                    <a:lumMod val="50000"/>
                  </a:schemeClr>
                </a:solidFill>
                <a:latin typeface="Roboto"/>
                <a:ea typeface="Roboto"/>
                <a:cs typeface="Roboto"/>
              </a:rPr>
              <a:t>Ω</a:t>
            </a:r>
            <a:r>
              <a:rPr sz="1458" b="1" dirty="0">
                <a:solidFill>
                  <a:schemeClr val="tx1">
                    <a:lumMod val="50000"/>
                  </a:schemeClr>
                </a:solidFill>
                <a:latin typeface="Roboto"/>
                <a:ea typeface="Roboto"/>
                <a:cs typeface="Roboto"/>
              </a:rPr>
              <a:t> and loaded ≈70.20 </a:t>
            </a:r>
            <a:r>
              <a:rPr sz="1458" b="1" dirty="0" err="1">
                <a:solidFill>
                  <a:schemeClr val="tx1">
                    <a:lumMod val="50000"/>
                  </a:schemeClr>
                </a:solidFill>
                <a:latin typeface="Roboto"/>
                <a:ea typeface="Roboto"/>
                <a:cs typeface="Roboto"/>
              </a:rPr>
              <a:t>Ω</a:t>
            </a:r>
            <a:r>
              <a:rPr sz="1458" b="1" dirty="0">
                <a:solidFill>
                  <a:schemeClr val="tx1">
                    <a:lumMod val="50000"/>
                  </a:schemeClr>
                </a:solidFill>
                <a:latin typeface="Roboto"/>
                <a:ea typeface="Roboto"/>
                <a:cs typeface="Roboto"/>
              </a:rPr>
              <a:t>.</a:t>
            </a:r>
          </a:p>
        </p:txBody>
      </p:sp>
      <p:sp>
        <p:nvSpPr>
          <p:cNvPr id="3" name="Title 2">
            <a:extLst>
              <a:ext uri="{FF2B5EF4-FFF2-40B4-BE49-F238E27FC236}">
                <a16:creationId xmlns:a16="http://schemas.microsoft.com/office/drawing/2014/main" id="{06113727-415A-439B-8181-BD97327AF1B3}"/>
              </a:ext>
            </a:extLst>
          </p:cNvPr>
          <p:cNvSpPr>
            <a:spLocks noGrp="1"/>
          </p:cNvSpPr>
          <p:nvPr>
            <p:ph type="title"/>
          </p:nvPr>
        </p:nvSpPr>
        <p:spPr>
          <a:xfrm>
            <a:off x="666750" y="917786"/>
            <a:ext cx="10382250" cy="1428750"/>
          </a:xfrm>
        </p:spPr>
        <p:txBody>
          <a:bodyPr lIns="0" tIns="0" rIns="0" bIns="0" anchor="t">
            <a:normAutofit/>
          </a:bodyPr>
          <a:lstStyle/>
          <a:p>
            <a:pPr>
              <a:defRPr sz="1425" b="1">
                <a:solidFill>
                  <a:srgbClr val="FF0000"/>
                </a:solidFill>
                <a:latin typeface="Roboto"/>
                <a:ea typeface="Roboto"/>
                <a:cs typeface="Roboto"/>
              </a:defRPr>
            </a:pPr>
            <a:r>
              <a:rPr lang="en-US" sz="3600" dirty="0">
                <a:solidFill>
                  <a:schemeClr val="tx1">
                    <a:lumMod val="50000"/>
                  </a:schemeClr>
                </a:solidFill>
                <a:latin typeface="Roboto"/>
                <a:ea typeface="Roboto"/>
                <a:cs typeface="Roboto"/>
              </a:rPr>
              <a:t>Capacitance and Impedance Extraction</a:t>
            </a:r>
          </a:p>
        </p:txBody>
      </p:sp>
      <p:sp>
        <p:nvSpPr>
          <p:cNvPr id="16" name="s09-hfss-frame">
            <a:extLst>
              <a:ext uri="{FF2B5EF4-FFF2-40B4-BE49-F238E27FC236}">
                <a16:creationId xmlns:a16="http://schemas.microsoft.com/office/drawing/2014/main" id="{01F02165-B930-487F-A42B-5ADDDD037490}"/>
              </a:ext>
            </a:extLst>
          </p:cNvPr>
          <p:cNvSpPr>
            <a:spLocks noGrp="1"/>
          </p:cNvSpPr>
          <p:nvPr/>
        </p:nvSpPr>
        <p:spPr>
          <a:xfrm>
            <a:off x="6928566" y="2834058"/>
            <a:ext cx="4750769" cy="3761686"/>
          </a:xfrm>
          <a:prstGeom prst="roundRect">
            <a:avLst>
              <a:gd name="adj" fmla="val 4082"/>
            </a:avLst>
          </a:prstGeom>
          <a:noFill/>
          <a:ln w="9525">
            <a:solidFill>
              <a:srgbClr val="FF0000"/>
            </a:solidFill>
            <a:prstDash val="solid"/>
          </a:ln>
        </p:spPr>
        <p:txBody>
          <a:bodyPr/>
          <a:lstStyle/>
          <a:p>
            <a:endParaRPr/>
          </a:p>
        </p:txBody>
      </p:sp>
      <p:sp>
        <p:nvSpPr>
          <p:cNvPr id="23" name="s4-meta">
            <a:extLst>
              <a:ext uri="{FF2B5EF4-FFF2-40B4-BE49-F238E27FC236}">
                <a16:creationId xmlns:a16="http://schemas.microsoft.com/office/drawing/2014/main" id="{5C4DBA25-EF53-980B-895A-2E23B7EA7F77}"/>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24" name="s4-page">
            <a:extLst>
              <a:ext uri="{FF2B5EF4-FFF2-40B4-BE49-F238E27FC236}">
                <a16:creationId xmlns:a16="http://schemas.microsoft.com/office/drawing/2014/main" id="{414F89E6-7379-3F78-DE83-DA4C7BA5867D}"/>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11</a:t>
            </a:r>
          </a:p>
        </p:txBody>
      </p:sp>
      <p:pic>
        <p:nvPicPr>
          <p:cNvPr id="32" name="Picture 27"/>
          <p:cNvPicPr>
            <a:picLocks noChangeAspect="1"/>
          </p:cNvPicPr>
          <p:nvPr/>
        </p:nvPicPr>
        <p:blipFill>
          <a:blip r:embed="rId3"/>
          <a:stretch>
            <a:fillRect/>
          </a:stretch>
        </p:blipFill>
        <p:spPr>
          <a:xfrm>
            <a:off x="7078165" y="2999513"/>
            <a:ext cx="4501278" cy="3447224"/>
          </a:xfrm>
          <a:prstGeom prst="rect">
            <a:avLst/>
          </a:prstGeom>
        </p:spPr>
      </p:pic>
      <p:sp>
        <p:nvSpPr>
          <p:cNvPr id="11" name="TextBox 10">
            <a:extLst>
              <a:ext uri="{FF2B5EF4-FFF2-40B4-BE49-F238E27FC236}">
                <a16:creationId xmlns:a16="http://schemas.microsoft.com/office/drawing/2014/main" id="{922C1400-7DA2-1481-84F5-87421EB3F402}"/>
              </a:ext>
            </a:extLst>
          </p:cNvPr>
          <p:cNvSpPr>
            <a:spLocks noGrp="1"/>
          </p:cNvSpPr>
          <p:nvPr/>
        </p:nvSpPr>
        <p:spPr>
          <a:xfrm>
            <a:off x="7183728" y="2308138"/>
            <a:ext cx="4581826" cy="461665"/>
          </a:xfrm>
          <a:prstGeom prst="rect">
            <a:avLst/>
          </a:prstGeom>
          <a:noFill/>
        </p:spPr>
        <p:txBody>
          <a:bodyPr wrap="square">
            <a:spAutoFit/>
          </a:bodyPr>
          <a:lstStyle/>
          <a:p>
            <a:r>
              <a:rPr sz="2400" b="1">
                <a:solidFill>
                  <a:srgbClr val="111111"/>
                </a:solidFill>
                <a:latin typeface="Roboto"/>
                <a:ea typeface="Roboto"/>
                <a:cs typeface="Roboto"/>
              </a:rPr>
              <a:t>Single-cell simulation on HFSS</a:t>
            </a:r>
            <a:endParaRPr sz="2400"/>
          </a:p>
        </p:txBody>
      </p:sp>
      <p:sp>
        <p:nvSpPr>
          <p:cNvPr id="18" name="TextBox 17">
            <a:extLst>
              <a:ext uri="{FF2B5EF4-FFF2-40B4-BE49-F238E27FC236}">
                <a16:creationId xmlns:a16="http://schemas.microsoft.com/office/drawing/2014/main" id="{1A9ACDB7-0454-3C56-A704-9A2C71F1B1C1}"/>
              </a:ext>
            </a:extLst>
          </p:cNvPr>
          <p:cNvSpPr>
            <a:spLocks noGrp="1"/>
          </p:cNvSpPr>
          <p:nvPr/>
        </p:nvSpPr>
        <p:spPr>
          <a:xfrm>
            <a:off x="685221" y="5328168"/>
            <a:ext cx="7169426" cy="1182824"/>
          </a:xfrm>
          <a:prstGeom prst="rect">
            <a:avLst/>
          </a:prstGeom>
          <a:noFill/>
        </p:spPr>
        <p:txBody>
          <a:bodyPr wrap="square">
            <a:spAutoFit/>
          </a:bodyPr>
          <a:lstStyle/>
          <a:p>
            <a:pPr marL="228600" indent="-228600">
              <a:lnSpc>
                <a:spcPct val="105000"/>
              </a:lnSpc>
              <a:spcAft>
                <a:spcPts val="1000"/>
              </a:spcAft>
              <a:buClr>
                <a:srgbClr val="B51F1F"/>
              </a:buClr>
              <a:buFont typeface="Arial"/>
              <a:buChar char="•"/>
              <a:defRPr sz="1725" b="1">
                <a:solidFill>
                  <a:srgbClr val="5A5A5A"/>
                </a:solidFill>
                <a:latin typeface="Roboto"/>
                <a:ea typeface="Roboto"/>
                <a:cs typeface="Roboto"/>
              </a:defRPr>
            </a:pPr>
            <a:r>
              <a:rPr sz="1800" b="1" dirty="0">
                <a:solidFill>
                  <a:schemeClr val="tx1">
                    <a:lumMod val="50000"/>
                  </a:schemeClr>
                </a:solidFill>
                <a:latin typeface="Roboto"/>
                <a:ea typeface="Roboto"/>
                <a:cs typeface="Roboto"/>
              </a:rPr>
              <a:t>HFSS-</a:t>
            </a:r>
            <a:r>
              <a:rPr sz="1800" b="1" dirty="0" err="1">
                <a:solidFill>
                  <a:schemeClr val="tx1">
                    <a:lumMod val="50000"/>
                  </a:schemeClr>
                </a:solidFill>
                <a:latin typeface="Roboto"/>
                <a:ea typeface="Roboto"/>
                <a:cs typeface="Roboto"/>
              </a:rPr>
              <a:t>supercoductor</a:t>
            </a:r>
            <a:r>
              <a:rPr sz="1800" b="1" dirty="0">
                <a:solidFill>
                  <a:schemeClr val="tx1">
                    <a:lumMod val="50000"/>
                  </a:schemeClr>
                </a:solidFill>
                <a:latin typeface="Roboto"/>
                <a:ea typeface="Roboto"/>
                <a:cs typeface="Roboto"/>
              </a:rPr>
              <a:t>:</a:t>
            </a:r>
          </a:p>
          <a:p>
            <a:pPr marL="685800" lvl="1" indent="-228600">
              <a:lnSpc>
                <a:spcPct val="105000"/>
              </a:lnSpc>
              <a:spcAft>
                <a:spcPts val="1000"/>
              </a:spcAft>
              <a:buClr>
                <a:srgbClr val="B51F1F"/>
              </a:buClr>
              <a:buFont typeface="Arial"/>
              <a:buChar char="•"/>
              <a:defRPr sz="1725" b="1">
                <a:solidFill>
                  <a:srgbClr val="5A5A5A"/>
                </a:solidFill>
                <a:latin typeface="Roboto"/>
                <a:ea typeface="Roboto"/>
                <a:cs typeface="Roboto"/>
              </a:defRPr>
            </a:pPr>
            <a:r>
              <a:rPr b="1" dirty="0">
                <a:solidFill>
                  <a:schemeClr val="tx1">
                    <a:lumMod val="50000"/>
                  </a:schemeClr>
                </a:solidFill>
                <a:latin typeface="Roboto"/>
                <a:ea typeface="Roboto"/>
                <a:cs typeface="Roboto"/>
              </a:rPr>
              <a:t>Resistance = 0 </a:t>
            </a:r>
          </a:p>
          <a:p>
            <a:pPr marL="685800" lvl="1" indent="-228600">
              <a:lnSpc>
                <a:spcPct val="105000"/>
              </a:lnSpc>
              <a:spcAft>
                <a:spcPts val="1000"/>
              </a:spcAft>
              <a:buClr>
                <a:srgbClr val="B51F1F"/>
              </a:buClr>
              <a:buFont typeface="Arial"/>
              <a:buChar char="•"/>
              <a:defRPr sz="1725" b="1">
                <a:solidFill>
                  <a:srgbClr val="5A5A5A"/>
                </a:solidFill>
                <a:latin typeface="Roboto"/>
                <a:ea typeface="Roboto"/>
                <a:cs typeface="Roboto"/>
              </a:defRPr>
            </a:pPr>
            <a:r>
              <a:rPr b="1" dirty="0">
                <a:solidFill>
                  <a:schemeClr val="tx1">
                    <a:lumMod val="50000"/>
                  </a:schemeClr>
                </a:solidFill>
                <a:latin typeface="Roboto"/>
                <a:ea typeface="Roboto"/>
                <a:cs typeface="Roboto"/>
              </a:rPr>
              <a:t>Reactance = 2*pi*</a:t>
            </a:r>
            <a:r>
              <a:rPr b="1" dirty="0" err="1">
                <a:solidFill>
                  <a:schemeClr val="tx1">
                    <a:lumMod val="50000"/>
                  </a:schemeClr>
                </a:solidFill>
                <a:latin typeface="Roboto"/>
                <a:ea typeface="Roboto"/>
                <a:cs typeface="Roboto"/>
              </a:rPr>
              <a:t>Lk_square</a:t>
            </a:r>
            <a:endParaRPr b="1" dirty="0">
              <a:solidFill>
                <a:schemeClr val="tx1">
                  <a:lumMod val="50000"/>
                </a:schemeClr>
              </a:solidFill>
              <a:latin typeface="Roboto"/>
              <a:ea typeface="Roboto"/>
              <a:cs typeface="Roboto"/>
            </a:endParaRPr>
          </a:p>
        </p:txBody>
      </p:sp>
      <p:sp>
        <p:nvSpPr>
          <p:cNvPr id="6" name="s10-compute-label">
            <a:extLst>
              <a:ext uri="{FF2B5EF4-FFF2-40B4-BE49-F238E27FC236}">
                <a16:creationId xmlns:a16="http://schemas.microsoft.com/office/drawing/2014/main" id="{83D510D0-6F0A-C4D2-3E3A-F3B31E08462E}"/>
              </a:ext>
            </a:extLst>
          </p:cNvPr>
          <p:cNvSpPr>
            <a:spLocks noGrp="1"/>
          </p:cNvSpPr>
          <p:nvPr/>
        </p:nvSpPr>
        <p:spPr>
          <a:xfrm>
            <a:off x="793309" y="1825300"/>
            <a:ext cx="4762500" cy="333375"/>
          </a:xfrm>
          <a:prstGeom prst="rect">
            <a:avLst/>
          </a:prstGeom>
          <a:noFill/>
          <a:ln w="0">
            <a:noFill/>
            <a:prstDash val="solid"/>
          </a:ln>
        </p:spPr>
        <p:txBody>
          <a:bodyPr lIns="38100" tIns="38100" rIns="38100" bIns="38100" anchor="t">
            <a:normAutofit/>
          </a:bodyPr>
          <a:lstStyle/>
          <a:p>
            <a:pPr>
              <a:buNone/>
              <a:defRPr sz="1425" b="1">
                <a:solidFill>
                  <a:srgbClr val="FF0000"/>
                </a:solidFill>
                <a:latin typeface="Roboto"/>
                <a:ea typeface="Roboto"/>
                <a:cs typeface="Roboto"/>
              </a:defRPr>
            </a:pPr>
            <a:r>
              <a:rPr sz="1600" b="1" dirty="0">
                <a:solidFill>
                  <a:srgbClr val="FF0000"/>
                </a:solidFill>
                <a:latin typeface="Roboto"/>
                <a:ea typeface="Roboto"/>
                <a:cs typeface="Roboto"/>
              </a:rPr>
              <a:t>CAPACITANCE AND IMPEDANCE EXTRACTION</a:t>
            </a:r>
          </a:p>
        </p:txBody>
      </p:sp>
      <p:sp>
        <p:nvSpPr>
          <p:cNvPr id="7" name="s10-b-0">
            <a:extLst>
              <a:ext uri="{FF2B5EF4-FFF2-40B4-BE49-F238E27FC236}">
                <a16:creationId xmlns:a16="http://schemas.microsoft.com/office/drawing/2014/main" id="{3A32F6CC-4A26-54F3-8A27-A7401E1B8C38}"/>
              </a:ext>
            </a:extLst>
          </p:cNvPr>
          <p:cNvSpPr>
            <a:spLocks noGrp="1"/>
          </p:cNvSpPr>
          <p:nvPr/>
        </p:nvSpPr>
        <p:spPr>
          <a:xfrm>
            <a:off x="2222059" y="2666138"/>
            <a:ext cx="381000" cy="228600"/>
          </a:xfrm>
          <a:prstGeom prst="rightArrow">
            <a:avLst/>
          </a:prstGeom>
          <a:solidFill>
            <a:srgbClr val="111111"/>
          </a:solidFill>
          <a:ln w="0">
            <a:solidFill>
              <a:srgbClr val="111111"/>
            </a:solidFill>
            <a:prstDash val="solid"/>
          </a:ln>
        </p:spPr>
        <p:txBody>
          <a:bodyPr/>
          <a:lstStyle/>
          <a:p>
            <a:endParaRPr/>
          </a:p>
        </p:txBody>
      </p:sp>
      <p:sp>
        <p:nvSpPr>
          <p:cNvPr id="8" name="s10-cbox-0">
            <a:extLst>
              <a:ext uri="{FF2B5EF4-FFF2-40B4-BE49-F238E27FC236}">
                <a16:creationId xmlns:a16="http://schemas.microsoft.com/office/drawing/2014/main" id="{B7F1E4ED-D0B6-24BF-58C1-C0AEDCC4E102}"/>
              </a:ext>
            </a:extLst>
          </p:cNvPr>
          <p:cNvSpPr>
            <a:spLocks noGrp="1"/>
          </p:cNvSpPr>
          <p:nvPr/>
        </p:nvSpPr>
        <p:spPr>
          <a:xfrm>
            <a:off x="793309" y="2380388"/>
            <a:ext cx="1428750" cy="742950"/>
          </a:xfrm>
          <a:prstGeom prst="roundRect">
            <a:avLst>
              <a:gd name="adj" fmla="val 10256"/>
            </a:avLst>
          </a:prstGeom>
          <a:solidFill>
            <a:srgbClr val="FFFFFF"/>
          </a:solidFill>
          <a:ln w="9525">
            <a:solidFill>
              <a:srgbClr val="111111"/>
            </a:solidFill>
            <a:prstDash val="solid"/>
          </a:ln>
        </p:spPr>
        <p:txBody>
          <a:bodyPr/>
          <a:lstStyle/>
          <a:p>
            <a:endParaRPr/>
          </a:p>
        </p:txBody>
      </p:sp>
      <p:sp>
        <p:nvSpPr>
          <p:cNvPr id="9" name="s10-clabel-0">
            <a:extLst>
              <a:ext uri="{FF2B5EF4-FFF2-40B4-BE49-F238E27FC236}">
                <a16:creationId xmlns:a16="http://schemas.microsoft.com/office/drawing/2014/main" id="{DA97A92E-DEFB-45A3-9B9D-4ACA7E43D821}"/>
              </a:ext>
            </a:extLst>
          </p:cNvPr>
          <p:cNvSpPr>
            <a:spLocks noGrp="1"/>
          </p:cNvSpPr>
          <p:nvPr/>
        </p:nvSpPr>
        <p:spPr>
          <a:xfrm>
            <a:off x="859984" y="2485163"/>
            <a:ext cx="1295400" cy="514350"/>
          </a:xfrm>
          <a:prstGeom prst="rect">
            <a:avLst/>
          </a:prstGeom>
          <a:noFill/>
          <a:ln w="0">
            <a:noFill/>
            <a:prstDash val="solid"/>
          </a:ln>
        </p:spPr>
        <p:txBody>
          <a:bodyPr lIns="38100" tIns="38100" rIns="38100" bIns="38100" anchor="ctr">
            <a:normAutofit/>
          </a:bodyPr>
          <a:lstStyle/>
          <a:p>
            <a:pPr algn="ctr">
              <a:buNone/>
              <a:defRPr sz="1275" b="1">
                <a:solidFill>
                  <a:srgbClr val="111111"/>
                </a:solidFill>
                <a:latin typeface="Roboto"/>
                <a:ea typeface="Roboto"/>
                <a:cs typeface="Roboto"/>
              </a:defRPr>
            </a:pPr>
            <a:r>
              <a:rPr sz="1275" b="1" dirty="0">
                <a:solidFill>
                  <a:srgbClr val="111111"/>
                </a:solidFill>
                <a:latin typeface="Roboto"/>
                <a:ea typeface="Roboto"/>
                <a:cs typeface="Roboto"/>
              </a:rPr>
              <a:t>Two-port HFSS</a:t>
            </a:r>
          </a:p>
          <a:p>
            <a:pPr algn="ctr">
              <a:buNone/>
              <a:defRPr sz="1275" b="1">
                <a:solidFill>
                  <a:srgbClr val="111111"/>
                </a:solidFill>
                <a:latin typeface="Roboto"/>
                <a:ea typeface="Roboto"/>
                <a:cs typeface="Roboto"/>
              </a:defRPr>
            </a:pPr>
            <a:r>
              <a:rPr sz="1275" b="1" dirty="0">
                <a:solidFill>
                  <a:srgbClr val="111111"/>
                </a:solidFill>
                <a:latin typeface="Roboto"/>
                <a:ea typeface="Roboto"/>
                <a:cs typeface="Roboto"/>
              </a:rPr>
              <a:t>S(f)</a:t>
            </a:r>
          </a:p>
        </p:txBody>
      </p:sp>
      <p:sp>
        <p:nvSpPr>
          <p:cNvPr id="10" name="s10-b-1">
            <a:extLst>
              <a:ext uri="{FF2B5EF4-FFF2-40B4-BE49-F238E27FC236}">
                <a16:creationId xmlns:a16="http://schemas.microsoft.com/office/drawing/2014/main" id="{3B7E13BA-63B3-A3B3-45A5-234820F3F8EE}"/>
              </a:ext>
            </a:extLst>
          </p:cNvPr>
          <p:cNvSpPr>
            <a:spLocks noGrp="1"/>
          </p:cNvSpPr>
          <p:nvPr/>
        </p:nvSpPr>
        <p:spPr>
          <a:xfrm>
            <a:off x="4079434" y="2666138"/>
            <a:ext cx="381000" cy="228600"/>
          </a:xfrm>
          <a:prstGeom prst="rightArrow">
            <a:avLst/>
          </a:prstGeom>
          <a:solidFill>
            <a:srgbClr val="111111"/>
          </a:solidFill>
          <a:ln w="0">
            <a:solidFill>
              <a:srgbClr val="111111"/>
            </a:solidFill>
            <a:prstDash val="solid"/>
          </a:ln>
        </p:spPr>
        <p:txBody>
          <a:bodyPr/>
          <a:lstStyle/>
          <a:p>
            <a:endParaRPr/>
          </a:p>
        </p:txBody>
      </p:sp>
      <p:sp>
        <p:nvSpPr>
          <p:cNvPr id="12" name="s10-cbox-1">
            <a:extLst>
              <a:ext uri="{FF2B5EF4-FFF2-40B4-BE49-F238E27FC236}">
                <a16:creationId xmlns:a16="http://schemas.microsoft.com/office/drawing/2014/main" id="{7DBA82D2-17AE-D282-1BE6-A8F585DC2D77}"/>
              </a:ext>
            </a:extLst>
          </p:cNvPr>
          <p:cNvSpPr>
            <a:spLocks noGrp="1"/>
          </p:cNvSpPr>
          <p:nvPr/>
        </p:nvSpPr>
        <p:spPr>
          <a:xfrm>
            <a:off x="2650684" y="2380388"/>
            <a:ext cx="1428750" cy="742950"/>
          </a:xfrm>
          <a:prstGeom prst="roundRect">
            <a:avLst>
              <a:gd name="adj" fmla="val 10256"/>
            </a:avLst>
          </a:prstGeom>
          <a:solidFill>
            <a:srgbClr val="FFFFFF"/>
          </a:solidFill>
          <a:ln w="9525">
            <a:solidFill>
              <a:srgbClr val="111111"/>
            </a:solidFill>
            <a:prstDash val="solid"/>
          </a:ln>
        </p:spPr>
        <p:txBody>
          <a:bodyPr/>
          <a:lstStyle/>
          <a:p>
            <a:endParaRPr/>
          </a:p>
        </p:txBody>
      </p:sp>
      <p:sp>
        <p:nvSpPr>
          <p:cNvPr id="13" name="s10-clabel-1">
            <a:extLst>
              <a:ext uri="{FF2B5EF4-FFF2-40B4-BE49-F238E27FC236}">
                <a16:creationId xmlns:a16="http://schemas.microsoft.com/office/drawing/2014/main" id="{891D2099-9B7E-5CD3-FDD6-65122A41EA8B}"/>
              </a:ext>
            </a:extLst>
          </p:cNvPr>
          <p:cNvSpPr>
            <a:spLocks noGrp="1"/>
          </p:cNvSpPr>
          <p:nvPr/>
        </p:nvSpPr>
        <p:spPr>
          <a:xfrm>
            <a:off x="2717359" y="2485163"/>
            <a:ext cx="1295400" cy="514350"/>
          </a:xfrm>
          <a:prstGeom prst="rect">
            <a:avLst/>
          </a:prstGeom>
          <a:noFill/>
          <a:ln w="0">
            <a:noFill/>
            <a:prstDash val="solid"/>
          </a:ln>
        </p:spPr>
        <p:txBody>
          <a:bodyPr lIns="38100" tIns="38100" rIns="38100" bIns="38100" anchor="ctr">
            <a:normAutofit fontScale="85000" lnSpcReduction="10000"/>
          </a:bodyPr>
          <a:lstStyle/>
          <a:p>
            <a:pPr algn="ctr">
              <a:buNone/>
              <a:defRPr sz="1275" b="1">
                <a:solidFill>
                  <a:srgbClr val="111111"/>
                </a:solidFill>
                <a:latin typeface="Roboto"/>
                <a:ea typeface="Roboto"/>
                <a:cs typeface="Roboto"/>
              </a:defRPr>
            </a:pPr>
            <a:r>
              <a:rPr sz="1275" b="1" dirty="0">
                <a:solidFill>
                  <a:srgbClr val="111111"/>
                </a:solidFill>
                <a:latin typeface="Roboto"/>
                <a:ea typeface="Roboto"/>
                <a:cs typeface="Roboto"/>
              </a:rPr>
              <a:t>S → ABCD</a:t>
            </a:r>
          </a:p>
          <a:p>
            <a:pPr algn="ctr">
              <a:buNone/>
              <a:defRPr sz="1275" b="1">
                <a:solidFill>
                  <a:srgbClr val="111111"/>
                </a:solidFill>
                <a:latin typeface="Roboto"/>
                <a:ea typeface="Roboto"/>
                <a:cs typeface="Roboto"/>
              </a:defRPr>
            </a:pPr>
            <a:r>
              <a:rPr sz="1275" b="1" dirty="0">
                <a:solidFill>
                  <a:srgbClr val="111111"/>
                </a:solidFill>
                <a:latin typeface="Roboto"/>
                <a:ea typeface="Roboto"/>
                <a:cs typeface="Roboto"/>
              </a:rPr>
              <a:t>fit </a:t>
            </a:r>
            <a:r>
              <a:rPr sz="1275" b="1" dirty="0" err="1">
                <a:solidFill>
                  <a:srgbClr val="111111"/>
                </a:solidFill>
                <a:latin typeface="Roboto"/>
                <a:ea typeface="Roboto"/>
                <a:cs typeface="Roboto"/>
              </a:rPr>
              <a:t>L</a:t>
            </a:r>
            <a:r>
              <a:rPr lang="en-US" sz="1275" b="1" dirty="0" err="1">
                <a:solidFill>
                  <a:srgbClr val="111111"/>
                </a:solidFill>
                <a:latin typeface="Roboto"/>
                <a:ea typeface="Roboto"/>
                <a:cs typeface="Roboto"/>
              </a:rPr>
              <a:t>_cell</a:t>
            </a:r>
            <a:r>
              <a:rPr sz="1275" b="1" dirty="0">
                <a:solidFill>
                  <a:srgbClr val="111111"/>
                </a:solidFill>
                <a:latin typeface="Roboto"/>
                <a:ea typeface="Roboto"/>
                <a:cs typeface="Roboto"/>
              </a:rPr>
              <a:t>, C, </a:t>
            </a:r>
            <a:r>
              <a:rPr sz="1275" b="1" dirty="0" err="1">
                <a:solidFill>
                  <a:srgbClr val="111111"/>
                </a:solidFill>
                <a:latin typeface="Roboto"/>
                <a:ea typeface="Roboto"/>
                <a:cs typeface="Roboto"/>
              </a:rPr>
              <a:t>L</a:t>
            </a:r>
            <a:r>
              <a:rPr lang="en-US" sz="1275" b="1" dirty="0" err="1">
                <a:solidFill>
                  <a:srgbClr val="111111"/>
                </a:solidFill>
                <a:latin typeface="Roboto"/>
                <a:ea typeface="Roboto"/>
                <a:cs typeface="Roboto"/>
              </a:rPr>
              <a:t>_stub</a:t>
            </a:r>
            <a:endParaRPr sz="1275" b="1" dirty="0">
              <a:solidFill>
                <a:srgbClr val="111111"/>
              </a:solidFill>
              <a:latin typeface="Roboto"/>
              <a:ea typeface="Roboto"/>
              <a:cs typeface="Roboto"/>
            </a:endParaRPr>
          </a:p>
        </p:txBody>
      </p:sp>
      <p:sp>
        <p:nvSpPr>
          <p:cNvPr id="14" name="s10-cbox-2">
            <a:extLst>
              <a:ext uri="{FF2B5EF4-FFF2-40B4-BE49-F238E27FC236}">
                <a16:creationId xmlns:a16="http://schemas.microsoft.com/office/drawing/2014/main" id="{7FDCC7EB-9245-1F1E-93FB-AA2851A4320F}"/>
              </a:ext>
            </a:extLst>
          </p:cNvPr>
          <p:cNvSpPr>
            <a:spLocks noGrp="1"/>
          </p:cNvSpPr>
          <p:nvPr/>
        </p:nvSpPr>
        <p:spPr>
          <a:xfrm>
            <a:off x="4508059" y="2380388"/>
            <a:ext cx="1428750" cy="742950"/>
          </a:xfrm>
          <a:prstGeom prst="roundRect">
            <a:avLst>
              <a:gd name="adj" fmla="val 10256"/>
            </a:avLst>
          </a:prstGeom>
          <a:solidFill>
            <a:srgbClr val="FFFFFF"/>
          </a:solidFill>
          <a:ln w="9525">
            <a:solidFill>
              <a:srgbClr val="FF0000"/>
            </a:solidFill>
            <a:prstDash val="solid"/>
          </a:ln>
        </p:spPr>
        <p:txBody>
          <a:bodyPr/>
          <a:lstStyle/>
          <a:p>
            <a:endParaRPr/>
          </a:p>
        </p:txBody>
      </p:sp>
      <p:sp>
        <p:nvSpPr>
          <p:cNvPr id="15" name="s10-clabel-2">
            <a:extLst>
              <a:ext uri="{FF2B5EF4-FFF2-40B4-BE49-F238E27FC236}">
                <a16:creationId xmlns:a16="http://schemas.microsoft.com/office/drawing/2014/main" id="{2A31FCEA-EE5D-E1C5-B11E-D4883E375AA6}"/>
              </a:ext>
            </a:extLst>
          </p:cNvPr>
          <p:cNvSpPr>
            <a:spLocks noGrp="1"/>
          </p:cNvSpPr>
          <p:nvPr/>
        </p:nvSpPr>
        <p:spPr>
          <a:xfrm>
            <a:off x="4574734" y="2485163"/>
            <a:ext cx="1295400" cy="514350"/>
          </a:xfrm>
          <a:prstGeom prst="rect">
            <a:avLst/>
          </a:prstGeom>
          <a:noFill/>
          <a:ln w="0">
            <a:noFill/>
            <a:prstDash val="solid"/>
          </a:ln>
        </p:spPr>
        <p:txBody>
          <a:bodyPr lIns="38100" tIns="38100" rIns="38100" bIns="38100" anchor="ctr">
            <a:normAutofit/>
          </a:bodyPr>
          <a:lstStyle/>
          <a:p>
            <a:pPr algn="ctr">
              <a:buNone/>
              <a:defRPr sz="1275" b="1">
                <a:solidFill>
                  <a:srgbClr val="FF0000"/>
                </a:solidFill>
                <a:latin typeface="Roboto"/>
                <a:ea typeface="Roboto"/>
                <a:cs typeface="Roboto"/>
              </a:defRPr>
            </a:pPr>
            <a:r>
              <a:rPr sz="1275" b="1" dirty="0">
                <a:solidFill>
                  <a:srgbClr val="FF0000"/>
                </a:solidFill>
                <a:latin typeface="Roboto"/>
                <a:ea typeface="Roboto"/>
                <a:cs typeface="Roboto"/>
              </a:rPr>
              <a:t>Z₀ = √(L/C)</a:t>
            </a:r>
          </a:p>
          <a:p>
            <a:pPr algn="ctr">
              <a:buNone/>
              <a:defRPr sz="1275" b="1">
                <a:solidFill>
                  <a:srgbClr val="FF0000"/>
                </a:solidFill>
                <a:latin typeface="Roboto"/>
                <a:ea typeface="Roboto"/>
                <a:cs typeface="Roboto"/>
              </a:defRPr>
            </a:pPr>
            <a:r>
              <a:rPr sz="1275" b="1" dirty="0">
                <a:solidFill>
                  <a:srgbClr val="FF0000"/>
                </a:solidFill>
                <a:latin typeface="Roboto"/>
                <a:ea typeface="Roboto"/>
                <a:cs typeface="Roboto"/>
              </a:rPr>
              <a:t>select lengths</a:t>
            </a:r>
          </a:p>
        </p:txBody>
      </p:sp>
    </p:spTree>
    <p:extLst>
      <p:ext uri="{BB962C8B-B14F-4D97-AF65-F5344CB8AC3E}">
        <p14:creationId xmlns:p14="http://schemas.microsoft.com/office/powerpoint/2010/main" val="351974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38B914-01E0-42FF-9E51-A9CC5CE393BB}"/>
              </a:ext>
            </a:extLst>
          </p:cNvPr>
          <p:cNvSpPr>
            <a:spLocks noGrp="1"/>
          </p:cNvSpPr>
          <p:nvPr>
            <p:ph type="title"/>
          </p:nvPr>
        </p:nvSpPr>
        <p:spPr>
          <a:xfrm>
            <a:off x="523875" y="914400"/>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HFSS cell simulations link loading geometry to effective impedance</a:t>
            </a:r>
          </a:p>
        </p:txBody>
      </p:sp>
      <p:pic>
        <p:nvPicPr>
          <p:cNvPr id="22" name="Picture 3"/>
          <p:cNvPicPr>
            <a:picLocks noChangeAspect="1"/>
          </p:cNvPicPr>
          <p:nvPr/>
        </p:nvPicPr>
        <p:blipFill>
          <a:blip r:embed="rId3"/>
          <a:srcRect t="5500"/>
          <a:stretch>
            <a:fillRect/>
          </a:stretch>
        </p:blipFill>
        <p:spPr>
          <a:xfrm>
            <a:off x="552450" y="2857500"/>
            <a:ext cx="7000875" cy="3695700"/>
          </a:xfrm>
          <a:prstGeom prst="rect">
            <a:avLst/>
          </a:prstGeom>
        </p:spPr>
      </p:pic>
      <p:sp>
        <p:nvSpPr>
          <p:cNvPr id="5" name="s11-divider">
            <a:extLst>
              <a:ext uri="{FF2B5EF4-FFF2-40B4-BE49-F238E27FC236}">
                <a16:creationId xmlns:a16="http://schemas.microsoft.com/office/drawing/2014/main" id="{07C8A937-B033-43D4-ACA6-92BF749F1551}"/>
              </a:ext>
            </a:extLst>
          </p:cNvPr>
          <p:cNvSpPr>
            <a:spLocks noGrp="1"/>
          </p:cNvSpPr>
          <p:nvPr/>
        </p:nvSpPr>
        <p:spPr>
          <a:xfrm>
            <a:off x="7858125" y="3257550"/>
            <a:ext cx="0" cy="2905125"/>
          </a:xfrm>
          <a:prstGeom prst="line">
            <a:avLst/>
          </a:prstGeom>
          <a:noFill/>
          <a:ln w="19050">
            <a:solidFill>
              <a:srgbClr val="D8D8D8"/>
            </a:solidFill>
            <a:prstDash val="solid"/>
          </a:ln>
        </p:spPr>
        <p:txBody>
          <a:bodyPr/>
          <a:lstStyle/>
          <a:p>
            <a:endParaRPr/>
          </a:p>
        </p:txBody>
      </p:sp>
      <p:sp>
        <p:nvSpPr>
          <p:cNvPr id="6" name="s11-paper">
            <a:extLst>
              <a:ext uri="{FF2B5EF4-FFF2-40B4-BE49-F238E27FC236}">
                <a16:creationId xmlns:a16="http://schemas.microsoft.com/office/drawing/2014/main" id="{022481E4-0375-4EC6-8C3C-7A61A11FCEE2}"/>
              </a:ext>
            </a:extLst>
          </p:cNvPr>
          <p:cNvSpPr>
            <a:spLocks noGrp="1"/>
          </p:cNvSpPr>
          <p:nvPr/>
        </p:nvSpPr>
        <p:spPr>
          <a:xfrm>
            <a:off x="8239125" y="3429000"/>
            <a:ext cx="2381250" cy="266700"/>
          </a:xfrm>
          <a:prstGeom prst="rect">
            <a:avLst/>
          </a:prstGeom>
          <a:noFill/>
          <a:ln w="0">
            <a:noFill/>
            <a:prstDash val="solid"/>
          </a:ln>
        </p:spPr>
        <p:txBody>
          <a:bodyPr lIns="38100" tIns="38100" rIns="38100" bIns="38100" anchor="t">
            <a:normAutofit lnSpcReduction="10000"/>
          </a:bodyPr>
          <a:lstStyle/>
          <a:p>
            <a:pPr>
              <a:buNone/>
              <a:defRPr sz="1350" b="1">
                <a:solidFill>
                  <a:srgbClr val="5A5A5A"/>
                </a:solidFill>
                <a:latin typeface="Roboto"/>
                <a:ea typeface="Roboto"/>
                <a:cs typeface="Roboto"/>
              </a:defRPr>
            </a:pPr>
            <a:r>
              <a:rPr sz="1350" b="1">
                <a:solidFill>
                  <a:srgbClr val="5A5A5A"/>
                </a:solidFill>
                <a:latin typeface="Roboto"/>
                <a:ea typeface="Roboto"/>
                <a:cs typeface="Roboto"/>
              </a:rPr>
              <a:t>SHORT / LOADED</a:t>
            </a:r>
          </a:p>
        </p:txBody>
      </p:sp>
      <p:sp>
        <p:nvSpPr>
          <p:cNvPr id="7" name="s11-paper-value">
            <a:extLst>
              <a:ext uri="{FF2B5EF4-FFF2-40B4-BE49-F238E27FC236}">
                <a16:creationId xmlns:a16="http://schemas.microsoft.com/office/drawing/2014/main" id="{DC0F0AF5-9DCE-44DD-A40A-67F75D5031A3}"/>
              </a:ext>
            </a:extLst>
          </p:cNvPr>
          <p:cNvSpPr>
            <a:spLocks noGrp="1"/>
          </p:cNvSpPr>
          <p:nvPr/>
        </p:nvSpPr>
        <p:spPr>
          <a:xfrm>
            <a:off x="8239125" y="3714750"/>
            <a:ext cx="3048000" cy="495300"/>
          </a:xfrm>
          <a:prstGeom prst="rect">
            <a:avLst/>
          </a:prstGeom>
          <a:noFill/>
          <a:ln w="0">
            <a:noFill/>
            <a:prstDash val="solid"/>
          </a:ln>
        </p:spPr>
        <p:txBody>
          <a:bodyPr lIns="38100" tIns="38100" rIns="38100" bIns="38100" anchor="t">
            <a:normAutofit fontScale="87302" lnSpcReduction="10000"/>
          </a:bodyPr>
          <a:lstStyle/>
          <a:p>
            <a:pPr>
              <a:buNone/>
              <a:defRPr sz="1575" b="1">
                <a:solidFill>
                  <a:srgbClr val="111111"/>
                </a:solidFill>
                <a:latin typeface="Roboto"/>
                <a:ea typeface="Roboto"/>
                <a:cs typeface="Roboto"/>
              </a:defRPr>
            </a:pPr>
            <a:r>
              <a:rPr sz="1575" b="1">
                <a:solidFill>
                  <a:srgbClr val="111111"/>
                </a:solidFill>
                <a:latin typeface="Roboto"/>
                <a:ea typeface="Roboto"/>
                <a:cs typeface="Roboto"/>
              </a:rPr>
              <a:t>3.9 µm</a:t>
            </a:r>
          </a:p>
          <a:p>
            <a:pPr>
              <a:buNone/>
              <a:defRPr sz="1575" b="1">
                <a:solidFill>
                  <a:srgbClr val="111111"/>
                </a:solidFill>
                <a:latin typeface="Roboto"/>
                <a:ea typeface="Roboto"/>
                <a:cs typeface="Roboto"/>
              </a:defRPr>
            </a:pPr>
            <a:r>
              <a:rPr sz="1575" b="1">
                <a:solidFill>
                  <a:srgbClr val="111111"/>
                </a:solidFill>
                <a:latin typeface="Roboto"/>
                <a:ea typeface="Roboto"/>
                <a:cs typeface="Roboto"/>
              </a:rPr>
              <a:t>HFSS-derived: 70.20 Ω</a:t>
            </a:r>
          </a:p>
        </p:txBody>
      </p:sp>
      <p:sp>
        <p:nvSpPr>
          <p:cNvPr id="8" name="s11-model">
            <a:extLst>
              <a:ext uri="{FF2B5EF4-FFF2-40B4-BE49-F238E27FC236}">
                <a16:creationId xmlns:a16="http://schemas.microsoft.com/office/drawing/2014/main" id="{845A3B50-75ED-43B7-A060-5DA19EA9C417}"/>
              </a:ext>
            </a:extLst>
          </p:cNvPr>
          <p:cNvSpPr>
            <a:spLocks noGrp="1"/>
          </p:cNvSpPr>
          <p:nvPr/>
        </p:nvSpPr>
        <p:spPr>
          <a:xfrm>
            <a:off x="8239125" y="4524375"/>
            <a:ext cx="1714500" cy="266700"/>
          </a:xfrm>
          <a:prstGeom prst="rect">
            <a:avLst/>
          </a:prstGeom>
          <a:noFill/>
          <a:ln w="0">
            <a:noFill/>
            <a:prstDash val="solid"/>
          </a:ln>
        </p:spPr>
        <p:txBody>
          <a:bodyPr lIns="38100" tIns="38100" rIns="38100" bIns="38100" anchor="t">
            <a:normAutofit/>
          </a:bodyPr>
          <a:lstStyle/>
          <a:p>
            <a:pPr>
              <a:buNone/>
              <a:defRPr sz="975" b="1">
                <a:solidFill>
                  <a:srgbClr val="FF0000"/>
                </a:solidFill>
                <a:latin typeface="Roboto"/>
                <a:ea typeface="Roboto"/>
                <a:cs typeface="Roboto"/>
              </a:defRPr>
            </a:pPr>
            <a:r>
              <a:rPr sz="975" b="1">
                <a:solidFill>
                  <a:srgbClr val="FF0000"/>
                </a:solidFill>
                <a:latin typeface="Roboto"/>
                <a:ea typeface="Roboto"/>
                <a:cs typeface="Roboto"/>
              </a:rPr>
              <a:t>LONG / UNLOADED</a:t>
            </a:r>
          </a:p>
        </p:txBody>
      </p:sp>
      <p:sp>
        <p:nvSpPr>
          <p:cNvPr id="9" name="s11-model-value">
            <a:extLst>
              <a:ext uri="{FF2B5EF4-FFF2-40B4-BE49-F238E27FC236}">
                <a16:creationId xmlns:a16="http://schemas.microsoft.com/office/drawing/2014/main" id="{A85D7DF5-6597-4BCA-8890-6908635721DC}"/>
              </a:ext>
            </a:extLst>
          </p:cNvPr>
          <p:cNvSpPr>
            <a:spLocks noGrp="1"/>
          </p:cNvSpPr>
          <p:nvPr/>
        </p:nvSpPr>
        <p:spPr>
          <a:xfrm>
            <a:off x="8239125" y="4810125"/>
            <a:ext cx="3048000" cy="495300"/>
          </a:xfrm>
          <a:prstGeom prst="rect">
            <a:avLst/>
          </a:prstGeom>
          <a:noFill/>
          <a:ln w="0">
            <a:noFill/>
            <a:prstDash val="solid"/>
          </a:ln>
        </p:spPr>
        <p:txBody>
          <a:bodyPr lIns="38100" tIns="38100" rIns="38100" bIns="38100" anchor="t">
            <a:normAutofit/>
          </a:bodyPr>
          <a:lstStyle/>
          <a:p>
            <a:pPr>
              <a:buNone/>
              <a:defRPr sz="1125" b="1">
                <a:solidFill>
                  <a:srgbClr val="111111"/>
                </a:solidFill>
                <a:latin typeface="Roboto"/>
                <a:ea typeface="Roboto"/>
                <a:cs typeface="Roboto"/>
              </a:defRPr>
            </a:pPr>
            <a:r>
              <a:rPr sz="1125" b="1">
                <a:solidFill>
                  <a:srgbClr val="111111"/>
                </a:solidFill>
                <a:latin typeface="Roboto"/>
                <a:ea typeface="Roboto"/>
                <a:cs typeface="Roboto"/>
              </a:rPr>
              <a:t>12.1 µm</a:t>
            </a:r>
          </a:p>
          <a:p>
            <a:pPr>
              <a:buNone/>
              <a:defRPr sz="1125" b="1">
                <a:solidFill>
                  <a:srgbClr val="111111"/>
                </a:solidFill>
                <a:latin typeface="Roboto"/>
                <a:ea typeface="Roboto"/>
                <a:cs typeface="Roboto"/>
              </a:defRPr>
            </a:pPr>
            <a:r>
              <a:rPr sz="1125" b="1">
                <a:solidFill>
                  <a:srgbClr val="111111"/>
                </a:solidFill>
                <a:latin typeface="Roboto"/>
                <a:ea typeface="Roboto"/>
                <a:cs typeface="Roboto"/>
              </a:rPr>
              <a:t>HFSS-derived: 43.09 Ω</a:t>
            </a:r>
          </a:p>
        </p:txBody>
      </p:sp>
      <p:sp>
        <p:nvSpPr>
          <p:cNvPr id="10" name="s11-small-rule">
            <a:extLst>
              <a:ext uri="{FF2B5EF4-FFF2-40B4-BE49-F238E27FC236}">
                <a16:creationId xmlns:a16="http://schemas.microsoft.com/office/drawing/2014/main" id="{0D8ACBA6-C9CF-4A4C-A32F-04E05D121CA0}"/>
              </a:ext>
            </a:extLst>
          </p:cNvPr>
          <p:cNvSpPr>
            <a:spLocks noGrp="1"/>
          </p:cNvSpPr>
          <p:nvPr/>
        </p:nvSpPr>
        <p:spPr>
          <a:xfrm>
            <a:off x="8239125" y="5476875"/>
            <a:ext cx="2809875" cy="0"/>
          </a:xfrm>
          <a:prstGeom prst="line">
            <a:avLst/>
          </a:prstGeom>
          <a:noFill/>
          <a:ln w="28575">
            <a:solidFill>
              <a:srgbClr val="FF0000"/>
            </a:solidFill>
            <a:prstDash val="solid"/>
          </a:ln>
        </p:spPr>
        <p:txBody>
          <a:bodyPr/>
          <a:lstStyle/>
          <a:p>
            <a:endParaRPr/>
          </a:p>
        </p:txBody>
      </p:sp>
      <p:sp>
        <p:nvSpPr>
          <p:cNvPr id="4" name="s4-meta">
            <a:extLst>
              <a:ext uri="{FF2B5EF4-FFF2-40B4-BE49-F238E27FC236}">
                <a16:creationId xmlns:a16="http://schemas.microsoft.com/office/drawing/2014/main" id="{A25E6032-047D-7157-7D8B-42614FA21F71}"/>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12" name="s4-page">
            <a:extLst>
              <a:ext uri="{FF2B5EF4-FFF2-40B4-BE49-F238E27FC236}">
                <a16:creationId xmlns:a16="http://schemas.microsoft.com/office/drawing/2014/main" id="{2EA95560-11CA-813B-CC1E-85D829ADCC2A}"/>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12</a:t>
            </a:r>
          </a:p>
        </p:txBody>
      </p:sp>
      <p:sp>
        <p:nvSpPr>
          <p:cNvPr id="14" name="s11-graph-title">
            <a:extLst>
              <a:ext uri="{FF2B5EF4-FFF2-40B4-BE49-F238E27FC236}">
                <a16:creationId xmlns:a16="http://schemas.microsoft.com/office/drawing/2014/main" id="{4EB4EDF9-9F1C-4C07-A0D9-4807F78C548A}"/>
              </a:ext>
            </a:extLst>
          </p:cNvPr>
          <p:cNvSpPr>
            <a:spLocks noGrp="1"/>
          </p:cNvSpPr>
          <p:nvPr/>
        </p:nvSpPr>
        <p:spPr>
          <a:xfrm>
            <a:off x="552450" y="2609850"/>
            <a:ext cx="7000875" cy="228600"/>
          </a:xfrm>
          <a:prstGeom prst="rect">
            <a:avLst/>
          </a:prstGeom>
          <a:noFill/>
          <a:ln w="0">
            <a:noFill/>
            <a:prstDash val="solid"/>
          </a:ln>
        </p:spPr>
        <p:txBody>
          <a:bodyPr lIns="19050" tIns="0" rIns="19050" bIns="0" anchor="ctr"/>
          <a:lstStyle/>
          <a:p>
            <a:pPr algn="ctr">
              <a:buNone/>
              <a:defRPr sz="1275" b="1">
                <a:solidFill>
                  <a:srgbClr val="111111"/>
                </a:solidFill>
                <a:latin typeface="Roboto"/>
                <a:ea typeface="Roboto"/>
                <a:cs typeface="Roboto"/>
              </a:defRPr>
            </a:pPr>
            <a:r>
              <a:rPr sz="1275" b="1">
                <a:solidFill>
                  <a:srgbClr val="111111"/>
                </a:solidFill>
                <a:latin typeface="Roboto"/>
                <a:ea typeface="Roboto"/>
                <a:cs typeface="Roboto"/>
              </a:rPr>
              <a:t>Stub length and effective impedance</a:t>
            </a:r>
          </a:p>
        </p:txBody>
      </p:sp>
      <p:sp>
        <p:nvSpPr>
          <p:cNvPr id="16" name="s10-plot-background">
            <a:extLst>
              <a:ext uri="{FF2B5EF4-FFF2-40B4-BE49-F238E27FC236}">
                <a16:creationId xmlns:a16="http://schemas.microsoft.com/office/drawing/2014/main" id="{36282035-00DD-42CF-8D88-2CF0FFD4653E}"/>
              </a:ext>
            </a:extLst>
          </p:cNvPr>
          <p:cNvSpPr>
            <a:spLocks noGrp="1"/>
          </p:cNvSpPr>
          <p:nvPr/>
        </p:nvSpPr>
        <p:spPr>
          <a:xfrm>
            <a:off x="552450" y="2857500"/>
            <a:ext cx="7000875" cy="3695700"/>
          </a:xfrm>
          <a:prstGeom prst="rect">
            <a:avLst/>
          </a:prstGeom>
          <a:solidFill>
            <a:srgbClr val="FFFFFF"/>
          </a:solidFill>
          <a:ln w="0">
            <a:noFill/>
            <a:prstDash val="solid"/>
          </a:ln>
        </p:spPr>
        <p:txBody>
          <a:bodyPr/>
          <a:lstStyle/>
          <a:p>
            <a:endParaRPr/>
          </a:p>
        </p:txBody>
      </p:sp>
      <p:pic>
        <p:nvPicPr>
          <p:cNvPr id="33" name="Picture 33"/>
          <p:cNvPicPr>
            <a:picLocks noChangeAspect="1"/>
          </p:cNvPicPr>
          <p:nvPr/>
        </p:nvPicPr>
        <p:blipFill>
          <a:blip r:embed="rId4"/>
          <a:stretch/>
        </p:blipFill>
        <p:spPr>
          <a:xfrm>
            <a:off x="854686" y="2857500"/>
            <a:ext cx="6396404" cy="3695700"/>
          </a:xfrm>
          <a:prstGeom prst="rect">
            <a:avLst/>
          </a:prstGeom>
        </p:spPr>
      </p:pic>
      <p:graphicFrame>
        <p:nvGraphicFramePr>
          <p:cNvPr id="34" name="Chart"/>
          <p:cNvGraphicFramePr/>
          <p:nvPr/>
        </p:nvGraphicFramePr>
        <p:xfrm>
          <a:off x="552450" y="2857500"/>
          <a:ext cx="7000875" cy="3695700"/>
        </p:xfrm>
        <a:graphic>
          <a:graphicData uri="http://schemas.openxmlformats.org/drawingml/2006/chart">
            <c:chart xmlns:c="http://schemas.openxmlformats.org/drawingml/2006/chart" xmlns:r="http://schemas.openxmlformats.org/officeDocument/2006/relationships" r:id="rId5"/>
          </a:graphicData>
        </a:graphic>
      </p:graphicFrame>
      <p:sp>
        <p:nvSpPr>
          <p:cNvPr id="13" name="Content Placeholder 12">
            <a:extLst>
              <a:ext uri="{FF2B5EF4-FFF2-40B4-BE49-F238E27FC236}">
                <a16:creationId xmlns:a16="http://schemas.microsoft.com/office/drawing/2014/main" id="{353FD4F2-79BE-3EB2-466F-6C77D7ABC274}"/>
              </a:ext>
            </a:extLst>
          </p:cNvPr>
          <p:cNvSpPr>
            <a:spLocks noGrp="1"/>
          </p:cNvSpPr>
          <p:nvPr>
            <p:ph idx="1"/>
          </p:nvPr>
        </p:nvSpPr>
        <p:spPr/>
        <p:txBody>
          <a:bodyPr/>
          <a:lstStyle/>
          <a:p>
            <a:endParaRPr lang="en-JP" dirty="0"/>
          </a:p>
        </p:txBody>
      </p:sp>
    </p:spTree>
    <p:extLst>
      <p:ext uri="{BB962C8B-B14F-4D97-AF65-F5344CB8AC3E}">
        <p14:creationId xmlns:p14="http://schemas.microsoft.com/office/powerpoint/2010/main" val="1976281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C23647-403F-4E23-BD7D-90D488FF0D41}"/>
              </a:ext>
            </a:extLst>
          </p:cNvPr>
          <p:cNvSpPr>
            <a:spLocks noGrp="1"/>
          </p:cNvSpPr>
          <p:nvPr>
            <p:ph idx="1"/>
          </p:nvPr>
        </p:nvSpPr>
        <p:spPr>
          <a:xfrm>
            <a:off x="523875" y="2305050"/>
            <a:ext cx="4762500" cy="333375"/>
          </a:xfrm>
        </p:spPr>
        <p:txBody>
          <a:bodyPr wrap="square" lIns="38100" tIns="38100" rIns="38100" bIns="38100" anchor="t">
            <a:normAutofit/>
          </a:bodyPr>
          <a:lstStyle/>
          <a:p>
            <a:pPr marL="228600" indent="-228600">
              <a:lnSpc>
                <a:spcPct val="105000"/>
              </a:lnSpc>
              <a:spcAft>
                <a:spcPts val="1000"/>
              </a:spcAft>
              <a:buClr>
                <a:srgbClr val="B51F1F"/>
              </a:buClr>
              <a:buFont typeface="Arial"/>
              <a:buChar char="•"/>
              <a:defRPr sz="1425" b="1">
                <a:solidFill>
                  <a:srgbClr val="FF0000"/>
                </a:solidFill>
                <a:latin typeface="Roboto"/>
                <a:ea typeface="Roboto"/>
                <a:cs typeface="Roboto"/>
              </a:defRPr>
            </a:pPr>
            <a:r>
              <a:rPr sz="1425" b="1">
                <a:solidFill>
                  <a:srgbClr val="FF0000"/>
                </a:solidFill>
                <a:latin typeface="Roboto"/>
                <a:ea typeface="Roboto"/>
                <a:cs typeface="Roboto"/>
              </a:rPr>
              <a:t>HFSS: FROM GEOMETRY TO S-PARAMETERS</a:t>
            </a:r>
          </a:p>
        </p:txBody>
      </p:sp>
      <p:sp>
        <p:nvSpPr>
          <p:cNvPr id="3" name="Title 2">
            <a:extLst>
              <a:ext uri="{FF2B5EF4-FFF2-40B4-BE49-F238E27FC236}">
                <a16:creationId xmlns:a16="http://schemas.microsoft.com/office/drawing/2014/main" id="{B8C87AE1-2AB1-4961-8020-87CA9C78B456}"/>
              </a:ext>
            </a:extLst>
          </p:cNvPr>
          <p:cNvSpPr>
            <a:spLocks noGrp="1"/>
          </p:cNvSpPr>
          <p:nvPr>
            <p:ph type="title"/>
          </p:nvPr>
        </p:nvSpPr>
        <p:spPr>
          <a:xfrm>
            <a:off x="523875" y="876300"/>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HFSS turns the device geometry into a microwave response</a:t>
            </a:r>
          </a:p>
        </p:txBody>
      </p:sp>
      <p:pic>
        <p:nvPicPr>
          <p:cNvPr id="38" name="Picture 3"/>
          <p:cNvPicPr>
            <a:picLocks noChangeAspect="1"/>
          </p:cNvPicPr>
          <p:nvPr/>
        </p:nvPicPr>
        <p:blipFill>
          <a:blip r:embed="rId3"/>
          <a:stretch>
            <a:fillRect/>
          </a:stretch>
        </p:blipFill>
        <p:spPr>
          <a:xfrm>
            <a:off x="11601450" y="6286500"/>
            <a:ext cx="9525" cy="9525"/>
          </a:xfrm>
          <a:prstGeom prst="rect">
            <a:avLst/>
          </a:prstGeom>
        </p:spPr>
      </p:pic>
      <p:pic>
        <p:nvPicPr>
          <p:cNvPr id="39" name="Graphic 35"/>
          <p:cNvPicPr>
            <a:picLocks noChangeAspect="1"/>
          </p:cNvPicPr>
          <p:nvPr/>
        </p:nvPicPr>
        <p:blipFill>
          <a:blip r:embed="rId4">
            <a:extLst>
              <a:ext uri="{96DAC541-7B7A-43D3-8B79-37D633B846F1}">
                <asvg:svgBlip xmlns:asvg="http://schemas.microsoft.com/office/drawing/2016/SVG/main" r:embed="rId5"/>
              </a:ext>
            </a:extLst>
          </a:blip>
          <a:stretch/>
        </p:blipFill>
        <p:spPr>
          <a:xfrm>
            <a:off x="476250" y="266700"/>
            <a:ext cx="857250" cy="400050"/>
          </a:xfrm>
          <a:prstGeom prst="rect">
            <a:avLst/>
          </a:prstGeom>
        </p:spPr>
      </p:pic>
      <p:sp>
        <p:nvSpPr>
          <p:cNvPr id="8" name="s10-a-0">
            <a:extLst>
              <a:ext uri="{FF2B5EF4-FFF2-40B4-BE49-F238E27FC236}">
                <a16:creationId xmlns:a16="http://schemas.microsoft.com/office/drawing/2014/main" id="{97F3EBF1-6FD7-4397-B261-007FE27819C8}"/>
              </a:ext>
            </a:extLst>
          </p:cNvPr>
          <p:cNvSpPr>
            <a:spLocks noGrp="1"/>
          </p:cNvSpPr>
          <p:nvPr/>
        </p:nvSpPr>
        <p:spPr>
          <a:xfrm>
            <a:off x="2619375" y="2981325"/>
            <a:ext cx="457200" cy="228600"/>
          </a:xfrm>
          <a:prstGeom prst="rightArrow">
            <a:avLst/>
          </a:prstGeom>
          <a:solidFill>
            <a:srgbClr val="FF0000"/>
          </a:solidFill>
          <a:ln w="0">
            <a:solidFill>
              <a:srgbClr val="FF0000"/>
            </a:solidFill>
            <a:prstDash val="solid"/>
          </a:ln>
        </p:spPr>
        <p:txBody>
          <a:bodyPr/>
          <a:lstStyle/>
          <a:p>
            <a:endParaRPr/>
          </a:p>
        </p:txBody>
      </p:sp>
      <p:sp>
        <p:nvSpPr>
          <p:cNvPr id="9" name="s10-a-1">
            <a:extLst>
              <a:ext uri="{FF2B5EF4-FFF2-40B4-BE49-F238E27FC236}">
                <a16:creationId xmlns:a16="http://schemas.microsoft.com/office/drawing/2014/main" id="{74FF865B-7585-4B44-B578-8F13FAE4C93F}"/>
              </a:ext>
            </a:extLst>
          </p:cNvPr>
          <p:cNvSpPr>
            <a:spLocks noGrp="1"/>
          </p:cNvSpPr>
          <p:nvPr/>
        </p:nvSpPr>
        <p:spPr>
          <a:xfrm>
            <a:off x="5381625" y="2981325"/>
            <a:ext cx="457200" cy="228600"/>
          </a:xfrm>
          <a:prstGeom prst="rightArrow">
            <a:avLst/>
          </a:prstGeom>
          <a:solidFill>
            <a:srgbClr val="FF0000"/>
          </a:solidFill>
          <a:ln w="0">
            <a:solidFill>
              <a:srgbClr val="FF0000"/>
            </a:solidFill>
            <a:prstDash val="solid"/>
          </a:ln>
        </p:spPr>
        <p:txBody>
          <a:bodyPr/>
          <a:lstStyle/>
          <a:p>
            <a:endParaRPr/>
          </a:p>
        </p:txBody>
      </p:sp>
      <p:sp>
        <p:nvSpPr>
          <p:cNvPr id="10" name="s10-a-2">
            <a:extLst>
              <a:ext uri="{FF2B5EF4-FFF2-40B4-BE49-F238E27FC236}">
                <a16:creationId xmlns:a16="http://schemas.microsoft.com/office/drawing/2014/main" id="{2D5593F0-D288-418A-8598-A0B0C694AA8E}"/>
              </a:ext>
            </a:extLst>
          </p:cNvPr>
          <p:cNvSpPr>
            <a:spLocks noGrp="1"/>
          </p:cNvSpPr>
          <p:nvPr/>
        </p:nvSpPr>
        <p:spPr>
          <a:xfrm>
            <a:off x="8143875" y="2981325"/>
            <a:ext cx="457200" cy="228600"/>
          </a:xfrm>
          <a:prstGeom prst="rightArrow">
            <a:avLst/>
          </a:prstGeom>
          <a:solidFill>
            <a:srgbClr val="FF0000"/>
          </a:solidFill>
          <a:ln w="0">
            <a:solidFill>
              <a:srgbClr val="FF0000"/>
            </a:solidFill>
            <a:prstDash val="solid"/>
          </a:ln>
        </p:spPr>
        <p:txBody>
          <a:bodyPr/>
          <a:lstStyle/>
          <a:p>
            <a:endParaRPr/>
          </a:p>
        </p:txBody>
      </p:sp>
      <p:sp>
        <p:nvSpPr>
          <p:cNvPr id="11" name="s10-box-0">
            <a:extLst>
              <a:ext uri="{FF2B5EF4-FFF2-40B4-BE49-F238E27FC236}">
                <a16:creationId xmlns:a16="http://schemas.microsoft.com/office/drawing/2014/main" id="{D8C771FB-B540-425C-BD95-76B92A17AAF6}"/>
              </a:ext>
            </a:extLst>
          </p:cNvPr>
          <p:cNvSpPr>
            <a:spLocks noGrp="1"/>
          </p:cNvSpPr>
          <p:nvPr/>
        </p:nvSpPr>
        <p:spPr>
          <a:xfrm>
            <a:off x="542925" y="2733675"/>
            <a:ext cx="1952625" cy="781050"/>
          </a:xfrm>
          <a:prstGeom prst="roundRect">
            <a:avLst>
              <a:gd name="adj" fmla="val 9756"/>
            </a:avLst>
          </a:prstGeom>
          <a:noFill/>
          <a:ln w="0">
            <a:noFill/>
            <a:prstDash val="solid"/>
          </a:ln>
        </p:spPr>
        <p:txBody>
          <a:bodyPr/>
          <a:lstStyle/>
          <a:p>
            <a:endParaRPr/>
          </a:p>
        </p:txBody>
      </p:sp>
      <p:sp>
        <p:nvSpPr>
          <p:cNvPr id="12" name="s10-label-0">
            <a:extLst>
              <a:ext uri="{FF2B5EF4-FFF2-40B4-BE49-F238E27FC236}">
                <a16:creationId xmlns:a16="http://schemas.microsoft.com/office/drawing/2014/main" id="{57AD73FE-547D-46D8-97E0-A3F4F20C0569}"/>
              </a:ext>
            </a:extLst>
          </p:cNvPr>
          <p:cNvSpPr>
            <a:spLocks noGrp="1"/>
          </p:cNvSpPr>
          <p:nvPr/>
        </p:nvSpPr>
        <p:spPr>
          <a:xfrm>
            <a:off x="523875" y="2781300"/>
            <a:ext cx="2000250" cy="666750"/>
          </a:xfrm>
          <a:prstGeom prst="rect">
            <a:avLst/>
          </a:prstGeom>
          <a:noFill/>
          <a:ln w="0">
            <a:noFill/>
            <a:prstDash val="solid"/>
          </a:ln>
        </p:spPr>
        <p:txBody>
          <a:bodyPr lIns="38100" tIns="38100" rIns="38100" bIns="38100" anchor="ctr">
            <a:normAutofit fontScale="92164" lnSpcReduction="20000"/>
          </a:bodyPr>
          <a:lstStyle/>
          <a:p>
            <a:pPr algn="ctr">
              <a:buNone/>
              <a:defRPr sz="1575" b="1">
                <a:solidFill>
                  <a:srgbClr val="111111"/>
                </a:solidFill>
                <a:latin typeface="Roboto"/>
                <a:ea typeface="Roboto"/>
                <a:cs typeface="Roboto"/>
              </a:defRPr>
            </a:pPr>
            <a:r>
              <a:rPr sz="1575" b="1">
                <a:solidFill>
                  <a:srgbClr val="111111"/>
                </a:solidFill>
                <a:latin typeface="Roboto"/>
                <a:ea typeface="Roboto"/>
                <a:cs typeface="Roboto"/>
              </a:rPr>
              <a:t>1  Model the cell
between two 50 Ω ports</a:t>
            </a:r>
          </a:p>
        </p:txBody>
      </p:sp>
      <p:sp>
        <p:nvSpPr>
          <p:cNvPr id="13" name="s10-box-1">
            <a:extLst>
              <a:ext uri="{FF2B5EF4-FFF2-40B4-BE49-F238E27FC236}">
                <a16:creationId xmlns:a16="http://schemas.microsoft.com/office/drawing/2014/main" id="{9CBA92F1-3779-47F4-8418-B293D8DDB70F}"/>
              </a:ext>
            </a:extLst>
          </p:cNvPr>
          <p:cNvSpPr>
            <a:spLocks noGrp="1"/>
          </p:cNvSpPr>
          <p:nvPr/>
        </p:nvSpPr>
        <p:spPr>
          <a:xfrm>
            <a:off x="3162300" y="2733675"/>
            <a:ext cx="1952625" cy="781050"/>
          </a:xfrm>
          <a:prstGeom prst="roundRect">
            <a:avLst>
              <a:gd name="adj" fmla="val 9756"/>
            </a:avLst>
          </a:prstGeom>
          <a:noFill/>
          <a:ln w="0">
            <a:noFill/>
            <a:prstDash val="solid"/>
          </a:ln>
        </p:spPr>
        <p:txBody>
          <a:bodyPr/>
          <a:lstStyle/>
          <a:p>
            <a:endParaRPr/>
          </a:p>
        </p:txBody>
      </p:sp>
      <p:sp>
        <p:nvSpPr>
          <p:cNvPr id="14" name="s10-label-1">
            <a:extLst>
              <a:ext uri="{FF2B5EF4-FFF2-40B4-BE49-F238E27FC236}">
                <a16:creationId xmlns:a16="http://schemas.microsoft.com/office/drawing/2014/main" id="{D0559F7A-DE41-43AD-8452-7E5FDA502F0F}"/>
              </a:ext>
            </a:extLst>
          </p:cNvPr>
          <p:cNvSpPr>
            <a:spLocks noGrp="1"/>
          </p:cNvSpPr>
          <p:nvPr/>
        </p:nvSpPr>
        <p:spPr>
          <a:xfrm>
            <a:off x="3286125" y="2781300"/>
            <a:ext cx="1952625" cy="666750"/>
          </a:xfrm>
          <a:prstGeom prst="rect">
            <a:avLst/>
          </a:prstGeom>
          <a:noFill/>
          <a:ln w="0">
            <a:noFill/>
            <a:prstDash val="solid"/>
          </a:ln>
        </p:spPr>
        <p:txBody>
          <a:bodyPr lIns="38100" tIns="38100" rIns="38100" bIns="38100" anchor="ctr">
            <a:normAutofit/>
          </a:bodyPr>
          <a:lstStyle/>
          <a:p>
            <a:pPr algn="ctr">
              <a:buNone/>
              <a:defRPr sz="1575" b="1">
                <a:solidFill>
                  <a:srgbClr val="111111"/>
                </a:solidFill>
                <a:latin typeface="Roboto"/>
                <a:ea typeface="Roboto"/>
                <a:cs typeface="Roboto"/>
              </a:defRPr>
            </a:pPr>
            <a:r>
              <a:rPr sz="1575" b="1">
                <a:solidFill>
                  <a:srgbClr val="111111"/>
                </a:solidFill>
                <a:latin typeface="Roboto"/>
                <a:ea typeface="Roboto"/>
                <a:cs typeface="Roboto"/>
              </a:rPr>
              <a:t>2  HFSS solves the</a:t>
            </a:r>
          </a:p>
          <a:p>
            <a:pPr algn="ctr">
              <a:buNone/>
              <a:defRPr sz="1575" b="1">
                <a:solidFill>
                  <a:srgbClr val="111111"/>
                </a:solidFill>
                <a:latin typeface="Roboto"/>
                <a:ea typeface="Roboto"/>
                <a:cs typeface="Roboto"/>
              </a:defRPr>
            </a:pPr>
            <a:r>
              <a:rPr sz="1575" b="1">
                <a:solidFill>
                  <a:srgbClr val="111111"/>
                </a:solidFill>
                <a:latin typeface="Roboto"/>
                <a:ea typeface="Roboto"/>
                <a:cs typeface="Roboto"/>
              </a:rPr>
              <a:t>microwave fields</a:t>
            </a:r>
          </a:p>
        </p:txBody>
      </p:sp>
      <p:sp>
        <p:nvSpPr>
          <p:cNvPr id="15" name="s10-box-2">
            <a:extLst>
              <a:ext uri="{FF2B5EF4-FFF2-40B4-BE49-F238E27FC236}">
                <a16:creationId xmlns:a16="http://schemas.microsoft.com/office/drawing/2014/main" id="{653B8BFE-C192-434E-8532-3DCE1F7359A9}"/>
              </a:ext>
            </a:extLst>
          </p:cNvPr>
          <p:cNvSpPr>
            <a:spLocks noGrp="1"/>
          </p:cNvSpPr>
          <p:nvPr/>
        </p:nvSpPr>
        <p:spPr>
          <a:xfrm>
            <a:off x="6162675" y="2733675"/>
            <a:ext cx="1952625" cy="781050"/>
          </a:xfrm>
          <a:prstGeom prst="roundRect">
            <a:avLst>
              <a:gd name="adj" fmla="val 9756"/>
            </a:avLst>
          </a:prstGeom>
          <a:noFill/>
          <a:ln w="0">
            <a:noFill/>
            <a:prstDash val="solid"/>
          </a:ln>
        </p:spPr>
        <p:txBody>
          <a:bodyPr/>
          <a:lstStyle/>
          <a:p>
            <a:endParaRPr/>
          </a:p>
        </p:txBody>
      </p:sp>
      <p:sp>
        <p:nvSpPr>
          <p:cNvPr id="16" name="s10-label-2">
            <a:extLst>
              <a:ext uri="{FF2B5EF4-FFF2-40B4-BE49-F238E27FC236}">
                <a16:creationId xmlns:a16="http://schemas.microsoft.com/office/drawing/2014/main" id="{94FB4062-1494-4EB4-9738-E6B57582D3C5}"/>
              </a:ext>
            </a:extLst>
          </p:cNvPr>
          <p:cNvSpPr>
            <a:spLocks noGrp="1"/>
          </p:cNvSpPr>
          <p:nvPr/>
        </p:nvSpPr>
        <p:spPr>
          <a:xfrm>
            <a:off x="6048375" y="2781300"/>
            <a:ext cx="1952625" cy="666750"/>
          </a:xfrm>
          <a:prstGeom prst="rect">
            <a:avLst/>
          </a:prstGeom>
          <a:noFill/>
          <a:ln w="0">
            <a:noFill/>
            <a:prstDash val="solid"/>
          </a:ln>
        </p:spPr>
        <p:txBody>
          <a:bodyPr lIns="38100" tIns="38100" rIns="38100" bIns="38100" anchor="ctr">
            <a:normAutofit/>
          </a:bodyPr>
          <a:lstStyle/>
          <a:p>
            <a:pPr algn="ctr">
              <a:buNone/>
              <a:defRPr sz="1575" b="1">
                <a:solidFill>
                  <a:srgbClr val="111111"/>
                </a:solidFill>
                <a:latin typeface="Roboto"/>
                <a:ea typeface="Roboto"/>
                <a:cs typeface="Roboto"/>
              </a:defRPr>
            </a:pPr>
            <a:r>
              <a:rPr sz="1575" b="1">
                <a:solidFill>
                  <a:srgbClr val="111111"/>
                </a:solidFill>
                <a:latin typeface="Roboto"/>
                <a:ea typeface="Roboto"/>
                <a:cs typeface="Roboto"/>
              </a:rPr>
              <a:t>3  Export S(f)</a:t>
            </a:r>
          </a:p>
          <a:p>
            <a:pPr algn="ctr">
              <a:buNone/>
              <a:defRPr sz="1575" b="1">
                <a:solidFill>
                  <a:srgbClr val="111111"/>
                </a:solidFill>
                <a:latin typeface="Roboto"/>
                <a:ea typeface="Roboto"/>
                <a:cs typeface="Roboto"/>
              </a:defRPr>
            </a:pPr>
            <a:r>
              <a:rPr sz="1575" b="1">
                <a:solidFill>
                  <a:srgbClr val="111111"/>
                </a:solidFill>
                <a:latin typeface="Roboto"/>
                <a:ea typeface="Roboto"/>
                <a:cs typeface="Roboto"/>
              </a:rPr>
              <a:t>over frequency</a:t>
            </a:r>
          </a:p>
        </p:txBody>
      </p:sp>
      <p:sp>
        <p:nvSpPr>
          <p:cNvPr id="17" name="s10-box-3">
            <a:extLst>
              <a:ext uri="{FF2B5EF4-FFF2-40B4-BE49-F238E27FC236}">
                <a16:creationId xmlns:a16="http://schemas.microsoft.com/office/drawing/2014/main" id="{CDDBC53A-90B0-4FE8-A0E0-E249E83AD73C}"/>
              </a:ext>
            </a:extLst>
          </p:cNvPr>
          <p:cNvSpPr>
            <a:spLocks noGrp="1"/>
          </p:cNvSpPr>
          <p:nvPr/>
        </p:nvSpPr>
        <p:spPr>
          <a:xfrm>
            <a:off x="9210675" y="2733675"/>
            <a:ext cx="1952625" cy="781050"/>
          </a:xfrm>
          <a:prstGeom prst="roundRect">
            <a:avLst>
              <a:gd name="adj" fmla="val 9756"/>
            </a:avLst>
          </a:prstGeom>
          <a:noFill/>
          <a:ln w="0">
            <a:noFill/>
            <a:prstDash val="solid"/>
          </a:ln>
        </p:spPr>
        <p:txBody>
          <a:bodyPr/>
          <a:lstStyle/>
          <a:p>
            <a:endParaRPr/>
          </a:p>
        </p:txBody>
      </p:sp>
      <p:sp>
        <p:nvSpPr>
          <p:cNvPr id="18" name="s10-label-3">
            <a:extLst>
              <a:ext uri="{FF2B5EF4-FFF2-40B4-BE49-F238E27FC236}">
                <a16:creationId xmlns:a16="http://schemas.microsoft.com/office/drawing/2014/main" id="{AF5518DA-EE7E-43A4-B69A-E59325707F69}"/>
              </a:ext>
            </a:extLst>
          </p:cNvPr>
          <p:cNvSpPr>
            <a:spLocks noGrp="1"/>
          </p:cNvSpPr>
          <p:nvPr/>
        </p:nvSpPr>
        <p:spPr>
          <a:xfrm>
            <a:off x="8810625" y="2781300"/>
            <a:ext cx="2381250" cy="666750"/>
          </a:xfrm>
          <a:prstGeom prst="rect">
            <a:avLst/>
          </a:prstGeom>
          <a:noFill/>
          <a:ln w="0">
            <a:noFill/>
            <a:prstDash val="solid"/>
          </a:ln>
        </p:spPr>
        <p:txBody>
          <a:bodyPr lIns="38100" tIns="38100" rIns="38100" bIns="38100" anchor="ctr">
            <a:normAutofit/>
          </a:bodyPr>
          <a:lstStyle/>
          <a:p>
            <a:pPr algn="ctr">
              <a:buNone/>
              <a:defRPr sz="1575" b="1">
                <a:solidFill>
                  <a:srgbClr val="FF0000"/>
                </a:solidFill>
                <a:latin typeface="Roboto"/>
                <a:ea typeface="Roboto"/>
                <a:cs typeface="Roboto"/>
              </a:defRPr>
            </a:pPr>
            <a:r>
              <a:rPr sz="1575" b="1">
                <a:solidFill>
                  <a:srgbClr val="FF0000"/>
                </a:solidFill>
                <a:latin typeface="Roboto"/>
                <a:ea typeface="Roboto"/>
                <a:cs typeface="Roboto"/>
              </a:rPr>
              <a:t>RAW HFSS OUTPUT
S₁₁, S₂₁, S₁₂, S₂₂</a:t>
            </a:r>
          </a:p>
        </p:txBody>
      </p:sp>
      <p:sp>
        <p:nvSpPr>
          <p:cNvPr id="19" name="s10-compute-label">
            <a:extLst>
              <a:ext uri="{FF2B5EF4-FFF2-40B4-BE49-F238E27FC236}">
                <a16:creationId xmlns:a16="http://schemas.microsoft.com/office/drawing/2014/main" id="{4BC2C820-A2A7-4F93-BA2D-A3E441C169AE}"/>
              </a:ext>
            </a:extLst>
          </p:cNvPr>
          <p:cNvSpPr>
            <a:spLocks noGrp="1"/>
          </p:cNvSpPr>
          <p:nvPr/>
        </p:nvSpPr>
        <p:spPr>
          <a:xfrm>
            <a:off x="523875" y="3905250"/>
            <a:ext cx="5715000" cy="333375"/>
          </a:xfrm>
          <a:prstGeom prst="rect">
            <a:avLst/>
          </a:prstGeom>
          <a:noFill/>
          <a:ln w="0">
            <a:noFill/>
            <a:prstDash val="solid"/>
          </a:ln>
        </p:spPr>
        <p:txBody>
          <a:bodyPr lIns="38100" tIns="38100" rIns="38100" bIns="38100" anchor="t">
            <a:normAutofit/>
          </a:bodyPr>
          <a:lstStyle/>
          <a:p>
            <a:pPr>
              <a:buNone/>
              <a:defRPr sz="1425" b="1">
                <a:solidFill>
                  <a:srgbClr val="FF0000"/>
                </a:solidFill>
                <a:latin typeface="Roboto"/>
                <a:ea typeface="Roboto"/>
                <a:cs typeface="Roboto"/>
              </a:defRPr>
            </a:pPr>
            <a:r>
              <a:rPr sz="1425" b="1">
                <a:solidFill>
                  <a:srgbClr val="FF0000"/>
                </a:solidFill>
                <a:latin typeface="Roboto"/>
                <a:ea typeface="Roboto"/>
                <a:cs typeface="Roboto"/>
              </a:rPr>
              <a:t>WHAT WE EXTRACT FROM HFSS</a:t>
            </a:r>
          </a:p>
        </p:txBody>
      </p:sp>
      <p:sp>
        <p:nvSpPr>
          <p:cNvPr id="20" name="s10-b-0">
            <a:extLst>
              <a:ext uri="{FF2B5EF4-FFF2-40B4-BE49-F238E27FC236}">
                <a16:creationId xmlns:a16="http://schemas.microsoft.com/office/drawing/2014/main" id="{F0F7C507-A525-4201-8313-931FBEFF5FC6}"/>
              </a:ext>
            </a:extLst>
          </p:cNvPr>
          <p:cNvSpPr>
            <a:spLocks noGrp="1"/>
          </p:cNvSpPr>
          <p:nvPr/>
        </p:nvSpPr>
        <p:spPr>
          <a:xfrm>
            <a:off x="1971675" y="4733925"/>
            <a:ext cx="381000" cy="228600"/>
          </a:xfrm>
          <a:prstGeom prst="rightArrow">
            <a:avLst/>
          </a:prstGeom>
          <a:noFill/>
          <a:ln w="0">
            <a:noFill/>
            <a:prstDash val="solid"/>
          </a:ln>
        </p:spPr>
        <p:txBody>
          <a:bodyPr/>
          <a:lstStyle/>
          <a:p>
            <a:endParaRPr/>
          </a:p>
        </p:txBody>
      </p:sp>
      <p:sp>
        <p:nvSpPr>
          <p:cNvPr id="21" name="s10-cbox-0">
            <a:extLst>
              <a:ext uri="{FF2B5EF4-FFF2-40B4-BE49-F238E27FC236}">
                <a16:creationId xmlns:a16="http://schemas.microsoft.com/office/drawing/2014/main" id="{295CAB53-DD0D-4F97-A2B0-8432EF259D44}"/>
              </a:ext>
            </a:extLst>
          </p:cNvPr>
          <p:cNvSpPr>
            <a:spLocks noGrp="1"/>
          </p:cNvSpPr>
          <p:nvPr/>
        </p:nvSpPr>
        <p:spPr>
          <a:xfrm>
            <a:off x="542925" y="4448175"/>
            <a:ext cx="1428750" cy="742950"/>
          </a:xfrm>
          <a:prstGeom prst="roundRect">
            <a:avLst>
              <a:gd name="adj" fmla="val 10256"/>
            </a:avLst>
          </a:prstGeom>
          <a:noFill/>
          <a:ln w="0">
            <a:noFill/>
            <a:prstDash val="solid"/>
          </a:ln>
        </p:spPr>
        <p:txBody>
          <a:bodyPr/>
          <a:lstStyle/>
          <a:p>
            <a:endParaRPr/>
          </a:p>
        </p:txBody>
      </p:sp>
      <p:sp>
        <p:nvSpPr>
          <p:cNvPr id="22" name="s10-clabel-0">
            <a:extLst>
              <a:ext uri="{FF2B5EF4-FFF2-40B4-BE49-F238E27FC236}">
                <a16:creationId xmlns:a16="http://schemas.microsoft.com/office/drawing/2014/main" id="{68D3755A-C50F-45CB-8068-2CA3E593E480}"/>
              </a:ext>
            </a:extLst>
          </p:cNvPr>
          <p:cNvSpPr>
            <a:spLocks noGrp="1"/>
          </p:cNvSpPr>
          <p:nvPr/>
        </p:nvSpPr>
        <p:spPr>
          <a:xfrm>
            <a:off x="552450" y="4448175"/>
            <a:ext cx="2143125" cy="619125"/>
          </a:xfrm>
          <a:prstGeom prst="rect">
            <a:avLst/>
          </a:prstGeom>
          <a:noFill/>
          <a:ln w="0">
            <a:noFill/>
            <a:prstDash val="solid"/>
          </a:ln>
        </p:spPr>
        <p:txBody>
          <a:bodyPr lIns="38100" tIns="38100" rIns="38100" bIns="38100" anchor="ctr">
            <a:normAutofit fontScale="92500"/>
          </a:bodyPr>
          <a:lstStyle/>
          <a:p>
            <a:pPr algn="ctr">
              <a:buNone/>
              <a:defRPr sz="1275" b="1">
                <a:solidFill>
                  <a:srgbClr val="111111"/>
                </a:solidFill>
                <a:latin typeface="Roboto"/>
                <a:ea typeface="Roboto"/>
                <a:cs typeface="Roboto"/>
              </a:defRPr>
            </a:pPr>
            <a:r>
              <a:rPr sz="1600" b="1" dirty="0">
                <a:solidFill>
                  <a:srgbClr val="111111"/>
                </a:solidFill>
                <a:latin typeface="Roboto"/>
                <a:ea typeface="Roboto"/>
                <a:cs typeface="Roboto"/>
              </a:rPr>
              <a:t>SINGLE CELL</a:t>
            </a:r>
          </a:p>
          <a:p>
            <a:pPr algn="ctr">
              <a:buNone/>
              <a:defRPr sz="1275" b="1">
                <a:solidFill>
                  <a:srgbClr val="111111"/>
                </a:solidFill>
                <a:latin typeface="Roboto"/>
                <a:ea typeface="Roboto"/>
                <a:cs typeface="Roboto"/>
              </a:defRPr>
            </a:pPr>
            <a:r>
              <a:rPr sz="1600" b="1" dirty="0" err="1">
                <a:solidFill>
                  <a:srgbClr val="111111"/>
                </a:solidFill>
                <a:latin typeface="Roboto"/>
                <a:ea typeface="Roboto"/>
                <a:cs typeface="Roboto"/>
              </a:rPr>
              <a:t>L</a:t>
            </a:r>
            <a:r>
              <a:rPr lang="en-US" sz="1600" b="1" dirty="0" err="1">
                <a:solidFill>
                  <a:srgbClr val="111111"/>
                </a:solidFill>
                <a:latin typeface="Roboto"/>
                <a:ea typeface="Roboto"/>
                <a:cs typeface="Roboto"/>
              </a:rPr>
              <a:t>_cell</a:t>
            </a:r>
            <a:r>
              <a:rPr sz="1600" b="1" dirty="0">
                <a:solidFill>
                  <a:srgbClr val="111111"/>
                </a:solidFill>
                <a:latin typeface="Roboto"/>
                <a:ea typeface="Roboto"/>
                <a:cs typeface="Roboto"/>
              </a:rPr>
              <a:t>, C, </a:t>
            </a:r>
            <a:r>
              <a:rPr sz="1600" b="1" dirty="0" err="1">
                <a:solidFill>
                  <a:srgbClr val="111111"/>
                </a:solidFill>
                <a:latin typeface="Roboto"/>
                <a:ea typeface="Roboto"/>
                <a:cs typeface="Roboto"/>
              </a:rPr>
              <a:t>L</a:t>
            </a:r>
            <a:r>
              <a:rPr lang="en-US" sz="1600" b="1" dirty="0" err="1">
                <a:solidFill>
                  <a:srgbClr val="111111"/>
                </a:solidFill>
                <a:latin typeface="Roboto"/>
                <a:ea typeface="Roboto"/>
                <a:cs typeface="Roboto"/>
              </a:rPr>
              <a:t>_stub</a:t>
            </a:r>
            <a:r>
              <a:rPr sz="1600" b="1" dirty="0">
                <a:solidFill>
                  <a:srgbClr val="111111"/>
                </a:solidFill>
                <a:latin typeface="Roboto"/>
                <a:ea typeface="Roboto"/>
                <a:cs typeface="Roboto"/>
              </a:rPr>
              <a:t> and Z₀</a:t>
            </a:r>
          </a:p>
        </p:txBody>
      </p:sp>
      <p:sp>
        <p:nvSpPr>
          <p:cNvPr id="23" name="s10-b-1">
            <a:extLst>
              <a:ext uri="{FF2B5EF4-FFF2-40B4-BE49-F238E27FC236}">
                <a16:creationId xmlns:a16="http://schemas.microsoft.com/office/drawing/2014/main" id="{CDD7CF92-96ED-40D3-8BB9-09959593DC1C}"/>
              </a:ext>
            </a:extLst>
          </p:cNvPr>
          <p:cNvSpPr>
            <a:spLocks noGrp="1"/>
          </p:cNvSpPr>
          <p:nvPr/>
        </p:nvSpPr>
        <p:spPr>
          <a:xfrm>
            <a:off x="3829050" y="4733925"/>
            <a:ext cx="381000" cy="228600"/>
          </a:xfrm>
          <a:prstGeom prst="rightArrow">
            <a:avLst/>
          </a:prstGeom>
          <a:noFill/>
          <a:ln w="0">
            <a:noFill/>
            <a:prstDash val="solid"/>
          </a:ln>
        </p:spPr>
        <p:txBody>
          <a:bodyPr/>
          <a:lstStyle/>
          <a:p>
            <a:endParaRPr/>
          </a:p>
        </p:txBody>
      </p:sp>
      <p:sp>
        <p:nvSpPr>
          <p:cNvPr id="24" name="s10-cbox-1">
            <a:extLst>
              <a:ext uri="{FF2B5EF4-FFF2-40B4-BE49-F238E27FC236}">
                <a16:creationId xmlns:a16="http://schemas.microsoft.com/office/drawing/2014/main" id="{272A7449-4DEF-4F06-9D36-9BF56E0B453F}"/>
              </a:ext>
            </a:extLst>
          </p:cNvPr>
          <p:cNvSpPr>
            <a:spLocks noGrp="1"/>
          </p:cNvSpPr>
          <p:nvPr/>
        </p:nvSpPr>
        <p:spPr>
          <a:xfrm>
            <a:off x="2400300" y="4448175"/>
            <a:ext cx="1428750" cy="742950"/>
          </a:xfrm>
          <a:prstGeom prst="roundRect">
            <a:avLst>
              <a:gd name="adj" fmla="val 10256"/>
            </a:avLst>
          </a:prstGeom>
          <a:noFill/>
          <a:ln w="0">
            <a:noFill/>
            <a:prstDash val="solid"/>
          </a:ln>
        </p:spPr>
        <p:txBody>
          <a:bodyPr/>
          <a:lstStyle/>
          <a:p>
            <a:endParaRPr/>
          </a:p>
        </p:txBody>
      </p:sp>
      <p:sp>
        <p:nvSpPr>
          <p:cNvPr id="25" name="s10-clabel-1">
            <a:extLst>
              <a:ext uri="{FF2B5EF4-FFF2-40B4-BE49-F238E27FC236}">
                <a16:creationId xmlns:a16="http://schemas.microsoft.com/office/drawing/2014/main" id="{36583ACA-2863-45B9-84FA-A1912E44B028}"/>
              </a:ext>
            </a:extLst>
          </p:cNvPr>
          <p:cNvSpPr>
            <a:spLocks noGrp="1"/>
          </p:cNvSpPr>
          <p:nvPr/>
        </p:nvSpPr>
        <p:spPr>
          <a:xfrm>
            <a:off x="3000375" y="4448175"/>
            <a:ext cx="3286125" cy="619125"/>
          </a:xfrm>
          <a:prstGeom prst="rect">
            <a:avLst/>
          </a:prstGeom>
          <a:noFill/>
          <a:ln w="0">
            <a:noFill/>
            <a:prstDash val="solid"/>
          </a:ln>
        </p:spPr>
        <p:txBody>
          <a:bodyPr lIns="38100" tIns="38100" rIns="38100" bIns="38100" anchor="ctr">
            <a:normAutofit/>
          </a:bodyPr>
          <a:lstStyle/>
          <a:p>
            <a:pPr algn="ctr">
              <a:buNone/>
              <a:defRPr sz="1275" b="1">
                <a:solidFill>
                  <a:srgbClr val="111111"/>
                </a:solidFill>
                <a:latin typeface="Roboto"/>
                <a:ea typeface="Roboto"/>
                <a:cs typeface="Roboto"/>
              </a:defRPr>
            </a:pPr>
            <a:r>
              <a:rPr sz="1600" b="1" dirty="0">
                <a:solidFill>
                  <a:srgbClr val="111111"/>
                </a:solidFill>
                <a:latin typeface="Roboto"/>
                <a:ea typeface="Roboto"/>
                <a:cs typeface="Roboto"/>
              </a:rPr>
              <a:t>SUPERCELL</a:t>
            </a:r>
          </a:p>
          <a:p>
            <a:pPr algn="ctr">
              <a:buNone/>
              <a:defRPr sz="1275" b="1">
                <a:solidFill>
                  <a:srgbClr val="111111"/>
                </a:solidFill>
                <a:latin typeface="Roboto"/>
                <a:ea typeface="Roboto"/>
                <a:cs typeface="Roboto"/>
              </a:defRPr>
            </a:pPr>
            <a:r>
              <a:rPr sz="1600" b="1" dirty="0">
                <a:solidFill>
                  <a:srgbClr val="111111"/>
                </a:solidFill>
                <a:latin typeface="Roboto"/>
                <a:ea typeface="Roboto"/>
                <a:cs typeface="Roboto"/>
              </a:rPr>
              <a:t>kᴮ(f), αᴮ(f), Zᴮ(f) → </a:t>
            </a:r>
            <a:r>
              <a:rPr sz="1600" b="1" dirty="0" err="1">
                <a:solidFill>
                  <a:srgbClr val="111111"/>
                </a:solidFill>
                <a:latin typeface="Roboto"/>
                <a:ea typeface="Roboto"/>
                <a:cs typeface="Roboto"/>
              </a:rPr>
              <a:t>Γ</a:t>
            </a:r>
            <a:r>
              <a:rPr sz="1600" b="1" dirty="0">
                <a:solidFill>
                  <a:srgbClr val="111111"/>
                </a:solidFill>
                <a:latin typeface="Roboto"/>
                <a:ea typeface="Roboto"/>
                <a:cs typeface="Roboto"/>
              </a:rPr>
              <a:t>ᴮ(f)</a:t>
            </a:r>
          </a:p>
        </p:txBody>
      </p:sp>
      <p:sp>
        <p:nvSpPr>
          <p:cNvPr id="26" name="s10-cbox-2">
            <a:extLst>
              <a:ext uri="{FF2B5EF4-FFF2-40B4-BE49-F238E27FC236}">
                <a16:creationId xmlns:a16="http://schemas.microsoft.com/office/drawing/2014/main" id="{A32D0B19-24CD-433F-AAD3-C5CC466E40E5}"/>
              </a:ext>
            </a:extLst>
          </p:cNvPr>
          <p:cNvSpPr>
            <a:spLocks noGrp="1"/>
          </p:cNvSpPr>
          <p:nvPr/>
        </p:nvSpPr>
        <p:spPr>
          <a:xfrm>
            <a:off x="4257675" y="4448175"/>
            <a:ext cx="1428750" cy="742950"/>
          </a:xfrm>
          <a:prstGeom prst="roundRect">
            <a:avLst>
              <a:gd name="adj" fmla="val 10256"/>
            </a:avLst>
          </a:prstGeom>
          <a:noFill/>
          <a:ln w="0">
            <a:noFill/>
            <a:prstDash val="solid"/>
          </a:ln>
        </p:spPr>
        <p:txBody>
          <a:bodyPr/>
          <a:lstStyle/>
          <a:p>
            <a:endParaRPr/>
          </a:p>
        </p:txBody>
      </p:sp>
      <p:sp>
        <p:nvSpPr>
          <p:cNvPr id="27" name="s10-clabel-2">
            <a:extLst>
              <a:ext uri="{FF2B5EF4-FFF2-40B4-BE49-F238E27FC236}">
                <a16:creationId xmlns:a16="http://schemas.microsoft.com/office/drawing/2014/main" id="{DD9D5EB2-2DF0-4D10-83D3-97A855EE3DDC}"/>
              </a:ext>
            </a:extLst>
          </p:cNvPr>
          <p:cNvSpPr>
            <a:spLocks noGrp="1"/>
          </p:cNvSpPr>
          <p:nvPr/>
        </p:nvSpPr>
        <p:spPr>
          <a:xfrm>
            <a:off x="733424" y="5373085"/>
            <a:ext cx="3476626" cy="1218215"/>
          </a:xfrm>
          <a:prstGeom prst="rect">
            <a:avLst/>
          </a:prstGeom>
          <a:noFill/>
          <a:ln w="0">
            <a:noFill/>
            <a:prstDash val="solid"/>
          </a:ln>
        </p:spPr>
        <p:txBody>
          <a:bodyPr lIns="38100" tIns="38100" rIns="38100" bIns="38100" anchor="ctr">
            <a:normAutofit/>
          </a:bodyPr>
          <a:lstStyle/>
          <a:p>
            <a:pPr>
              <a:defRPr sz="1275" b="1">
                <a:solidFill>
                  <a:srgbClr val="111111"/>
                </a:solidFill>
                <a:latin typeface="Roboto"/>
                <a:ea typeface="Roboto"/>
                <a:cs typeface="Roboto"/>
              </a:defRPr>
            </a:pPr>
            <a:r>
              <a:rPr sz="1400" b="1" dirty="0">
                <a:solidFill>
                  <a:schemeClr val="tx1">
                    <a:lumMod val="50000"/>
                  </a:schemeClr>
                </a:solidFill>
                <a:latin typeface="Roboto"/>
                <a:ea typeface="Roboto"/>
                <a:cs typeface="Roboto"/>
              </a:rPr>
              <a:t>kᴮ: </a:t>
            </a:r>
            <a:r>
              <a:rPr lang="en-US" sz="1400" b="1" dirty="0">
                <a:solidFill>
                  <a:schemeClr val="tx1">
                    <a:lumMod val="50000"/>
                  </a:schemeClr>
                </a:solidFill>
              </a:rPr>
              <a:t>Bloch phase constant</a:t>
            </a:r>
            <a:endParaRPr lang="en-US" sz="1400" b="1" dirty="0">
              <a:solidFill>
                <a:schemeClr val="tx1">
                  <a:lumMod val="50000"/>
                </a:schemeClr>
              </a:solidFill>
              <a:latin typeface="Roboto"/>
              <a:ea typeface="Roboto"/>
              <a:cs typeface="Roboto"/>
            </a:endParaRPr>
          </a:p>
          <a:p>
            <a:r>
              <a:rPr sz="1400" b="1" dirty="0">
                <a:solidFill>
                  <a:schemeClr val="tx1">
                    <a:lumMod val="50000"/>
                  </a:schemeClr>
                </a:solidFill>
                <a:latin typeface="Roboto"/>
                <a:ea typeface="Roboto"/>
                <a:cs typeface="Roboto"/>
              </a:rPr>
              <a:t>αᴮ: </a:t>
            </a:r>
            <a:r>
              <a:rPr lang="en-US" sz="1600" b="1" dirty="0">
                <a:solidFill>
                  <a:schemeClr val="tx1">
                    <a:lumMod val="50000"/>
                  </a:schemeClr>
                </a:solidFill>
              </a:rPr>
              <a:t>attenuation or evanescence</a:t>
            </a:r>
            <a:endParaRPr sz="1400" b="1" dirty="0">
              <a:solidFill>
                <a:schemeClr val="tx1">
                  <a:lumMod val="50000"/>
                </a:schemeClr>
              </a:solidFill>
              <a:latin typeface="Roboto"/>
              <a:ea typeface="Roboto"/>
              <a:cs typeface="Roboto"/>
            </a:endParaRPr>
          </a:p>
          <a:p>
            <a:pPr>
              <a:buNone/>
              <a:defRPr sz="1275" b="1">
                <a:solidFill>
                  <a:srgbClr val="111111"/>
                </a:solidFill>
                <a:latin typeface="Roboto"/>
                <a:ea typeface="Roboto"/>
                <a:cs typeface="Roboto"/>
              </a:defRPr>
            </a:pPr>
            <a:r>
              <a:rPr sz="1400" b="1" dirty="0">
                <a:solidFill>
                  <a:schemeClr val="tx1">
                    <a:lumMod val="50000"/>
                  </a:schemeClr>
                </a:solidFill>
                <a:latin typeface="Roboto"/>
                <a:ea typeface="Roboto"/>
                <a:cs typeface="Roboto"/>
              </a:rPr>
              <a:t>Zᴮ: </a:t>
            </a:r>
            <a:r>
              <a:rPr lang="en-US" sz="1400" b="1" dirty="0">
                <a:solidFill>
                  <a:schemeClr val="tx1">
                    <a:lumMod val="50000"/>
                  </a:schemeClr>
                </a:solidFill>
                <a:latin typeface="Roboto"/>
                <a:ea typeface="Roboto"/>
                <a:cs typeface="Roboto"/>
              </a:rPr>
              <a:t>Bloch </a:t>
            </a:r>
            <a:r>
              <a:rPr sz="1400" b="1" dirty="0">
                <a:solidFill>
                  <a:schemeClr val="tx1">
                    <a:lumMod val="50000"/>
                  </a:schemeClr>
                </a:solidFill>
                <a:latin typeface="Roboto"/>
                <a:ea typeface="Roboto"/>
                <a:cs typeface="Roboto"/>
              </a:rPr>
              <a:t>impedance   </a:t>
            </a:r>
            <a:endParaRPr lang="en-US" sz="1400" b="1" dirty="0">
              <a:solidFill>
                <a:schemeClr val="tx1">
                  <a:lumMod val="50000"/>
                </a:schemeClr>
              </a:solidFill>
              <a:latin typeface="Roboto"/>
              <a:ea typeface="Roboto"/>
              <a:cs typeface="Roboto"/>
            </a:endParaRPr>
          </a:p>
          <a:p>
            <a:pPr>
              <a:buNone/>
              <a:defRPr sz="1275" b="1">
                <a:solidFill>
                  <a:srgbClr val="111111"/>
                </a:solidFill>
                <a:latin typeface="Roboto"/>
                <a:ea typeface="Roboto"/>
                <a:cs typeface="Roboto"/>
              </a:defRPr>
            </a:pPr>
            <a:r>
              <a:rPr sz="1400" b="1" dirty="0" err="1">
                <a:solidFill>
                  <a:schemeClr val="tx1">
                    <a:lumMod val="50000"/>
                  </a:schemeClr>
                </a:solidFill>
                <a:latin typeface="Roboto"/>
                <a:ea typeface="Roboto"/>
                <a:cs typeface="Roboto"/>
              </a:rPr>
              <a:t>Γ</a:t>
            </a:r>
            <a:r>
              <a:rPr sz="1400" b="1" dirty="0">
                <a:solidFill>
                  <a:schemeClr val="tx1">
                    <a:lumMod val="50000"/>
                  </a:schemeClr>
                </a:solidFill>
                <a:latin typeface="Roboto"/>
                <a:ea typeface="Roboto"/>
                <a:cs typeface="Roboto"/>
              </a:rPr>
              <a:t>ᴮ: </a:t>
            </a:r>
            <a:r>
              <a:rPr lang="en-US" sz="1400" b="1" dirty="0">
                <a:solidFill>
                  <a:schemeClr val="tx1">
                    <a:lumMod val="50000"/>
                  </a:schemeClr>
                </a:solidFill>
              </a:rPr>
              <a:t>boundary reflection coefficient</a:t>
            </a:r>
            <a:endParaRPr sz="1400" b="1" dirty="0">
              <a:solidFill>
                <a:schemeClr val="tx1">
                  <a:lumMod val="50000"/>
                </a:schemeClr>
              </a:solidFill>
              <a:latin typeface="Roboto"/>
              <a:ea typeface="Roboto"/>
              <a:cs typeface="Roboto"/>
            </a:endParaRPr>
          </a:p>
        </p:txBody>
      </p:sp>
      <p:sp>
        <p:nvSpPr>
          <p:cNvPr id="28" name="s10-hfss-frame">
            <a:extLst>
              <a:ext uri="{FF2B5EF4-FFF2-40B4-BE49-F238E27FC236}">
                <a16:creationId xmlns:a16="http://schemas.microsoft.com/office/drawing/2014/main" id="{B260CE1D-6897-41B1-B35A-9D423989E882}"/>
              </a:ext>
            </a:extLst>
          </p:cNvPr>
          <p:cNvSpPr>
            <a:spLocks noGrp="1"/>
          </p:cNvSpPr>
          <p:nvPr/>
        </p:nvSpPr>
        <p:spPr>
          <a:xfrm>
            <a:off x="6924678" y="3683381"/>
            <a:ext cx="4600578" cy="2850769"/>
          </a:xfrm>
          <a:prstGeom prst="roundRect">
            <a:avLst>
              <a:gd name="adj" fmla="val 6452"/>
            </a:avLst>
          </a:prstGeom>
          <a:noFill/>
          <a:ln w="0">
            <a:noFill/>
            <a:prstDash val="solid"/>
          </a:ln>
        </p:spPr>
        <p:txBody>
          <a:bodyPr/>
          <a:lstStyle/>
          <a:p>
            <a:endParaRPr/>
          </a:p>
        </p:txBody>
      </p:sp>
      <p:sp>
        <p:nvSpPr>
          <p:cNvPr id="4" name="s4-meta">
            <a:extLst>
              <a:ext uri="{FF2B5EF4-FFF2-40B4-BE49-F238E27FC236}">
                <a16:creationId xmlns:a16="http://schemas.microsoft.com/office/drawing/2014/main" id="{20877D96-E452-D6F3-BE57-F96F26A04ABF}"/>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5" name="s4-page">
            <a:extLst>
              <a:ext uri="{FF2B5EF4-FFF2-40B4-BE49-F238E27FC236}">
                <a16:creationId xmlns:a16="http://schemas.microsoft.com/office/drawing/2014/main" id="{CDC1E575-1170-D955-9A34-FCEEE3E1DD5D}"/>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13</a:t>
            </a:r>
          </a:p>
        </p:txBody>
      </p:sp>
      <p:pic>
        <p:nvPicPr>
          <p:cNvPr id="64" name="Picture 5"/>
          <p:cNvPicPr>
            <a:picLocks noChangeAspect="1"/>
          </p:cNvPicPr>
          <p:nvPr/>
        </p:nvPicPr>
        <p:blipFill>
          <a:blip r:embed="rId6"/>
          <a:stretch>
            <a:fillRect/>
          </a:stretch>
        </p:blipFill>
        <p:spPr>
          <a:xfrm>
            <a:off x="7099436" y="3788156"/>
            <a:ext cx="4292047" cy="2670488"/>
          </a:xfrm>
          <a:prstGeom prst="rect">
            <a:avLst/>
          </a:prstGeom>
        </p:spPr>
      </p:pic>
    </p:spTree>
    <p:extLst>
      <p:ext uri="{BB962C8B-B14F-4D97-AF65-F5344CB8AC3E}">
        <p14:creationId xmlns:p14="http://schemas.microsoft.com/office/powerpoint/2010/main" val="1526647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C23647-403F-4E23-BD7D-90D488FF0D41}"/>
              </a:ext>
            </a:extLst>
          </p:cNvPr>
          <p:cNvSpPr>
            <a:spLocks noGrp="1"/>
          </p:cNvSpPr>
          <p:nvPr>
            <p:ph idx="1"/>
          </p:nvPr>
        </p:nvSpPr>
        <p:spPr>
          <a:xfrm>
            <a:off x="523875" y="2305050"/>
            <a:ext cx="4762500" cy="333375"/>
          </a:xfrm>
        </p:spPr>
        <p:txBody>
          <a:bodyPr wrap="square" lIns="38100" tIns="38100" rIns="38100" bIns="38100" anchor="t">
            <a:normAutofit/>
          </a:bodyPr>
          <a:lstStyle/>
          <a:p>
            <a:pPr marL="228600" indent="-228600">
              <a:lnSpc>
                <a:spcPct val="105000"/>
              </a:lnSpc>
              <a:spcAft>
                <a:spcPts val="1000"/>
              </a:spcAft>
              <a:buClr>
                <a:srgbClr val="B51F1F"/>
              </a:buClr>
              <a:buFont typeface="Arial"/>
              <a:buChar char="•"/>
              <a:defRPr sz="1425" b="1">
                <a:solidFill>
                  <a:srgbClr val="FF0000"/>
                </a:solidFill>
                <a:latin typeface="Roboto"/>
                <a:ea typeface="Roboto"/>
                <a:cs typeface="Roboto"/>
              </a:defRPr>
            </a:pPr>
            <a:r>
              <a:rPr sz="1425" b="1">
                <a:solidFill>
                  <a:srgbClr val="FF0000"/>
                </a:solidFill>
                <a:latin typeface="Roboto"/>
                <a:ea typeface="Roboto"/>
                <a:cs typeface="Roboto"/>
              </a:rPr>
              <a:t>WHAT TWPALAB RECEIVES</a:t>
            </a:r>
          </a:p>
        </p:txBody>
      </p:sp>
      <p:sp>
        <p:nvSpPr>
          <p:cNvPr id="3" name="Title 2">
            <a:extLst>
              <a:ext uri="{FF2B5EF4-FFF2-40B4-BE49-F238E27FC236}">
                <a16:creationId xmlns:a16="http://schemas.microsoft.com/office/drawing/2014/main" id="{B8C87AE1-2AB1-4961-8020-87CA9C78B456}"/>
              </a:ext>
            </a:extLst>
          </p:cNvPr>
          <p:cNvSpPr>
            <a:spLocks noGrp="1"/>
          </p:cNvSpPr>
          <p:nvPr>
            <p:ph type="title"/>
          </p:nvPr>
        </p:nvSpPr>
        <p:spPr>
          <a:xfrm>
            <a:off x="523875" y="876300"/>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TWPAlab combines the HFSS data with the operating point to predict gain</a:t>
            </a:r>
          </a:p>
        </p:txBody>
      </p:sp>
      <p:pic>
        <p:nvPicPr>
          <p:cNvPr id="38" name="Picture 3"/>
          <p:cNvPicPr>
            <a:picLocks noChangeAspect="1"/>
          </p:cNvPicPr>
          <p:nvPr/>
        </p:nvPicPr>
        <p:blipFill>
          <a:blip r:embed="rId3"/>
          <a:stretch>
            <a:fillRect/>
          </a:stretch>
        </p:blipFill>
        <p:spPr>
          <a:xfrm>
            <a:off x="11601450" y="6286500"/>
            <a:ext cx="9525" cy="9525"/>
          </a:xfrm>
          <a:prstGeom prst="rect">
            <a:avLst/>
          </a:prstGeom>
        </p:spPr>
      </p:pic>
      <p:pic>
        <p:nvPicPr>
          <p:cNvPr id="39" name="Graphic 35"/>
          <p:cNvPicPr>
            <a:picLocks noChangeAspect="1"/>
          </p:cNvPicPr>
          <p:nvPr/>
        </p:nvPicPr>
        <p:blipFill>
          <a:blip r:embed="rId4">
            <a:extLst>
              <a:ext uri="{96DAC541-7B7A-43D3-8B79-37D633B846F1}">
                <asvg:svgBlip xmlns:asvg="http://schemas.microsoft.com/office/drawing/2016/SVG/main" r:embed="rId5"/>
              </a:ext>
            </a:extLst>
          </a:blip>
          <a:stretch/>
        </p:blipFill>
        <p:spPr>
          <a:xfrm>
            <a:off x="476250" y="266700"/>
            <a:ext cx="857250" cy="400050"/>
          </a:xfrm>
          <a:prstGeom prst="rect">
            <a:avLst/>
          </a:prstGeom>
        </p:spPr>
      </p:pic>
      <p:sp>
        <p:nvSpPr>
          <p:cNvPr id="8" name="s10-a-0">
            <a:extLst>
              <a:ext uri="{FF2B5EF4-FFF2-40B4-BE49-F238E27FC236}">
                <a16:creationId xmlns:a16="http://schemas.microsoft.com/office/drawing/2014/main" id="{97F3EBF1-6FD7-4397-B261-007FE27819C8}"/>
              </a:ext>
            </a:extLst>
          </p:cNvPr>
          <p:cNvSpPr>
            <a:spLocks noGrp="1"/>
          </p:cNvSpPr>
          <p:nvPr/>
        </p:nvSpPr>
        <p:spPr>
          <a:xfrm>
            <a:off x="2619375" y="2981325"/>
            <a:ext cx="457200" cy="228600"/>
          </a:xfrm>
          <a:prstGeom prst="rightArrow">
            <a:avLst/>
          </a:prstGeom>
          <a:solidFill>
            <a:srgbClr val="FF0000"/>
          </a:solidFill>
          <a:ln w="0">
            <a:solidFill>
              <a:srgbClr val="FF0000"/>
            </a:solidFill>
            <a:prstDash val="solid"/>
          </a:ln>
        </p:spPr>
        <p:txBody>
          <a:bodyPr/>
          <a:lstStyle/>
          <a:p>
            <a:endParaRPr/>
          </a:p>
        </p:txBody>
      </p:sp>
      <p:sp>
        <p:nvSpPr>
          <p:cNvPr id="9" name="s10-a-1">
            <a:extLst>
              <a:ext uri="{FF2B5EF4-FFF2-40B4-BE49-F238E27FC236}">
                <a16:creationId xmlns:a16="http://schemas.microsoft.com/office/drawing/2014/main" id="{74FF865B-7585-4B44-B578-8F13FAE4C93F}"/>
              </a:ext>
            </a:extLst>
          </p:cNvPr>
          <p:cNvSpPr>
            <a:spLocks noGrp="1"/>
          </p:cNvSpPr>
          <p:nvPr/>
        </p:nvSpPr>
        <p:spPr>
          <a:xfrm>
            <a:off x="5381625" y="2981325"/>
            <a:ext cx="457200" cy="228600"/>
          </a:xfrm>
          <a:prstGeom prst="rightArrow">
            <a:avLst/>
          </a:prstGeom>
          <a:solidFill>
            <a:srgbClr val="FF0000"/>
          </a:solidFill>
          <a:ln w="0">
            <a:solidFill>
              <a:srgbClr val="FF0000"/>
            </a:solidFill>
            <a:prstDash val="solid"/>
          </a:ln>
        </p:spPr>
        <p:txBody>
          <a:bodyPr/>
          <a:lstStyle/>
          <a:p>
            <a:endParaRPr/>
          </a:p>
        </p:txBody>
      </p:sp>
      <p:sp>
        <p:nvSpPr>
          <p:cNvPr id="10" name="s10-a-2">
            <a:extLst>
              <a:ext uri="{FF2B5EF4-FFF2-40B4-BE49-F238E27FC236}">
                <a16:creationId xmlns:a16="http://schemas.microsoft.com/office/drawing/2014/main" id="{2D5593F0-D288-418A-8598-A0B0C694AA8E}"/>
              </a:ext>
            </a:extLst>
          </p:cNvPr>
          <p:cNvSpPr>
            <a:spLocks noGrp="1"/>
          </p:cNvSpPr>
          <p:nvPr/>
        </p:nvSpPr>
        <p:spPr>
          <a:xfrm>
            <a:off x="8143875" y="2981325"/>
            <a:ext cx="457200" cy="228600"/>
          </a:xfrm>
          <a:prstGeom prst="rightArrow">
            <a:avLst/>
          </a:prstGeom>
          <a:solidFill>
            <a:srgbClr val="FF0000"/>
          </a:solidFill>
          <a:ln w="0">
            <a:solidFill>
              <a:srgbClr val="FF0000"/>
            </a:solidFill>
            <a:prstDash val="solid"/>
          </a:ln>
        </p:spPr>
        <p:txBody>
          <a:bodyPr/>
          <a:lstStyle/>
          <a:p>
            <a:endParaRPr/>
          </a:p>
        </p:txBody>
      </p:sp>
      <p:sp>
        <p:nvSpPr>
          <p:cNvPr id="11" name="s10-box-0">
            <a:extLst>
              <a:ext uri="{FF2B5EF4-FFF2-40B4-BE49-F238E27FC236}">
                <a16:creationId xmlns:a16="http://schemas.microsoft.com/office/drawing/2014/main" id="{D8C771FB-B540-425C-BD95-76B92A17AAF6}"/>
              </a:ext>
            </a:extLst>
          </p:cNvPr>
          <p:cNvSpPr>
            <a:spLocks noGrp="1"/>
          </p:cNvSpPr>
          <p:nvPr/>
        </p:nvSpPr>
        <p:spPr>
          <a:xfrm>
            <a:off x="542925" y="2733675"/>
            <a:ext cx="1952625" cy="781050"/>
          </a:xfrm>
          <a:prstGeom prst="roundRect">
            <a:avLst>
              <a:gd name="adj" fmla="val 9756"/>
            </a:avLst>
          </a:prstGeom>
          <a:noFill/>
          <a:ln w="0">
            <a:noFill/>
            <a:prstDash val="solid"/>
          </a:ln>
        </p:spPr>
        <p:txBody>
          <a:bodyPr/>
          <a:lstStyle/>
          <a:p>
            <a:endParaRPr/>
          </a:p>
        </p:txBody>
      </p:sp>
      <p:sp>
        <p:nvSpPr>
          <p:cNvPr id="12" name="s10-label-0">
            <a:extLst>
              <a:ext uri="{FF2B5EF4-FFF2-40B4-BE49-F238E27FC236}">
                <a16:creationId xmlns:a16="http://schemas.microsoft.com/office/drawing/2014/main" id="{57AD73FE-547D-46D8-97E0-A3F4F20C0569}"/>
              </a:ext>
            </a:extLst>
          </p:cNvPr>
          <p:cNvSpPr>
            <a:spLocks noGrp="1"/>
          </p:cNvSpPr>
          <p:nvPr/>
        </p:nvSpPr>
        <p:spPr>
          <a:xfrm>
            <a:off x="523875" y="2781300"/>
            <a:ext cx="2143125" cy="666750"/>
          </a:xfrm>
          <a:prstGeom prst="rect">
            <a:avLst/>
          </a:prstGeom>
          <a:noFill/>
          <a:ln w="0">
            <a:noFill/>
            <a:prstDash val="solid"/>
          </a:ln>
        </p:spPr>
        <p:txBody>
          <a:bodyPr lIns="38100" tIns="38100" rIns="38100" bIns="38100" anchor="ctr">
            <a:normAutofit/>
          </a:bodyPr>
          <a:lstStyle/>
          <a:p>
            <a:pPr algn="ctr">
              <a:buNone/>
              <a:defRPr sz="1575" b="1">
                <a:solidFill>
                  <a:srgbClr val="111111"/>
                </a:solidFill>
                <a:latin typeface="Roboto"/>
                <a:ea typeface="Roboto"/>
                <a:cs typeface="Roboto"/>
              </a:defRPr>
            </a:pPr>
            <a:r>
              <a:rPr sz="1575" b="1" dirty="0">
                <a:solidFill>
                  <a:srgbClr val="111111"/>
                </a:solidFill>
                <a:latin typeface="Roboto"/>
                <a:ea typeface="Roboto"/>
                <a:cs typeface="Roboto"/>
              </a:rPr>
              <a:t>HFSS PROPAGATION</a:t>
            </a:r>
          </a:p>
          <a:p>
            <a:pPr algn="ctr">
              <a:buNone/>
              <a:defRPr sz="1575" b="1">
                <a:solidFill>
                  <a:srgbClr val="111111"/>
                </a:solidFill>
                <a:latin typeface="Roboto"/>
                <a:ea typeface="Roboto"/>
                <a:cs typeface="Roboto"/>
              </a:defRPr>
            </a:pPr>
            <a:r>
              <a:rPr sz="1575" b="1" dirty="0">
                <a:solidFill>
                  <a:srgbClr val="111111"/>
                </a:solidFill>
                <a:latin typeface="Roboto"/>
                <a:ea typeface="Roboto"/>
                <a:cs typeface="Roboto"/>
              </a:rPr>
              <a:t>kᴮ(f), </a:t>
            </a:r>
            <a:r>
              <a:rPr sz="1575" b="1" dirty="0" err="1">
                <a:solidFill>
                  <a:srgbClr val="111111"/>
                </a:solidFill>
                <a:latin typeface="Roboto"/>
                <a:ea typeface="Roboto"/>
                <a:cs typeface="Roboto"/>
              </a:rPr>
              <a:t>Γ</a:t>
            </a:r>
            <a:r>
              <a:rPr sz="1575" b="1" dirty="0">
                <a:solidFill>
                  <a:srgbClr val="111111"/>
                </a:solidFill>
                <a:latin typeface="Roboto"/>
                <a:ea typeface="Roboto"/>
                <a:cs typeface="Roboto"/>
              </a:rPr>
              <a:t>ᴮ(f)</a:t>
            </a:r>
          </a:p>
        </p:txBody>
      </p:sp>
      <p:sp>
        <p:nvSpPr>
          <p:cNvPr id="13" name="s10-box-1">
            <a:extLst>
              <a:ext uri="{FF2B5EF4-FFF2-40B4-BE49-F238E27FC236}">
                <a16:creationId xmlns:a16="http://schemas.microsoft.com/office/drawing/2014/main" id="{9CBA92F1-3779-47F4-8418-B293D8DDB70F}"/>
              </a:ext>
            </a:extLst>
          </p:cNvPr>
          <p:cNvSpPr>
            <a:spLocks noGrp="1"/>
          </p:cNvSpPr>
          <p:nvPr/>
        </p:nvSpPr>
        <p:spPr>
          <a:xfrm>
            <a:off x="3162300" y="2733675"/>
            <a:ext cx="1952625" cy="781050"/>
          </a:xfrm>
          <a:prstGeom prst="roundRect">
            <a:avLst>
              <a:gd name="adj" fmla="val 9756"/>
            </a:avLst>
          </a:prstGeom>
          <a:noFill/>
          <a:ln w="0">
            <a:noFill/>
            <a:prstDash val="solid"/>
          </a:ln>
        </p:spPr>
        <p:txBody>
          <a:bodyPr/>
          <a:lstStyle/>
          <a:p>
            <a:endParaRPr/>
          </a:p>
        </p:txBody>
      </p:sp>
      <p:sp>
        <p:nvSpPr>
          <p:cNvPr id="14" name="s10-label-1">
            <a:extLst>
              <a:ext uri="{FF2B5EF4-FFF2-40B4-BE49-F238E27FC236}">
                <a16:creationId xmlns:a16="http://schemas.microsoft.com/office/drawing/2014/main" id="{D0559F7A-DE41-43AD-8452-7E5FDA502F0F}"/>
              </a:ext>
            </a:extLst>
          </p:cNvPr>
          <p:cNvSpPr>
            <a:spLocks noGrp="1"/>
          </p:cNvSpPr>
          <p:nvPr/>
        </p:nvSpPr>
        <p:spPr>
          <a:xfrm>
            <a:off x="3286125" y="2781300"/>
            <a:ext cx="1952625" cy="666750"/>
          </a:xfrm>
          <a:prstGeom prst="rect">
            <a:avLst/>
          </a:prstGeom>
          <a:noFill/>
          <a:ln w="0">
            <a:noFill/>
            <a:prstDash val="solid"/>
          </a:ln>
        </p:spPr>
        <p:txBody>
          <a:bodyPr lIns="38100" tIns="38100" rIns="38100" bIns="38100" anchor="ctr">
            <a:normAutofit/>
          </a:bodyPr>
          <a:lstStyle/>
          <a:p>
            <a:pPr algn="ctr">
              <a:buNone/>
              <a:defRPr sz="1575" b="1">
                <a:solidFill>
                  <a:srgbClr val="111111"/>
                </a:solidFill>
                <a:latin typeface="Roboto"/>
                <a:ea typeface="Roboto"/>
                <a:cs typeface="Roboto"/>
              </a:defRPr>
            </a:pPr>
            <a:r>
              <a:rPr sz="1575" b="1" dirty="0">
                <a:solidFill>
                  <a:srgbClr val="111111"/>
                </a:solidFill>
                <a:latin typeface="Roboto"/>
                <a:ea typeface="Roboto"/>
                <a:cs typeface="Roboto"/>
              </a:rPr>
              <a:t>CELL MODEL</a:t>
            </a:r>
          </a:p>
          <a:p>
            <a:pPr algn="ctr">
              <a:buNone/>
              <a:defRPr sz="1575" b="1">
                <a:solidFill>
                  <a:srgbClr val="111111"/>
                </a:solidFill>
                <a:latin typeface="Roboto"/>
                <a:ea typeface="Roboto"/>
                <a:cs typeface="Roboto"/>
              </a:defRPr>
            </a:pPr>
            <a:r>
              <a:rPr sz="1575" b="1" dirty="0" err="1">
                <a:solidFill>
                  <a:srgbClr val="111111"/>
                </a:solidFill>
                <a:latin typeface="Roboto"/>
                <a:ea typeface="Roboto"/>
                <a:cs typeface="Roboto"/>
              </a:rPr>
              <a:t>L</a:t>
            </a:r>
            <a:r>
              <a:rPr lang="en-US" sz="1575" b="1" dirty="0" err="1">
                <a:solidFill>
                  <a:srgbClr val="111111"/>
                </a:solidFill>
                <a:latin typeface="Roboto"/>
                <a:ea typeface="Roboto"/>
                <a:cs typeface="Roboto"/>
              </a:rPr>
              <a:t>_cell</a:t>
            </a:r>
            <a:r>
              <a:rPr sz="1575" b="1" dirty="0">
                <a:solidFill>
                  <a:srgbClr val="111111"/>
                </a:solidFill>
                <a:latin typeface="Roboto"/>
                <a:ea typeface="Roboto"/>
                <a:cs typeface="Roboto"/>
              </a:rPr>
              <a:t>, C and </a:t>
            </a:r>
            <a:r>
              <a:rPr sz="1575" b="1" dirty="0" err="1">
                <a:solidFill>
                  <a:srgbClr val="111111"/>
                </a:solidFill>
                <a:latin typeface="Roboto"/>
                <a:ea typeface="Roboto"/>
                <a:cs typeface="Roboto"/>
              </a:rPr>
              <a:t>L</a:t>
            </a:r>
            <a:r>
              <a:rPr lang="en-US" sz="1575" b="1" dirty="0" err="1">
                <a:solidFill>
                  <a:srgbClr val="111111"/>
                </a:solidFill>
                <a:latin typeface="Roboto"/>
                <a:ea typeface="Roboto"/>
                <a:cs typeface="Roboto"/>
              </a:rPr>
              <a:t>_stub</a:t>
            </a:r>
            <a:endParaRPr sz="1575" b="1" dirty="0">
              <a:solidFill>
                <a:srgbClr val="111111"/>
              </a:solidFill>
              <a:latin typeface="Roboto"/>
              <a:ea typeface="Roboto"/>
              <a:cs typeface="Roboto"/>
            </a:endParaRPr>
          </a:p>
        </p:txBody>
      </p:sp>
      <p:sp>
        <p:nvSpPr>
          <p:cNvPr id="15" name="s10-box-2">
            <a:extLst>
              <a:ext uri="{FF2B5EF4-FFF2-40B4-BE49-F238E27FC236}">
                <a16:creationId xmlns:a16="http://schemas.microsoft.com/office/drawing/2014/main" id="{653B8BFE-C192-434E-8532-3DCE1F7359A9}"/>
              </a:ext>
            </a:extLst>
          </p:cNvPr>
          <p:cNvSpPr>
            <a:spLocks noGrp="1"/>
          </p:cNvSpPr>
          <p:nvPr/>
        </p:nvSpPr>
        <p:spPr>
          <a:xfrm>
            <a:off x="6162675" y="2733675"/>
            <a:ext cx="1952625" cy="781050"/>
          </a:xfrm>
          <a:prstGeom prst="roundRect">
            <a:avLst>
              <a:gd name="adj" fmla="val 9756"/>
            </a:avLst>
          </a:prstGeom>
          <a:noFill/>
          <a:ln w="0">
            <a:noFill/>
            <a:prstDash val="solid"/>
          </a:ln>
        </p:spPr>
        <p:txBody>
          <a:bodyPr/>
          <a:lstStyle/>
          <a:p>
            <a:endParaRPr/>
          </a:p>
        </p:txBody>
      </p:sp>
      <p:sp>
        <p:nvSpPr>
          <p:cNvPr id="16" name="s10-label-2">
            <a:extLst>
              <a:ext uri="{FF2B5EF4-FFF2-40B4-BE49-F238E27FC236}">
                <a16:creationId xmlns:a16="http://schemas.microsoft.com/office/drawing/2014/main" id="{94FB4062-1494-4EB4-9738-E6B57582D3C5}"/>
              </a:ext>
            </a:extLst>
          </p:cNvPr>
          <p:cNvSpPr>
            <a:spLocks noGrp="1"/>
          </p:cNvSpPr>
          <p:nvPr/>
        </p:nvSpPr>
        <p:spPr>
          <a:xfrm>
            <a:off x="6048375" y="2781300"/>
            <a:ext cx="1952625" cy="666750"/>
          </a:xfrm>
          <a:prstGeom prst="rect">
            <a:avLst/>
          </a:prstGeom>
          <a:noFill/>
          <a:ln w="0">
            <a:noFill/>
            <a:prstDash val="solid"/>
          </a:ln>
        </p:spPr>
        <p:txBody>
          <a:bodyPr lIns="38100" tIns="38100" rIns="38100" bIns="38100" anchor="ctr">
            <a:normAutofit/>
          </a:bodyPr>
          <a:lstStyle/>
          <a:p>
            <a:pPr algn="ctr">
              <a:buNone/>
              <a:defRPr sz="1575" b="1">
                <a:solidFill>
                  <a:srgbClr val="111111"/>
                </a:solidFill>
                <a:latin typeface="Roboto"/>
                <a:ea typeface="Roboto"/>
                <a:cs typeface="Roboto"/>
              </a:defRPr>
            </a:pPr>
            <a:r>
              <a:rPr sz="1575" b="1" dirty="0">
                <a:solidFill>
                  <a:srgbClr val="111111"/>
                </a:solidFill>
                <a:latin typeface="Roboto"/>
                <a:ea typeface="Roboto"/>
                <a:cs typeface="Roboto"/>
              </a:rPr>
              <a:t>OPERATING POINT</a:t>
            </a:r>
          </a:p>
          <a:p>
            <a:pPr algn="ctr">
              <a:buNone/>
              <a:defRPr sz="1575" b="1">
                <a:solidFill>
                  <a:srgbClr val="111111"/>
                </a:solidFill>
                <a:latin typeface="Roboto"/>
                <a:ea typeface="Roboto"/>
                <a:cs typeface="Roboto"/>
              </a:defRPr>
            </a:pPr>
            <a:r>
              <a:rPr sz="1575" b="1" dirty="0">
                <a:solidFill>
                  <a:srgbClr val="111111"/>
                </a:solidFill>
                <a:latin typeface="Roboto"/>
                <a:ea typeface="Roboto"/>
                <a:cs typeface="Roboto"/>
              </a:rPr>
              <a:t>Iᴅᴄ, Iₚ, I*, N</a:t>
            </a:r>
          </a:p>
        </p:txBody>
      </p:sp>
      <p:sp>
        <p:nvSpPr>
          <p:cNvPr id="17" name="s10-box-3">
            <a:extLst>
              <a:ext uri="{FF2B5EF4-FFF2-40B4-BE49-F238E27FC236}">
                <a16:creationId xmlns:a16="http://schemas.microsoft.com/office/drawing/2014/main" id="{CDDBC53A-90B0-4FE8-A0E0-E249E83AD73C}"/>
              </a:ext>
            </a:extLst>
          </p:cNvPr>
          <p:cNvSpPr>
            <a:spLocks noGrp="1"/>
          </p:cNvSpPr>
          <p:nvPr/>
        </p:nvSpPr>
        <p:spPr>
          <a:xfrm>
            <a:off x="9210675" y="2733675"/>
            <a:ext cx="1952625" cy="781050"/>
          </a:xfrm>
          <a:prstGeom prst="roundRect">
            <a:avLst>
              <a:gd name="adj" fmla="val 9756"/>
            </a:avLst>
          </a:prstGeom>
          <a:noFill/>
          <a:ln w="0">
            <a:noFill/>
            <a:prstDash val="solid"/>
          </a:ln>
        </p:spPr>
        <p:txBody>
          <a:bodyPr/>
          <a:lstStyle/>
          <a:p>
            <a:endParaRPr/>
          </a:p>
        </p:txBody>
      </p:sp>
      <p:sp>
        <p:nvSpPr>
          <p:cNvPr id="18" name="s10-label-3">
            <a:extLst>
              <a:ext uri="{FF2B5EF4-FFF2-40B4-BE49-F238E27FC236}">
                <a16:creationId xmlns:a16="http://schemas.microsoft.com/office/drawing/2014/main" id="{AF5518DA-EE7E-43A4-B69A-E59325707F69}"/>
              </a:ext>
            </a:extLst>
          </p:cNvPr>
          <p:cNvSpPr>
            <a:spLocks noGrp="1"/>
          </p:cNvSpPr>
          <p:nvPr/>
        </p:nvSpPr>
        <p:spPr>
          <a:xfrm>
            <a:off x="8810625" y="2781300"/>
            <a:ext cx="2381250" cy="666750"/>
          </a:xfrm>
          <a:prstGeom prst="rect">
            <a:avLst/>
          </a:prstGeom>
          <a:noFill/>
          <a:ln w="0">
            <a:noFill/>
            <a:prstDash val="solid"/>
          </a:ln>
        </p:spPr>
        <p:txBody>
          <a:bodyPr lIns="38100" tIns="38100" rIns="38100" bIns="38100" anchor="ctr">
            <a:normAutofit/>
          </a:bodyPr>
          <a:lstStyle/>
          <a:p>
            <a:pPr algn="ctr">
              <a:buNone/>
              <a:defRPr sz="1575" b="1">
                <a:solidFill>
                  <a:srgbClr val="FF0000"/>
                </a:solidFill>
                <a:latin typeface="Roboto"/>
                <a:ea typeface="Roboto"/>
                <a:cs typeface="Roboto"/>
              </a:defRPr>
            </a:pPr>
            <a:r>
              <a:rPr sz="1575" b="1">
                <a:solidFill>
                  <a:srgbClr val="FF0000"/>
                </a:solidFill>
                <a:latin typeface="Roboto"/>
                <a:ea typeface="Roboto"/>
                <a:cs typeface="Roboto"/>
              </a:rPr>
              <a:t>TWPAlab / twpasolver</a:t>
            </a:r>
          </a:p>
          <a:p>
            <a:pPr algn="ctr">
              <a:buNone/>
              <a:defRPr sz="1575" b="1">
                <a:solidFill>
                  <a:srgbClr val="FF0000"/>
                </a:solidFill>
                <a:latin typeface="Roboto"/>
                <a:ea typeface="Roboto"/>
                <a:cs typeface="Roboto"/>
              </a:defRPr>
            </a:pPr>
            <a:r>
              <a:rPr sz="1575" b="1">
                <a:solidFill>
                  <a:srgbClr val="FF0000"/>
                </a:solidFill>
                <a:latin typeface="Roboto"/>
                <a:ea typeface="Roboto"/>
                <a:cs typeface="Roboto"/>
              </a:rPr>
              <a:t>coupled-mode solver</a:t>
            </a:r>
          </a:p>
        </p:txBody>
      </p:sp>
      <p:sp>
        <p:nvSpPr>
          <p:cNvPr id="19" name="s10-compute-label">
            <a:extLst>
              <a:ext uri="{FF2B5EF4-FFF2-40B4-BE49-F238E27FC236}">
                <a16:creationId xmlns:a16="http://schemas.microsoft.com/office/drawing/2014/main" id="{4BC2C820-A2A7-4F93-BA2D-A3E441C169AE}"/>
              </a:ext>
            </a:extLst>
          </p:cNvPr>
          <p:cNvSpPr>
            <a:spLocks noGrp="1"/>
          </p:cNvSpPr>
          <p:nvPr/>
        </p:nvSpPr>
        <p:spPr>
          <a:xfrm>
            <a:off x="523875" y="3905250"/>
            <a:ext cx="5715000" cy="333375"/>
          </a:xfrm>
          <a:prstGeom prst="rect">
            <a:avLst/>
          </a:prstGeom>
          <a:noFill/>
          <a:ln w="0">
            <a:noFill/>
            <a:prstDash val="solid"/>
          </a:ln>
        </p:spPr>
        <p:txBody>
          <a:bodyPr lIns="38100" tIns="38100" rIns="38100" bIns="38100" anchor="t">
            <a:normAutofit/>
          </a:bodyPr>
          <a:lstStyle/>
          <a:p>
            <a:pPr>
              <a:buNone/>
              <a:defRPr sz="1425" b="1">
                <a:solidFill>
                  <a:srgbClr val="FF0000"/>
                </a:solidFill>
                <a:latin typeface="Roboto"/>
                <a:ea typeface="Roboto"/>
                <a:cs typeface="Roboto"/>
              </a:defRPr>
            </a:pPr>
            <a:r>
              <a:rPr sz="1425" b="1">
                <a:solidFill>
                  <a:srgbClr val="FF0000"/>
                </a:solidFill>
                <a:latin typeface="Roboto"/>
                <a:ea typeface="Roboto"/>
                <a:cs typeface="Roboto"/>
              </a:rPr>
              <a:t>WHAT TWPALAB PREDICTS</a:t>
            </a:r>
          </a:p>
        </p:txBody>
      </p:sp>
      <p:sp>
        <p:nvSpPr>
          <p:cNvPr id="27" name="s10-clabel-2">
            <a:extLst>
              <a:ext uri="{FF2B5EF4-FFF2-40B4-BE49-F238E27FC236}">
                <a16:creationId xmlns:a16="http://schemas.microsoft.com/office/drawing/2014/main" id="{DD9D5EB2-2DF0-4D10-83D3-97A855EE3DDC}"/>
              </a:ext>
            </a:extLst>
          </p:cNvPr>
          <p:cNvSpPr>
            <a:spLocks noGrp="1"/>
          </p:cNvSpPr>
          <p:nvPr/>
        </p:nvSpPr>
        <p:spPr>
          <a:xfrm>
            <a:off x="476249" y="5874026"/>
            <a:ext cx="3843960" cy="590550"/>
          </a:xfrm>
          <a:prstGeom prst="rect">
            <a:avLst/>
          </a:prstGeom>
          <a:noFill/>
          <a:ln w="0">
            <a:noFill/>
            <a:prstDash val="solid"/>
          </a:ln>
        </p:spPr>
        <p:txBody>
          <a:bodyPr lIns="38100" tIns="38100" rIns="38100" bIns="38100" anchor="ctr">
            <a:normAutofit/>
          </a:bodyPr>
          <a:lstStyle/>
          <a:p>
            <a:pPr algn="ctr">
              <a:buNone/>
              <a:defRPr sz="1275" b="1">
                <a:solidFill>
                  <a:srgbClr val="111111"/>
                </a:solidFill>
                <a:latin typeface="Roboto"/>
                <a:ea typeface="Roboto"/>
                <a:cs typeface="Roboto"/>
              </a:defRPr>
            </a:pPr>
            <a:endParaRPr sz="1600" b="1" dirty="0">
              <a:solidFill>
                <a:srgbClr val="111111"/>
              </a:solidFill>
              <a:latin typeface="Roboto"/>
              <a:ea typeface="Roboto"/>
              <a:cs typeface="Roboto"/>
            </a:endParaRPr>
          </a:p>
        </p:txBody>
      </p:sp>
      <p:sp>
        <p:nvSpPr>
          <p:cNvPr id="28" name="s10-hfss-frame">
            <a:extLst>
              <a:ext uri="{FF2B5EF4-FFF2-40B4-BE49-F238E27FC236}">
                <a16:creationId xmlns:a16="http://schemas.microsoft.com/office/drawing/2014/main" id="{B260CE1D-6897-41B1-B35A-9D423989E882}"/>
              </a:ext>
            </a:extLst>
          </p:cNvPr>
          <p:cNvSpPr>
            <a:spLocks noGrp="1"/>
          </p:cNvSpPr>
          <p:nvPr/>
        </p:nvSpPr>
        <p:spPr>
          <a:xfrm>
            <a:off x="6838949" y="3788156"/>
            <a:ext cx="4762501" cy="2637064"/>
          </a:xfrm>
          <a:prstGeom prst="roundRect">
            <a:avLst>
              <a:gd name="adj" fmla="val 6452"/>
            </a:avLst>
          </a:prstGeom>
          <a:noFill/>
          <a:ln w="0">
            <a:noFill/>
            <a:prstDash val="solid"/>
          </a:ln>
        </p:spPr>
        <p:txBody>
          <a:bodyPr/>
          <a:lstStyle/>
          <a:p>
            <a:endParaRPr/>
          </a:p>
        </p:txBody>
      </p:sp>
      <p:sp>
        <p:nvSpPr>
          <p:cNvPr id="32" name="s10-caption">
            <a:extLst>
              <a:ext uri="{FF2B5EF4-FFF2-40B4-BE49-F238E27FC236}">
                <a16:creationId xmlns:a16="http://schemas.microsoft.com/office/drawing/2014/main" id="{E1551C98-A407-47D6-86B1-614A1A81E8EE}"/>
              </a:ext>
            </a:extLst>
          </p:cNvPr>
          <p:cNvSpPr>
            <a:spLocks noGrp="1"/>
          </p:cNvSpPr>
          <p:nvPr/>
        </p:nvSpPr>
        <p:spPr>
          <a:xfrm>
            <a:off x="6936920" y="3781425"/>
            <a:ext cx="4476750" cy="342900"/>
          </a:xfrm>
          <a:prstGeom prst="rect">
            <a:avLst/>
          </a:prstGeom>
          <a:noFill/>
          <a:ln w="0">
            <a:noFill/>
            <a:prstDash val="solid"/>
          </a:ln>
        </p:spPr>
        <p:txBody>
          <a:bodyPr lIns="38100" tIns="38100" rIns="38100" bIns="38100" anchor="t">
            <a:normAutofit fontScale="71127" lnSpcReduction="20000"/>
          </a:bodyPr>
          <a:lstStyle/>
          <a:p>
            <a:pPr>
              <a:buNone/>
              <a:defRPr sz="1500" b="1">
                <a:solidFill>
                  <a:srgbClr val="111111"/>
                </a:solidFill>
                <a:latin typeface="Roboto"/>
                <a:ea typeface="Roboto"/>
                <a:cs typeface="Roboto"/>
              </a:defRPr>
            </a:pPr>
            <a:r>
              <a:rPr sz="1500" b="1" dirty="0">
                <a:solidFill>
                  <a:srgbClr val="111111"/>
                </a:solidFill>
                <a:latin typeface="Roboto"/>
                <a:ea typeface="Roboto"/>
                <a:cs typeface="Roboto"/>
              </a:rPr>
              <a:t>HFSS SUPERCELL MODEL USED TO EXTRACT THE INPUTS ABOVE</a:t>
            </a:r>
          </a:p>
        </p:txBody>
      </p:sp>
      <p:sp>
        <p:nvSpPr>
          <p:cNvPr id="4" name="s4-meta">
            <a:extLst>
              <a:ext uri="{FF2B5EF4-FFF2-40B4-BE49-F238E27FC236}">
                <a16:creationId xmlns:a16="http://schemas.microsoft.com/office/drawing/2014/main" id="{20877D96-E452-D6F3-BE57-F96F26A04ABF}"/>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5" name="s4-page">
            <a:extLst>
              <a:ext uri="{FF2B5EF4-FFF2-40B4-BE49-F238E27FC236}">
                <a16:creationId xmlns:a16="http://schemas.microsoft.com/office/drawing/2014/main" id="{CDC1E575-1170-D955-9A34-FCEEE3E1DD5D}"/>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14</a:t>
            </a:r>
          </a:p>
        </p:txBody>
      </p:sp>
      <p:pic>
        <p:nvPicPr>
          <p:cNvPr id="57" name="Picture 36"/>
          <p:cNvPicPr>
            <a:picLocks noChangeAspect="1"/>
          </p:cNvPicPr>
          <p:nvPr/>
        </p:nvPicPr>
        <p:blipFill>
          <a:blip r:embed="rId6"/>
          <a:stretch>
            <a:fillRect/>
          </a:stretch>
        </p:blipFill>
        <p:spPr>
          <a:xfrm>
            <a:off x="6848473" y="4151467"/>
            <a:ext cx="4371977" cy="2510445"/>
          </a:xfrm>
          <a:prstGeom prst="rect">
            <a:avLst/>
          </a:prstGeom>
        </p:spPr>
      </p:pic>
      <p:sp>
        <p:nvSpPr>
          <p:cNvPr id="6" name="s10-box-0">
            <a:extLst>
              <a:ext uri="{FF2B5EF4-FFF2-40B4-BE49-F238E27FC236}">
                <a16:creationId xmlns:a16="http://schemas.microsoft.com/office/drawing/2014/main" id="{71357D3A-500B-B552-F3D1-496EEA291EAA}"/>
              </a:ext>
            </a:extLst>
          </p:cNvPr>
          <p:cNvSpPr>
            <a:spLocks noGrp="1"/>
          </p:cNvSpPr>
          <p:nvPr/>
        </p:nvSpPr>
        <p:spPr>
          <a:xfrm>
            <a:off x="542924" y="4419600"/>
            <a:ext cx="2833688" cy="781050"/>
          </a:xfrm>
          <a:prstGeom prst="roundRect">
            <a:avLst>
              <a:gd name="adj" fmla="val 9756"/>
            </a:avLst>
          </a:prstGeom>
          <a:noFill/>
          <a:ln w="0">
            <a:noFill/>
            <a:prstDash val="solid"/>
          </a:ln>
        </p:spPr>
        <p:txBody>
          <a:bodyPr/>
          <a:lstStyle/>
          <a:p>
            <a:endParaRPr/>
          </a:p>
        </p:txBody>
      </p:sp>
      <p:sp>
        <p:nvSpPr>
          <p:cNvPr id="7" name="s10-clabel-0">
            <a:extLst>
              <a:ext uri="{FF2B5EF4-FFF2-40B4-BE49-F238E27FC236}">
                <a16:creationId xmlns:a16="http://schemas.microsoft.com/office/drawing/2014/main" id="{4E1C3238-BAE4-B8C7-B944-C42779DEE26D}"/>
              </a:ext>
            </a:extLst>
          </p:cNvPr>
          <p:cNvSpPr>
            <a:spLocks noGrp="1"/>
          </p:cNvSpPr>
          <p:nvPr/>
        </p:nvSpPr>
        <p:spPr>
          <a:xfrm>
            <a:off x="552450" y="4476750"/>
            <a:ext cx="3864250" cy="1809750"/>
          </a:xfrm>
          <a:prstGeom prst="rect">
            <a:avLst/>
          </a:prstGeom>
          <a:noFill/>
          <a:ln w="0">
            <a:noFill/>
            <a:prstDash val="solid"/>
          </a:ln>
        </p:spPr>
        <p:txBody>
          <a:bodyPr lIns="38100" tIns="38100" rIns="38100" bIns="38100" anchor="ctr">
            <a:normAutofit/>
          </a:bodyPr>
          <a:lstStyle/>
          <a:p>
            <a:pPr marL="285750" indent="-285750">
              <a:buFont typeface="Arial" panose="020B0604020202020204" pitchFamily="34" charset="0"/>
              <a:buChar char="•"/>
              <a:defRPr sz="1275" b="1">
                <a:solidFill>
                  <a:srgbClr val="111111"/>
                </a:solidFill>
                <a:latin typeface="Roboto"/>
                <a:ea typeface="Roboto"/>
                <a:cs typeface="Roboto"/>
              </a:defRPr>
            </a:pPr>
            <a:r>
              <a:rPr sz="1600" b="1" dirty="0">
                <a:solidFill>
                  <a:srgbClr val="111111"/>
                </a:solidFill>
                <a:latin typeface="Roboto"/>
                <a:ea typeface="Roboto"/>
                <a:cs typeface="Roboto"/>
              </a:rPr>
              <a:t>Gain versus</a:t>
            </a:r>
            <a:r>
              <a:rPr lang="en-US" sz="1600" b="1" dirty="0">
                <a:solidFill>
                  <a:srgbClr val="111111"/>
                </a:solidFill>
                <a:latin typeface="Roboto"/>
                <a:ea typeface="Roboto"/>
                <a:cs typeface="Roboto"/>
              </a:rPr>
              <a:t> </a:t>
            </a:r>
            <a:r>
              <a:rPr sz="1600" b="1" dirty="0">
                <a:solidFill>
                  <a:srgbClr val="111111"/>
                </a:solidFill>
                <a:latin typeface="Roboto"/>
                <a:ea typeface="Roboto"/>
                <a:cs typeface="Roboto"/>
              </a:rPr>
              <a:t>signal frequency</a:t>
            </a:r>
            <a:endParaRPr lang="en-US" sz="1600" b="1" dirty="0">
              <a:solidFill>
                <a:srgbClr val="111111"/>
              </a:solidFill>
              <a:latin typeface="Roboto"/>
              <a:ea typeface="Roboto"/>
              <a:cs typeface="Roboto"/>
            </a:endParaRPr>
          </a:p>
          <a:p>
            <a:pPr marL="285750" indent="-285750">
              <a:buFont typeface="Arial" panose="020B0604020202020204" pitchFamily="34" charset="0"/>
              <a:buChar char="•"/>
              <a:defRPr sz="1275" b="1">
                <a:solidFill>
                  <a:srgbClr val="111111"/>
                </a:solidFill>
                <a:latin typeface="Roboto"/>
                <a:ea typeface="Roboto"/>
                <a:cs typeface="Roboto"/>
              </a:defRPr>
            </a:pPr>
            <a:endParaRPr lang="en-US" sz="1600" b="1" dirty="0">
              <a:solidFill>
                <a:srgbClr val="111111"/>
              </a:solidFill>
              <a:latin typeface="Roboto"/>
              <a:ea typeface="Roboto"/>
              <a:cs typeface="Roboto"/>
            </a:endParaRPr>
          </a:p>
          <a:p>
            <a:pPr marL="285750" indent="-285750">
              <a:buFont typeface="Arial" panose="020B0604020202020204" pitchFamily="34" charset="0"/>
              <a:buChar char="•"/>
              <a:defRPr sz="1275" b="1">
                <a:solidFill>
                  <a:srgbClr val="111111"/>
                </a:solidFill>
                <a:latin typeface="Roboto"/>
                <a:ea typeface="Roboto"/>
                <a:cs typeface="Roboto"/>
              </a:defRPr>
            </a:pPr>
            <a:r>
              <a:rPr lang="en-US" sz="1600" b="1" dirty="0">
                <a:solidFill>
                  <a:srgbClr val="111111"/>
                </a:solidFill>
                <a:latin typeface="Roboto"/>
                <a:ea typeface="Roboto"/>
                <a:cs typeface="Roboto"/>
              </a:rPr>
              <a:t>Bandwidth and phase matching</a:t>
            </a:r>
          </a:p>
          <a:p>
            <a:pPr marL="285750" indent="-285750">
              <a:buFont typeface="Arial" panose="020B0604020202020204" pitchFamily="34" charset="0"/>
              <a:buChar char="•"/>
              <a:defRPr sz="1275" b="1">
                <a:solidFill>
                  <a:srgbClr val="111111"/>
                </a:solidFill>
                <a:latin typeface="Roboto"/>
                <a:ea typeface="Roboto"/>
                <a:cs typeface="Roboto"/>
              </a:defRPr>
            </a:pPr>
            <a:endParaRPr lang="en-US" sz="1600" b="1" dirty="0">
              <a:solidFill>
                <a:srgbClr val="111111"/>
              </a:solidFill>
              <a:latin typeface="Roboto"/>
              <a:ea typeface="Roboto"/>
              <a:cs typeface="Roboto"/>
            </a:endParaRPr>
          </a:p>
          <a:p>
            <a:pPr marL="285750" indent="-285750">
              <a:buFont typeface="Arial" panose="020B0604020202020204" pitchFamily="34" charset="0"/>
              <a:buChar char="•"/>
              <a:defRPr sz="1275" b="1">
                <a:solidFill>
                  <a:srgbClr val="111111"/>
                </a:solidFill>
                <a:latin typeface="Roboto"/>
                <a:ea typeface="Roboto"/>
                <a:cs typeface="Roboto"/>
              </a:defRPr>
            </a:pPr>
            <a:r>
              <a:rPr lang="en-US" sz="1600" b="1" dirty="0">
                <a:solidFill>
                  <a:srgbClr val="111111"/>
                </a:solidFill>
                <a:latin typeface="Roboto"/>
                <a:ea typeface="Roboto"/>
                <a:cs typeface="Roboto"/>
              </a:rPr>
              <a:t>Ripple from</a:t>
            </a:r>
            <a:r>
              <a:rPr lang="en-US" sz="1600" b="1" dirty="0">
                <a:solidFill>
                  <a:srgbClr val="FF0000"/>
                </a:solidFill>
                <a:latin typeface="Roboto"/>
                <a:ea typeface="Roboto"/>
                <a:cs typeface="Roboto"/>
              </a:rPr>
              <a:t> </a:t>
            </a:r>
            <a:r>
              <a:rPr lang="en-US" sz="1600" b="1" dirty="0">
                <a:solidFill>
                  <a:srgbClr val="111111"/>
                </a:solidFill>
                <a:latin typeface="Roboto"/>
                <a:ea typeface="Roboto"/>
                <a:cs typeface="Roboto"/>
              </a:rPr>
              <a:t>reflections</a:t>
            </a:r>
          </a:p>
          <a:p>
            <a:pPr marL="285750" indent="-285750">
              <a:buFont typeface="Arial" panose="020B0604020202020204" pitchFamily="34" charset="0"/>
              <a:buChar char="•"/>
              <a:defRPr sz="1275" b="1">
                <a:solidFill>
                  <a:srgbClr val="111111"/>
                </a:solidFill>
                <a:latin typeface="Roboto"/>
                <a:ea typeface="Roboto"/>
                <a:cs typeface="Roboto"/>
              </a:defRPr>
            </a:pPr>
            <a:endParaRPr lang="en-US" sz="1600" b="1" dirty="0">
              <a:solidFill>
                <a:srgbClr val="111111"/>
              </a:solidFill>
              <a:latin typeface="Roboto"/>
              <a:ea typeface="Roboto"/>
              <a:cs typeface="Roboto"/>
            </a:endParaRPr>
          </a:p>
          <a:p>
            <a:pPr marL="285750" indent="-285750">
              <a:buFont typeface="Arial" panose="020B0604020202020204" pitchFamily="34" charset="0"/>
              <a:buChar char="•"/>
              <a:defRPr sz="1275" b="1">
                <a:solidFill>
                  <a:srgbClr val="111111"/>
                </a:solidFill>
                <a:latin typeface="Roboto"/>
                <a:ea typeface="Roboto"/>
                <a:cs typeface="Roboto"/>
              </a:defRPr>
            </a:pPr>
            <a:endParaRPr sz="1600" b="1" dirty="0">
              <a:solidFill>
                <a:srgbClr val="111111"/>
              </a:solidFill>
              <a:latin typeface="Roboto"/>
              <a:ea typeface="Roboto"/>
              <a:cs typeface="Roboto"/>
            </a:endParaRPr>
          </a:p>
        </p:txBody>
      </p:sp>
      <p:sp>
        <p:nvSpPr>
          <p:cNvPr id="29" name="s10-clabel-1">
            <a:extLst>
              <a:ext uri="{FF2B5EF4-FFF2-40B4-BE49-F238E27FC236}">
                <a16:creationId xmlns:a16="http://schemas.microsoft.com/office/drawing/2014/main" id="{5999AC6A-FF93-EF1E-3E6F-D6161CCB048C}"/>
              </a:ext>
            </a:extLst>
          </p:cNvPr>
          <p:cNvSpPr>
            <a:spLocks noGrp="1"/>
          </p:cNvSpPr>
          <p:nvPr/>
        </p:nvSpPr>
        <p:spPr>
          <a:xfrm>
            <a:off x="452437" y="5210175"/>
            <a:ext cx="3364189" cy="590550"/>
          </a:xfrm>
          <a:prstGeom prst="rect">
            <a:avLst/>
          </a:prstGeom>
          <a:noFill/>
          <a:ln w="0">
            <a:noFill/>
            <a:prstDash val="solid"/>
          </a:ln>
        </p:spPr>
        <p:txBody>
          <a:bodyPr lIns="38100" tIns="38100" rIns="38100" bIns="38100" anchor="ctr">
            <a:normAutofit/>
          </a:bodyPr>
          <a:lstStyle/>
          <a:p>
            <a:pPr algn="ctr">
              <a:buNone/>
              <a:defRPr sz="1275" b="1">
                <a:solidFill>
                  <a:srgbClr val="111111"/>
                </a:solidFill>
                <a:latin typeface="Roboto"/>
                <a:ea typeface="Roboto"/>
                <a:cs typeface="Roboto"/>
              </a:defRPr>
            </a:pPr>
            <a:endParaRPr sz="1600" b="1" dirty="0">
              <a:solidFill>
                <a:srgbClr val="111111"/>
              </a:solidFill>
              <a:latin typeface="Roboto"/>
              <a:ea typeface="Roboto"/>
              <a:cs typeface="Roboto"/>
            </a:endParaRPr>
          </a:p>
        </p:txBody>
      </p:sp>
      <p:sp>
        <p:nvSpPr>
          <p:cNvPr id="30" name="s10-a-0">
            <a:extLst>
              <a:ext uri="{FF2B5EF4-FFF2-40B4-BE49-F238E27FC236}">
                <a16:creationId xmlns:a16="http://schemas.microsoft.com/office/drawing/2014/main" id="{B4ED9CEA-C11B-3159-A9BD-5D56CBEDB3DA}"/>
              </a:ext>
            </a:extLst>
          </p:cNvPr>
          <p:cNvSpPr>
            <a:spLocks noGrp="1"/>
          </p:cNvSpPr>
          <p:nvPr/>
        </p:nvSpPr>
        <p:spPr>
          <a:xfrm>
            <a:off x="3586162" y="4657725"/>
            <a:ext cx="552450" cy="266700"/>
          </a:xfrm>
          <a:prstGeom prst="rightArrow">
            <a:avLst/>
          </a:prstGeom>
          <a:noFill/>
          <a:ln w="0">
            <a:noFill/>
            <a:prstDash val="solid"/>
          </a:ln>
        </p:spPr>
        <p:txBody>
          <a:bodyPr/>
          <a:lstStyle/>
          <a:p>
            <a:endParaRPr/>
          </a:p>
        </p:txBody>
      </p:sp>
    </p:spTree>
    <p:extLst>
      <p:ext uri="{BB962C8B-B14F-4D97-AF65-F5344CB8AC3E}">
        <p14:creationId xmlns:p14="http://schemas.microsoft.com/office/powerpoint/2010/main" val="1526647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38B914-01E0-42FF-9E51-A9CC5CE393BB}"/>
              </a:ext>
            </a:extLst>
          </p:cNvPr>
          <p:cNvSpPr>
            <a:spLocks noGrp="1"/>
          </p:cNvSpPr>
          <p:nvPr>
            <p:ph type="title"/>
          </p:nvPr>
        </p:nvSpPr>
        <p:spPr>
          <a:xfrm>
            <a:off x="523875" y="914400"/>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The HFSS supercell places the engineered stopband near 12 GHz</a:t>
            </a:r>
          </a:p>
        </p:txBody>
      </p:sp>
      <p:pic>
        <p:nvPicPr>
          <p:cNvPr id="18" name="Picture 3"/>
          <p:cNvPicPr>
            <a:picLocks noChangeAspect="1"/>
          </p:cNvPicPr>
          <p:nvPr/>
        </p:nvPicPr>
        <p:blipFill>
          <a:blip r:embed="rId3"/>
          <a:stretch/>
        </p:blipFill>
        <p:spPr>
          <a:xfrm>
            <a:off x="552450" y="3211041"/>
            <a:ext cx="7000875" cy="2265834"/>
          </a:xfrm>
          <a:prstGeom prst="rect">
            <a:avLst/>
          </a:prstGeom>
        </p:spPr>
      </p:pic>
      <p:sp>
        <p:nvSpPr>
          <p:cNvPr id="5" name="s11-divider">
            <a:extLst>
              <a:ext uri="{FF2B5EF4-FFF2-40B4-BE49-F238E27FC236}">
                <a16:creationId xmlns:a16="http://schemas.microsoft.com/office/drawing/2014/main" id="{07C8A937-B033-43D4-ACA6-92BF749F1551}"/>
              </a:ext>
            </a:extLst>
          </p:cNvPr>
          <p:cNvSpPr>
            <a:spLocks noGrp="1"/>
          </p:cNvSpPr>
          <p:nvPr/>
        </p:nvSpPr>
        <p:spPr>
          <a:xfrm>
            <a:off x="7858125" y="3257550"/>
            <a:ext cx="0" cy="2905125"/>
          </a:xfrm>
          <a:prstGeom prst="line">
            <a:avLst/>
          </a:prstGeom>
          <a:noFill/>
          <a:ln w="19050">
            <a:solidFill>
              <a:srgbClr val="D8D8D8"/>
            </a:solidFill>
            <a:prstDash val="solid"/>
          </a:ln>
        </p:spPr>
        <p:txBody>
          <a:bodyPr/>
          <a:lstStyle/>
          <a:p>
            <a:endParaRPr/>
          </a:p>
        </p:txBody>
      </p:sp>
      <p:sp>
        <p:nvSpPr>
          <p:cNvPr id="6" name="s11-paper">
            <a:extLst>
              <a:ext uri="{FF2B5EF4-FFF2-40B4-BE49-F238E27FC236}">
                <a16:creationId xmlns:a16="http://schemas.microsoft.com/office/drawing/2014/main" id="{022481E4-0375-4EC6-8C3C-7A61A11FCEE2}"/>
              </a:ext>
            </a:extLst>
          </p:cNvPr>
          <p:cNvSpPr>
            <a:spLocks noGrp="1"/>
          </p:cNvSpPr>
          <p:nvPr/>
        </p:nvSpPr>
        <p:spPr>
          <a:xfrm>
            <a:off x="8239125" y="3429000"/>
            <a:ext cx="1428750" cy="266700"/>
          </a:xfrm>
          <a:prstGeom prst="rect">
            <a:avLst/>
          </a:prstGeom>
          <a:noFill/>
          <a:ln w="0">
            <a:noFill/>
            <a:prstDash val="solid"/>
          </a:ln>
        </p:spPr>
        <p:txBody>
          <a:bodyPr lIns="38100" tIns="38100" rIns="38100" bIns="38100" anchor="t">
            <a:normAutofit lnSpcReduction="10000"/>
          </a:bodyPr>
          <a:lstStyle/>
          <a:p>
            <a:pPr>
              <a:buNone/>
              <a:defRPr sz="1350" b="1">
                <a:solidFill>
                  <a:srgbClr val="5A5A5A"/>
                </a:solidFill>
                <a:latin typeface="Roboto"/>
                <a:ea typeface="Roboto"/>
                <a:cs typeface="Roboto"/>
              </a:defRPr>
            </a:pPr>
            <a:r>
              <a:rPr sz="1350" b="1">
                <a:solidFill>
                  <a:srgbClr val="5A5A5A"/>
                </a:solidFill>
                <a:latin typeface="Roboto"/>
                <a:ea typeface="Roboto"/>
                <a:cs typeface="Roboto"/>
              </a:rPr>
              <a:t>REFERENCE</a:t>
            </a:r>
          </a:p>
        </p:txBody>
      </p:sp>
      <p:sp>
        <p:nvSpPr>
          <p:cNvPr id="7" name="s11-paper-value">
            <a:extLst>
              <a:ext uri="{FF2B5EF4-FFF2-40B4-BE49-F238E27FC236}">
                <a16:creationId xmlns:a16="http://schemas.microsoft.com/office/drawing/2014/main" id="{DC0F0AF5-9DCE-44DD-A40A-67F75D5031A3}"/>
              </a:ext>
            </a:extLst>
          </p:cNvPr>
          <p:cNvSpPr>
            <a:spLocks noGrp="1"/>
          </p:cNvSpPr>
          <p:nvPr/>
        </p:nvSpPr>
        <p:spPr>
          <a:xfrm>
            <a:off x="8239125" y="3714750"/>
            <a:ext cx="3048000" cy="495300"/>
          </a:xfrm>
          <a:prstGeom prst="rect">
            <a:avLst/>
          </a:prstGeom>
          <a:noFill/>
          <a:ln w="0">
            <a:noFill/>
            <a:prstDash val="solid"/>
          </a:ln>
        </p:spPr>
        <p:txBody>
          <a:bodyPr lIns="38100" tIns="38100" rIns="38100" bIns="38100" anchor="t">
            <a:normAutofit/>
          </a:bodyPr>
          <a:lstStyle/>
          <a:p>
            <a:pPr>
              <a:buNone/>
              <a:defRPr sz="1575" b="1">
                <a:solidFill>
                  <a:srgbClr val="111111"/>
                </a:solidFill>
                <a:latin typeface="Roboto"/>
                <a:ea typeface="Roboto"/>
                <a:cs typeface="Roboto"/>
              </a:defRPr>
            </a:pPr>
            <a:r>
              <a:rPr sz="1575" b="1">
                <a:solidFill>
                  <a:srgbClr val="111111"/>
                </a:solidFill>
                <a:latin typeface="Roboto"/>
                <a:ea typeface="Roboto"/>
                <a:cs typeface="Roboto"/>
              </a:rPr>
              <a:t>Paper: bandgap near 12 GHz</a:t>
            </a:r>
          </a:p>
        </p:txBody>
      </p:sp>
      <p:sp>
        <p:nvSpPr>
          <p:cNvPr id="8" name="s11-model">
            <a:extLst>
              <a:ext uri="{FF2B5EF4-FFF2-40B4-BE49-F238E27FC236}">
                <a16:creationId xmlns:a16="http://schemas.microsoft.com/office/drawing/2014/main" id="{845A3B50-75ED-43B7-A060-5DA19EA9C417}"/>
              </a:ext>
            </a:extLst>
          </p:cNvPr>
          <p:cNvSpPr>
            <a:spLocks noGrp="1"/>
          </p:cNvSpPr>
          <p:nvPr/>
        </p:nvSpPr>
        <p:spPr>
          <a:xfrm>
            <a:off x="8239125" y="4524375"/>
            <a:ext cx="1714500" cy="266700"/>
          </a:xfrm>
          <a:prstGeom prst="rect">
            <a:avLst/>
          </a:prstGeom>
          <a:noFill/>
          <a:ln w="0">
            <a:noFill/>
            <a:prstDash val="solid"/>
          </a:ln>
        </p:spPr>
        <p:txBody>
          <a:bodyPr lIns="38100" tIns="38100" rIns="38100" bIns="38100" anchor="t">
            <a:normAutofit/>
          </a:bodyPr>
          <a:lstStyle/>
          <a:p>
            <a:pPr>
              <a:buNone/>
              <a:defRPr sz="975" b="1">
                <a:solidFill>
                  <a:srgbClr val="FF0000"/>
                </a:solidFill>
                <a:latin typeface="Roboto"/>
                <a:ea typeface="Roboto"/>
                <a:cs typeface="Roboto"/>
              </a:defRPr>
            </a:pPr>
            <a:r>
              <a:rPr sz="975" b="1">
                <a:solidFill>
                  <a:srgbClr val="FF0000"/>
                </a:solidFill>
                <a:latin typeface="Roboto"/>
                <a:ea typeface="Roboto"/>
                <a:cs typeface="Roboto"/>
              </a:rPr>
              <a:t>OUR PASSIVE MODEL</a:t>
            </a:r>
          </a:p>
        </p:txBody>
      </p:sp>
      <p:sp>
        <p:nvSpPr>
          <p:cNvPr id="9" name="s11-model-value">
            <a:extLst>
              <a:ext uri="{FF2B5EF4-FFF2-40B4-BE49-F238E27FC236}">
                <a16:creationId xmlns:a16="http://schemas.microsoft.com/office/drawing/2014/main" id="{A85D7DF5-6597-4BCA-8890-6908635721DC}"/>
              </a:ext>
            </a:extLst>
          </p:cNvPr>
          <p:cNvSpPr>
            <a:spLocks noGrp="1"/>
          </p:cNvSpPr>
          <p:nvPr/>
        </p:nvSpPr>
        <p:spPr>
          <a:xfrm>
            <a:off x="8239125" y="4810125"/>
            <a:ext cx="3048000" cy="495300"/>
          </a:xfrm>
          <a:prstGeom prst="rect">
            <a:avLst/>
          </a:prstGeom>
          <a:noFill/>
          <a:ln w="0">
            <a:noFill/>
            <a:prstDash val="solid"/>
          </a:ln>
        </p:spPr>
        <p:txBody>
          <a:bodyPr lIns="38100" tIns="38100" rIns="38100" bIns="38100" anchor="t">
            <a:normAutofit/>
          </a:bodyPr>
          <a:lstStyle/>
          <a:p>
            <a:pPr>
              <a:buNone/>
              <a:defRPr sz="1125" b="1">
                <a:solidFill>
                  <a:srgbClr val="111111"/>
                </a:solidFill>
                <a:latin typeface="Roboto"/>
                <a:ea typeface="Roboto"/>
                <a:cs typeface="Roboto"/>
              </a:defRPr>
            </a:pPr>
            <a:r>
              <a:rPr sz="1125" b="1">
                <a:solidFill>
                  <a:srgbClr val="111111"/>
                </a:solidFill>
                <a:latin typeface="Roboto"/>
                <a:ea typeface="Roboto"/>
                <a:cs typeface="Roboto"/>
              </a:rPr>
              <a:t>HFSS–Bloch: 11.8–12.6 GHz
edge brackets: 11.7–11.8 / 12.6–12.7 GHz</a:t>
            </a:r>
          </a:p>
        </p:txBody>
      </p:sp>
      <p:sp>
        <p:nvSpPr>
          <p:cNvPr id="10" name="s11-small-rule">
            <a:extLst>
              <a:ext uri="{FF2B5EF4-FFF2-40B4-BE49-F238E27FC236}">
                <a16:creationId xmlns:a16="http://schemas.microsoft.com/office/drawing/2014/main" id="{0D8ACBA6-C9CF-4A4C-A32F-04E05D121CA0}"/>
              </a:ext>
            </a:extLst>
          </p:cNvPr>
          <p:cNvSpPr>
            <a:spLocks noGrp="1"/>
          </p:cNvSpPr>
          <p:nvPr/>
        </p:nvSpPr>
        <p:spPr>
          <a:xfrm>
            <a:off x="8239125" y="5476875"/>
            <a:ext cx="2809875" cy="0"/>
          </a:xfrm>
          <a:prstGeom prst="line">
            <a:avLst/>
          </a:prstGeom>
          <a:noFill/>
          <a:ln w="28575">
            <a:solidFill>
              <a:srgbClr val="FF0000"/>
            </a:solidFill>
            <a:prstDash val="solid"/>
          </a:ln>
        </p:spPr>
        <p:txBody>
          <a:bodyPr/>
          <a:lstStyle/>
          <a:p>
            <a:endParaRPr/>
          </a:p>
        </p:txBody>
      </p:sp>
      <p:sp>
        <p:nvSpPr>
          <p:cNvPr id="4" name="s4-meta">
            <a:extLst>
              <a:ext uri="{FF2B5EF4-FFF2-40B4-BE49-F238E27FC236}">
                <a16:creationId xmlns:a16="http://schemas.microsoft.com/office/drawing/2014/main" id="{A25E6032-047D-7157-7D8B-42614FA21F71}"/>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12" name="s4-page">
            <a:extLst>
              <a:ext uri="{FF2B5EF4-FFF2-40B4-BE49-F238E27FC236}">
                <a16:creationId xmlns:a16="http://schemas.microsoft.com/office/drawing/2014/main" id="{2EA95560-11CA-813B-CC1E-85D829ADCC2A}"/>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15</a:t>
            </a:r>
          </a:p>
        </p:txBody>
      </p:sp>
      <p:sp>
        <p:nvSpPr>
          <p:cNvPr id="14" name="s11-graph-title">
            <a:extLst>
              <a:ext uri="{FF2B5EF4-FFF2-40B4-BE49-F238E27FC236}">
                <a16:creationId xmlns:a16="http://schemas.microsoft.com/office/drawing/2014/main" id="{4EB4EDF9-9F1C-4C07-A0D9-4807F78C548A}"/>
              </a:ext>
            </a:extLst>
          </p:cNvPr>
          <p:cNvSpPr>
            <a:spLocks noGrp="1"/>
          </p:cNvSpPr>
          <p:nvPr/>
        </p:nvSpPr>
        <p:spPr>
          <a:xfrm>
            <a:off x="552450" y="2609850"/>
            <a:ext cx="7000875" cy="228600"/>
          </a:xfrm>
          <a:prstGeom prst="rect">
            <a:avLst/>
          </a:prstGeom>
          <a:noFill/>
          <a:ln w="0">
            <a:noFill/>
            <a:prstDash val="solid"/>
          </a:ln>
        </p:spPr>
        <p:txBody>
          <a:bodyPr lIns="19050" tIns="0" rIns="19050" bIns="0" anchor="ctr"/>
          <a:lstStyle/>
          <a:p>
            <a:pPr algn="ctr">
              <a:buNone/>
              <a:defRPr sz="1275" b="1">
                <a:solidFill>
                  <a:srgbClr val="111111"/>
                </a:solidFill>
                <a:latin typeface="Roboto"/>
                <a:ea typeface="Roboto"/>
                <a:cs typeface="Roboto"/>
              </a:defRPr>
            </a:pPr>
            <a:r>
              <a:rPr sz="1275" b="1">
                <a:solidFill>
                  <a:srgbClr val="111111"/>
                </a:solidFill>
                <a:latin typeface="Roboto"/>
                <a:ea typeface="Roboto"/>
                <a:cs typeface="Roboto"/>
              </a:rPr>
              <a:t>Passive evidence: transmission and Bloch dispersion</a:t>
            </a:r>
          </a:p>
        </p:txBody>
      </p:sp>
      <p:sp>
        <p:nvSpPr>
          <p:cNvPr id="15" name="Content Placeholder 14">
            <a:extLst>
              <a:ext uri="{FF2B5EF4-FFF2-40B4-BE49-F238E27FC236}">
                <a16:creationId xmlns:a16="http://schemas.microsoft.com/office/drawing/2014/main" id="{1F5439D8-2937-659F-3E53-A4B4CE506233}"/>
              </a:ext>
            </a:extLst>
          </p:cNvPr>
          <p:cNvSpPr>
            <a:spLocks noGrp="1"/>
          </p:cNvSpPr>
          <p:nvPr>
            <p:ph idx="1"/>
          </p:nvPr>
        </p:nvSpPr>
        <p:spPr/>
        <p:txBody>
          <a:bodyPr/>
          <a:lstStyle/>
          <a:p>
            <a:endParaRPr lang="en-JP"/>
          </a:p>
        </p:txBody>
      </p:sp>
    </p:spTree>
    <p:extLst>
      <p:ext uri="{BB962C8B-B14F-4D97-AF65-F5344CB8AC3E}">
        <p14:creationId xmlns:p14="http://schemas.microsoft.com/office/powerpoint/2010/main" val="1976281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38B914-01E0-42FF-9E51-A9CC5CE393BB}"/>
              </a:ext>
            </a:extLst>
          </p:cNvPr>
          <p:cNvSpPr>
            <a:spLocks noGrp="1"/>
          </p:cNvSpPr>
          <p:nvPr>
            <p:ph type="title"/>
          </p:nvPr>
        </p:nvSpPr>
        <p:spPr>
          <a:xfrm>
            <a:off x="523875" y="914400"/>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High predicted gain follows a U-shaped phase-matched region</a:t>
            </a:r>
          </a:p>
        </p:txBody>
      </p:sp>
      <p:sp>
        <p:nvSpPr>
          <p:cNvPr id="5" name="s11-divider">
            <a:extLst>
              <a:ext uri="{FF2B5EF4-FFF2-40B4-BE49-F238E27FC236}">
                <a16:creationId xmlns:a16="http://schemas.microsoft.com/office/drawing/2014/main" id="{07C8A937-B033-43D4-ACA6-92BF749F1551}"/>
              </a:ext>
            </a:extLst>
          </p:cNvPr>
          <p:cNvSpPr>
            <a:spLocks noGrp="1"/>
          </p:cNvSpPr>
          <p:nvPr/>
        </p:nvSpPr>
        <p:spPr>
          <a:xfrm>
            <a:off x="7858125" y="3257550"/>
            <a:ext cx="0" cy="2905125"/>
          </a:xfrm>
          <a:prstGeom prst="line">
            <a:avLst/>
          </a:prstGeom>
          <a:noFill/>
          <a:ln w="19050">
            <a:solidFill>
              <a:srgbClr val="D8D8D8"/>
            </a:solidFill>
            <a:prstDash val="solid"/>
          </a:ln>
        </p:spPr>
        <p:txBody>
          <a:bodyPr/>
          <a:lstStyle/>
          <a:p>
            <a:endParaRPr/>
          </a:p>
        </p:txBody>
      </p:sp>
      <p:sp>
        <p:nvSpPr>
          <p:cNvPr id="6" name="s11-paper">
            <a:extLst>
              <a:ext uri="{FF2B5EF4-FFF2-40B4-BE49-F238E27FC236}">
                <a16:creationId xmlns:a16="http://schemas.microsoft.com/office/drawing/2014/main" id="{022481E4-0375-4EC6-8C3C-7A61A11FCEE2}"/>
              </a:ext>
            </a:extLst>
          </p:cNvPr>
          <p:cNvSpPr>
            <a:spLocks noGrp="1"/>
          </p:cNvSpPr>
          <p:nvPr/>
        </p:nvSpPr>
        <p:spPr>
          <a:xfrm>
            <a:off x="8239125" y="3429000"/>
            <a:ext cx="1428750" cy="266700"/>
          </a:xfrm>
          <a:prstGeom prst="rect">
            <a:avLst/>
          </a:prstGeom>
          <a:noFill/>
          <a:ln w="0">
            <a:noFill/>
            <a:prstDash val="solid"/>
          </a:ln>
        </p:spPr>
        <p:txBody>
          <a:bodyPr lIns="38100" tIns="38100" rIns="38100" bIns="38100" anchor="t">
            <a:normAutofit lnSpcReduction="10000"/>
          </a:bodyPr>
          <a:lstStyle/>
          <a:p>
            <a:pPr>
              <a:buNone/>
              <a:defRPr sz="1350" b="1">
                <a:solidFill>
                  <a:srgbClr val="5A5A5A"/>
                </a:solidFill>
                <a:latin typeface="Roboto"/>
                <a:ea typeface="Roboto"/>
                <a:cs typeface="Roboto"/>
              </a:defRPr>
            </a:pPr>
            <a:r>
              <a:rPr sz="1350" b="1">
                <a:solidFill>
                  <a:srgbClr val="5A5A5A"/>
                </a:solidFill>
                <a:latin typeface="Roboto"/>
                <a:ea typeface="Roboto"/>
                <a:cs typeface="Roboto"/>
              </a:rPr>
              <a:t>COLOUR MAP</a:t>
            </a:r>
          </a:p>
        </p:txBody>
      </p:sp>
      <p:sp>
        <p:nvSpPr>
          <p:cNvPr id="7" name="s11-paper-value">
            <a:extLst>
              <a:ext uri="{FF2B5EF4-FFF2-40B4-BE49-F238E27FC236}">
                <a16:creationId xmlns:a16="http://schemas.microsoft.com/office/drawing/2014/main" id="{DC0F0AF5-9DCE-44DD-A40A-67F75D5031A3}"/>
              </a:ext>
            </a:extLst>
          </p:cNvPr>
          <p:cNvSpPr>
            <a:spLocks noGrp="1"/>
          </p:cNvSpPr>
          <p:nvPr/>
        </p:nvSpPr>
        <p:spPr>
          <a:xfrm>
            <a:off x="8239125" y="3714750"/>
            <a:ext cx="3048000" cy="495300"/>
          </a:xfrm>
          <a:prstGeom prst="rect">
            <a:avLst/>
          </a:prstGeom>
          <a:noFill/>
          <a:ln w="0">
            <a:noFill/>
            <a:prstDash val="solid"/>
          </a:ln>
        </p:spPr>
        <p:txBody>
          <a:bodyPr lIns="38100" tIns="38100" rIns="38100" bIns="38100" anchor="t">
            <a:normAutofit fontScale="79536" lnSpcReduction="10000"/>
          </a:bodyPr>
          <a:lstStyle/>
          <a:p>
            <a:pPr>
              <a:buNone/>
              <a:defRPr sz="1575" b="1">
                <a:solidFill>
                  <a:srgbClr val="111111"/>
                </a:solidFill>
                <a:latin typeface="Roboto"/>
                <a:ea typeface="Roboto"/>
                <a:cs typeface="Roboto"/>
              </a:defRPr>
            </a:pPr>
            <a:r>
              <a:rPr sz="1575" b="1">
                <a:solidFill>
                  <a:srgbClr val="111111"/>
                </a:solidFill>
                <a:latin typeface="Roboto"/>
                <a:ea typeface="Roboto"/>
                <a:cs typeface="Roboto"/>
              </a:rPr>
              <a:t>Bright region: high predicted gain
Black: low gain or outside valid domain</a:t>
            </a:r>
          </a:p>
        </p:txBody>
      </p:sp>
      <p:sp>
        <p:nvSpPr>
          <p:cNvPr id="8" name="s11-model">
            <a:extLst>
              <a:ext uri="{FF2B5EF4-FFF2-40B4-BE49-F238E27FC236}">
                <a16:creationId xmlns:a16="http://schemas.microsoft.com/office/drawing/2014/main" id="{845A3B50-75ED-43B7-A060-5DA19EA9C417}"/>
              </a:ext>
            </a:extLst>
          </p:cNvPr>
          <p:cNvSpPr>
            <a:spLocks noGrp="1"/>
          </p:cNvSpPr>
          <p:nvPr/>
        </p:nvSpPr>
        <p:spPr>
          <a:xfrm>
            <a:off x="8239125" y="4524375"/>
            <a:ext cx="1714500" cy="266700"/>
          </a:xfrm>
          <a:prstGeom prst="rect">
            <a:avLst/>
          </a:prstGeom>
          <a:noFill/>
          <a:ln w="0">
            <a:noFill/>
            <a:prstDash val="solid"/>
          </a:ln>
        </p:spPr>
        <p:txBody>
          <a:bodyPr lIns="38100" tIns="38100" rIns="38100" bIns="38100" anchor="t">
            <a:normAutofit/>
          </a:bodyPr>
          <a:lstStyle/>
          <a:p>
            <a:pPr>
              <a:buNone/>
              <a:defRPr sz="975" b="1">
                <a:solidFill>
                  <a:srgbClr val="FF0000"/>
                </a:solidFill>
                <a:latin typeface="Roboto"/>
                <a:ea typeface="Roboto"/>
                <a:cs typeface="Roboto"/>
              </a:defRPr>
            </a:pPr>
            <a:r>
              <a:rPr sz="975" b="1">
                <a:solidFill>
                  <a:srgbClr val="FF0000"/>
                </a:solidFill>
                <a:latin typeface="Roboto"/>
                <a:ea typeface="Roboto"/>
                <a:cs typeface="Roboto"/>
              </a:rPr>
              <a:t>PHASE MATCHING</a:t>
            </a:r>
          </a:p>
        </p:txBody>
      </p:sp>
      <p:sp>
        <p:nvSpPr>
          <p:cNvPr id="9" name="s11-model-value">
            <a:extLst>
              <a:ext uri="{FF2B5EF4-FFF2-40B4-BE49-F238E27FC236}">
                <a16:creationId xmlns:a16="http://schemas.microsoft.com/office/drawing/2014/main" id="{A85D7DF5-6597-4BCA-8890-6908635721DC}"/>
              </a:ext>
            </a:extLst>
          </p:cNvPr>
          <p:cNvSpPr>
            <a:spLocks noGrp="1"/>
          </p:cNvSpPr>
          <p:nvPr/>
        </p:nvSpPr>
        <p:spPr>
          <a:xfrm>
            <a:off x="8239125" y="4810125"/>
            <a:ext cx="3048000" cy="495300"/>
          </a:xfrm>
          <a:prstGeom prst="rect">
            <a:avLst/>
          </a:prstGeom>
          <a:noFill/>
          <a:ln w="0">
            <a:noFill/>
            <a:prstDash val="solid"/>
          </a:ln>
        </p:spPr>
        <p:txBody>
          <a:bodyPr lIns="38100" tIns="38100" rIns="38100" bIns="38100" anchor="t">
            <a:normAutofit/>
          </a:bodyPr>
          <a:lstStyle/>
          <a:p>
            <a:pPr>
              <a:buNone/>
              <a:defRPr sz="1125" b="1">
                <a:solidFill>
                  <a:srgbClr val="111111"/>
                </a:solidFill>
                <a:latin typeface="Roboto"/>
                <a:ea typeface="Roboto"/>
                <a:cs typeface="Roboto"/>
              </a:defRPr>
            </a:pPr>
            <a:r>
              <a:rPr sz="1125" b="1">
                <a:solidFill>
                  <a:srgbClr val="111111"/>
                </a:solidFill>
                <a:latin typeface="Roboto"/>
                <a:ea typeface="Roboto"/>
                <a:cs typeface="Roboto"/>
              </a:rPr>
              <a:t>Cyan contour: Δk_eff = 0
High gain follows the U-shaped contour</a:t>
            </a:r>
          </a:p>
        </p:txBody>
      </p:sp>
      <p:sp>
        <p:nvSpPr>
          <p:cNvPr id="10" name="s11-small-rule">
            <a:extLst>
              <a:ext uri="{FF2B5EF4-FFF2-40B4-BE49-F238E27FC236}">
                <a16:creationId xmlns:a16="http://schemas.microsoft.com/office/drawing/2014/main" id="{0D8ACBA6-C9CF-4A4C-A32F-04E05D121CA0}"/>
              </a:ext>
            </a:extLst>
          </p:cNvPr>
          <p:cNvSpPr>
            <a:spLocks noGrp="1"/>
          </p:cNvSpPr>
          <p:nvPr/>
        </p:nvSpPr>
        <p:spPr>
          <a:xfrm>
            <a:off x="8239125" y="5476875"/>
            <a:ext cx="2809875" cy="0"/>
          </a:xfrm>
          <a:prstGeom prst="line">
            <a:avLst/>
          </a:prstGeom>
          <a:noFill/>
          <a:ln w="28575">
            <a:solidFill>
              <a:srgbClr val="FF0000"/>
            </a:solidFill>
            <a:prstDash val="solid"/>
          </a:ln>
        </p:spPr>
        <p:txBody>
          <a:bodyPr/>
          <a:lstStyle/>
          <a:p>
            <a:endParaRPr/>
          </a:p>
        </p:txBody>
      </p:sp>
      <p:sp>
        <p:nvSpPr>
          <p:cNvPr id="4" name="s4-meta">
            <a:extLst>
              <a:ext uri="{FF2B5EF4-FFF2-40B4-BE49-F238E27FC236}">
                <a16:creationId xmlns:a16="http://schemas.microsoft.com/office/drawing/2014/main" id="{A25E6032-047D-7157-7D8B-42614FA21F71}"/>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12" name="s4-page">
            <a:extLst>
              <a:ext uri="{FF2B5EF4-FFF2-40B4-BE49-F238E27FC236}">
                <a16:creationId xmlns:a16="http://schemas.microsoft.com/office/drawing/2014/main" id="{2EA95560-11CA-813B-CC1E-85D829ADCC2A}"/>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16</a:t>
            </a:r>
          </a:p>
        </p:txBody>
      </p:sp>
      <p:sp>
        <p:nvSpPr>
          <p:cNvPr id="14" name="s11-graph-title">
            <a:extLst>
              <a:ext uri="{FF2B5EF4-FFF2-40B4-BE49-F238E27FC236}">
                <a16:creationId xmlns:a16="http://schemas.microsoft.com/office/drawing/2014/main" id="{4EB4EDF9-9F1C-4C07-A0D9-4807F78C548A}"/>
              </a:ext>
            </a:extLst>
          </p:cNvPr>
          <p:cNvSpPr>
            <a:spLocks noGrp="1"/>
          </p:cNvSpPr>
          <p:nvPr/>
        </p:nvSpPr>
        <p:spPr>
          <a:xfrm>
            <a:off x="552450" y="2609850"/>
            <a:ext cx="7000875" cy="228600"/>
          </a:xfrm>
          <a:prstGeom prst="rect">
            <a:avLst/>
          </a:prstGeom>
          <a:noFill/>
          <a:ln w="0">
            <a:noFill/>
            <a:prstDash val="solid"/>
          </a:ln>
        </p:spPr>
        <p:txBody>
          <a:bodyPr lIns="19050" tIns="0" rIns="19050" bIns="0" anchor="ctr"/>
          <a:lstStyle/>
          <a:p>
            <a:pPr algn="ctr">
              <a:buNone/>
              <a:defRPr sz="1275" b="1">
                <a:solidFill>
                  <a:srgbClr val="111111"/>
                </a:solidFill>
                <a:latin typeface="Roboto"/>
                <a:ea typeface="Roboto"/>
                <a:cs typeface="Roboto"/>
              </a:defRPr>
            </a:pPr>
            <a:r>
              <a:rPr sz="1275" b="1">
                <a:solidFill>
                  <a:srgbClr val="111111"/>
                </a:solidFill>
                <a:latin typeface="Roboto"/>
                <a:ea typeface="Roboto"/>
                <a:cs typeface="Roboto"/>
              </a:rPr>
              <a:t>Predicted gain versus pump and signal frequency</a:t>
            </a:r>
          </a:p>
        </p:txBody>
      </p:sp>
      <p:pic>
        <p:nvPicPr>
          <p:cNvPr id="28" name="s14-enlarged-gain-map"/>
          <p:cNvPicPr>
            <a:picLocks noChangeAspect="1"/>
          </p:cNvPicPr>
          <p:nvPr/>
        </p:nvPicPr>
        <p:blipFill>
          <a:blip r:embed="rId3"/>
          <a:stretch/>
        </p:blipFill>
        <p:spPr>
          <a:xfrm>
            <a:off x="1750845" y="2809875"/>
            <a:ext cx="4594559" cy="3714750"/>
          </a:xfrm>
          <a:prstGeom prst="rect">
            <a:avLst/>
          </a:prstGeom>
        </p:spPr>
      </p:pic>
    </p:spTree>
    <p:extLst>
      <p:ext uri="{BB962C8B-B14F-4D97-AF65-F5344CB8AC3E}">
        <p14:creationId xmlns:p14="http://schemas.microsoft.com/office/powerpoint/2010/main" val="1976281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0474F6-0F17-47D5-9AC1-2B2084E61FE9}"/>
              </a:ext>
            </a:extLst>
          </p:cNvPr>
          <p:cNvSpPr>
            <a:spLocks noGrp="1"/>
          </p:cNvSpPr>
          <p:nvPr>
            <p:ph idx="1"/>
          </p:nvPr>
        </p:nvSpPr>
        <p:spPr>
          <a:xfrm>
            <a:off x="552450" y="2476498"/>
            <a:ext cx="4781550" cy="3886202"/>
          </a:xfrm>
        </p:spPr>
        <p:txBody>
          <a:bodyPr wrap="square" lIns="38100" tIns="38100" rIns="38100" bIns="38100" anchor="t">
            <a:noAutofit/>
          </a:bodyPr>
          <a:lstStyle/>
          <a:p>
            <a:pPr algn="l">
              <a:lnSpc>
                <a:spcPct val="112000"/>
              </a:lnSpc>
              <a:buNone/>
              <a:defRPr sz="1275" b="1">
                <a:solidFill>
                  <a:srgbClr val="111111"/>
                </a:solidFill>
                <a:latin typeface="Roboto"/>
                <a:ea typeface="Roboto"/>
                <a:cs typeface="Roboto"/>
              </a:defRPr>
            </a:pPr>
            <a:r>
              <a:rPr sz="1800" b="1" dirty="0">
                <a:solidFill>
                  <a:srgbClr val="111111"/>
                </a:solidFill>
                <a:latin typeface="Roboto"/>
                <a:ea typeface="Roboto"/>
                <a:cs typeface="Roboto"/>
              </a:rPr>
              <a:t>OUR MODEL AT 13.865 GHz</a:t>
            </a:r>
          </a:p>
          <a:p>
            <a:pPr lvl="1">
              <a:lnSpc>
                <a:spcPct val="112000"/>
              </a:lnSpc>
              <a:buNone/>
              <a:defRPr sz="1275" b="1">
                <a:solidFill>
                  <a:srgbClr val="111111"/>
                </a:solidFill>
                <a:latin typeface="Roboto"/>
                <a:ea typeface="Roboto"/>
                <a:cs typeface="Roboto"/>
              </a:defRPr>
            </a:pPr>
            <a:r>
              <a:rPr sz="1600" b="1" dirty="0">
                <a:solidFill>
                  <a:srgbClr val="111111"/>
                </a:solidFill>
                <a:latin typeface="Roboto"/>
                <a:ea typeface="Roboto"/>
                <a:cs typeface="Roboto"/>
              </a:rPr>
              <a:t>Paper experiment peak: 27.65 dB</a:t>
            </a:r>
          </a:p>
          <a:p>
            <a:pPr lvl="1">
              <a:lnSpc>
                <a:spcPct val="112000"/>
              </a:lnSpc>
              <a:buNone/>
              <a:defRPr sz="1275" b="1">
                <a:solidFill>
                  <a:srgbClr val="111111"/>
                </a:solidFill>
                <a:latin typeface="Roboto"/>
                <a:ea typeface="Roboto"/>
                <a:cs typeface="Roboto"/>
              </a:defRPr>
            </a:pPr>
            <a:r>
              <a:rPr sz="1600" b="1" dirty="0">
                <a:solidFill>
                  <a:srgbClr val="111111"/>
                </a:solidFill>
                <a:latin typeface="Roboto"/>
                <a:ea typeface="Roboto"/>
                <a:cs typeface="Roboto"/>
              </a:rPr>
              <a:t>Our model peak: 33.74 dB  (+6.09 dB)</a:t>
            </a:r>
          </a:p>
          <a:p>
            <a:pPr lvl="1">
              <a:lnSpc>
                <a:spcPct val="112000"/>
              </a:lnSpc>
              <a:buNone/>
              <a:defRPr sz="1275">
                <a:solidFill>
                  <a:srgbClr val="111111"/>
                </a:solidFill>
                <a:latin typeface="Roboto"/>
                <a:ea typeface="Roboto"/>
                <a:cs typeface="Roboto"/>
              </a:defRPr>
            </a:pPr>
            <a:r>
              <a:rPr sz="1600" b="1" dirty="0">
                <a:solidFill>
                  <a:srgbClr val="111111"/>
                </a:solidFill>
                <a:latin typeface="Roboto"/>
                <a:ea typeface="Roboto"/>
                <a:cs typeface="Roboto"/>
              </a:rPr>
              <a:t>Paper simulation peak: 39.55 dB  (+5.81 dB vs model)</a:t>
            </a:r>
          </a:p>
          <a:p>
            <a:pPr algn="l">
              <a:lnSpc>
                <a:spcPct val="112000"/>
              </a:lnSpc>
              <a:buNone/>
              <a:defRPr sz="1575" b="1">
                <a:solidFill>
                  <a:srgbClr val="111111"/>
                </a:solidFill>
                <a:latin typeface="Roboto"/>
                <a:ea typeface="Roboto"/>
                <a:cs typeface="Roboto"/>
              </a:defRPr>
            </a:pPr>
            <a:endParaRPr sz="1400" b="1" dirty="0">
              <a:solidFill>
                <a:srgbClr val="111111"/>
              </a:solidFill>
              <a:latin typeface="Roboto"/>
              <a:ea typeface="Roboto"/>
              <a:cs typeface="Roboto"/>
            </a:endParaRPr>
          </a:p>
          <a:p>
            <a:pPr algn="l">
              <a:lnSpc>
                <a:spcPct val="112000"/>
              </a:lnSpc>
              <a:buNone/>
              <a:defRPr sz="1275" b="1">
                <a:solidFill>
                  <a:srgbClr val="111111"/>
                </a:solidFill>
                <a:latin typeface="Roboto"/>
                <a:ea typeface="Roboto"/>
                <a:cs typeface="Roboto"/>
              </a:defRPr>
            </a:pPr>
            <a:r>
              <a:rPr sz="1800" b="1" dirty="0">
                <a:solidFill>
                  <a:srgbClr val="111111"/>
                </a:solidFill>
                <a:latin typeface="Roboto"/>
                <a:ea typeface="Roboto"/>
                <a:cs typeface="Roboto"/>
              </a:rPr>
              <a:t>3 dB BANDWIDTH</a:t>
            </a:r>
          </a:p>
          <a:p>
            <a:pPr lvl="1">
              <a:lnSpc>
                <a:spcPct val="112000"/>
              </a:lnSpc>
              <a:buNone/>
              <a:defRPr sz="1275" b="1">
                <a:solidFill>
                  <a:srgbClr val="111111"/>
                </a:solidFill>
                <a:latin typeface="Roboto"/>
                <a:ea typeface="Roboto"/>
                <a:cs typeface="Roboto"/>
              </a:defRPr>
            </a:pPr>
            <a:r>
              <a:rPr sz="1600" b="1" dirty="0">
                <a:solidFill>
                  <a:srgbClr val="111111"/>
                </a:solidFill>
                <a:latin typeface="Roboto"/>
                <a:ea typeface="Roboto"/>
                <a:cs typeface="Roboto"/>
              </a:rPr>
              <a:t>Paper experiment: 3.15 GHz</a:t>
            </a:r>
          </a:p>
          <a:p>
            <a:pPr lvl="1">
              <a:lnSpc>
                <a:spcPct val="112000"/>
              </a:lnSpc>
              <a:buNone/>
              <a:defRPr sz="1275" b="1">
                <a:solidFill>
                  <a:srgbClr val="111111"/>
                </a:solidFill>
                <a:latin typeface="Roboto"/>
                <a:ea typeface="Roboto"/>
                <a:cs typeface="Roboto"/>
              </a:defRPr>
            </a:pPr>
            <a:r>
              <a:rPr sz="1600" b="1" dirty="0">
                <a:solidFill>
                  <a:srgbClr val="111111"/>
                </a:solidFill>
                <a:latin typeface="Roboto"/>
                <a:ea typeface="Roboto"/>
                <a:cs typeface="Roboto"/>
              </a:rPr>
              <a:t>Our model: 3.16 GHz  (+0.01 GHz)</a:t>
            </a:r>
          </a:p>
        </p:txBody>
      </p:sp>
      <p:sp>
        <p:nvSpPr>
          <p:cNvPr id="3" name="Title 2">
            <a:extLst>
              <a:ext uri="{FF2B5EF4-FFF2-40B4-BE49-F238E27FC236}">
                <a16:creationId xmlns:a16="http://schemas.microsoft.com/office/drawing/2014/main" id="{86DF8A4A-3510-4BEA-A3B7-866392C6B462}"/>
              </a:ext>
            </a:extLst>
          </p:cNvPr>
          <p:cNvSpPr>
            <a:spLocks noGrp="1"/>
          </p:cNvSpPr>
          <p:nvPr>
            <p:ph type="title"/>
          </p:nvPr>
        </p:nvSpPr>
        <p:spPr>
          <a:xfrm>
            <a:off x="552450" y="952499"/>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Pump tuning brings our model to a 3.16 GHz 3 dB bandwidth</a:t>
            </a:r>
          </a:p>
        </p:txBody>
      </p:sp>
      <p:pic>
        <p:nvPicPr>
          <p:cNvPr id="17" name="Graphic 12"/>
          <p:cNvPicPr>
            <a:picLocks noChangeAspect="1"/>
          </p:cNvPicPr>
          <p:nvPr/>
        </p:nvPicPr>
        <p:blipFill>
          <a:blip r:embed="rId3">
            <a:extLst>
              <a:ext uri="{96DAC541-7B7A-43D3-8B79-37D633B846F1}">
                <asvg:svgBlip xmlns:asvg="http://schemas.microsoft.com/office/drawing/2016/SVG/main" r:embed="rId4"/>
              </a:ext>
            </a:extLst>
          </a:blip>
          <a:stretch/>
        </p:blipFill>
        <p:spPr>
          <a:xfrm>
            <a:off x="476250" y="266700"/>
            <a:ext cx="857250" cy="400050"/>
          </a:xfrm>
          <a:prstGeom prst="rect">
            <a:avLst/>
          </a:prstGeom>
        </p:spPr>
      </p:pic>
      <p:sp>
        <p:nvSpPr>
          <p:cNvPr id="8" name="s12-rule">
            <a:extLst>
              <a:ext uri="{FF2B5EF4-FFF2-40B4-BE49-F238E27FC236}">
                <a16:creationId xmlns:a16="http://schemas.microsoft.com/office/drawing/2014/main" id="{526BC741-9958-4475-B621-353D06895DD2}"/>
              </a:ext>
            </a:extLst>
          </p:cNvPr>
          <p:cNvSpPr>
            <a:spLocks noGrp="1"/>
          </p:cNvSpPr>
          <p:nvPr/>
        </p:nvSpPr>
        <p:spPr>
          <a:xfrm>
            <a:off x="552450" y="5905500"/>
            <a:ext cx="4095750" cy="0"/>
          </a:xfrm>
          <a:prstGeom prst="line">
            <a:avLst/>
          </a:prstGeom>
          <a:noFill/>
          <a:ln w="28575">
            <a:solidFill>
              <a:srgbClr val="FF0000"/>
            </a:solidFill>
            <a:prstDash val="solid"/>
          </a:ln>
        </p:spPr>
        <p:txBody>
          <a:bodyPr/>
          <a:lstStyle/>
          <a:p>
            <a:endParaRPr/>
          </a:p>
        </p:txBody>
      </p:sp>
      <p:sp>
        <p:nvSpPr>
          <p:cNvPr id="4" name="s4-meta">
            <a:extLst>
              <a:ext uri="{FF2B5EF4-FFF2-40B4-BE49-F238E27FC236}">
                <a16:creationId xmlns:a16="http://schemas.microsoft.com/office/drawing/2014/main" id="{87C65A36-6085-B48D-AF55-7813C5389827}"/>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5" name="s4-page">
            <a:extLst>
              <a:ext uri="{FF2B5EF4-FFF2-40B4-BE49-F238E27FC236}">
                <a16:creationId xmlns:a16="http://schemas.microsoft.com/office/drawing/2014/main" id="{ECED3BA8-37E7-728B-0518-BB6B2A9D28A9}"/>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17</a:t>
            </a:r>
          </a:p>
        </p:txBody>
      </p:sp>
      <p:sp>
        <p:nvSpPr>
          <p:cNvPr id="12" name="s12-graph-title">
            <a:extLst>
              <a:ext uri="{FF2B5EF4-FFF2-40B4-BE49-F238E27FC236}">
                <a16:creationId xmlns:a16="http://schemas.microsoft.com/office/drawing/2014/main" id="{1F67422E-A04A-4260-A638-68D78671784A}"/>
              </a:ext>
            </a:extLst>
          </p:cNvPr>
          <p:cNvSpPr>
            <a:spLocks noGrp="1"/>
          </p:cNvSpPr>
          <p:nvPr/>
        </p:nvSpPr>
        <p:spPr>
          <a:xfrm>
            <a:off x="5334000" y="2381250"/>
            <a:ext cx="6191250" cy="247650"/>
          </a:xfrm>
          <a:prstGeom prst="rect">
            <a:avLst/>
          </a:prstGeom>
          <a:noFill/>
          <a:ln w="0">
            <a:noFill/>
            <a:prstDash val="solid"/>
          </a:ln>
        </p:spPr>
        <p:txBody>
          <a:bodyPr lIns="19050" tIns="0" rIns="19050" bIns="0" anchor="ctr"/>
          <a:lstStyle/>
          <a:p>
            <a:pPr algn="ctr">
              <a:buNone/>
              <a:defRPr sz="1350" b="1">
                <a:solidFill>
                  <a:srgbClr val="111111"/>
                </a:solidFill>
                <a:latin typeface="Roboto"/>
                <a:ea typeface="Roboto"/>
                <a:cs typeface="Roboto"/>
              </a:defRPr>
            </a:pPr>
            <a:r>
              <a:rPr sz="1350" b="1">
                <a:solidFill>
                  <a:srgbClr val="111111"/>
                </a:solidFill>
                <a:latin typeface="Roboto"/>
                <a:ea typeface="Roboto"/>
                <a:cs typeface="Roboto"/>
              </a:rPr>
              <a:t>Gain after pump-frequency selection</a:t>
            </a:r>
          </a:p>
        </p:txBody>
      </p:sp>
      <p:graphicFrame>
        <p:nvGraphicFramePr>
          <p:cNvPr id="23" name="s12-three-way-gain-comparison"/>
          <p:cNvGraphicFramePr/>
          <p:nvPr/>
        </p:nvGraphicFramePr>
        <p:xfrm>
          <a:off x="5334000" y="2667000"/>
          <a:ext cx="6191250" cy="366712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013570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CD9850-B611-4DF7-A063-DA7D650829B2}"/>
              </a:ext>
            </a:extLst>
          </p:cNvPr>
          <p:cNvSpPr>
            <a:spLocks noGrp="1"/>
          </p:cNvSpPr>
          <p:nvPr>
            <p:ph idx="1"/>
          </p:nvPr>
        </p:nvSpPr>
        <p:spPr>
          <a:xfrm>
            <a:off x="552450" y="2188028"/>
            <a:ext cx="12347122" cy="5823857"/>
          </a:xfrm>
        </p:spPr>
        <p:txBody>
          <a:bodyPr wrap="square" lIns="19050" tIns="19050" rIns="19050" bIns="19050" anchor="t">
            <a:normAutofit fontScale="96537"/>
          </a:bodyPr>
          <a:lstStyle/>
          <a:p>
            <a:pPr marL="0" indent="0">
              <a:buNone/>
            </a:pPr>
            <a:r>
              <a:rPr lang="en-US" sz="1600" b="1" dirty="0"/>
              <a:t>WHAT AGREES?</a:t>
            </a:r>
          </a:p>
          <a:p>
            <a:pPr marL="0" lvl="0" indent="0" defTabSz="914400" rtl="0" eaLnBrk="0" fontAlgn="base" hangingPunct="0">
              <a:lnSpc>
                <a:spcPct val="100000"/>
              </a:lnSpc>
              <a:spcBef>
                <a:spcPct val="0"/>
              </a:spcBef>
              <a:spcAft>
                <a:spcPct val="0"/>
              </a:spcAft>
              <a:buClrTx/>
              <a:buSzTx/>
              <a:buNone/>
            </a:pPr>
            <a:endParaRPr lang="en-JP" altLang="en-JP" sz="1800" dirty="0">
              <a:latin typeface="Arial" panose="020B0604020202020204" pitchFamily="34" charset="0"/>
            </a:endParaRPr>
          </a:p>
          <a:p>
            <a:pPr lvl="1" defTabSz="914400" rtl="0" eaLnBrk="0" fontAlgn="base" hangingPunct="0">
              <a:lnSpc>
                <a:spcPct val="100000"/>
              </a:lnSpc>
              <a:spcBef>
                <a:spcPct val="0"/>
              </a:spcBef>
              <a:spcAft>
                <a:spcPct val="0"/>
              </a:spcAft>
              <a:buClrTx/>
              <a:buSzTx/>
            </a:pPr>
            <a:r>
              <a:rPr lang="en-JP" altLang="en-JP" sz="1600" dirty="0">
                <a:latin typeface="Arial" panose="020B0604020202020204" pitchFamily="34" charset="0"/>
              </a:rPr>
              <a:t>All three curves predict broadband, approximately flat gain.</a:t>
            </a:r>
          </a:p>
          <a:p>
            <a:pPr marL="219081" lvl="1" indent="0" defTabSz="914400" rtl="0" eaLnBrk="0" fontAlgn="base" hangingPunct="0">
              <a:lnSpc>
                <a:spcPct val="100000"/>
              </a:lnSpc>
              <a:spcBef>
                <a:spcPct val="0"/>
              </a:spcBef>
              <a:spcAft>
                <a:spcPct val="0"/>
              </a:spcAft>
              <a:buClrTx/>
              <a:buSzTx/>
              <a:buNone/>
            </a:pPr>
            <a:endParaRPr lang="en-JP" altLang="en-JP" sz="1600" dirty="0">
              <a:latin typeface="Arial" panose="020B0604020202020204" pitchFamily="34" charset="0"/>
            </a:endParaRPr>
          </a:p>
          <a:p>
            <a:pPr lvl="1" defTabSz="914400" rtl="0" eaLnBrk="0" fontAlgn="base" hangingPunct="0">
              <a:lnSpc>
                <a:spcPct val="100000"/>
              </a:lnSpc>
              <a:spcBef>
                <a:spcPct val="0"/>
              </a:spcBef>
              <a:spcAft>
                <a:spcPct val="0"/>
              </a:spcAft>
              <a:buClrTx/>
              <a:buSzTx/>
            </a:pPr>
            <a:r>
              <a:rPr lang="en-JP" altLang="en-JP" sz="1600" dirty="0">
                <a:latin typeface="Arial" panose="020B0604020202020204" pitchFamily="34" charset="0"/>
              </a:rPr>
              <a:t>Bandwidth: </a:t>
            </a:r>
            <a:r>
              <a:rPr lang="en-JP" altLang="en-JP" sz="1600" b="1" dirty="0">
                <a:latin typeface="Arial" panose="020B0604020202020204" pitchFamily="34" charset="0"/>
              </a:rPr>
              <a:t>3.16 GHz model vs. 3.15 GHz experiment.</a:t>
            </a:r>
          </a:p>
          <a:p>
            <a:pPr marL="219081" lvl="1" indent="0" defTabSz="914400" rtl="0" eaLnBrk="0" fontAlgn="base" hangingPunct="0">
              <a:lnSpc>
                <a:spcPct val="100000"/>
              </a:lnSpc>
              <a:spcBef>
                <a:spcPct val="0"/>
              </a:spcBef>
              <a:spcAft>
                <a:spcPct val="0"/>
              </a:spcAft>
              <a:buClrTx/>
              <a:buSzTx/>
              <a:buNone/>
            </a:pPr>
            <a:endParaRPr lang="en-JP" altLang="en-JP" sz="1600" dirty="0">
              <a:latin typeface="Arial" panose="020B0604020202020204" pitchFamily="34" charset="0"/>
            </a:endParaRPr>
          </a:p>
          <a:p>
            <a:pPr lvl="1" defTabSz="914400" rtl="0" eaLnBrk="0" fontAlgn="base" hangingPunct="0">
              <a:lnSpc>
                <a:spcPct val="100000"/>
              </a:lnSpc>
              <a:spcBef>
                <a:spcPct val="0"/>
              </a:spcBef>
              <a:spcAft>
                <a:spcPct val="0"/>
              </a:spcAft>
              <a:buClrTx/>
              <a:buSzTx/>
            </a:pPr>
            <a:r>
              <a:rPr lang="en-JP" altLang="en-JP" sz="1600" dirty="0">
                <a:latin typeface="Arial" panose="020B0604020202020204" pitchFamily="34" charset="0"/>
              </a:rPr>
              <a:t>Our peak gain lies between the paper’s experiment and simulation.</a:t>
            </a:r>
          </a:p>
          <a:p>
            <a:pPr marL="290512" lvl="1" indent="0">
              <a:buNone/>
            </a:pPr>
            <a:endParaRPr lang="en-US" sz="1600" dirty="0"/>
          </a:p>
          <a:p>
            <a:pPr marL="0" indent="0">
              <a:buNone/>
            </a:pPr>
            <a:r>
              <a:rPr lang="en-US" sz="1600" b="1" dirty="0"/>
              <a:t>WHAT DOES NOT AGREE EXACTLY?</a:t>
            </a:r>
          </a:p>
          <a:p>
            <a:pPr marL="0" lvl="0" indent="0" defTabSz="914400" rtl="0" eaLnBrk="0" fontAlgn="base" hangingPunct="0">
              <a:lnSpc>
                <a:spcPct val="100000"/>
              </a:lnSpc>
              <a:spcBef>
                <a:spcPct val="0"/>
              </a:spcBef>
              <a:spcAft>
                <a:spcPct val="0"/>
              </a:spcAft>
              <a:buClrTx/>
              <a:buSzTx/>
              <a:buNone/>
            </a:pPr>
            <a:endParaRPr lang="en-JP" altLang="en-JP" sz="1800" dirty="0">
              <a:latin typeface="Arial" panose="020B0604020202020204" pitchFamily="34" charset="0"/>
            </a:endParaRPr>
          </a:p>
          <a:p>
            <a:pPr marL="219081" lvl="1" indent="0" defTabSz="914400" rtl="0" eaLnBrk="0" fontAlgn="base" hangingPunct="0">
              <a:lnSpc>
                <a:spcPct val="100000"/>
              </a:lnSpc>
              <a:spcBef>
                <a:spcPct val="0"/>
              </a:spcBef>
              <a:spcAft>
                <a:spcPct val="0"/>
              </a:spcAft>
              <a:buClrTx/>
              <a:buSzTx/>
              <a:buFontTx/>
              <a:buChar char="•"/>
            </a:pPr>
            <a:r>
              <a:rPr lang="en-JP" altLang="en-JP" sz="1600" dirty="0">
                <a:latin typeface="Arial" panose="020B0604020202020204" pitchFamily="34" charset="0"/>
              </a:rPr>
              <a:t> Peak gain: </a:t>
            </a:r>
            <a:r>
              <a:rPr lang="en-JP" altLang="en-JP" sz="1600" b="1" dirty="0">
                <a:latin typeface="Arial" panose="020B0604020202020204" pitchFamily="34" charset="0"/>
              </a:rPr>
              <a:t>33.74 dB model vs. 27.65 dB experiment.</a:t>
            </a:r>
          </a:p>
          <a:p>
            <a:pPr marL="219081" lvl="1" indent="0" defTabSz="914400" rtl="0" eaLnBrk="0" fontAlgn="base" hangingPunct="0">
              <a:lnSpc>
                <a:spcPct val="100000"/>
              </a:lnSpc>
              <a:spcBef>
                <a:spcPct val="0"/>
              </a:spcBef>
              <a:spcAft>
                <a:spcPct val="0"/>
              </a:spcAft>
              <a:buClrTx/>
              <a:buSzTx/>
              <a:buFontTx/>
              <a:buChar char="•"/>
            </a:pPr>
            <a:endParaRPr lang="en-JP" altLang="en-JP" sz="1600" dirty="0">
              <a:latin typeface="Arial" panose="020B0604020202020204" pitchFamily="34" charset="0"/>
            </a:endParaRPr>
          </a:p>
          <a:p>
            <a:pPr marL="219081" lvl="1" indent="0" defTabSz="914400" rtl="0" eaLnBrk="0" fontAlgn="base" hangingPunct="0">
              <a:lnSpc>
                <a:spcPct val="100000"/>
              </a:lnSpc>
              <a:spcBef>
                <a:spcPct val="0"/>
              </a:spcBef>
              <a:spcAft>
                <a:spcPct val="0"/>
              </a:spcAft>
              <a:buClrTx/>
              <a:buSzTx/>
              <a:buFontTx/>
              <a:buChar char="•"/>
            </a:pPr>
            <a:r>
              <a:rPr lang="en-JP" altLang="en-JP" sz="1600" dirty="0">
                <a:latin typeface="Arial" panose="020B0604020202020204" pitchFamily="34" charset="0"/>
              </a:rPr>
              <a:t> Our amplified band is shifted slightly toward higher signal frequencies.</a:t>
            </a:r>
          </a:p>
          <a:p>
            <a:pPr marL="219081" lvl="1" indent="0" defTabSz="914400" rtl="0" eaLnBrk="0" fontAlgn="base" hangingPunct="0">
              <a:lnSpc>
                <a:spcPct val="100000"/>
              </a:lnSpc>
              <a:spcBef>
                <a:spcPct val="0"/>
              </a:spcBef>
              <a:spcAft>
                <a:spcPct val="0"/>
              </a:spcAft>
              <a:buClrTx/>
              <a:buSzTx/>
              <a:buFontTx/>
              <a:buChar char="•"/>
            </a:pPr>
            <a:endParaRPr lang="en-JP" altLang="en-JP" sz="1600" dirty="0">
              <a:latin typeface="Arial" panose="020B0604020202020204" pitchFamily="34" charset="0"/>
            </a:endParaRPr>
          </a:p>
          <a:p>
            <a:pPr marL="219081" lvl="1" indent="0" defTabSz="914400" rtl="0" eaLnBrk="0" fontAlgn="base" hangingPunct="0">
              <a:lnSpc>
                <a:spcPct val="100000"/>
              </a:lnSpc>
              <a:spcBef>
                <a:spcPct val="0"/>
              </a:spcBef>
              <a:spcAft>
                <a:spcPct val="0"/>
              </a:spcAft>
              <a:buClrTx/>
              <a:buSzTx/>
              <a:buFontTx/>
              <a:buChar char="•"/>
            </a:pPr>
            <a:r>
              <a:rPr lang="en-JP" altLang="en-JP" sz="1600" dirty="0">
                <a:latin typeface="Arial" panose="020B0604020202020204" pitchFamily="34" charset="0"/>
              </a:rPr>
              <a:t> Our model has smoother, sharper edges than the experimental curve.</a:t>
            </a:r>
          </a:p>
          <a:p>
            <a:pPr marL="219081" lvl="1" indent="0" defTabSz="914400" rtl="0" eaLnBrk="0" fontAlgn="base" hangingPunct="0">
              <a:lnSpc>
                <a:spcPct val="100000"/>
              </a:lnSpc>
              <a:spcBef>
                <a:spcPct val="0"/>
              </a:spcBef>
              <a:spcAft>
                <a:spcPct val="0"/>
              </a:spcAft>
              <a:buClrTx/>
              <a:buSzTx/>
              <a:buFontTx/>
              <a:buChar char="•"/>
            </a:pPr>
            <a:endParaRPr lang="en-JP" altLang="en-JP" sz="1600" dirty="0">
              <a:latin typeface="Arial" panose="020B0604020202020204" pitchFamily="34" charset="0"/>
            </a:endParaRPr>
          </a:p>
          <a:p>
            <a:pPr marL="219081" lvl="1" indent="0" defTabSz="914400" rtl="0" eaLnBrk="0" fontAlgn="base" hangingPunct="0">
              <a:lnSpc>
                <a:spcPct val="100000"/>
              </a:lnSpc>
              <a:spcBef>
                <a:spcPct val="0"/>
              </a:spcBef>
              <a:spcAft>
                <a:spcPct val="0"/>
              </a:spcAft>
              <a:buClrTx/>
              <a:buSzTx/>
              <a:buFontTx/>
              <a:buChar char="•"/>
            </a:pPr>
            <a:r>
              <a:rPr lang="en-JP" altLang="en-JP" sz="1600" dirty="0">
                <a:latin typeface="Arial" panose="020B0604020202020204" pitchFamily="34" charset="0"/>
              </a:rPr>
              <a:t> Pump frequency: </a:t>
            </a:r>
            <a:r>
              <a:rPr lang="en-JP" altLang="en-JP" sz="1600" b="1" dirty="0">
                <a:latin typeface="Arial" panose="020B0604020202020204" pitchFamily="34" charset="0"/>
              </a:rPr>
              <a:t>13.865 GHz model vs. 12.613 GHz experiment.</a:t>
            </a:r>
            <a:endParaRPr lang="en-JP" altLang="en-JP" sz="1600" dirty="0">
              <a:latin typeface="Arial" panose="020B0604020202020204" pitchFamily="34" charset="0"/>
            </a:endParaRPr>
          </a:p>
        </p:txBody>
      </p:sp>
      <p:sp>
        <p:nvSpPr>
          <p:cNvPr id="3" name="Title 2">
            <a:extLst>
              <a:ext uri="{FF2B5EF4-FFF2-40B4-BE49-F238E27FC236}">
                <a16:creationId xmlns:a16="http://schemas.microsoft.com/office/drawing/2014/main" id="{94F09885-A438-43FC-99BD-FFF24CDF5D59}"/>
              </a:ext>
            </a:extLst>
          </p:cNvPr>
          <p:cNvSpPr>
            <a:spLocks noGrp="1"/>
          </p:cNvSpPr>
          <p:nvPr>
            <p:ph type="title"/>
          </p:nvPr>
        </p:nvSpPr>
        <p:spPr>
          <a:xfrm>
            <a:off x="552450" y="837519"/>
            <a:ext cx="10382250" cy="1428750"/>
          </a:xfrm>
        </p:spPr>
        <p:txBody>
          <a:bodyPr lIns="0" tIns="0" rIns="0" bIns="0" anchor="t">
            <a:normAutofit/>
          </a:bodyPr>
          <a:lstStyle/>
          <a:p>
            <a:pPr>
              <a:lnSpc>
                <a:spcPct val="94000"/>
              </a:lnSpc>
              <a:defRPr sz="3375" b="1">
                <a:solidFill>
                  <a:srgbClr val="111111"/>
                </a:solidFill>
                <a:latin typeface="Roboto"/>
                <a:ea typeface="Roboto"/>
                <a:cs typeface="Roboto"/>
              </a:defRPr>
            </a:pPr>
            <a:r>
              <a:rPr lang="en-US" sz="3375" dirty="0"/>
              <a:t>Our model matches the bandwidth, but overestimates the gain</a:t>
            </a:r>
            <a:endParaRPr sz="3375" b="1" dirty="0">
              <a:solidFill>
                <a:srgbClr val="111111"/>
              </a:solidFill>
              <a:latin typeface="Roboto"/>
              <a:ea typeface="Roboto"/>
              <a:cs typeface="Roboto"/>
            </a:endParaRPr>
          </a:p>
        </p:txBody>
      </p:sp>
      <p:sp>
        <p:nvSpPr>
          <p:cNvPr id="6" name="s4-meta">
            <a:extLst>
              <a:ext uri="{FF2B5EF4-FFF2-40B4-BE49-F238E27FC236}">
                <a16:creationId xmlns:a16="http://schemas.microsoft.com/office/drawing/2014/main" id="{34E9A755-3551-071B-1FD7-CCA9F1FDB742}"/>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7" name="s4-page">
            <a:extLst>
              <a:ext uri="{FF2B5EF4-FFF2-40B4-BE49-F238E27FC236}">
                <a16:creationId xmlns:a16="http://schemas.microsoft.com/office/drawing/2014/main" id="{F9DC5119-CAD6-56B5-AA6F-2DD8FF9CD30F}"/>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lang="en-US" sz="900" b="1" dirty="0">
                <a:solidFill>
                  <a:srgbClr val="FF0000"/>
                </a:solidFill>
                <a:latin typeface="Roboto"/>
                <a:ea typeface="Roboto"/>
                <a:cs typeface="Roboto"/>
              </a:rPr>
              <a:t>18</a:t>
            </a:r>
            <a:endParaRPr sz="900" b="1" dirty="0">
              <a:solidFill>
                <a:srgbClr val="FF0000"/>
              </a:solidFill>
              <a:latin typeface="Roboto"/>
              <a:ea typeface="Roboto"/>
              <a:cs typeface="Roboto"/>
            </a:endParaRPr>
          </a:p>
        </p:txBody>
      </p:sp>
    </p:spTree>
    <p:extLst>
      <p:ext uri="{BB962C8B-B14F-4D97-AF65-F5344CB8AC3E}">
        <p14:creationId xmlns:p14="http://schemas.microsoft.com/office/powerpoint/2010/main" val="140415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36B0B9-0B42-46FE-8EA6-1A5131B753DC}"/>
              </a:ext>
            </a:extLst>
          </p:cNvPr>
          <p:cNvSpPr>
            <a:spLocks noGrp="1"/>
          </p:cNvSpPr>
          <p:nvPr>
            <p:ph type="title"/>
          </p:nvPr>
        </p:nvSpPr>
        <p:spPr>
          <a:xfrm>
            <a:off x="523874" y="860072"/>
            <a:ext cx="11048999" cy="1428750"/>
          </a:xfrm>
        </p:spPr>
        <p:txBody>
          <a:bodyPr lIns="0" tIns="0" rIns="0" bIns="0" anchor="t">
            <a:normAutofit/>
          </a:bodyPr>
          <a:lstStyle/>
          <a:p>
            <a:r>
              <a:rPr lang="en-US" sz="3600" dirty="0"/>
              <a:t>Several modelling uncertainties may explain the remaining offsets</a:t>
            </a:r>
          </a:p>
        </p:txBody>
      </p:sp>
      <p:sp>
        <p:nvSpPr>
          <p:cNvPr id="15" name="s13-test-rule">
            <a:extLst>
              <a:ext uri="{FF2B5EF4-FFF2-40B4-BE49-F238E27FC236}">
                <a16:creationId xmlns:a16="http://schemas.microsoft.com/office/drawing/2014/main" id="{482C6DCE-81AC-4882-8961-C41E01871975}"/>
              </a:ext>
            </a:extLst>
          </p:cNvPr>
          <p:cNvSpPr>
            <a:spLocks noGrp="1"/>
          </p:cNvSpPr>
          <p:nvPr/>
        </p:nvSpPr>
        <p:spPr>
          <a:xfrm>
            <a:off x="476250" y="6322388"/>
            <a:ext cx="11049000" cy="0"/>
          </a:xfrm>
          <a:prstGeom prst="line">
            <a:avLst/>
          </a:prstGeom>
          <a:noFill/>
          <a:ln w="28575">
            <a:solidFill>
              <a:srgbClr val="FF0000"/>
            </a:solidFill>
            <a:prstDash val="solid"/>
          </a:ln>
        </p:spPr>
        <p:txBody>
          <a:bodyPr/>
          <a:lstStyle/>
          <a:p>
            <a:endParaRPr/>
          </a:p>
        </p:txBody>
      </p:sp>
      <p:sp>
        <p:nvSpPr>
          <p:cNvPr id="16" name="s13-test">
            <a:extLst>
              <a:ext uri="{FF2B5EF4-FFF2-40B4-BE49-F238E27FC236}">
                <a16:creationId xmlns:a16="http://schemas.microsoft.com/office/drawing/2014/main" id="{D44EDFEE-9BB3-4027-AB7C-9B66B255588D}"/>
              </a:ext>
            </a:extLst>
          </p:cNvPr>
          <p:cNvSpPr>
            <a:spLocks noGrp="1"/>
          </p:cNvSpPr>
          <p:nvPr/>
        </p:nvSpPr>
        <p:spPr>
          <a:xfrm>
            <a:off x="904875" y="6322388"/>
            <a:ext cx="10382250" cy="400050"/>
          </a:xfrm>
          <a:prstGeom prst="rect">
            <a:avLst/>
          </a:prstGeom>
          <a:noFill/>
          <a:ln w="0">
            <a:noFill/>
            <a:prstDash val="solid"/>
          </a:ln>
        </p:spPr>
        <p:txBody>
          <a:bodyPr lIns="19050" tIns="19050" rIns="19050" bIns="19050" anchor="ctr">
            <a:normAutofit/>
          </a:bodyPr>
          <a:lstStyle/>
          <a:p>
            <a:pPr algn="ctr"/>
            <a:r>
              <a:rPr lang="en-US" sz="1400" b="1" dirty="0"/>
              <a:t>These uncertainties can shift the gain band and change the predicted peak gain.</a:t>
            </a:r>
            <a:endParaRPr lang="en-US" sz="1400" dirty="0"/>
          </a:p>
        </p:txBody>
      </p:sp>
      <p:sp>
        <p:nvSpPr>
          <p:cNvPr id="17" name="s4-meta">
            <a:extLst>
              <a:ext uri="{FF2B5EF4-FFF2-40B4-BE49-F238E27FC236}">
                <a16:creationId xmlns:a16="http://schemas.microsoft.com/office/drawing/2014/main" id="{15461911-4917-C97C-C75B-1FEFFFFCF6C4}"/>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18" name="s4-page">
            <a:extLst>
              <a:ext uri="{FF2B5EF4-FFF2-40B4-BE49-F238E27FC236}">
                <a16:creationId xmlns:a16="http://schemas.microsoft.com/office/drawing/2014/main" id="{A68CE15A-1D6B-9567-C109-8CB1593CB2EC}"/>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dirty="0">
                <a:solidFill>
                  <a:srgbClr val="FF0000"/>
                </a:solidFill>
                <a:latin typeface="Roboto"/>
                <a:ea typeface="Roboto"/>
                <a:cs typeface="Roboto"/>
              </a:rPr>
              <a:t>1</a:t>
            </a:r>
            <a:r>
              <a:rPr lang="en-US" sz="900" b="1" dirty="0">
                <a:solidFill>
                  <a:srgbClr val="FF0000"/>
                </a:solidFill>
                <a:latin typeface="Roboto"/>
                <a:ea typeface="Roboto"/>
                <a:cs typeface="Roboto"/>
              </a:rPr>
              <a:t>9</a:t>
            </a:r>
            <a:endParaRPr sz="900" b="1" dirty="0">
              <a:solidFill>
                <a:srgbClr val="FF0000"/>
              </a:solidFill>
              <a:latin typeface="Roboto"/>
              <a:ea typeface="Roboto"/>
              <a:cs typeface="Roboto"/>
            </a:endParaRPr>
          </a:p>
        </p:txBody>
      </p:sp>
      <p:pic>
        <p:nvPicPr>
          <p:cNvPr id="37" name="Graphic 36"/>
          <p:cNvPicPr>
            <a:picLocks noChangeAspect="1"/>
          </p:cNvPicPr>
          <p:nvPr/>
        </p:nvPicPr>
        <p:blipFill>
          <a:blip r:embed="rId3">
            <a:extLst>
              <a:ext uri="{96DAC541-7B7A-43D3-8B79-37D633B846F1}">
                <asvg:svgBlip xmlns:asvg="http://schemas.microsoft.com/office/drawing/2016/SVG/main" r:embed="rId4"/>
              </a:ext>
            </a:extLst>
          </a:blip>
          <a:stretch/>
        </p:blipFill>
        <p:spPr>
          <a:xfrm>
            <a:off x="476250" y="266700"/>
            <a:ext cx="857250" cy="400050"/>
          </a:xfrm>
          <a:prstGeom prst="rect">
            <a:avLst/>
          </a:prstGeom>
        </p:spPr>
      </p:pic>
      <p:sp>
        <p:nvSpPr>
          <p:cNvPr id="22" name="TextBox 21">
            <a:extLst>
              <a:ext uri="{FF2B5EF4-FFF2-40B4-BE49-F238E27FC236}">
                <a16:creationId xmlns:a16="http://schemas.microsoft.com/office/drawing/2014/main" id="{8EDF3CBE-C5EF-349C-88A2-C7D5DF5248B1}"/>
              </a:ext>
            </a:extLst>
          </p:cNvPr>
          <p:cNvSpPr txBox="1"/>
          <p:nvPr/>
        </p:nvSpPr>
        <p:spPr>
          <a:xfrm>
            <a:off x="476250" y="2125581"/>
            <a:ext cx="11049000" cy="3416320"/>
          </a:xfrm>
          <a:prstGeom prst="rect">
            <a:avLst/>
          </a:prstGeom>
          <a:noFill/>
        </p:spPr>
        <p:txBody>
          <a:bodyPr wrap="square">
            <a:spAutoFit/>
          </a:bodyPr>
          <a:lstStyle/>
          <a:p>
            <a:r>
              <a:rPr lang="en-US" b="1" dirty="0"/>
              <a:t>MATERIAL PROPERTIES</a:t>
            </a:r>
          </a:p>
          <a:p>
            <a:pPr lvl="1"/>
            <a:r>
              <a:rPr lang="en-US" b="1" dirty="0"/>
              <a:t>Some material properties are not fully specified in the paper.</a:t>
            </a:r>
            <a:endParaRPr lang="en-US" dirty="0"/>
          </a:p>
          <a:p>
            <a:pPr lvl="1"/>
            <a:r>
              <a:rPr lang="en-US" dirty="0"/>
              <a:t>The exact </a:t>
            </a:r>
            <a:r>
              <a:rPr lang="en-US" dirty="0" err="1"/>
              <a:t>L_k</a:t>
            </a:r>
            <a:r>
              <a:rPr lang="en-US" dirty="0"/>
              <a:t>, film thickness, dielectric loss, and surface impedance affect the phase velocity and gain.</a:t>
            </a:r>
          </a:p>
          <a:p>
            <a:endParaRPr lang="en-US" dirty="0"/>
          </a:p>
          <a:p>
            <a:r>
              <a:rPr lang="en-US" b="1" dirty="0"/>
              <a:t>HFSS MESH AND PORTS</a:t>
            </a:r>
          </a:p>
          <a:p>
            <a:pPr lvl="1"/>
            <a:r>
              <a:rPr lang="en-US" b="1" dirty="0"/>
              <a:t>The result may be sensitive to the HFSS mesh and wave-port definition.</a:t>
            </a:r>
            <a:endParaRPr lang="en-US" dirty="0"/>
          </a:p>
          <a:p>
            <a:pPr lvl="1"/>
            <a:r>
              <a:rPr lang="en-US" dirty="0"/>
              <a:t>Insufficient refinement near the thin films, stubs, or port interfaces can affect the extracted phase and impedance.</a:t>
            </a:r>
          </a:p>
          <a:p>
            <a:endParaRPr lang="en-US" dirty="0"/>
          </a:p>
          <a:p>
            <a:r>
              <a:rPr lang="en-US" b="1" dirty="0"/>
              <a:t>Differences in extraction method and experimental conditions</a:t>
            </a:r>
          </a:p>
          <a:p>
            <a:r>
              <a:rPr lang="en-US" dirty="0"/>
              <a:t>       Parameter extraction, fabrication tolerances, loss, pump calibration, packaging, and reflections.</a:t>
            </a:r>
          </a:p>
        </p:txBody>
      </p:sp>
    </p:spTree>
    <p:extLst>
      <p:ext uri="{BB962C8B-B14F-4D97-AF65-F5344CB8AC3E}">
        <p14:creationId xmlns:p14="http://schemas.microsoft.com/office/powerpoint/2010/main" val="627291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Espace réservé pour une image  10"/>
          <p:cNvPicPr>
            <a:picLocks noGrp="1" noChangeAspect="1"/>
          </p:cNvPicPr>
          <p:nvPr>
            <p:ph type="pic" idx="10"/>
          </p:nvPr>
        </p:nvPicPr>
        <p:blipFill>
          <a:blip r:embed="rId3"/>
          <a:srcRect/>
          <a:stretch/>
        </p:blipFill>
        <p:spPr>
          <a:xfrm>
            <a:off x="2" y="0"/>
            <a:ext cx="12191998" cy="6858000"/>
          </a:xfrm>
        </p:spPr>
      </p:pic>
      <p:sp>
        <p:nvSpPr>
          <p:cNvPr id="7" name="Forme libre 6">
            <a:extLst>
              <a:ext uri="{FF2B5EF4-FFF2-40B4-BE49-F238E27FC236}">
                <a16:creationId xmlns:a16="http://schemas.microsoft.com/office/drawing/2014/main" id="{CA0D5AA1-6FBB-4E18-D309-991C16BDF1FE}"/>
              </a:ext>
            </a:extLst>
          </p:cNvPr>
          <p:cNvSpPr>
            <a:spLocks noGrp="1"/>
          </p:cNvSpPr>
          <p:nvPr/>
        </p:nvSpPr>
        <p:spPr>
          <a:xfrm>
            <a:off x="0" y="0"/>
            <a:ext cx="8040688" cy="6858000"/>
          </a:xfrm>
          <a:custGeom>
            <a:avLst/>
            <a:gdLst>
              <a:gd name="connsiteX0" fmla="*/ 1047878 w 8040688"/>
              <a:gd name="connsiteY0" fmla="*/ 414079 h 6858000"/>
              <a:gd name="connsiteX1" fmla="*/ 1124414 w 8040688"/>
              <a:gd name="connsiteY1" fmla="*/ 414079 h 6858000"/>
              <a:gd name="connsiteX2" fmla="*/ 1157026 w 8040688"/>
              <a:gd name="connsiteY2" fmla="*/ 415945 h 6858000"/>
              <a:gd name="connsiteX3" fmla="*/ 1184613 w 8040688"/>
              <a:gd name="connsiteY3" fmla="*/ 423190 h 6858000"/>
              <a:gd name="connsiteX4" fmla="*/ 1203732 w 8040688"/>
              <a:gd name="connsiteY4" fmla="*/ 438343 h 6858000"/>
              <a:gd name="connsiteX5" fmla="*/ 1210937 w 8040688"/>
              <a:gd name="connsiteY5" fmla="*/ 463999 h 6858000"/>
              <a:gd name="connsiteX6" fmla="*/ 1203732 w 8040688"/>
              <a:gd name="connsiteY6" fmla="*/ 489655 h 6858000"/>
              <a:gd name="connsiteX7" fmla="*/ 1184613 w 8040688"/>
              <a:gd name="connsiteY7" fmla="*/ 504809 h 6858000"/>
              <a:gd name="connsiteX8" fmla="*/ 1157026 w 8040688"/>
              <a:gd name="connsiteY8" fmla="*/ 512053 h 6858000"/>
              <a:gd name="connsiteX9" fmla="*/ 1124414 w 8040688"/>
              <a:gd name="connsiteY9" fmla="*/ 513919 h 6858000"/>
              <a:gd name="connsiteX10" fmla="*/ 1047878 w 8040688"/>
              <a:gd name="connsiteY10" fmla="*/ 513919 h 6858000"/>
              <a:gd name="connsiteX11" fmla="*/ 1761703 w 8040688"/>
              <a:gd name="connsiteY11" fmla="*/ 331195 h 6858000"/>
              <a:gd name="connsiteX12" fmla="*/ 1761703 w 8040688"/>
              <a:gd name="connsiteY12" fmla="*/ 779561 h 6858000"/>
              <a:gd name="connsiteX13" fmla="*/ 2085672 w 8040688"/>
              <a:gd name="connsiteY13" fmla="*/ 779561 h 6858000"/>
              <a:gd name="connsiteX14" fmla="*/ 2085672 w 8040688"/>
              <a:gd name="connsiteY14" fmla="*/ 696645 h 6858000"/>
              <a:gd name="connsiteX15" fmla="*/ 1858274 w 8040688"/>
              <a:gd name="connsiteY15" fmla="*/ 696645 h 6858000"/>
              <a:gd name="connsiteX16" fmla="*/ 1858274 w 8040688"/>
              <a:gd name="connsiteY16" fmla="*/ 331195 h 6858000"/>
              <a:gd name="connsiteX17" fmla="*/ 1367739 w 8040688"/>
              <a:gd name="connsiteY17" fmla="*/ 331195 h 6858000"/>
              <a:gd name="connsiteX18" fmla="*/ 1367739 w 8040688"/>
              <a:gd name="connsiteY18" fmla="*/ 513920 h 6858000"/>
              <a:gd name="connsiteX19" fmla="*/ 1464342 w 8040688"/>
              <a:gd name="connsiteY19" fmla="*/ 513920 h 6858000"/>
              <a:gd name="connsiteX20" fmla="*/ 1464342 w 8040688"/>
              <a:gd name="connsiteY20" fmla="*/ 596804 h 6858000"/>
              <a:gd name="connsiteX21" fmla="*/ 1367739 w 8040688"/>
              <a:gd name="connsiteY21" fmla="*/ 596804 h 6858000"/>
              <a:gd name="connsiteX22" fmla="*/ 1367739 w 8040688"/>
              <a:gd name="connsiteY22" fmla="*/ 779529 h 6858000"/>
              <a:gd name="connsiteX23" fmla="*/ 1464342 w 8040688"/>
              <a:gd name="connsiteY23" fmla="*/ 779529 h 6858000"/>
              <a:gd name="connsiteX24" fmla="*/ 1464342 w 8040688"/>
              <a:gd name="connsiteY24" fmla="*/ 596804 h 6858000"/>
              <a:gd name="connsiteX25" fmla="*/ 1672306 w 8040688"/>
              <a:gd name="connsiteY25" fmla="*/ 596804 h 6858000"/>
              <a:gd name="connsiteX26" fmla="*/ 1672306 w 8040688"/>
              <a:gd name="connsiteY26" fmla="*/ 513920 h 6858000"/>
              <a:gd name="connsiteX27" fmla="*/ 1464342 w 8040688"/>
              <a:gd name="connsiteY27" fmla="*/ 513920 h 6858000"/>
              <a:gd name="connsiteX28" fmla="*/ 1464342 w 8040688"/>
              <a:gd name="connsiteY28" fmla="*/ 414079 h 6858000"/>
              <a:gd name="connsiteX29" fmla="*/ 1691740 w 8040688"/>
              <a:gd name="connsiteY29" fmla="*/ 414079 h 6858000"/>
              <a:gd name="connsiteX30" fmla="*/ 1691740 w 8040688"/>
              <a:gd name="connsiteY30" fmla="*/ 331195 h 6858000"/>
              <a:gd name="connsiteX31" fmla="*/ 544448 w 8040688"/>
              <a:gd name="connsiteY31" fmla="*/ 331195 h 6858000"/>
              <a:gd name="connsiteX32" fmla="*/ 544448 w 8040688"/>
              <a:gd name="connsiteY32" fmla="*/ 513920 h 6858000"/>
              <a:gd name="connsiteX33" fmla="*/ 641051 w 8040688"/>
              <a:gd name="connsiteY33" fmla="*/ 513920 h 6858000"/>
              <a:gd name="connsiteX34" fmla="*/ 641051 w 8040688"/>
              <a:gd name="connsiteY34" fmla="*/ 596804 h 6858000"/>
              <a:gd name="connsiteX35" fmla="*/ 544448 w 8040688"/>
              <a:gd name="connsiteY35" fmla="*/ 596804 h 6858000"/>
              <a:gd name="connsiteX36" fmla="*/ 544448 w 8040688"/>
              <a:gd name="connsiteY36" fmla="*/ 779560 h 6858000"/>
              <a:gd name="connsiteX37" fmla="*/ 868449 w 8040688"/>
              <a:gd name="connsiteY37" fmla="*/ 779560 h 6858000"/>
              <a:gd name="connsiteX38" fmla="*/ 868449 w 8040688"/>
              <a:gd name="connsiteY38" fmla="*/ 696645 h 6858000"/>
              <a:gd name="connsiteX39" fmla="*/ 641051 w 8040688"/>
              <a:gd name="connsiteY39" fmla="*/ 696645 h 6858000"/>
              <a:gd name="connsiteX40" fmla="*/ 641051 w 8040688"/>
              <a:gd name="connsiteY40" fmla="*/ 596804 h 6858000"/>
              <a:gd name="connsiteX41" fmla="*/ 849015 w 8040688"/>
              <a:gd name="connsiteY41" fmla="*/ 596804 h 6858000"/>
              <a:gd name="connsiteX42" fmla="*/ 849015 w 8040688"/>
              <a:gd name="connsiteY42" fmla="*/ 513920 h 6858000"/>
              <a:gd name="connsiteX43" fmla="*/ 641051 w 8040688"/>
              <a:gd name="connsiteY43" fmla="*/ 513920 h 6858000"/>
              <a:gd name="connsiteX44" fmla="*/ 641051 w 8040688"/>
              <a:gd name="connsiteY44" fmla="*/ 414079 h 6858000"/>
              <a:gd name="connsiteX45" fmla="*/ 868449 w 8040688"/>
              <a:gd name="connsiteY45" fmla="*/ 414079 h 6858000"/>
              <a:gd name="connsiteX46" fmla="*/ 868449 w 8040688"/>
              <a:gd name="connsiteY46" fmla="*/ 331195 h 6858000"/>
              <a:gd name="connsiteX47" fmla="*/ 951243 w 8040688"/>
              <a:gd name="connsiteY47" fmla="*/ 331163 h 6858000"/>
              <a:gd name="connsiteX48" fmla="*/ 951243 w 8040688"/>
              <a:gd name="connsiteY48" fmla="*/ 779529 h 6858000"/>
              <a:gd name="connsiteX49" fmla="*/ 1047846 w 8040688"/>
              <a:gd name="connsiteY49" fmla="*/ 779529 h 6858000"/>
              <a:gd name="connsiteX50" fmla="*/ 1047846 w 8040688"/>
              <a:gd name="connsiteY50" fmla="*/ 596772 h 6858000"/>
              <a:gd name="connsiteX51" fmla="*/ 1151338 w 8040688"/>
              <a:gd name="connsiteY51" fmla="*/ 596772 h 6858000"/>
              <a:gd name="connsiteX52" fmla="*/ 1222850 w 8040688"/>
              <a:gd name="connsiteY52" fmla="*/ 585478 h 6858000"/>
              <a:gd name="connsiteX53" fmla="*/ 1270852 w 8040688"/>
              <a:gd name="connsiteY53" fmla="*/ 555615 h 6858000"/>
              <a:gd name="connsiteX54" fmla="*/ 1297838 w 8040688"/>
              <a:gd name="connsiteY54" fmla="*/ 513002 h 6858000"/>
              <a:gd name="connsiteX55" fmla="*/ 1306307 w 8040688"/>
              <a:gd name="connsiteY55" fmla="*/ 463999 h 6858000"/>
              <a:gd name="connsiteX56" fmla="*/ 1297838 w 8040688"/>
              <a:gd name="connsiteY56" fmla="*/ 414712 h 6858000"/>
              <a:gd name="connsiteX57" fmla="*/ 1270852 w 8040688"/>
              <a:gd name="connsiteY57" fmla="*/ 372384 h 6858000"/>
              <a:gd name="connsiteX58" fmla="*/ 1270852 w 8040688"/>
              <a:gd name="connsiteY58" fmla="*/ 372352 h 6858000"/>
              <a:gd name="connsiteX59" fmla="*/ 1222850 w 8040688"/>
              <a:gd name="connsiteY59" fmla="*/ 342488 h 6858000"/>
              <a:gd name="connsiteX60" fmla="*/ 1151338 w 8040688"/>
              <a:gd name="connsiteY60" fmla="*/ 331163 h 6858000"/>
              <a:gd name="connsiteX61" fmla="*/ 0 w 8040688"/>
              <a:gd name="connsiteY61" fmla="*/ 0 h 6858000"/>
              <a:gd name="connsiteX62" fmla="*/ 8040688 w 8040688"/>
              <a:gd name="connsiteY62" fmla="*/ 0 h 6858000"/>
              <a:gd name="connsiteX63" fmla="*/ 8040688 w 8040688"/>
              <a:gd name="connsiteY63" fmla="*/ 6858000 h 6858000"/>
              <a:gd name="connsiteX64" fmla="*/ 0 w 8040688"/>
              <a:gd name="connsiteY64" fmla="*/ 6858000 h 6858000"/>
            </a:gdLst>
            <a:ahLst/>
            <a:cxnLst/>
            <a:rect l="l" t="t" r="r" b="b"/>
            <a:pathLst>
              <a:path w="8040688" h="6858000">
                <a:moveTo>
                  <a:pt x="1047878" y="414079"/>
                </a:moveTo>
                <a:lnTo>
                  <a:pt x="1124414" y="414079"/>
                </a:lnTo>
                <a:cubicBezTo>
                  <a:pt x="1135696" y="414079"/>
                  <a:pt x="1146566" y="414712"/>
                  <a:pt x="1157026" y="415945"/>
                </a:cubicBezTo>
                <a:cubicBezTo>
                  <a:pt x="1167486" y="417179"/>
                  <a:pt x="1176682" y="419615"/>
                  <a:pt x="1184613" y="423190"/>
                </a:cubicBezTo>
                <a:cubicBezTo>
                  <a:pt x="1192545" y="426765"/>
                  <a:pt x="1198929" y="431826"/>
                  <a:pt x="1203732" y="438343"/>
                </a:cubicBezTo>
                <a:cubicBezTo>
                  <a:pt x="1208535" y="444860"/>
                  <a:pt x="1210937" y="453433"/>
                  <a:pt x="1210937" y="463999"/>
                </a:cubicBezTo>
                <a:cubicBezTo>
                  <a:pt x="1210937" y="474565"/>
                  <a:pt x="1208535" y="483138"/>
                  <a:pt x="1203732" y="489655"/>
                </a:cubicBezTo>
                <a:cubicBezTo>
                  <a:pt x="1198929" y="496172"/>
                  <a:pt x="1192545" y="501234"/>
                  <a:pt x="1184613" y="504809"/>
                </a:cubicBezTo>
                <a:cubicBezTo>
                  <a:pt x="1176650" y="508383"/>
                  <a:pt x="1167454" y="510788"/>
                  <a:pt x="1157026" y="512053"/>
                </a:cubicBezTo>
                <a:cubicBezTo>
                  <a:pt x="1146566" y="513287"/>
                  <a:pt x="1135696" y="513919"/>
                  <a:pt x="1124414" y="513919"/>
                </a:cubicBezTo>
                <a:lnTo>
                  <a:pt x="1047878" y="513919"/>
                </a:lnTo>
                <a:close/>
                <a:moveTo>
                  <a:pt x="1761703" y="331195"/>
                </a:moveTo>
                <a:lnTo>
                  <a:pt x="1761703" y="779561"/>
                </a:lnTo>
                <a:lnTo>
                  <a:pt x="2085672" y="779561"/>
                </a:lnTo>
                <a:lnTo>
                  <a:pt x="2085672" y="696645"/>
                </a:lnTo>
                <a:lnTo>
                  <a:pt x="1858274" y="696645"/>
                </a:lnTo>
                <a:lnTo>
                  <a:pt x="1858274" y="331195"/>
                </a:lnTo>
                <a:close/>
                <a:moveTo>
                  <a:pt x="1367739" y="331195"/>
                </a:moveTo>
                <a:lnTo>
                  <a:pt x="1367739" y="513920"/>
                </a:lnTo>
                <a:lnTo>
                  <a:pt x="1464342" y="513920"/>
                </a:lnTo>
                <a:lnTo>
                  <a:pt x="1464342" y="596804"/>
                </a:lnTo>
                <a:lnTo>
                  <a:pt x="1367739" y="596804"/>
                </a:lnTo>
                <a:lnTo>
                  <a:pt x="1367739" y="779529"/>
                </a:lnTo>
                <a:lnTo>
                  <a:pt x="1464342" y="779529"/>
                </a:lnTo>
                <a:lnTo>
                  <a:pt x="1464342" y="596804"/>
                </a:lnTo>
                <a:lnTo>
                  <a:pt x="1672306" y="596804"/>
                </a:lnTo>
                <a:lnTo>
                  <a:pt x="1672306" y="513920"/>
                </a:lnTo>
                <a:lnTo>
                  <a:pt x="1464342" y="513920"/>
                </a:lnTo>
                <a:lnTo>
                  <a:pt x="1464342" y="414079"/>
                </a:lnTo>
                <a:lnTo>
                  <a:pt x="1691740" y="414079"/>
                </a:lnTo>
                <a:lnTo>
                  <a:pt x="1691740" y="331195"/>
                </a:lnTo>
                <a:close/>
                <a:moveTo>
                  <a:pt x="544448" y="331195"/>
                </a:moveTo>
                <a:lnTo>
                  <a:pt x="544448" y="513920"/>
                </a:lnTo>
                <a:lnTo>
                  <a:pt x="641051" y="513920"/>
                </a:lnTo>
                <a:lnTo>
                  <a:pt x="641051" y="596804"/>
                </a:lnTo>
                <a:lnTo>
                  <a:pt x="544448" y="596804"/>
                </a:lnTo>
                <a:lnTo>
                  <a:pt x="544448" y="779560"/>
                </a:lnTo>
                <a:lnTo>
                  <a:pt x="868449" y="779560"/>
                </a:lnTo>
                <a:lnTo>
                  <a:pt x="868449" y="696645"/>
                </a:lnTo>
                <a:lnTo>
                  <a:pt x="641051" y="696645"/>
                </a:lnTo>
                <a:lnTo>
                  <a:pt x="641051" y="596804"/>
                </a:lnTo>
                <a:lnTo>
                  <a:pt x="849015" y="596804"/>
                </a:lnTo>
                <a:lnTo>
                  <a:pt x="849015" y="513920"/>
                </a:lnTo>
                <a:lnTo>
                  <a:pt x="641051" y="513920"/>
                </a:lnTo>
                <a:lnTo>
                  <a:pt x="641051" y="414079"/>
                </a:lnTo>
                <a:lnTo>
                  <a:pt x="868449" y="414079"/>
                </a:lnTo>
                <a:lnTo>
                  <a:pt x="868449" y="331195"/>
                </a:lnTo>
                <a:close/>
                <a:moveTo>
                  <a:pt x="951243" y="331163"/>
                </a:moveTo>
                <a:lnTo>
                  <a:pt x="951243" y="779529"/>
                </a:lnTo>
                <a:lnTo>
                  <a:pt x="1047846" y="779529"/>
                </a:lnTo>
                <a:lnTo>
                  <a:pt x="1047846" y="596772"/>
                </a:lnTo>
                <a:lnTo>
                  <a:pt x="1151338" y="596772"/>
                </a:lnTo>
                <a:cubicBezTo>
                  <a:pt x="1179336" y="596772"/>
                  <a:pt x="1203195" y="593007"/>
                  <a:pt x="1222850" y="585478"/>
                </a:cubicBezTo>
                <a:cubicBezTo>
                  <a:pt x="1242506" y="577949"/>
                  <a:pt x="1258496" y="567984"/>
                  <a:pt x="1270852" y="555615"/>
                </a:cubicBezTo>
                <a:cubicBezTo>
                  <a:pt x="1283176" y="543245"/>
                  <a:pt x="1292182" y="529041"/>
                  <a:pt x="1297838" y="513002"/>
                </a:cubicBezTo>
                <a:cubicBezTo>
                  <a:pt x="1303495" y="496963"/>
                  <a:pt x="1306307" y="480639"/>
                  <a:pt x="1306307" y="463999"/>
                </a:cubicBezTo>
                <a:cubicBezTo>
                  <a:pt x="1306307" y="447359"/>
                  <a:pt x="1303495" y="430561"/>
                  <a:pt x="1297838" y="414712"/>
                </a:cubicBezTo>
                <a:cubicBezTo>
                  <a:pt x="1292182" y="398862"/>
                  <a:pt x="1283207" y="384753"/>
                  <a:pt x="1270852" y="372384"/>
                </a:cubicBezTo>
                <a:lnTo>
                  <a:pt x="1270852" y="372352"/>
                </a:lnTo>
                <a:cubicBezTo>
                  <a:pt x="1258496" y="359983"/>
                  <a:pt x="1242506" y="350018"/>
                  <a:pt x="1222850" y="342488"/>
                </a:cubicBezTo>
                <a:cubicBezTo>
                  <a:pt x="1203195" y="334959"/>
                  <a:pt x="1179336" y="331163"/>
                  <a:pt x="1151338" y="331163"/>
                </a:cubicBezTo>
                <a:close/>
                <a:moveTo>
                  <a:pt x="0" y="0"/>
                </a:moveTo>
                <a:lnTo>
                  <a:pt x="8040688" y="0"/>
                </a:lnTo>
                <a:lnTo>
                  <a:pt x="8040688" y="6858000"/>
                </a:lnTo>
                <a:lnTo>
                  <a:pt x="0" y="6858000"/>
                </a:lnTo>
                <a:close/>
              </a:path>
            </a:pathLst>
          </a:custGeom>
          <a:gradFill>
            <a:gsLst>
              <a:gs pos="0">
                <a:schemeClr val="tx1">
                  <a:lumMod val="50000"/>
                  <a:alpha val="0"/>
                </a:schemeClr>
              </a:gs>
              <a:gs pos="57000">
                <a:schemeClr val="tx1">
                  <a:lumMod val="50000"/>
                </a:schemeClr>
              </a:gs>
              <a:gs pos="99000">
                <a:schemeClr val="tx1">
                  <a:lumMod val="5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pic>
        <p:nvPicPr>
          <p:cNvPr id="14" name="Image 7"/>
          <p:cNvPicPr>
            <a:picLocks noChangeAspect="1"/>
          </p:cNvPicPr>
          <p:nvPr/>
        </p:nvPicPr>
        <p:blipFill>
          <a:blip r:embed="rId4"/>
          <a:stretch>
            <a:fillRect/>
          </a:stretch>
        </p:blipFill>
        <p:spPr>
          <a:xfrm>
            <a:off x="547420" y="5915487"/>
            <a:ext cx="922230" cy="603357"/>
          </a:xfrm>
          <a:prstGeom prst="rect">
            <a:avLst/>
          </a:prstGeom>
        </p:spPr>
      </p:pic>
      <p:sp>
        <p:nvSpPr>
          <p:cNvPr id="9" name="Rectangle 8">
            <a:extLst>
              <a:ext uri="{FF2B5EF4-FFF2-40B4-BE49-F238E27FC236}">
                <a16:creationId xmlns:a16="http://schemas.microsoft.com/office/drawing/2014/main" id="{618C04D6-5728-C83D-9A91-CBE8B0F36AC9}"/>
              </a:ext>
            </a:extLst>
          </p:cNvPr>
          <p:cNvSpPr>
            <a:spLocks noGrp="1"/>
          </p:cNvSpPr>
          <p:nvPr/>
        </p:nvSpPr>
        <p:spPr>
          <a:xfrm rot="16200000">
            <a:off x="402464" y="5929526"/>
            <a:ext cx="75085" cy="981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latin typeface="Arial"/>
              <a:ea typeface="Arial"/>
              <a:cs typeface="Arial"/>
            </a:endParaRPr>
          </a:p>
        </p:txBody>
      </p:sp>
      <p:sp>
        <p:nvSpPr>
          <p:cNvPr id="3" name="Titre 2">
            <a:extLst>
              <a:ext uri="{FF2B5EF4-FFF2-40B4-BE49-F238E27FC236}">
                <a16:creationId xmlns:a16="http://schemas.microsoft.com/office/drawing/2014/main" id="{54815F13-A204-8E6B-521A-D3830EF314E6}"/>
              </a:ext>
            </a:extLst>
          </p:cNvPr>
          <p:cNvSpPr>
            <a:spLocks noGrp="1"/>
          </p:cNvSpPr>
          <p:nvPr>
            <p:ph type="ctrTitle"/>
          </p:nvPr>
        </p:nvSpPr>
        <p:spPr>
          <a:xfrm>
            <a:off x="266700" y="2238375"/>
            <a:ext cx="7239000" cy="2381250"/>
          </a:xfrm>
        </p:spPr>
        <p:txBody>
          <a:bodyPr lIns="38100" tIns="38100" rIns="38100" bIns="38100" anchor="t">
            <a:normAutofit/>
          </a:bodyPr>
          <a:lstStyle/>
          <a:p>
            <a:pPr>
              <a:lnSpc>
                <a:spcPct val="90000"/>
              </a:lnSpc>
              <a:buNone/>
              <a:defRPr sz="3675" b="1">
                <a:solidFill>
                  <a:srgbClr val="FFFFFF"/>
                </a:solidFill>
                <a:latin typeface="Roboto"/>
                <a:ea typeface="Roboto"/>
                <a:cs typeface="Roboto"/>
              </a:defRPr>
            </a:pPr>
            <a:r>
              <a:rPr sz="3675" b="1">
                <a:solidFill>
                  <a:srgbClr val="FFFFFF"/>
                </a:solidFill>
                <a:latin typeface="Roboto"/>
                <a:ea typeface="Roboto"/>
                <a:cs typeface="Roboto"/>
              </a:rPr>
              <a:t>Thank you for your attention!</a:t>
            </a:r>
            <a:br/>
            <a:br/>
            <a:r>
              <a:rPr sz="3675" b="1">
                <a:solidFill>
                  <a:srgbClr val="FFFFFF"/>
                </a:solidFill>
                <a:latin typeface="Roboto"/>
                <a:ea typeface="Roboto"/>
                <a:cs typeface="Roboto"/>
              </a:rPr>
              <a:t>Do you have any questions? </a:t>
            </a:r>
          </a:p>
        </p:txBody>
      </p:sp>
      <p:sp>
        <p:nvSpPr>
          <p:cNvPr id="4" name="Espace réservé du texte 3">
            <a:extLst>
              <a:ext uri="{FF2B5EF4-FFF2-40B4-BE49-F238E27FC236}">
                <a16:creationId xmlns:a16="http://schemas.microsoft.com/office/drawing/2014/main" id="{3CF2AC82-A9A6-AA1C-FB8D-016B3276D26C}"/>
              </a:ext>
            </a:extLst>
          </p:cNvPr>
          <p:cNvSpPr>
            <a:spLocks noGrp="1"/>
          </p:cNvSpPr>
          <p:nvPr>
            <p:ph type="body" idx="11"/>
          </p:nvPr>
        </p:nvSpPr>
        <p:spPr>
          <a:xfrm>
            <a:off x="266700" y="1476375"/>
            <a:ext cx="7000875" cy="523875"/>
          </a:xfrm>
        </p:spPr>
        <p:txBody>
          <a:bodyPr lIns="38100" tIns="38100" rIns="38100" bIns="38100" anchor="t">
            <a:normAutofit/>
          </a:bodyPr>
          <a:lstStyle/>
          <a:p>
            <a:pPr>
              <a:buNone/>
              <a:defRPr sz="1200" b="1">
                <a:solidFill>
                  <a:srgbClr val="FFFFFF"/>
                </a:solidFill>
                <a:latin typeface="Roboto"/>
                <a:ea typeface="Roboto"/>
                <a:cs typeface="Roboto"/>
              </a:defRPr>
            </a:pPr>
            <a:r>
              <a:rPr sz="1200" b="1">
                <a:solidFill>
                  <a:srgbClr val="FFFFFF"/>
                </a:solidFill>
                <a:latin typeface="Roboto"/>
                <a:ea typeface="Roboto"/>
                <a:cs typeface="Roboto"/>
              </a:rPr>
              <a:t>QUESTIONS • DISCUSSION</a:t>
            </a:r>
          </a:p>
        </p:txBody>
      </p:sp>
      <p:sp>
        <p:nvSpPr>
          <p:cNvPr id="6" name="Espace réservé du texte 5">
            <a:extLst>
              <a:ext uri="{FF2B5EF4-FFF2-40B4-BE49-F238E27FC236}">
                <a16:creationId xmlns:a16="http://schemas.microsoft.com/office/drawing/2014/main" id="{FD668141-7756-0F21-E8C5-D998F69C9B68}"/>
              </a:ext>
            </a:extLst>
          </p:cNvPr>
          <p:cNvSpPr>
            <a:spLocks noGrp="1"/>
          </p:cNvSpPr>
          <p:nvPr>
            <p:ph type="body" idx="13"/>
          </p:nvPr>
        </p:nvSpPr>
        <p:spPr>
          <a:xfrm>
            <a:off x="8972550" y="5476875"/>
            <a:ext cx="2657475" cy="1047750"/>
          </a:xfrm>
        </p:spPr>
        <p:txBody>
          <a:bodyPr lIns="38100" tIns="38100" rIns="38100" bIns="38100" anchor="t">
            <a:normAutofit/>
          </a:bodyPr>
          <a:lstStyle/>
          <a:p>
            <a:pPr marL="0" marR="0" lvl="0" indent="0" algn="r" defTabSz="914377">
              <a:lnSpc>
                <a:spcPct val="100000"/>
              </a:lnSpc>
              <a:spcBef>
                <a:spcPts val="0"/>
              </a:spcBef>
              <a:spcAft>
                <a:spcPts val="0"/>
              </a:spcAft>
              <a:buClrTx/>
              <a:buSzTx/>
              <a:buFontTx/>
              <a:buNone/>
              <a:defRPr sz="1050">
                <a:solidFill>
                  <a:srgbClr val="FFFFFF"/>
                </a:solidFill>
                <a:latin typeface="Roboto"/>
                <a:ea typeface="Roboto"/>
                <a:cs typeface="Roboto"/>
              </a:defRPr>
            </a:pPr>
            <a:r>
              <a:rPr sz="1050" b="0" i="0" u="none" cap="none" spc="300">
                <a:ln>
                  <a:noFill/>
                </a:ln>
                <a:solidFill>
                  <a:srgbClr val="FFFFFF"/>
                </a:solidFill>
                <a:latin typeface="Roboto"/>
                <a:ea typeface="Roboto"/>
                <a:cs typeface="Roboto"/>
              </a:rPr>
              <a:t>PRESENTED BY</a:t>
            </a:r>
          </a:p>
          <a:p>
            <a:pPr marL="0" marR="0" lvl="0" indent="0" algn="r" defTabSz="914377">
              <a:lnSpc>
                <a:spcPct val="100000"/>
              </a:lnSpc>
              <a:spcBef>
                <a:spcPts val="0"/>
              </a:spcBef>
              <a:spcAft>
                <a:spcPts val="0"/>
              </a:spcAft>
              <a:buClrTx/>
              <a:buSzTx/>
              <a:buFontTx/>
              <a:buNone/>
            </a:pPr>
            <a:endParaRPr sz="800" b="0" i="0" u="none" kern="1200" cap="none" spc="300" baseline="0">
              <a:ln>
                <a:noFill/>
              </a:ln>
              <a:solidFill>
                <a:srgbClr val="FFFFFF"/>
              </a:solidFill>
              <a:latin typeface="Arial"/>
              <a:ea typeface="Arial"/>
              <a:cs typeface="Arial"/>
            </a:endParaRPr>
          </a:p>
          <a:p>
            <a:pPr marL="0" marR="0" lvl="0" indent="0" algn="r" defTabSz="914377">
              <a:lnSpc>
                <a:spcPct val="100000"/>
              </a:lnSpc>
              <a:spcBef>
                <a:spcPts val="0"/>
              </a:spcBef>
              <a:spcAft>
                <a:spcPts val="0"/>
              </a:spcAft>
              <a:buClrTx/>
              <a:buSzTx/>
              <a:buFontTx/>
              <a:buNone/>
              <a:defRPr sz="1050">
                <a:solidFill>
                  <a:srgbClr val="FFFFFF"/>
                </a:solidFill>
                <a:latin typeface="Roboto"/>
                <a:ea typeface="Roboto"/>
                <a:cs typeface="Roboto"/>
              </a:defRPr>
            </a:pPr>
            <a:r>
              <a:rPr sz="1050" b="1" i="0" u="none" cap="none" spc="0">
                <a:ln>
                  <a:noFill/>
                </a:ln>
                <a:solidFill>
                  <a:srgbClr val="FFFFFF"/>
                </a:solidFill>
                <a:latin typeface="Roboto"/>
                <a:ea typeface="Roboto"/>
                <a:cs typeface="Roboto"/>
              </a:rPr>
              <a:t>Jesus Urbaneja</a:t>
            </a:r>
          </a:p>
          <a:p>
            <a:pPr marL="0" marR="0" lvl="0" indent="0" algn="r" defTabSz="914377">
              <a:lnSpc>
                <a:spcPct val="100000"/>
              </a:lnSpc>
              <a:spcBef>
                <a:spcPts val="0"/>
              </a:spcBef>
              <a:spcAft>
                <a:spcPts val="0"/>
              </a:spcAft>
              <a:buClrTx/>
              <a:buSzTx/>
              <a:buFontTx/>
              <a:buNone/>
              <a:defRPr sz="1050">
                <a:solidFill>
                  <a:srgbClr val="FFFFFF"/>
                </a:solidFill>
                <a:latin typeface="Roboto"/>
                <a:ea typeface="Roboto"/>
                <a:cs typeface="Roboto"/>
              </a:defRPr>
            </a:pPr>
            <a:r>
              <a:rPr sz="1050">
                <a:solidFill>
                  <a:srgbClr val="FFFFFF"/>
                </a:solidFill>
                <a:latin typeface="Roboto"/>
                <a:ea typeface="Roboto"/>
                <a:cs typeface="Roboto"/>
              </a:rPr>
              <a:t>E3 - Internship</a:t>
            </a:r>
            <a:endParaRPr sz="1050" b="1" i="0" u="none" cap="none" spc="0">
              <a:ln>
                <a:noFill/>
              </a:ln>
              <a:solidFill>
                <a:srgbClr val="FFFFFF"/>
              </a:solidFill>
              <a:latin typeface="Roboto"/>
              <a:ea typeface="Roboto"/>
              <a:cs typeface="Roboto"/>
            </a:endParaRPr>
          </a:p>
        </p:txBody>
      </p:sp>
    </p:spTree>
    <p:extLst>
      <p:ext uri="{BB962C8B-B14F-4D97-AF65-F5344CB8AC3E}">
        <p14:creationId xmlns:p14="http://schemas.microsoft.com/office/powerpoint/2010/main" val="2523409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497503-5E56-4CB7-A572-1915F24505A7}"/>
              </a:ext>
            </a:extLst>
          </p:cNvPr>
          <p:cNvSpPr>
            <a:spLocks noGrp="1"/>
          </p:cNvSpPr>
          <p:nvPr>
            <p:ph idx="1"/>
          </p:nvPr>
        </p:nvSpPr>
        <p:spPr>
          <a:xfrm>
            <a:off x="552450" y="2433637"/>
            <a:ext cx="4572000" cy="2900363"/>
          </a:xfrm>
        </p:spPr>
        <p:txBody>
          <a:bodyPr wrap="square" lIns="38100" tIns="38100" rIns="38100" bIns="38100" anchor="ctr">
            <a:normAutofit/>
          </a:bodyPr>
          <a:lstStyle/>
          <a:p>
            <a:pPr>
              <a:lnSpc>
                <a:spcPct val="125000"/>
              </a:lnSpc>
              <a:buNone/>
              <a:defRPr sz="1650">
                <a:solidFill>
                  <a:srgbClr val="111111"/>
                </a:solidFill>
                <a:latin typeface="Roboto"/>
                <a:ea typeface="Roboto"/>
                <a:cs typeface="Roboto"/>
              </a:defRPr>
            </a:pPr>
            <a:r>
              <a:rPr sz="1650" b="1" dirty="0">
                <a:solidFill>
                  <a:srgbClr val="111111"/>
                </a:solidFill>
                <a:latin typeface="Roboto"/>
                <a:ea typeface="Roboto"/>
                <a:cs typeface="Roboto"/>
              </a:rPr>
              <a:t>1  S-PARAMETERS → ABCD</a:t>
            </a:r>
          </a:p>
          <a:p>
            <a:pPr>
              <a:lnSpc>
                <a:spcPct val="125000"/>
              </a:lnSpc>
              <a:buNone/>
              <a:defRPr sz="1650">
                <a:solidFill>
                  <a:srgbClr val="111111"/>
                </a:solidFill>
                <a:latin typeface="Roboto"/>
                <a:ea typeface="Roboto"/>
                <a:cs typeface="Roboto"/>
              </a:defRPr>
            </a:pPr>
            <a:r>
              <a:rPr sz="1650" b="1" dirty="0">
                <a:solidFill>
                  <a:srgbClr val="111111"/>
                </a:solidFill>
                <a:latin typeface="Roboto"/>
                <a:ea typeface="Roboto"/>
                <a:cs typeface="Roboto"/>
              </a:rPr>
              <a:t>S(f) → [ A  B ; C  D ]</a:t>
            </a:r>
          </a:p>
          <a:p>
            <a:pPr>
              <a:lnSpc>
                <a:spcPct val="125000"/>
              </a:lnSpc>
              <a:buNone/>
              <a:defRPr sz="1650">
                <a:solidFill>
                  <a:srgbClr val="111111"/>
                </a:solidFill>
                <a:latin typeface="Roboto"/>
                <a:ea typeface="Roboto"/>
                <a:cs typeface="Roboto"/>
              </a:defRPr>
            </a:pPr>
            <a:r>
              <a:rPr sz="1650" dirty="0" err="1">
                <a:solidFill>
                  <a:srgbClr val="111111"/>
                </a:solidFill>
                <a:latin typeface="Roboto"/>
                <a:ea typeface="Roboto"/>
                <a:cs typeface="Roboto"/>
              </a:rPr>
              <a:t>ω</a:t>
            </a:r>
            <a:r>
              <a:rPr sz="1650" dirty="0">
                <a:solidFill>
                  <a:srgbClr val="111111"/>
                </a:solidFill>
                <a:latin typeface="Roboto"/>
                <a:ea typeface="Roboto"/>
                <a:cs typeface="Roboto"/>
              </a:rPr>
              <a:t> = 2πf</a:t>
            </a:r>
          </a:p>
          <a:p>
            <a:pPr>
              <a:lnSpc>
                <a:spcPct val="125000"/>
              </a:lnSpc>
              <a:buNone/>
              <a:defRPr sz="1650">
                <a:solidFill>
                  <a:srgbClr val="111111"/>
                </a:solidFill>
                <a:latin typeface="Roboto"/>
                <a:ea typeface="Roboto"/>
                <a:cs typeface="Roboto"/>
              </a:defRPr>
            </a:pPr>
            <a:endParaRPr sz="1650" dirty="0">
              <a:solidFill>
                <a:srgbClr val="111111"/>
              </a:solidFill>
              <a:latin typeface="Roboto"/>
              <a:ea typeface="Roboto"/>
              <a:cs typeface="Roboto"/>
            </a:endParaRPr>
          </a:p>
          <a:p>
            <a:pPr>
              <a:lnSpc>
                <a:spcPct val="125000"/>
              </a:lnSpc>
              <a:buNone/>
              <a:defRPr sz="1650">
                <a:solidFill>
                  <a:srgbClr val="111111"/>
                </a:solidFill>
                <a:latin typeface="Roboto"/>
                <a:ea typeface="Roboto"/>
                <a:cs typeface="Roboto"/>
              </a:defRPr>
            </a:pPr>
            <a:r>
              <a:rPr sz="1650" dirty="0">
                <a:solidFill>
                  <a:srgbClr val="111111"/>
                </a:solidFill>
                <a:latin typeface="Roboto"/>
                <a:ea typeface="Roboto"/>
                <a:cs typeface="Roboto"/>
              </a:rPr>
              <a:t>At low frequency, B ≈ </a:t>
            </a:r>
            <a:r>
              <a:rPr sz="1650" dirty="0" err="1">
                <a:solidFill>
                  <a:srgbClr val="111111"/>
                </a:solidFill>
                <a:latin typeface="Roboto"/>
                <a:ea typeface="Roboto"/>
                <a:cs typeface="Roboto"/>
              </a:rPr>
              <a:t>jωL</a:t>
            </a:r>
            <a:endParaRPr sz="1650" dirty="0">
              <a:solidFill>
                <a:srgbClr val="111111"/>
              </a:solidFill>
              <a:latin typeface="Roboto"/>
              <a:ea typeface="Roboto"/>
              <a:cs typeface="Roboto"/>
            </a:endParaRPr>
          </a:p>
          <a:p>
            <a:pPr>
              <a:lnSpc>
                <a:spcPct val="125000"/>
              </a:lnSpc>
              <a:buNone/>
              <a:defRPr sz="1650">
                <a:solidFill>
                  <a:srgbClr val="111111"/>
                </a:solidFill>
                <a:latin typeface="Roboto"/>
                <a:ea typeface="Roboto"/>
                <a:cs typeface="Roboto"/>
              </a:defRPr>
            </a:pPr>
            <a:r>
              <a:rPr sz="1650" dirty="0">
                <a:solidFill>
                  <a:srgbClr val="111111"/>
                </a:solidFill>
                <a:latin typeface="Roboto"/>
                <a:ea typeface="Roboto"/>
                <a:cs typeface="Roboto"/>
              </a:rPr>
              <a:t>L = ⟨</a:t>
            </a:r>
            <a:r>
              <a:rPr sz="1650" dirty="0" err="1">
                <a:solidFill>
                  <a:srgbClr val="111111"/>
                </a:solidFill>
                <a:latin typeface="Roboto"/>
                <a:ea typeface="Roboto"/>
                <a:cs typeface="Roboto"/>
              </a:rPr>
              <a:t>Im</a:t>
            </a:r>
            <a:r>
              <a:rPr sz="1650" dirty="0">
                <a:solidFill>
                  <a:srgbClr val="111111"/>
                </a:solidFill>
                <a:latin typeface="Roboto"/>
                <a:ea typeface="Roboto"/>
                <a:cs typeface="Roboto"/>
              </a:rPr>
              <a:t>(B)/</a:t>
            </a:r>
            <a:r>
              <a:rPr sz="1650" dirty="0" err="1">
                <a:solidFill>
                  <a:srgbClr val="111111"/>
                </a:solidFill>
                <a:latin typeface="Roboto"/>
                <a:ea typeface="Roboto"/>
                <a:cs typeface="Roboto"/>
              </a:rPr>
              <a:t>ω</a:t>
            </a:r>
            <a:r>
              <a:rPr sz="1650" dirty="0">
                <a:solidFill>
                  <a:srgbClr val="111111"/>
                </a:solidFill>
                <a:latin typeface="Roboto"/>
                <a:ea typeface="Roboto"/>
                <a:cs typeface="Roboto"/>
              </a:rPr>
              <a:t>⟩</a:t>
            </a:r>
          </a:p>
        </p:txBody>
      </p:sp>
      <p:sp>
        <p:nvSpPr>
          <p:cNvPr id="3" name="Title 2">
            <a:extLst>
              <a:ext uri="{FF2B5EF4-FFF2-40B4-BE49-F238E27FC236}">
                <a16:creationId xmlns:a16="http://schemas.microsoft.com/office/drawing/2014/main" id="{0612415A-DDEB-4803-AB7C-8986B9F18136}"/>
              </a:ext>
            </a:extLst>
          </p:cNvPr>
          <p:cNvSpPr>
            <a:spLocks noGrp="1"/>
          </p:cNvSpPr>
          <p:nvPr>
            <p:ph type="title"/>
          </p:nvPr>
        </p:nvSpPr>
        <p:spPr>
          <a:xfrm>
            <a:off x="523875" y="1004887"/>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Appendix: the single-cell S-matrix gives L, C and Lf</a:t>
            </a:r>
          </a:p>
        </p:txBody>
      </p:sp>
      <p:sp>
        <p:nvSpPr>
          <p:cNvPr id="4" name="TextBox 3">
            <a:extLst>
              <a:ext uri="{FF2B5EF4-FFF2-40B4-BE49-F238E27FC236}">
                <a16:creationId xmlns:a16="http://schemas.microsoft.com/office/drawing/2014/main" id="{511B785C-F73F-4209-858A-0CD3D0667332}"/>
              </a:ext>
            </a:extLst>
          </p:cNvPr>
          <p:cNvSpPr>
            <a:spLocks noGrp="1"/>
          </p:cNvSpPr>
          <p:nvPr/>
        </p:nvSpPr>
        <p:spPr>
          <a:xfrm>
            <a:off x="6162675" y="2433637"/>
            <a:ext cx="5381625" cy="3090863"/>
          </a:xfrm>
          <a:prstGeom prst="rect">
            <a:avLst/>
          </a:prstGeom>
          <a:noFill/>
        </p:spPr>
        <p:txBody>
          <a:bodyPr wrap="square" lIns="38100" tIns="38100" rIns="38100" bIns="38100" anchor="ctr">
            <a:normAutofit/>
          </a:bodyPr>
          <a:lstStyle/>
          <a:p>
            <a:pPr>
              <a:lnSpc>
                <a:spcPct val="110000"/>
              </a:lnSpc>
              <a:buNone/>
              <a:defRPr sz="1575">
                <a:solidFill>
                  <a:srgbClr val="111111"/>
                </a:solidFill>
                <a:latin typeface="Roboto"/>
                <a:ea typeface="Roboto"/>
                <a:cs typeface="Roboto"/>
              </a:defRPr>
            </a:pPr>
            <a:r>
              <a:rPr b="1" dirty="0">
                <a:solidFill>
                  <a:srgbClr val="111111"/>
                </a:solidFill>
                <a:latin typeface="Roboto"/>
                <a:ea typeface="Roboto"/>
                <a:cs typeface="Roboto"/>
              </a:rPr>
              <a:t>2  FIT C AND </a:t>
            </a:r>
            <a:r>
              <a:rPr b="1" dirty="0" err="1">
                <a:solidFill>
                  <a:srgbClr val="111111"/>
                </a:solidFill>
                <a:latin typeface="Roboto"/>
                <a:ea typeface="Roboto"/>
                <a:cs typeface="Roboto"/>
              </a:rPr>
              <a:t>Lf</a:t>
            </a:r>
            <a:endParaRPr b="1"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endParaRPr b="1"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b="1" dirty="0" err="1">
                <a:solidFill>
                  <a:srgbClr val="111111"/>
                </a:solidFill>
                <a:latin typeface="Roboto"/>
                <a:ea typeface="Roboto"/>
                <a:cs typeface="Roboto"/>
              </a:rPr>
              <a:t>Ceff</a:t>
            </a:r>
            <a:r>
              <a:rPr b="1" dirty="0">
                <a:solidFill>
                  <a:srgbClr val="111111"/>
                </a:solidFill>
                <a:latin typeface="Roboto"/>
                <a:ea typeface="Roboto"/>
                <a:cs typeface="Roboto"/>
              </a:rPr>
              <a:t>(</a:t>
            </a:r>
            <a:r>
              <a:rPr b="1" dirty="0" err="1">
                <a:solidFill>
                  <a:srgbClr val="111111"/>
                </a:solidFill>
                <a:latin typeface="Roboto"/>
                <a:ea typeface="Roboto"/>
                <a:cs typeface="Roboto"/>
              </a:rPr>
              <a:t>ω</a:t>
            </a:r>
            <a:r>
              <a:rPr b="1" dirty="0">
                <a:solidFill>
                  <a:srgbClr val="111111"/>
                </a:solidFill>
                <a:latin typeface="Roboto"/>
                <a:ea typeface="Roboto"/>
                <a:cs typeface="Roboto"/>
              </a:rPr>
              <a:t>) = </a:t>
            </a:r>
            <a:r>
              <a:rPr b="1" dirty="0" err="1">
                <a:solidFill>
                  <a:srgbClr val="111111"/>
                </a:solidFill>
                <a:latin typeface="Roboto"/>
                <a:ea typeface="Roboto"/>
                <a:cs typeface="Roboto"/>
              </a:rPr>
              <a:t>Im</a:t>
            </a:r>
            <a:r>
              <a:rPr b="1" dirty="0">
                <a:solidFill>
                  <a:srgbClr val="111111"/>
                </a:solidFill>
                <a:latin typeface="Roboto"/>
                <a:ea typeface="Roboto"/>
                <a:cs typeface="Roboto"/>
              </a:rPr>
              <a:t>(C</a:t>
            </a:r>
            <a:r>
              <a:rPr lang="en-US" b="1" dirty="0">
                <a:solidFill>
                  <a:srgbClr val="111111"/>
                </a:solidFill>
                <a:latin typeface="Roboto"/>
                <a:ea typeface="Roboto"/>
                <a:cs typeface="Roboto"/>
              </a:rPr>
              <a:t>_</a:t>
            </a:r>
            <a:r>
              <a:rPr b="1" dirty="0">
                <a:solidFill>
                  <a:srgbClr val="111111"/>
                </a:solidFill>
                <a:latin typeface="Roboto"/>
                <a:ea typeface="Roboto"/>
                <a:cs typeface="Roboto"/>
              </a:rPr>
              <a:t>ABCD)/</a:t>
            </a:r>
            <a:r>
              <a:rPr b="1" dirty="0" err="1">
                <a:solidFill>
                  <a:srgbClr val="111111"/>
                </a:solidFill>
                <a:latin typeface="Roboto"/>
                <a:ea typeface="Roboto"/>
                <a:cs typeface="Roboto"/>
              </a:rPr>
              <a:t>ω</a:t>
            </a:r>
            <a:endParaRPr b="1"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endParaRPr b="1"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b="1" dirty="0">
                <a:solidFill>
                  <a:srgbClr val="111111"/>
                </a:solidFill>
                <a:latin typeface="Roboto"/>
                <a:ea typeface="Roboto"/>
                <a:cs typeface="Roboto"/>
              </a:rPr>
              <a:t>1/</a:t>
            </a:r>
            <a:r>
              <a:rPr b="1" dirty="0" err="1">
                <a:solidFill>
                  <a:srgbClr val="111111"/>
                </a:solidFill>
                <a:latin typeface="Roboto"/>
                <a:ea typeface="Roboto"/>
                <a:cs typeface="Roboto"/>
              </a:rPr>
              <a:t>Ceff</a:t>
            </a:r>
            <a:r>
              <a:rPr b="1" dirty="0">
                <a:solidFill>
                  <a:srgbClr val="111111"/>
                </a:solidFill>
                <a:latin typeface="Roboto"/>
                <a:ea typeface="Roboto"/>
                <a:cs typeface="Roboto"/>
              </a:rPr>
              <a:t> = 1/C − (</a:t>
            </a:r>
            <a:r>
              <a:rPr b="1" dirty="0" err="1">
                <a:solidFill>
                  <a:srgbClr val="111111"/>
                </a:solidFill>
                <a:latin typeface="Roboto"/>
                <a:ea typeface="Roboto"/>
                <a:cs typeface="Roboto"/>
              </a:rPr>
              <a:t>Lf</a:t>
            </a:r>
            <a:r>
              <a:rPr b="1" dirty="0">
                <a:solidFill>
                  <a:srgbClr val="111111"/>
                </a:solidFill>
                <a:latin typeface="Roboto"/>
                <a:ea typeface="Roboto"/>
                <a:cs typeface="Roboto"/>
              </a:rPr>
              <a:t>/2)ω²</a:t>
            </a:r>
          </a:p>
          <a:p>
            <a:pPr>
              <a:lnSpc>
                <a:spcPct val="110000"/>
              </a:lnSpc>
              <a:buNone/>
              <a:defRPr sz="1575">
                <a:solidFill>
                  <a:srgbClr val="111111"/>
                </a:solidFill>
                <a:latin typeface="Roboto"/>
                <a:ea typeface="Roboto"/>
                <a:cs typeface="Roboto"/>
              </a:defRPr>
            </a:pPr>
            <a:endParaRPr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dirty="0">
                <a:solidFill>
                  <a:srgbClr val="111111"/>
                </a:solidFill>
                <a:latin typeface="Roboto"/>
                <a:ea typeface="Roboto"/>
                <a:cs typeface="Roboto"/>
              </a:rPr>
              <a:t>Fit y = b + mx with x = ω²</a:t>
            </a:r>
          </a:p>
          <a:p>
            <a:pPr>
              <a:lnSpc>
                <a:spcPct val="110000"/>
              </a:lnSpc>
              <a:buNone/>
              <a:defRPr sz="1575">
                <a:solidFill>
                  <a:srgbClr val="111111"/>
                </a:solidFill>
                <a:latin typeface="Roboto"/>
                <a:ea typeface="Roboto"/>
                <a:cs typeface="Roboto"/>
              </a:defRPr>
            </a:pPr>
            <a:endParaRPr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endParaRPr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b="1" dirty="0">
                <a:solidFill>
                  <a:srgbClr val="111111"/>
                </a:solidFill>
                <a:latin typeface="Roboto"/>
                <a:ea typeface="Roboto"/>
                <a:cs typeface="Roboto"/>
              </a:rPr>
              <a:t>C = 1/b        </a:t>
            </a:r>
            <a:r>
              <a:rPr b="1" dirty="0" err="1">
                <a:solidFill>
                  <a:srgbClr val="111111"/>
                </a:solidFill>
                <a:latin typeface="Roboto"/>
                <a:ea typeface="Roboto"/>
                <a:cs typeface="Roboto"/>
              </a:rPr>
              <a:t>Lf</a:t>
            </a:r>
            <a:r>
              <a:rPr b="1" dirty="0">
                <a:solidFill>
                  <a:srgbClr val="111111"/>
                </a:solidFill>
                <a:latin typeface="Roboto"/>
                <a:ea typeface="Roboto"/>
                <a:cs typeface="Roboto"/>
              </a:rPr>
              <a:t> = −2m</a:t>
            </a:r>
          </a:p>
        </p:txBody>
      </p:sp>
      <p:sp>
        <p:nvSpPr>
          <p:cNvPr id="5" name="s05-arrow">
            <a:extLst>
              <a:ext uri="{FF2B5EF4-FFF2-40B4-BE49-F238E27FC236}">
                <a16:creationId xmlns:a16="http://schemas.microsoft.com/office/drawing/2014/main" id="{DA7FC56C-80DF-4B08-972B-09C0BDE45DA4}"/>
              </a:ext>
            </a:extLst>
          </p:cNvPr>
          <p:cNvSpPr>
            <a:spLocks noGrp="1"/>
          </p:cNvSpPr>
          <p:nvPr/>
        </p:nvSpPr>
        <p:spPr>
          <a:xfrm>
            <a:off x="5286375" y="3943350"/>
            <a:ext cx="714375" cy="333375"/>
          </a:xfrm>
          <a:prstGeom prst="rightArrow">
            <a:avLst/>
          </a:prstGeom>
          <a:solidFill>
            <a:srgbClr val="FF0000"/>
          </a:solidFill>
          <a:ln w="0">
            <a:solidFill>
              <a:srgbClr val="FF0000"/>
            </a:solidFill>
            <a:prstDash val="solid"/>
          </a:ln>
        </p:spPr>
        <p:txBody>
          <a:bodyPr/>
          <a:lstStyle/>
          <a:p>
            <a:endParaRPr/>
          </a:p>
        </p:txBody>
      </p:sp>
      <p:sp>
        <p:nvSpPr>
          <p:cNvPr id="6" name="s05-bottom-rule">
            <a:extLst>
              <a:ext uri="{FF2B5EF4-FFF2-40B4-BE49-F238E27FC236}">
                <a16:creationId xmlns:a16="http://schemas.microsoft.com/office/drawing/2014/main" id="{1BA0C267-563C-4C53-974A-925354B2F5EB}"/>
              </a:ext>
            </a:extLst>
          </p:cNvPr>
          <p:cNvSpPr>
            <a:spLocks noGrp="1"/>
          </p:cNvSpPr>
          <p:nvPr/>
        </p:nvSpPr>
        <p:spPr>
          <a:xfrm>
            <a:off x="552450" y="5667375"/>
            <a:ext cx="11029950" cy="0"/>
          </a:xfrm>
          <a:prstGeom prst="line">
            <a:avLst/>
          </a:prstGeom>
          <a:noFill/>
          <a:ln w="28575">
            <a:solidFill>
              <a:srgbClr val="FF0000"/>
            </a:solidFill>
            <a:prstDash val="solid"/>
          </a:ln>
        </p:spPr>
        <p:txBody>
          <a:bodyPr/>
          <a:lstStyle/>
          <a:p>
            <a:endParaRPr/>
          </a:p>
        </p:txBody>
      </p:sp>
      <p:sp>
        <p:nvSpPr>
          <p:cNvPr id="7" name="s05-result">
            <a:extLst>
              <a:ext uri="{FF2B5EF4-FFF2-40B4-BE49-F238E27FC236}">
                <a16:creationId xmlns:a16="http://schemas.microsoft.com/office/drawing/2014/main" id="{D24720D5-A3C0-45BC-BC42-C95F2D4A59D3}"/>
              </a:ext>
            </a:extLst>
          </p:cNvPr>
          <p:cNvSpPr>
            <a:spLocks noGrp="1"/>
          </p:cNvSpPr>
          <p:nvPr/>
        </p:nvSpPr>
        <p:spPr>
          <a:xfrm>
            <a:off x="857250" y="5810250"/>
            <a:ext cx="10429875" cy="428625"/>
          </a:xfrm>
          <a:prstGeom prst="rect">
            <a:avLst/>
          </a:prstGeom>
          <a:noFill/>
          <a:ln w="0">
            <a:noFill/>
            <a:prstDash val="solid"/>
          </a:ln>
        </p:spPr>
        <p:txBody>
          <a:bodyPr lIns="38100" tIns="38100" rIns="38100" bIns="38100" anchor="ctr">
            <a:normAutofit/>
          </a:bodyPr>
          <a:lstStyle/>
          <a:p>
            <a:pPr algn="ctr">
              <a:buNone/>
              <a:defRPr sz="1875" b="1">
                <a:solidFill>
                  <a:srgbClr val="111111"/>
                </a:solidFill>
                <a:latin typeface="Roboto"/>
                <a:ea typeface="Roboto"/>
                <a:cs typeface="Roboto"/>
              </a:defRPr>
            </a:pPr>
            <a:r>
              <a:rPr sz="1875" b="1">
                <a:solidFill>
                  <a:srgbClr val="111111"/>
                </a:solidFill>
                <a:latin typeface="Roboto"/>
                <a:ea typeface="Roboto"/>
                <a:cs typeface="Roboto"/>
              </a:rPr>
              <a:t>intercept b = 1/C   →   C = 1/b     |     slope m = −Lf/2   →   Lf = −2m     |     Z₀ = √(L/C)</a:t>
            </a:r>
          </a:p>
        </p:txBody>
      </p:sp>
      <p:sp>
        <p:nvSpPr>
          <p:cNvPr id="8" name="s4-meta">
            <a:extLst>
              <a:ext uri="{FF2B5EF4-FFF2-40B4-BE49-F238E27FC236}">
                <a16:creationId xmlns:a16="http://schemas.microsoft.com/office/drawing/2014/main" id="{8D983E78-6A20-2DDE-F16C-A0E8AFFB964E}"/>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APPENDIX</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9" name="s4-page">
            <a:extLst>
              <a:ext uri="{FF2B5EF4-FFF2-40B4-BE49-F238E27FC236}">
                <a16:creationId xmlns:a16="http://schemas.microsoft.com/office/drawing/2014/main" id="{D889596F-D517-A05E-FC9F-064CCB1C755C}"/>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A1</a:t>
            </a:r>
          </a:p>
        </p:txBody>
      </p:sp>
    </p:spTree>
    <p:extLst>
      <p:ext uri="{BB962C8B-B14F-4D97-AF65-F5344CB8AC3E}">
        <p14:creationId xmlns:p14="http://schemas.microsoft.com/office/powerpoint/2010/main" val="979156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CA31A5-E09E-4E67-9C58-D7708F785CEA}"/>
              </a:ext>
            </a:extLst>
          </p:cNvPr>
          <p:cNvSpPr>
            <a:spLocks noGrp="1"/>
          </p:cNvSpPr>
          <p:nvPr>
            <p:ph idx="1"/>
          </p:nvPr>
        </p:nvSpPr>
        <p:spPr>
          <a:xfrm>
            <a:off x="552450" y="2905125"/>
            <a:ext cx="4762500" cy="3143250"/>
          </a:xfrm>
        </p:spPr>
        <p:txBody>
          <a:bodyPr wrap="square" lIns="38100" tIns="38100" rIns="38100" bIns="38100" anchor="t">
            <a:normAutofit/>
          </a:bodyPr>
          <a:lstStyle/>
          <a:p>
            <a:pPr>
              <a:lnSpc>
                <a:spcPct val="118000"/>
              </a:lnSpc>
              <a:buNone/>
              <a:defRPr sz="1650">
                <a:solidFill>
                  <a:srgbClr val="111111"/>
                </a:solidFill>
                <a:latin typeface="Roboto"/>
                <a:ea typeface="Roboto"/>
                <a:cs typeface="Roboto"/>
              </a:defRPr>
            </a:pPr>
            <a:r>
              <a:rPr sz="1650" b="1" dirty="0">
                <a:solidFill>
                  <a:srgbClr val="111111"/>
                </a:solidFill>
                <a:latin typeface="Roboto"/>
                <a:ea typeface="Roboto"/>
                <a:cs typeface="Roboto"/>
              </a:rPr>
              <a:t>1  BLOCH CONDITION</a:t>
            </a:r>
          </a:p>
          <a:p>
            <a:pPr>
              <a:lnSpc>
                <a:spcPct val="118000"/>
              </a:lnSpc>
              <a:buNone/>
              <a:defRPr sz="1650">
                <a:solidFill>
                  <a:srgbClr val="111111"/>
                </a:solidFill>
                <a:latin typeface="Roboto"/>
                <a:ea typeface="Roboto"/>
                <a:cs typeface="Roboto"/>
              </a:defRPr>
            </a:pPr>
            <a:r>
              <a:rPr sz="1650" b="1" dirty="0">
                <a:solidFill>
                  <a:srgbClr val="111111"/>
                </a:solidFill>
                <a:latin typeface="Roboto"/>
                <a:ea typeface="Roboto"/>
                <a:cs typeface="Roboto"/>
              </a:rPr>
              <a:t>TSC [V ; I] = </a:t>
            </a:r>
            <a:r>
              <a:rPr sz="1650" b="1" dirty="0" err="1">
                <a:solidFill>
                  <a:srgbClr val="111111"/>
                </a:solidFill>
                <a:latin typeface="Roboto"/>
                <a:ea typeface="Roboto"/>
                <a:cs typeface="Roboto"/>
              </a:rPr>
              <a:t>λB</a:t>
            </a:r>
            <a:r>
              <a:rPr sz="1650" b="1" dirty="0">
                <a:solidFill>
                  <a:srgbClr val="111111"/>
                </a:solidFill>
                <a:latin typeface="Roboto"/>
                <a:ea typeface="Roboto"/>
                <a:cs typeface="Roboto"/>
              </a:rPr>
              <a:t> [V ; I]</a:t>
            </a:r>
          </a:p>
          <a:p>
            <a:pPr>
              <a:lnSpc>
                <a:spcPct val="118000"/>
              </a:lnSpc>
              <a:buNone/>
              <a:defRPr sz="1650">
                <a:solidFill>
                  <a:srgbClr val="111111"/>
                </a:solidFill>
                <a:latin typeface="Roboto"/>
                <a:ea typeface="Roboto"/>
                <a:cs typeface="Roboto"/>
              </a:defRPr>
            </a:pPr>
            <a:endParaRPr sz="1650" b="1" dirty="0">
              <a:solidFill>
                <a:srgbClr val="111111"/>
              </a:solidFill>
              <a:latin typeface="Roboto"/>
              <a:ea typeface="Roboto"/>
              <a:cs typeface="Roboto"/>
            </a:endParaRPr>
          </a:p>
          <a:p>
            <a:pPr>
              <a:lnSpc>
                <a:spcPct val="118000"/>
              </a:lnSpc>
              <a:buNone/>
              <a:defRPr sz="1650">
                <a:solidFill>
                  <a:srgbClr val="111111"/>
                </a:solidFill>
                <a:latin typeface="Roboto"/>
                <a:ea typeface="Roboto"/>
                <a:cs typeface="Roboto"/>
              </a:defRPr>
            </a:pPr>
            <a:r>
              <a:rPr lang="el-GR" sz="1650" b="1" dirty="0">
                <a:solidFill>
                  <a:srgbClr val="111111"/>
                </a:solidFill>
                <a:latin typeface="Roboto"/>
                <a:ea typeface="Roboto"/>
                <a:cs typeface="Roboto"/>
              </a:rPr>
              <a:t>Λ</a:t>
            </a:r>
            <a:r>
              <a:rPr lang="en-US" sz="1650" b="1" dirty="0">
                <a:solidFill>
                  <a:srgbClr val="111111"/>
                </a:solidFill>
                <a:latin typeface="Roboto"/>
                <a:ea typeface="Roboto"/>
                <a:cs typeface="Roboto"/>
              </a:rPr>
              <a:t>_</a:t>
            </a:r>
            <a:r>
              <a:rPr sz="1650" b="1" dirty="0">
                <a:solidFill>
                  <a:srgbClr val="111111"/>
                </a:solidFill>
                <a:latin typeface="Roboto"/>
                <a:ea typeface="Roboto"/>
                <a:cs typeface="Roboto"/>
              </a:rPr>
              <a:t>B = exp(αSC + j </a:t>
            </a:r>
            <a:r>
              <a:rPr sz="1650" b="1" dirty="0" err="1">
                <a:solidFill>
                  <a:srgbClr val="111111"/>
                </a:solidFill>
                <a:latin typeface="Roboto"/>
                <a:ea typeface="Roboto"/>
                <a:cs typeface="Roboto"/>
              </a:rPr>
              <a:t>kSC</a:t>
            </a:r>
            <a:r>
              <a:rPr sz="1650" b="1" dirty="0">
                <a:solidFill>
                  <a:srgbClr val="111111"/>
                </a:solidFill>
                <a:latin typeface="Roboto"/>
                <a:ea typeface="Roboto"/>
                <a:cs typeface="Roboto"/>
              </a:rPr>
              <a:t>)</a:t>
            </a:r>
          </a:p>
          <a:p>
            <a:pPr>
              <a:lnSpc>
                <a:spcPct val="118000"/>
              </a:lnSpc>
              <a:buNone/>
              <a:defRPr sz="1650">
                <a:solidFill>
                  <a:srgbClr val="111111"/>
                </a:solidFill>
                <a:latin typeface="Roboto"/>
                <a:ea typeface="Roboto"/>
                <a:cs typeface="Roboto"/>
              </a:defRPr>
            </a:pPr>
            <a:r>
              <a:rPr lang="en-US" sz="1650" b="1" dirty="0">
                <a:solidFill>
                  <a:srgbClr val="111111"/>
                </a:solidFill>
                <a:latin typeface="Roboto"/>
                <a:ea typeface="Roboto"/>
                <a:cs typeface="Roboto"/>
              </a:rPr>
              <a:t>K_</a:t>
            </a:r>
            <a:r>
              <a:rPr sz="1650" b="1" dirty="0">
                <a:solidFill>
                  <a:srgbClr val="111111"/>
                </a:solidFill>
                <a:latin typeface="Roboto"/>
                <a:ea typeface="Roboto"/>
                <a:cs typeface="Roboto"/>
              </a:rPr>
              <a:t>B = </a:t>
            </a:r>
            <a:r>
              <a:rPr sz="1650" b="1" dirty="0" err="1">
                <a:solidFill>
                  <a:srgbClr val="111111"/>
                </a:solidFill>
                <a:latin typeface="Roboto"/>
                <a:ea typeface="Roboto"/>
                <a:cs typeface="Roboto"/>
              </a:rPr>
              <a:t>arg</a:t>
            </a:r>
            <a:r>
              <a:rPr sz="1650" b="1" dirty="0">
                <a:solidFill>
                  <a:srgbClr val="111111"/>
                </a:solidFill>
                <a:latin typeface="Roboto"/>
                <a:ea typeface="Roboto"/>
                <a:cs typeface="Roboto"/>
              </a:rPr>
              <a:t>(</a:t>
            </a:r>
            <a:r>
              <a:rPr sz="1650" b="1" dirty="0" err="1">
                <a:solidFill>
                  <a:srgbClr val="111111"/>
                </a:solidFill>
                <a:latin typeface="Roboto"/>
                <a:ea typeface="Roboto"/>
                <a:cs typeface="Roboto"/>
              </a:rPr>
              <a:t>λB</a:t>
            </a:r>
            <a:r>
              <a:rPr sz="1650" b="1" dirty="0">
                <a:solidFill>
                  <a:srgbClr val="111111"/>
                </a:solidFill>
                <a:latin typeface="Roboto"/>
                <a:ea typeface="Roboto"/>
                <a:cs typeface="Roboto"/>
              </a:rPr>
              <a:t>)/34</a:t>
            </a:r>
          </a:p>
          <a:p>
            <a:pPr>
              <a:lnSpc>
                <a:spcPct val="118000"/>
              </a:lnSpc>
              <a:buNone/>
              <a:defRPr sz="1650">
                <a:solidFill>
                  <a:srgbClr val="111111"/>
                </a:solidFill>
                <a:latin typeface="Roboto"/>
                <a:ea typeface="Roboto"/>
                <a:cs typeface="Roboto"/>
              </a:defRPr>
            </a:pPr>
            <a:r>
              <a:rPr lang="el-GR" sz="1650" dirty="0">
                <a:solidFill>
                  <a:srgbClr val="111111"/>
                </a:solidFill>
                <a:latin typeface="Roboto"/>
                <a:ea typeface="Roboto"/>
                <a:cs typeface="Roboto"/>
              </a:rPr>
              <a:t>Α</a:t>
            </a:r>
            <a:r>
              <a:rPr lang="en-US" sz="1650" dirty="0">
                <a:solidFill>
                  <a:srgbClr val="111111"/>
                </a:solidFill>
                <a:latin typeface="Roboto"/>
                <a:ea typeface="Roboto"/>
                <a:cs typeface="Roboto"/>
              </a:rPr>
              <a:t>_</a:t>
            </a:r>
            <a:r>
              <a:rPr sz="1650" dirty="0">
                <a:solidFill>
                  <a:srgbClr val="111111"/>
                </a:solidFill>
                <a:latin typeface="Roboto"/>
                <a:ea typeface="Roboto"/>
                <a:cs typeface="Roboto"/>
              </a:rPr>
              <a:t>B = </a:t>
            </a:r>
            <a:r>
              <a:rPr sz="1650" dirty="0" err="1">
                <a:solidFill>
                  <a:srgbClr val="111111"/>
                </a:solidFill>
                <a:latin typeface="Roboto"/>
                <a:ea typeface="Roboto"/>
                <a:cs typeface="Roboto"/>
              </a:rPr>
              <a:t>ln|λB</a:t>
            </a:r>
            <a:r>
              <a:rPr sz="1650" dirty="0">
                <a:solidFill>
                  <a:srgbClr val="111111"/>
                </a:solidFill>
                <a:latin typeface="Roboto"/>
                <a:ea typeface="Roboto"/>
                <a:cs typeface="Roboto"/>
              </a:rPr>
              <a:t>|/34</a:t>
            </a:r>
          </a:p>
        </p:txBody>
      </p:sp>
      <p:sp>
        <p:nvSpPr>
          <p:cNvPr id="3" name="Title 2">
            <a:extLst>
              <a:ext uri="{FF2B5EF4-FFF2-40B4-BE49-F238E27FC236}">
                <a16:creationId xmlns:a16="http://schemas.microsoft.com/office/drawing/2014/main" id="{E5942FB8-E3C9-442D-A8B7-E2764794C303}"/>
              </a:ext>
            </a:extLst>
          </p:cNvPr>
          <p:cNvSpPr>
            <a:spLocks noGrp="1"/>
          </p:cNvSpPr>
          <p:nvPr>
            <p:ph type="title"/>
          </p:nvPr>
        </p:nvSpPr>
        <p:spPr>
          <a:xfrm>
            <a:off x="523875" y="904875"/>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Appendix: the supercell eigenmode gives the Bloch quantities</a:t>
            </a:r>
          </a:p>
        </p:txBody>
      </p:sp>
      <p:pic>
        <p:nvPicPr>
          <p:cNvPr id="17" name="Picture 3"/>
          <p:cNvPicPr>
            <a:picLocks noChangeAspect="1"/>
          </p:cNvPicPr>
          <p:nvPr/>
        </p:nvPicPr>
        <p:blipFill>
          <a:blip r:embed="rId3"/>
          <a:stretch>
            <a:fillRect/>
          </a:stretch>
        </p:blipFill>
        <p:spPr>
          <a:xfrm>
            <a:off x="11601450" y="6286500"/>
            <a:ext cx="9525" cy="9525"/>
          </a:xfrm>
          <a:prstGeom prst="rect">
            <a:avLst/>
          </a:prstGeom>
        </p:spPr>
      </p:pic>
      <p:pic>
        <p:nvPicPr>
          <p:cNvPr id="18" name="Graphic 15"/>
          <p:cNvPicPr>
            <a:picLocks noChangeAspect="1"/>
          </p:cNvPicPr>
          <p:nvPr/>
        </p:nvPicPr>
        <p:blipFill>
          <a:blip r:embed="rId4">
            <a:extLst>
              <a:ext uri="{96DAC541-7B7A-43D3-8B79-37D633B846F1}">
                <asvg:svgBlip xmlns:asvg="http://schemas.microsoft.com/office/drawing/2016/SVG/main" r:embed="rId5"/>
              </a:ext>
            </a:extLst>
          </a:blip>
          <a:stretch/>
        </p:blipFill>
        <p:spPr>
          <a:xfrm>
            <a:off x="476250" y="266700"/>
            <a:ext cx="857250" cy="400050"/>
          </a:xfrm>
          <a:prstGeom prst="rect">
            <a:avLst/>
          </a:prstGeom>
        </p:spPr>
      </p:pic>
      <p:sp>
        <p:nvSpPr>
          <p:cNvPr id="6" name="s6-meta">
            <a:extLst>
              <a:ext uri="{FF2B5EF4-FFF2-40B4-BE49-F238E27FC236}">
                <a16:creationId xmlns:a16="http://schemas.microsoft.com/office/drawing/2014/main" id="{04CE47B5-7680-4B9E-BB3B-373EA31D99FC}"/>
              </a:ext>
            </a:extLst>
          </p:cNvPr>
          <p:cNvSpPr>
            <a:spLocks noGrp="1"/>
          </p:cNvSpPr>
          <p:nvPr/>
        </p:nvSpPr>
        <p:spPr>
          <a:xfrm>
            <a:off x="9858375" y="352425"/>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APPENDIX</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7" name="s6-page">
            <a:extLst>
              <a:ext uri="{FF2B5EF4-FFF2-40B4-BE49-F238E27FC236}">
                <a16:creationId xmlns:a16="http://schemas.microsoft.com/office/drawing/2014/main" id="{BDC803D7-1D12-43E8-B90A-79E787EDAFE5}"/>
              </a:ext>
            </a:extLst>
          </p:cNvPr>
          <p:cNvSpPr>
            <a:spLocks noGrp="1"/>
          </p:cNvSpPr>
          <p:nvPr/>
        </p:nvSpPr>
        <p:spPr>
          <a:xfrm>
            <a:off x="11662606" y="0"/>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A2</a:t>
            </a:r>
          </a:p>
        </p:txBody>
      </p:sp>
      <p:sp>
        <p:nvSpPr>
          <p:cNvPr id="8" name="s06-bias">
            <a:extLst>
              <a:ext uri="{FF2B5EF4-FFF2-40B4-BE49-F238E27FC236}">
                <a16:creationId xmlns:a16="http://schemas.microsoft.com/office/drawing/2014/main" id="{36E8511B-0A56-4DCC-9A08-7B8EFD0FE993}"/>
              </a:ext>
            </a:extLst>
          </p:cNvPr>
          <p:cNvSpPr>
            <a:spLocks noGrp="1"/>
          </p:cNvSpPr>
          <p:nvPr/>
        </p:nvSpPr>
        <p:spPr>
          <a:xfrm>
            <a:off x="5953125" y="2952750"/>
            <a:ext cx="5334000" cy="400050"/>
          </a:xfrm>
          <a:prstGeom prst="rect">
            <a:avLst/>
          </a:prstGeom>
          <a:noFill/>
          <a:ln w="0">
            <a:noFill/>
            <a:prstDash val="solid"/>
          </a:ln>
        </p:spPr>
        <p:txBody>
          <a:bodyPr lIns="38100" tIns="38100" rIns="38100" bIns="38100" anchor="t">
            <a:normAutofit fontScale="99767"/>
          </a:bodyPr>
          <a:lstStyle/>
          <a:p>
            <a:pPr algn="ctr">
              <a:buNone/>
              <a:defRPr sz="1725" b="1">
                <a:solidFill>
                  <a:srgbClr val="FF0000"/>
                </a:solidFill>
                <a:latin typeface="Roboto"/>
                <a:ea typeface="Roboto"/>
                <a:cs typeface="Roboto"/>
              </a:defRPr>
            </a:pPr>
            <a:r>
              <a:rPr sz="1725" b="1">
                <a:solidFill>
                  <a:srgbClr val="FF0000"/>
                </a:solidFill>
                <a:latin typeface="Roboto"/>
                <a:ea typeface="Roboto"/>
                <a:cs typeface="Roboto"/>
              </a:rPr>
              <a:t>2  BLOCH IMPEDANCE FROM THE EIGENVECTOR</a:t>
            </a:r>
          </a:p>
        </p:txBody>
      </p:sp>
      <p:sp>
        <p:nvSpPr>
          <p:cNvPr id="9" name="s06-current">
            <a:extLst>
              <a:ext uri="{FF2B5EF4-FFF2-40B4-BE49-F238E27FC236}">
                <a16:creationId xmlns:a16="http://schemas.microsoft.com/office/drawing/2014/main" id="{3CEFBD7F-A9EF-4B96-82CD-9E9526F397E6}"/>
              </a:ext>
            </a:extLst>
          </p:cNvPr>
          <p:cNvSpPr>
            <a:spLocks noGrp="1"/>
          </p:cNvSpPr>
          <p:nvPr/>
        </p:nvSpPr>
        <p:spPr>
          <a:xfrm>
            <a:off x="6762750" y="3524250"/>
            <a:ext cx="3714750" cy="523875"/>
          </a:xfrm>
          <a:prstGeom prst="rect">
            <a:avLst/>
          </a:prstGeom>
          <a:noFill/>
          <a:ln w="0">
            <a:noFill/>
            <a:prstDash val="solid"/>
          </a:ln>
        </p:spPr>
        <p:txBody>
          <a:bodyPr lIns="38100" tIns="38100" rIns="38100" bIns="38100" anchor="t">
            <a:normAutofit/>
          </a:bodyPr>
          <a:lstStyle/>
          <a:p>
            <a:pPr algn="ctr">
              <a:buNone/>
              <a:defRPr sz="2550" b="1">
                <a:solidFill>
                  <a:srgbClr val="111111"/>
                </a:solidFill>
                <a:latin typeface="Roboto"/>
                <a:ea typeface="Roboto"/>
                <a:cs typeface="Roboto"/>
              </a:defRPr>
            </a:pPr>
            <a:r>
              <a:rPr sz="2550" b="1" dirty="0">
                <a:solidFill>
                  <a:srgbClr val="111111"/>
                </a:solidFill>
                <a:latin typeface="Roboto"/>
                <a:ea typeface="Roboto"/>
                <a:cs typeface="Roboto"/>
              </a:rPr>
              <a:t>Z</a:t>
            </a:r>
            <a:r>
              <a:rPr lang="en-US" sz="2550" b="1" dirty="0">
                <a:solidFill>
                  <a:srgbClr val="111111"/>
                </a:solidFill>
                <a:latin typeface="Roboto"/>
                <a:ea typeface="Roboto"/>
                <a:cs typeface="Roboto"/>
              </a:rPr>
              <a:t>_</a:t>
            </a:r>
            <a:r>
              <a:rPr sz="2550" b="1" dirty="0">
                <a:solidFill>
                  <a:srgbClr val="111111"/>
                </a:solidFill>
                <a:latin typeface="Roboto"/>
                <a:ea typeface="Roboto"/>
                <a:cs typeface="Roboto"/>
              </a:rPr>
              <a:t>B = V/I = B/(</a:t>
            </a:r>
            <a:r>
              <a:rPr sz="2550" b="1" dirty="0" err="1">
                <a:solidFill>
                  <a:srgbClr val="111111"/>
                </a:solidFill>
                <a:latin typeface="Roboto"/>
                <a:ea typeface="Roboto"/>
                <a:cs typeface="Roboto"/>
              </a:rPr>
              <a:t>λ</a:t>
            </a:r>
            <a:r>
              <a:rPr lang="en-US" sz="2550" b="1" dirty="0" err="1">
                <a:solidFill>
                  <a:srgbClr val="111111"/>
                </a:solidFill>
                <a:latin typeface="Roboto"/>
                <a:ea typeface="Roboto"/>
                <a:cs typeface="Roboto"/>
              </a:rPr>
              <a:t>_</a:t>
            </a:r>
            <a:r>
              <a:rPr sz="2550" b="1" dirty="0" err="1">
                <a:solidFill>
                  <a:srgbClr val="111111"/>
                </a:solidFill>
                <a:latin typeface="Roboto"/>
                <a:ea typeface="Roboto"/>
                <a:cs typeface="Roboto"/>
              </a:rPr>
              <a:t>B</a:t>
            </a:r>
            <a:r>
              <a:rPr sz="2550" b="1" dirty="0">
                <a:solidFill>
                  <a:srgbClr val="111111"/>
                </a:solidFill>
                <a:latin typeface="Roboto"/>
                <a:ea typeface="Roboto"/>
                <a:cs typeface="Roboto"/>
              </a:rPr>
              <a:t> − A)</a:t>
            </a:r>
          </a:p>
        </p:txBody>
      </p:sp>
      <p:sp>
        <p:nvSpPr>
          <p:cNvPr id="10" name="s06-arrow">
            <a:extLst>
              <a:ext uri="{FF2B5EF4-FFF2-40B4-BE49-F238E27FC236}">
                <a16:creationId xmlns:a16="http://schemas.microsoft.com/office/drawing/2014/main" id="{EE4AFE70-ADBB-47FA-8C34-DF1040F7E13E}"/>
              </a:ext>
            </a:extLst>
          </p:cNvPr>
          <p:cNvSpPr>
            <a:spLocks noGrp="1"/>
          </p:cNvSpPr>
          <p:nvPr/>
        </p:nvSpPr>
        <p:spPr>
          <a:xfrm>
            <a:off x="7810500" y="4191000"/>
            <a:ext cx="1571625" cy="333375"/>
          </a:xfrm>
          <a:prstGeom prst="rightArrow">
            <a:avLst/>
          </a:prstGeom>
          <a:solidFill>
            <a:srgbClr val="FF0000"/>
          </a:solidFill>
          <a:ln w="0">
            <a:solidFill>
              <a:srgbClr val="FF0000"/>
            </a:solidFill>
            <a:prstDash val="solid"/>
          </a:ln>
        </p:spPr>
        <p:txBody>
          <a:bodyPr/>
          <a:lstStyle/>
          <a:p>
            <a:endParaRPr/>
          </a:p>
        </p:txBody>
      </p:sp>
      <p:sp>
        <p:nvSpPr>
          <p:cNvPr id="11" name="s06-expanded">
            <a:extLst>
              <a:ext uri="{FF2B5EF4-FFF2-40B4-BE49-F238E27FC236}">
                <a16:creationId xmlns:a16="http://schemas.microsoft.com/office/drawing/2014/main" id="{34F96AB6-BD0C-4F05-AC3D-8F92CF55FB1B}"/>
              </a:ext>
            </a:extLst>
          </p:cNvPr>
          <p:cNvSpPr>
            <a:spLocks noGrp="1"/>
          </p:cNvSpPr>
          <p:nvPr/>
        </p:nvSpPr>
        <p:spPr>
          <a:xfrm>
            <a:off x="6191250" y="4619625"/>
            <a:ext cx="4953000" cy="1190625"/>
          </a:xfrm>
          <a:prstGeom prst="rect">
            <a:avLst/>
          </a:prstGeom>
          <a:noFill/>
          <a:ln w="0">
            <a:noFill/>
            <a:prstDash val="solid"/>
          </a:ln>
        </p:spPr>
        <p:txBody>
          <a:bodyPr lIns="38100" tIns="38100" rIns="38100" bIns="38100" anchor="ctr">
            <a:normAutofit/>
          </a:bodyPr>
          <a:lstStyle/>
          <a:p>
            <a:pPr algn="ctr">
              <a:buNone/>
              <a:defRPr sz="1875" b="1">
                <a:solidFill>
                  <a:srgbClr val="111111"/>
                </a:solidFill>
                <a:latin typeface="Roboto"/>
                <a:ea typeface="Roboto"/>
                <a:cs typeface="Roboto"/>
              </a:defRPr>
            </a:pPr>
            <a:r>
              <a:rPr sz="1875" b="1">
                <a:solidFill>
                  <a:srgbClr val="111111"/>
                </a:solidFill>
                <a:latin typeface="Roboto"/>
                <a:ea typeface="Roboto"/>
                <a:cs typeface="Roboto"/>
              </a:rPr>
              <a:t>3  BOUNDARY REFLECTION</a:t>
            </a:r>
          </a:p>
          <a:p>
            <a:endParaRPr sz="1875" b="1">
              <a:solidFill>
                <a:srgbClr val="111111"/>
              </a:solidFill>
              <a:latin typeface="Roboto"/>
              <a:ea typeface="Roboto"/>
              <a:cs typeface="Roboto"/>
            </a:endParaRPr>
          </a:p>
          <a:p>
            <a:pPr algn="ctr">
              <a:buNone/>
              <a:defRPr sz="1875" b="1">
                <a:solidFill>
                  <a:srgbClr val="111111"/>
                </a:solidFill>
                <a:latin typeface="Roboto"/>
                <a:ea typeface="Roboto"/>
                <a:cs typeface="Roboto"/>
              </a:defRPr>
            </a:pPr>
            <a:r>
              <a:rPr sz="1875" b="1">
                <a:solidFill>
                  <a:srgbClr val="111111"/>
                </a:solidFill>
                <a:latin typeface="Roboto"/>
                <a:ea typeface="Roboto"/>
                <a:cs typeface="Roboto"/>
              </a:rPr>
              <a:t>ΓB = (ZB − 50 Ω)/(ZB + 50 Ω)</a:t>
            </a:r>
          </a:p>
        </p:txBody>
      </p:sp>
      <p:sp>
        <p:nvSpPr>
          <p:cNvPr id="12" name="s06-key">
            <a:extLst>
              <a:ext uri="{FF2B5EF4-FFF2-40B4-BE49-F238E27FC236}">
                <a16:creationId xmlns:a16="http://schemas.microsoft.com/office/drawing/2014/main" id="{4E80A386-C5E0-4CCF-9309-34C70018EB8A}"/>
              </a:ext>
            </a:extLst>
          </p:cNvPr>
          <p:cNvSpPr>
            <a:spLocks noGrp="1"/>
          </p:cNvSpPr>
          <p:nvPr/>
        </p:nvSpPr>
        <p:spPr>
          <a:xfrm>
            <a:off x="6477000" y="5810250"/>
            <a:ext cx="4429125" cy="361950"/>
          </a:xfrm>
          <a:prstGeom prst="rect">
            <a:avLst/>
          </a:prstGeom>
          <a:noFill/>
          <a:ln w="0">
            <a:noFill/>
            <a:prstDash val="solid"/>
          </a:ln>
        </p:spPr>
        <p:txBody>
          <a:bodyPr lIns="38100" tIns="38100" rIns="38100" bIns="38100" anchor="t">
            <a:normAutofit fontScale="83572" lnSpcReduction="10000"/>
          </a:bodyPr>
          <a:lstStyle/>
          <a:p>
            <a:pPr algn="ctr">
              <a:buNone/>
              <a:defRPr sz="1725" b="1">
                <a:solidFill>
                  <a:srgbClr val="FF0000"/>
                </a:solidFill>
                <a:latin typeface="Roboto"/>
                <a:ea typeface="Roboto"/>
                <a:cs typeface="Roboto"/>
              </a:defRPr>
            </a:pPr>
            <a:r>
              <a:rPr sz="1725" b="1">
                <a:solidFill>
                  <a:srgbClr val="FF0000"/>
                </a:solidFill>
                <a:latin typeface="Roboto"/>
                <a:ea typeface="Roboto"/>
                <a:cs typeface="Roboto"/>
              </a:rPr>
              <a:t>ZB = 50 Ω   ⇒   ΓB = 0   ⇒   no boundary mismatch</a:t>
            </a:r>
          </a:p>
        </p:txBody>
      </p:sp>
    </p:spTree>
    <p:extLst>
      <p:ext uri="{BB962C8B-B14F-4D97-AF65-F5344CB8AC3E}">
        <p14:creationId xmlns:p14="http://schemas.microsoft.com/office/powerpoint/2010/main" val="1744845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497503-5E56-4CB7-A572-1915F24505A7}"/>
              </a:ext>
            </a:extLst>
          </p:cNvPr>
          <p:cNvSpPr>
            <a:spLocks noGrp="1"/>
          </p:cNvSpPr>
          <p:nvPr>
            <p:ph idx="1"/>
          </p:nvPr>
        </p:nvSpPr>
        <p:spPr>
          <a:xfrm>
            <a:off x="234397" y="2433637"/>
            <a:ext cx="4572000" cy="2900363"/>
          </a:xfrm>
        </p:spPr>
        <p:txBody>
          <a:bodyPr wrap="square" lIns="38100" tIns="38100" rIns="38100" bIns="38100" anchor="ctr">
            <a:normAutofit/>
          </a:bodyPr>
          <a:lstStyle/>
          <a:p>
            <a:pPr>
              <a:lnSpc>
                <a:spcPct val="125000"/>
              </a:lnSpc>
              <a:buNone/>
              <a:defRPr sz="1650">
                <a:solidFill>
                  <a:srgbClr val="111111"/>
                </a:solidFill>
                <a:latin typeface="Roboto"/>
                <a:ea typeface="Roboto"/>
                <a:cs typeface="Roboto"/>
              </a:defRPr>
            </a:pPr>
            <a:r>
              <a:rPr sz="1650" b="1" dirty="0">
                <a:solidFill>
                  <a:srgbClr val="111111"/>
                </a:solidFill>
                <a:latin typeface="Roboto"/>
                <a:ea typeface="Roboto"/>
                <a:cs typeface="Roboto"/>
              </a:rPr>
              <a:t>CELL MODEL</a:t>
            </a:r>
          </a:p>
          <a:p>
            <a:pPr>
              <a:lnSpc>
                <a:spcPct val="125000"/>
              </a:lnSpc>
              <a:buNone/>
              <a:defRPr sz="1650">
                <a:solidFill>
                  <a:srgbClr val="111111"/>
                </a:solidFill>
                <a:latin typeface="Roboto"/>
                <a:ea typeface="Roboto"/>
                <a:cs typeface="Roboto"/>
              </a:defRPr>
            </a:pPr>
            <a:r>
              <a:rPr sz="1650" b="1" dirty="0">
                <a:solidFill>
                  <a:srgbClr val="111111"/>
                </a:solidFill>
                <a:latin typeface="Roboto"/>
                <a:ea typeface="Roboto"/>
                <a:cs typeface="Roboto"/>
              </a:rPr>
              <a:t>L, C, </a:t>
            </a:r>
            <a:r>
              <a:rPr sz="1650" b="1" dirty="0" err="1">
                <a:solidFill>
                  <a:srgbClr val="111111"/>
                </a:solidFill>
                <a:latin typeface="Roboto"/>
                <a:ea typeface="Roboto"/>
                <a:cs typeface="Roboto"/>
              </a:rPr>
              <a:t>Lf</a:t>
            </a:r>
            <a:r>
              <a:rPr sz="1650" b="1" dirty="0">
                <a:solidFill>
                  <a:srgbClr val="111111"/>
                </a:solidFill>
                <a:latin typeface="Roboto"/>
                <a:ea typeface="Roboto"/>
                <a:cs typeface="Roboto"/>
              </a:rPr>
              <a:t> → LCLfBaseCell</a:t>
            </a:r>
          </a:p>
          <a:p>
            <a:pPr>
              <a:lnSpc>
                <a:spcPct val="125000"/>
              </a:lnSpc>
              <a:buNone/>
              <a:defRPr sz="1650">
                <a:solidFill>
                  <a:srgbClr val="111111"/>
                </a:solidFill>
                <a:latin typeface="Roboto"/>
                <a:ea typeface="Roboto"/>
                <a:cs typeface="Roboto"/>
              </a:defRPr>
            </a:pPr>
            <a:r>
              <a:rPr sz="1650" dirty="0">
                <a:solidFill>
                  <a:srgbClr val="111111"/>
                </a:solidFill>
                <a:latin typeface="Roboto"/>
                <a:ea typeface="Roboto"/>
                <a:cs typeface="Roboto"/>
              </a:rPr>
              <a:t>Z₀ = √(L/C) is a validation value</a:t>
            </a:r>
          </a:p>
          <a:p>
            <a:pPr>
              <a:lnSpc>
                <a:spcPct val="125000"/>
              </a:lnSpc>
              <a:buNone/>
              <a:defRPr sz="1650">
                <a:solidFill>
                  <a:srgbClr val="111111"/>
                </a:solidFill>
                <a:latin typeface="Roboto"/>
                <a:ea typeface="Roboto"/>
                <a:cs typeface="Roboto"/>
              </a:defRPr>
            </a:pPr>
            <a:endParaRPr sz="1650" dirty="0">
              <a:solidFill>
                <a:srgbClr val="111111"/>
              </a:solidFill>
              <a:latin typeface="Roboto"/>
              <a:ea typeface="Roboto"/>
              <a:cs typeface="Roboto"/>
            </a:endParaRPr>
          </a:p>
          <a:p>
            <a:pPr>
              <a:lnSpc>
                <a:spcPct val="125000"/>
              </a:lnSpc>
              <a:buNone/>
              <a:defRPr sz="1650">
                <a:solidFill>
                  <a:srgbClr val="111111"/>
                </a:solidFill>
                <a:latin typeface="Roboto"/>
                <a:ea typeface="Roboto"/>
                <a:cs typeface="Roboto"/>
              </a:defRPr>
            </a:pPr>
            <a:r>
              <a:rPr sz="1650" dirty="0">
                <a:solidFill>
                  <a:srgbClr val="111111"/>
                </a:solidFill>
                <a:latin typeface="Roboto"/>
                <a:ea typeface="Roboto"/>
                <a:cs typeface="Roboto"/>
              </a:rPr>
              <a:t>PROPAGATION ARRAYS</a:t>
            </a:r>
          </a:p>
          <a:p>
            <a:pPr>
              <a:lnSpc>
                <a:spcPct val="125000"/>
              </a:lnSpc>
              <a:buNone/>
              <a:defRPr sz="1650">
                <a:solidFill>
                  <a:srgbClr val="111111"/>
                </a:solidFill>
                <a:latin typeface="Roboto"/>
                <a:ea typeface="Roboto"/>
                <a:cs typeface="Roboto"/>
              </a:defRPr>
            </a:pPr>
            <a:r>
              <a:rPr sz="1650" dirty="0">
                <a:solidFill>
                  <a:srgbClr val="111111"/>
                </a:solidFill>
                <a:latin typeface="Roboto"/>
                <a:ea typeface="Roboto"/>
                <a:cs typeface="Roboto"/>
              </a:rPr>
              <a:t>k(f) ← kB(f)     </a:t>
            </a:r>
            <a:r>
              <a:rPr sz="1650" dirty="0" err="1">
                <a:solidFill>
                  <a:srgbClr val="111111"/>
                </a:solidFill>
                <a:latin typeface="Roboto"/>
                <a:ea typeface="Roboto"/>
                <a:cs typeface="Roboto"/>
              </a:rPr>
              <a:t>Γ</a:t>
            </a:r>
            <a:r>
              <a:rPr sz="1650" dirty="0">
                <a:solidFill>
                  <a:srgbClr val="111111"/>
                </a:solidFill>
                <a:latin typeface="Roboto"/>
                <a:ea typeface="Roboto"/>
                <a:cs typeface="Roboto"/>
              </a:rPr>
              <a:t>(f) ← ΓB(f)</a:t>
            </a:r>
          </a:p>
        </p:txBody>
      </p:sp>
      <p:sp>
        <p:nvSpPr>
          <p:cNvPr id="3" name="Title 2">
            <a:extLst>
              <a:ext uri="{FF2B5EF4-FFF2-40B4-BE49-F238E27FC236}">
                <a16:creationId xmlns:a16="http://schemas.microsoft.com/office/drawing/2014/main" id="{0612415A-DDEB-4803-AB7C-8986B9F18136}"/>
              </a:ext>
            </a:extLst>
          </p:cNvPr>
          <p:cNvSpPr>
            <a:spLocks noGrp="1"/>
          </p:cNvSpPr>
          <p:nvPr>
            <p:ph type="title"/>
          </p:nvPr>
        </p:nvSpPr>
        <p:spPr>
          <a:xfrm>
            <a:off x="523875" y="1004887"/>
            <a:ext cx="10382250" cy="1428750"/>
          </a:xfrm>
        </p:spPr>
        <p:txBody>
          <a:bodyPr lIns="0" tIns="0" rIns="0" bIns="0" anchor="t">
            <a:normAutofit/>
          </a:bodyPr>
          <a:lstStyle/>
          <a:p>
            <a:pPr>
              <a:lnSpc>
                <a:spcPct val="94000"/>
              </a:lnSpc>
              <a:buNone/>
              <a:defRPr sz="3600" b="1">
                <a:solidFill>
                  <a:srgbClr val="111111"/>
                </a:solidFill>
                <a:latin typeface="Roboto"/>
                <a:ea typeface="Roboto"/>
                <a:cs typeface="Roboto"/>
              </a:defRPr>
            </a:pPr>
            <a:r>
              <a:rPr sz="3600" b="1">
                <a:solidFill>
                  <a:srgbClr val="111111"/>
                </a:solidFill>
                <a:latin typeface="Roboto"/>
                <a:ea typeface="Roboto"/>
                <a:cs typeface="Roboto"/>
              </a:rPr>
              <a:t>Appendix: the exact HFSS-to-TWPAlab handoff</a:t>
            </a:r>
          </a:p>
        </p:txBody>
      </p:sp>
      <p:sp>
        <p:nvSpPr>
          <p:cNvPr id="4" name="TextBox 3">
            <a:extLst>
              <a:ext uri="{FF2B5EF4-FFF2-40B4-BE49-F238E27FC236}">
                <a16:creationId xmlns:a16="http://schemas.microsoft.com/office/drawing/2014/main" id="{511B785C-F73F-4209-858A-0CD3D0667332}"/>
              </a:ext>
            </a:extLst>
          </p:cNvPr>
          <p:cNvSpPr>
            <a:spLocks noGrp="1"/>
          </p:cNvSpPr>
          <p:nvPr/>
        </p:nvSpPr>
        <p:spPr>
          <a:xfrm>
            <a:off x="3405187" y="2338386"/>
            <a:ext cx="5381625" cy="3090863"/>
          </a:xfrm>
          <a:prstGeom prst="rect">
            <a:avLst/>
          </a:prstGeom>
          <a:noFill/>
        </p:spPr>
        <p:txBody>
          <a:bodyPr wrap="square" lIns="38100" tIns="38100" rIns="38100" bIns="38100" anchor="ctr">
            <a:normAutofit/>
          </a:bodyPr>
          <a:lstStyle/>
          <a:p>
            <a:pPr>
              <a:lnSpc>
                <a:spcPct val="110000"/>
              </a:lnSpc>
              <a:buNone/>
              <a:defRPr sz="1575">
                <a:solidFill>
                  <a:srgbClr val="111111"/>
                </a:solidFill>
                <a:latin typeface="Roboto"/>
                <a:ea typeface="Roboto"/>
                <a:cs typeface="Roboto"/>
              </a:defRPr>
            </a:pPr>
            <a:r>
              <a:rPr b="1" dirty="0">
                <a:solidFill>
                  <a:srgbClr val="111111"/>
                </a:solidFill>
                <a:latin typeface="Roboto"/>
                <a:ea typeface="Roboto"/>
                <a:cs typeface="Roboto"/>
              </a:rPr>
              <a:t>ZERO-LOSS POLICY</a:t>
            </a:r>
          </a:p>
          <a:p>
            <a:pPr>
              <a:lnSpc>
                <a:spcPct val="110000"/>
              </a:lnSpc>
              <a:buNone/>
              <a:defRPr sz="1575">
                <a:solidFill>
                  <a:srgbClr val="111111"/>
                </a:solidFill>
                <a:latin typeface="Roboto"/>
                <a:ea typeface="Roboto"/>
                <a:cs typeface="Roboto"/>
              </a:defRPr>
            </a:pPr>
            <a:endParaRPr b="1"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b="1" dirty="0">
                <a:solidFill>
                  <a:srgbClr val="111111"/>
                </a:solidFill>
                <a:latin typeface="Roboto"/>
                <a:ea typeface="Roboto"/>
                <a:cs typeface="Roboto"/>
              </a:rPr>
              <a:t>αsolver(f) = 0</a:t>
            </a:r>
          </a:p>
          <a:p>
            <a:pPr>
              <a:lnSpc>
                <a:spcPct val="110000"/>
              </a:lnSpc>
              <a:buNone/>
              <a:defRPr sz="1575">
                <a:solidFill>
                  <a:srgbClr val="111111"/>
                </a:solidFill>
                <a:latin typeface="Roboto"/>
                <a:ea typeface="Roboto"/>
                <a:cs typeface="Roboto"/>
              </a:defRPr>
            </a:pPr>
            <a:endParaRPr b="1"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b="1" dirty="0">
                <a:solidFill>
                  <a:srgbClr val="111111"/>
                </a:solidFill>
                <a:latin typeface="Roboto"/>
                <a:ea typeface="Roboto"/>
                <a:cs typeface="Roboto"/>
              </a:rPr>
              <a:t>αB(f) is stored as</a:t>
            </a:r>
          </a:p>
          <a:p>
            <a:pPr>
              <a:lnSpc>
                <a:spcPct val="110000"/>
              </a:lnSpc>
              <a:buNone/>
              <a:defRPr sz="1575">
                <a:solidFill>
                  <a:srgbClr val="111111"/>
                </a:solidFill>
                <a:latin typeface="Roboto"/>
                <a:ea typeface="Roboto"/>
                <a:cs typeface="Roboto"/>
              </a:defRPr>
            </a:pPr>
            <a:endParaRPr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dirty="0" err="1">
                <a:solidFill>
                  <a:srgbClr val="111111"/>
                </a:solidFill>
                <a:latin typeface="Roboto"/>
                <a:ea typeface="Roboto"/>
                <a:cs typeface="Roboto"/>
              </a:rPr>
              <a:t>bloch_evanescence</a:t>
            </a:r>
            <a:r>
              <a:rPr dirty="0">
                <a:solidFill>
                  <a:srgbClr val="111111"/>
                </a:solidFill>
                <a:latin typeface="Roboto"/>
                <a:ea typeface="Roboto"/>
                <a:cs typeface="Roboto"/>
              </a:rPr>
              <a:t>(f)</a:t>
            </a:r>
          </a:p>
          <a:p>
            <a:pPr>
              <a:lnSpc>
                <a:spcPct val="110000"/>
              </a:lnSpc>
              <a:buNone/>
              <a:defRPr sz="1575">
                <a:solidFill>
                  <a:srgbClr val="111111"/>
                </a:solidFill>
                <a:latin typeface="Roboto"/>
                <a:ea typeface="Roboto"/>
                <a:cs typeface="Roboto"/>
              </a:defRPr>
            </a:pPr>
            <a:endParaRPr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endParaRPr dirty="0">
              <a:solidFill>
                <a:srgbClr val="111111"/>
              </a:solidFill>
              <a:latin typeface="Roboto"/>
              <a:ea typeface="Roboto"/>
              <a:cs typeface="Roboto"/>
            </a:endParaRPr>
          </a:p>
          <a:p>
            <a:pPr>
              <a:lnSpc>
                <a:spcPct val="110000"/>
              </a:lnSpc>
              <a:buNone/>
              <a:defRPr sz="1575">
                <a:solidFill>
                  <a:srgbClr val="111111"/>
                </a:solidFill>
                <a:latin typeface="Roboto"/>
                <a:ea typeface="Roboto"/>
                <a:cs typeface="Roboto"/>
              </a:defRPr>
            </a:pPr>
            <a:r>
              <a:rPr b="1" dirty="0">
                <a:solidFill>
                  <a:srgbClr val="111111"/>
                </a:solidFill>
                <a:latin typeface="Roboto"/>
                <a:ea typeface="Roboto"/>
                <a:cs typeface="Roboto"/>
              </a:rPr>
              <a:t>ZB enters through ΓB—not directly.</a:t>
            </a:r>
          </a:p>
        </p:txBody>
      </p:sp>
      <p:sp>
        <p:nvSpPr>
          <p:cNvPr id="6" name="s05-bottom-rule">
            <a:extLst>
              <a:ext uri="{FF2B5EF4-FFF2-40B4-BE49-F238E27FC236}">
                <a16:creationId xmlns:a16="http://schemas.microsoft.com/office/drawing/2014/main" id="{1BA0C267-563C-4C53-974A-925354B2F5EB}"/>
              </a:ext>
            </a:extLst>
          </p:cNvPr>
          <p:cNvSpPr>
            <a:spLocks noGrp="1"/>
          </p:cNvSpPr>
          <p:nvPr/>
        </p:nvSpPr>
        <p:spPr>
          <a:xfrm>
            <a:off x="552450" y="5667375"/>
            <a:ext cx="11029950" cy="0"/>
          </a:xfrm>
          <a:prstGeom prst="line">
            <a:avLst/>
          </a:prstGeom>
          <a:noFill/>
          <a:ln w="28575">
            <a:solidFill>
              <a:srgbClr val="FF0000"/>
            </a:solidFill>
            <a:prstDash val="solid"/>
          </a:ln>
        </p:spPr>
        <p:txBody>
          <a:bodyPr/>
          <a:lstStyle/>
          <a:p>
            <a:endParaRPr/>
          </a:p>
        </p:txBody>
      </p:sp>
      <p:sp>
        <p:nvSpPr>
          <p:cNvPr id="7" name="s05-result">
            <a:extLst>
              <a:ext uri="{FF2B5EF4-FFF2-40B4-BE49-F238E27FC236}">
                <a16:creationId xmlns:a16="http://schemas.microsoft.com/office/drawing/2014/main" id="{D24720D5-A3C0-45BC-BC42-C95F2D4A59D3}"/>
              </a:ext>
            </a:extLst>
          </p:cNvPr>
          <p:cNvSpPr>
            <a:spLocks noGrp="1"/>
          </p:cNvSpPr>
          <p:nvPr/>
        </p:nvSpPr>
        <p:spPr>
          <a:xfrm>
            <a:off x="857250" y="5810250"/>
            <a:ext cx="10429875" cy="428625"/>
          </a:xfrm>
          <a:prstGeom prst="rect">
            <a:avLst/>
          </a:prstGeom>
          <a:noFill/>
          <a:ln w="0">
            <a:noFill/>
            <a:prstDash val="solid"/>
          </a:ln>
        </p:spPr>
        <p:txBody>
          <a:bodyPr lIns="38100" tIns="38100" rIns="38100" bIns="38100" anchor="ctr">
            <a:normAutofit/>
          </a:bodyPr>
          <a:lstStyle/>
          <a:p>
            <a:pPr algn="ctr">
              <a:buNone/>
              <a:defRPr sz="1875" b="1">
                <a:solidFill>
                  <a:srgbClr val="111111"/>
                </a:solidFill>
                <a:latin typeface="Roboto"/>
                <a:ea typeface="Roboto"/>
                <a:cs typeface="Roboto"/>
              </a:defRPr>
            </a:pPr>
            <a:r>
              <a:rPr sz="1875" b="1">
                <a:solidFill>
                  <a:srgbClr val="111111"/>
                </a:solidFill>
                <a:latin typeface="Roboto"/>
                <a:ea typeface="Roboto"/>
                <a:cs typeface="Roboto"/>
              </a:rPr>
              <a:t>Then add Iᴅᴄ, Iₚ, I*, N and solve the pump–signal–idler coupled modes</a:t>
            </a:r>
          </a:p>
        </p:txBody>
      </p:sp>
      <p:sp>
        <p:nvSpPr>
          <p:cNvPr id="8" name="s4-meta">
            <a:extLst>
              <a:ext uri="{FF2B5EF4-FFF2-40B4-BE49-F238E27FC236}">
                <a16:creationId xmlns:a16="http://schemas.microsoft.com/office/drawing/2014/main" id="{8D983E78-6A20-2DDE-F16C-A0E8AFFB964E}"/>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APPENDIX</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9" name="s4-page">
            <a:extLst>
              <a:ext uri="{FF2B5EF4-FFF2-40B4-BE49-F238E27FC236}">
                <a16:creationId xmlns:a16="http://schemas.microsoft.com/office/drawing/2014/main" id="{D889596F-D517-A05E-FC9F-064CCB1C755C}"/>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A3</a:t>
            </a:r>
          </a:p>
        </p:txBody>
      </p:sp>
      <p:pic>
        <p:nvPicPr>
          <p:cNvPr id="10" name="Picture 9" descr="A screenshot of a phone&#10;&#10;AI-generated content may be incorrect.">
            <a:extLst>
              <a:ext uri="{FF2B5EF4-FFF2-40B4-BE49-F238E27FC236}">
                <a16:creationId xmlns:a16="http://schemas.microsoft.com/office/drawing/2014/main" id="{DEE58132-5B65-C19B-1E39-0EB4E22770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465" y="2433640"/>
            <a:ext cx="6119191" cy="1990724"/>
          </a:xfrm>
          <a:prstGeom prst="rect">
            <a:avLst/>
          </a:prstGeom>
        </p:spPr>
      </p:pic>
    </p:spTree>
    <p:extLst>
      <p:ext uri="{BB962C8B-B14F-4D97-AF65-F5344CB8AC3E}">
        <p14:creationId xmlns:p14="http://schemas.microsoft.com/office/powerpoint/2010/main" val="979156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DBD03A-CDCE-49D3-AC06-2D15449CC69E}"/>
              </a:ext>
            </a:extLst>
          </p:cNvPr>
          <p:cNvSpPr>
            <a:spLocks noGrp="1"/>
          </p:cNvSpPr>
          <p:nvPr>
            <p:ph idx="1"/>
          </p:nvPr>
        </p:nvSpPr>
        <p:spPr>
          <a:xfrm>
            <a:off x="552450" y="2199323"/>
            <a:ext cx="4953000" cy="285750"/>
          </a:xfrm>
        </p:spPr>
        <p:txBody>
          <a:bodyPr wrap="square" lIns="19050" tIns="19050" rIns="19050" bIns="19050" anchor="ctr">
            <a:normAutofit/>
          </a:bodyPr>
          <a:lstStyle/>
          <a:p>
            <a:pPr>
              <a:spcAft>
                <a:spcPts val="1000"/>
              </a:spcAft>
              <a:buNone/>
              <a:defRPr sz="1275" b="1" i="1">
                <a:solidFill>
                  <a:srgbClr val="FF0000"/>
                </a:solidFill>
                <a:latin typeface="Roboto"/>
                <a:ea typeface="Roboto"/>
                <a:cs typeface="Roboto"/>
              </a:defRPr>
            </a:pPr>
            <a:r>
              <a:rPr sz="1275" b="1" i="1">
                <a:solidFill>
                  <a:srgbClr val="FF0000"/>
                </a:solidFill>
                <a:latin typeface="Roboto"/>
                <a:ea typeface="Roboto"/>
                <a:cs typeface="Roboto"/>
              </a:rPr>
              <a:t>PROJECT RESULT • BASELINE VS STUB-ONLY REDESIGN</a:t>
            </a:r>
          </a:p>
        </p:txBody>
      </p:sp>
      <p:sp>
        <p:nvSpPr>
          <p:cNvPr id="3" name="Title 2">
            <a:extLst>
              <a:ext uri="{FF2B5EF4-FFF2-40B4-BE49-F238E27FC236}">
                <a16:creationId xmlns:a16="http://schemas.microsoft.com/office/drawing/2014/main" id="{771B14C6-C307-4913-B78D-D2D511FAE422}"/>
              </a:ext>
            </a:extLst>
          </p:cNvPr>
          <p:cNvSpPr>
            <a:spLocks noGrp="1"/>
          </p:cNvSpPr>
          <p:nvPr>
            <p:ph type="title"/>
          </p:nvPr>
        </p:nvSpPr>
        <p:spPr>
          <a:xfrm>
            <a:off x="552450" y="952500"/>
            <a:ext cx="10382250" cy="1428750"/>
          </a:xfrm>
        </p:spPr>
        <p:txBody>
          <a:bodyPr lIns="0" tIns="0" rIns="0" bIns="0" anchor="t">
            <a:normAutofit/>
          </a:bodyPr>
          <a:lstStyle/>
          <a:p>
            <a:pPr>
              <a:lnSpc>
                <a:spcPct val="94000"/>
              </a:lnSpc>
              <a:buNone/>
              <a:defRPr sz="3375" b="1">
                <a:solidFill>
                  <a:srgbClr val="111111"/>
                </a:solidFill>
                <a:latin typeface="Roboto"/>
                <a:ea typeface="Roboto"/>
                <a:cs typeface="Roboto"/>
              </a:defRPr>
            </a:pPr>
            <a:r>
              <a:rPr sz="3375" b="1">
                <a:solidFill>
                  <a:srgbClr val="111111"/>
                </a:solidFill>
                <a:latin typeface="Roboto"/>
                <a:ea typeface="Roboto"/>
                <a:cs typeface="Roboto"/>
              </a:rPr>
              <a:t>The reflection study shows that lower ripple does not guarantee better gain</a:t>
            </a:r>
          </a:p>
        </p:txBody>
      </p:sp>
      <p:pic>
        <p:nvPicPr>
          <p:cNvPr id="22" name="Picture 3"/>
          <p:cNvPicPr>
            <a:picLocks noChangeAspect="1"/>
          </p:cNvPicPr>
          <p:nvPr/>
        </p:nvPicPr>
        <p:blipFill>
          <a:blip r:embed="rId3"/>
          <a:stretch>
            <a:fillRect/>
          </a:stretch>
        </p:blipFill>
        <p:spPr>
          <a:xfrm>
            <a:off x="11601450" y="5667375"/>
            <a:ext cx="9525" cy="9525"/>
          </a:xfrm>
          <a:prstGeom prst="rect">
            <a:avLst/>
          </a:prstGeom>
        </p:spPr>
      </p:pic>
      <p:sp>
        <p:nvSpPr>
          <p:cNvPr id="5" name="TextBox 4">
            <a:extLst>
              <a:ext uri="{FF2B5EF4-FFF2-40B4-BE49-F238E27FC236}">
                <a16:creationId xmlns:a16="http://schemas.microsoft.com/office/drawing/2014/main" id="{6A7E26DA-CA78-4D62-9158-1647E502AF16}"/>
              </a:ext>
            </a:extLst>
          </p:cNvPr>
          <p:cNvSpPr>
            <a:spLocks noGrp="1"/>
          </p:cNvSpPr>
          <p:nvPr/>
        </p:nvSpPr>
        <p:spPr>
          <a:xfrm>
            <a:off x="552450" y="2571750"/>
            <a:ext cx="5143500" cy="1381125"/>
          </a:xfrm>
          <a:prstGeom prst="rect">
            <a:avLst/>
          </a:prstGeom>
          <a:noFill/>
        </p:spPr>
        <p:txBody>
          <a:bodyPr wrap="square" lIns="19050" tIns="19050" rIns="19050" bIns="19050" anchor="t">
            <a:normAutofit/>
          </a:bodyPr>
          <a:lstStyle/>
          <a:p>
            <a:pPr>
              <a:lnSpc>
                <a:spcPct val="104000"/>
              </a:lnSpc>
              <a:buNone/>
              <a:defRPr sz="1200">
                <a:solidFill>
                  <a:srgbClr val="111111"/>
                </a:solidFill>
                <a:latin typeface="Roboto"/>
                <a:ea typeface="Roboto"/>
                <a:cs typeface="Roboto"/>
              </a:defRPr>
            </a:pPr>
            <a:r>
              <a:rPr sz="1200" b="1">
                <a:solidFill>
                  <a:srgbClr val="111111"/>
                </a:solidFill>
                <a:latin typeface="Roboto"/>
                <a:ea typeface="Roboto"/>
                <a:cs typeface="Roboto"/>
              </a:rPr>
              <a:t>BASELINE DEVICE</a:t>
            </a:r>
          </a:p>
          <a:p>
            <a:pPr>
              <a:lnSpc>
                <a:spcPct val="104000"/>
              </a:lnSpc>
              <a:buNone/>
              <a:defRPr sz="1200">
                <a:solidFill>
                  <a:srgbClr val="111111"/>
                </a:solidFill>
                <a:latin typeface="Roboto"/>
                <a:ea typeface="Roboto"/>
                <a:cs typeface="Roboto"/>
              </a:defRPr>
            </a:pPr>
            <a:r>
              <a:rPr sz="1200">
                <a:solidFill>
                  <a:srgbClr val="111111"/>
                </a:solidFill>
                <a:latin typeface="Roboto"/>
                <a:ea typeface="Roboto"/>
                <a:cs typeface="Roboto"/>
              </a:rPr>
              <a:t>|Γ| ≈ 0.019 • ripple 4.10 dB p-p • mean gain ≈ 32.4 dB</a:t>
            </a:r>
          </a:p>
          <a:p>
            <a:pPr>
              <a:lnSpc>
                <a:spcPct val="104000"/>
              </a:lnSpc>
              <a:buNone/>
              <a:defRPr sz="1200">
                <a:solidFill>
                  <a:srgbClr val="111111"/>
                </a:solidFill>
                <a:latin typeface="Roboto"/>
                <a:ea typeface="Roboto"/>
                <a:cs typeface="Roboto"/>
              </a:defRPr>
            </a:pPr>
            <a:endParaRPr sz="1200">
              <a:solidFill>
                <a:srgbClr val="111111"/>
              </a:solidFill>
              <a:latin typeface="Roboto"/>
              <a:ea typeface="Roboto"/>
              <a:cs typeface="Roboto"/>
            </a:endParaRPr>
          </a:p>
          <a:p>
            <a:pPr>
              <a:lnSpc>
                <a:spcPct val="104000"/>
              </a:lnSpc>
              <a:buNone/>
              <a:defRPr sz="1200">
                <a:solidFill>
                  <a:srgbClr val="111111"/>
                </a:solidFill>
                <a:latin typeface="Roboto"/>
                <a:ea typeface="Roboto"/>
                <a:cs typeface="Roboto"/>
              </a:defRPr>
            </a:pPr>
            <a:r>
              <a:rPr sz="1200" b="1">
                <a:solidFill>
                  <a:srgbClr val="111111"/>
                </a:solidFill>
                <a:latin typeface="Roboto"/>
                <a:ea typeface="Roboto"/>
                <a:cs typeface="Roboto"/>
              </a:rPr>
              <a:t>STUB-ONLY REDESIGN</a:t>
            </a:r>
          </a:p>
          <a:p>
            <a:pPr>
              <a:lnSpc>
                <a:spcPct val="104000"/>
              </a:lnSpc>
              <a:buNone/>
              <a:defRPr sz="1200">
                <a:solidFill>
                  <a:srgbClr val="111111"/>
                </a:solidFill>
                <a:latin typeface="Roboto"/>
                <a:ea typeface="Roboto"/>
                <a:cs typeface="Roboto"/>
              </a:defRPr>
            </a:pPr>
            <a:r>
              <a:rPr sz="1200">
                <a:solidFill>
                  <a:srgbClr val="111111"/>
                </a:solidFill>
                <a:latin typeface="Roboto"/>
                <a:ea typeface="Roboto"/>
                <a:cs typeface="Roboto"/>
              </a:rPr>
              <a:t>|Γ| ≈ 0.073 • ripple 2.74 dB p-p • mean gain ≈ 23.5 dB</a:t>
            </a:r>
          </a:p>
          <a:p>
            <a:pPr>
              <a:lnSpc>
                <a:spcPct val="104000"/>
              </a:lnSpc>
              <a:buNone/>
              <a:defRPr sz="1200">
                <a:solidFill>
                  <a:srgbClr val="111111"/>
                </a:solidFill>
                <a:latin typeface="Roboto"/>
                <a:ea typeface="Roboto"/>
                <a:cs typeface="Roboto"/>
              </a:defRPr>
            </a:pPr>
            <a:endParaRPr sz="1200" b="1">
              <a:solidFill>
                <a:srgbClr val="111111"/>
              </a:solidFill>
              <a:latin typeface="Roboto"/>
              <a:ea typeface="Roboto"/>
              <a:cs typeface="Roboto"/>
            </a:endParaRPr>
          </a:p>
          <a:p>
            <a:pPr>
              <a:lnSpc>
                <a:spcPct val="104000"/>
              </a:lnSpc>
              <a:buNone/>
              <a:defRPr sz="1200">
                <a:solidFill>
                  <a:srgbClr val="111111"/>
                </a:solidFill>
                <a:latin typeface="Roboto"/>
                <a:ea typeface="Roboto"/>
                <a:cs typeface="Roboto"/>
              </a:defRPr>
            </a:pPr>
            <a:r>
              <a:rPr sz="1200" b="1">
                <a:solidFill>
                  <a:srgbClr val="111111"/>
                </a:solidFill>
                <a:latin typeface="Roboto"/>
                <a:ea typeface="Roboto"/>
                <a:cs typeface="Roboto"/>
              </a:rPr>
              <a:t>Lower ripple coincides with ≈ 9 dB less mean gain.</a:t>
            </a:r>
          </a:p>
        </p:txBody>
      </p:sp>
      <p:pic>
        <p:nvPicPr>
          <p:cNvPr id="24" name="Picture 5"/>
          <p:cNvPicPr>
            <a:picLocks noChangeAspect="1"/>
          </p:cNvPicPr>
          <p:nvPr/>
        </p:nvPicPr>
        <p:blipFill>
          <a:blip r:embed="rId4"/>
          <a:stretch>
            <a:fillRect/>
          </a:stretch>
        </p:blipFill>
        <p:spPr>
          <a:xfrm>
            <a:off x="6191250" y="2381250"/>
            <a:ext cx="5238750" cy="3286125"/>
          </a:xfrm>
          <a:prstGeom prst="rect">
            <a:avLst/>
          </a:prstGeom>
        </p:spPr>
      </p:pic>
      <p:pic>
        <p:nvPicPr>
          <p:cNvPr id="25" name="Graphic 21"/>
          <p:cNvPicPr>
            <a:picLocks noChangeAspect="1"/>
          </p:cNvPicPr>
          <p:nvPr/>
        </p:nvPicPr>
        <p:blipFill>
          <a:blip r:embed="rId5">
            <a:extLst>
              <a:ext uri="{96DAC541-7B7A-43D3-8B79-37D633B846F1}">
                <asvg:svgBlip xmlns:asvg="http://schemas.microsoft.com/office/drawing/2016/SVG/main" r:embed="rId6"/>
              </a:ext>
            </a:extLst>
          </a:blip>
          <a:stretch/>
        </p:blipFill>
        <p:spPr>
          <a:xfrm>
            <a:off x="476250" y="266700"/>
            <a:ext cx="857250" cy="400050"/>
          </a:xfrm>
          <a:prstGeom prst="rect">
            <a:avLst/>
          </a:prstGeom>
        </p:spPr>
      </p:pic>
      <p:sp>
        <p:nvSpPr>
          <p:cNvPr id="11" name="s14-device">
            <a:extLst>
              <a:ext uri="{FF2B5EF4-FFF2-40B4-BE49-F238E27FC236}">
                <a16:creationId xmlns:a16="http://schemas.microsoft.com/office/drawing/2014/main" id="{010AEA68-B2D0-4C29-A1AF-19E9044D4396}"/>
              </a:ext>
            </a:extLst>
          </p:cNvPr>
          <p:cNvSpPr>
            <a:spLocks noGrp="1"/>
          </p:cNvSpPr>
          <p:nvPr/>
        </p:nvSpPr>
        <p:spPr>
          <a:xfrm>
            <a:off x="904875" y="4381500"/>
            <a:ext cx="3905250" cy="0"/>
          </a:xfrm>
          <a:prstGeom prst="line">
            <a:avLst/>
          </a:prstGeom>
          <a:noFill/>
          <a:ln w="66675">
            <a:solidFill>
              <a:srgbClr val="111111"/>
            </a:solidFill>
            <a:prstDash val="solid"/>
          </a:ln>
        </p:spPr>
        <p:txBody>
          <a:bodyPr/>
          <a:lstStyle/>
          <a:p>
            <a:endParaRPr/>
          </a:p>
        </p:txBody>
      </p:sp>
      <p:sp>
        <p:nvSpPr>
          <p:cNvPr id="12" name="s14-forward">
            <a:extLst>
              <a:ext uri="{FF2B5EF4-FFF2-40B4-BE49-F238E27FC236}">
                <a16:creationId xmlns:a16="http://schemas.microsoft.com/office/drawing/2014/main" id="{19F40FA7-6B00-4FD3-8300-98A37DCD53C3}"/>
              </a:ext>
            </a:extLst>
          </p:cNvPr>
          <p:cNvSpPr>
            <a:spLocks noGrp="1"/>
          </p:cNvSpPr>
          <p:nvPr/>
        </p:nvSpPr>
        <p:spPr>
          <a:xfrm>
            <a:off x="1143000" y="4000500"/>
            <a:ext cx="3000375" cy="238125"/>
          </a:xfrm>
          <a:prstGeom prst="rightArrow">
            <a:avLst/>
          </a:prstGeom>
          <a:solidFill>
            <a:srgbClr val="FF0000"/>
          </a:solidFill>
          <a:ln w="0">
            <a:solidFill>
              <a:srgbClr val="FF0000"/>
            </a:solidFill>
            <a:prstDash val="solid"/>
          </a:ln>
        </p:spPr>
        <p:txBody>
          <a:bodyPr/>
          <a:lstStyle/>
          <a:p>
            <a:endParaRPr/>
          </a:p>
        </p:txBody>
      </p:sp>
      <p:sp>
        <p:nvSpPr>
          <p:cNvPr id="13" name="s14-back">
            <a:extLst>
              <a:ext uri="{FF2B5EF4-FFF2-40B4-BE49-F238E27FC236}">
                <a16:creationId xmlns:a16="http://schemas.microsoft.com/office/drawing/2014/main" id="{C85769BD-D59A-4728-9C6D-C482FFFF8291}"/>
              </a:ext>
            </a:extLst>
          </p:cNvPr>
          <p:cNvSpPr>
            <a:spLocks noGrp="1"/>
          </p:cNvSpPr>
          <p:nvPr/>
        </p:nvSpPr>
        <p:spPr>
          <a:xfrm rot="10800000">
            <a:off x="1476375" y="4619625"/>
            <a:ext cx="3000375" cy="238125"/>
          </a:xfrm>
          <a:prstGeom prst="rightArrow">
            <a:avLst/>
          </a:prstGeom>
          <a:solidFill>
            <a:srgbClr val="2374AB"/>
          </a:solidFill>
          <a:ln w="0">
            <a:solidFill>
              <a:srgbClr val="2374AB"/>
            </a:solidFill>
            <a:prstDash val="solid"/>
          </a:ln>
        </p:spPr>
        <p:txBody>
          <a:bodyPr/>
          <a:lstStyle/>
          <a:p>
            <a:endParaRPr/>
          </a:p>
        </p:txBody>
      </p:sp>
      <p:sp>
        <p:nvSpPr>
          <p:cNvPr id="14" name="s14-gamma-in">
            <a:extLst>
              <a:ext uri="{FF2B5EF4-FFF2-40B4-BE49-F238E27FC236}">
                <a16:creationId xmlns:a16="http://schemas.microsoft.com/office/drawing/2014/main" id="{90A17964-A53E-427E-B805-6CD0D744EC8D}"/>
              </a:ext>
            </a:extLst>
          </p:cNvPr>
          <p:cNvSpPr>
            <a:spLocks noGrp="1"/>
          </p:cNvSpPr>
          <p:nvPr/>
        </p:nvSpPr>
        <p:spPr>
          <a:xfrm>
            <a:off x="666750" y="4048125"/>
            <a:ext cx="619125" cy="333375"/>
          </a:xfrm>
          <a:prstGeom prst="rect">
            <a:avLst/>
          </a:prstGeom>
          <a:noFill/>
          <a:ln w="0">
            <a:noFill/>
            <a:prstDash val="solid"/>
          </a:ln>
        </p:spPr>
        <p:txBody>
          <a:bodyPr lIns="38100" tIns="38100" rIns="38100" bIns="38100" anchor="t">
            <a:normAutofit/>
          </a:bodyPr>
          <a:lstStyle/>
          <a:p>
            <a:pPr>
              <a:buNone/>
              <a:defRPr sz="1350" b="1">
                <a:solidFill>
                  <a:srgbClr val="2374AB"/>
                </a:solidFill>
                <a:latin typeface="Roboto"/>
                <a:ea typeface="Roboto"/>
                <a:cs typeface="Roboto"/>
              </a:defRPr>
            </a:pPr>
            <a:r>
              <a:rPr sz="1350" b="1">
                <a:solidFill>
                  <a:srgbClr val="2374AB"/>
                </a:solidFill>
                <a:latin typeface="Roboto"/>
                <a:ea typeface="Roboto"/>
                <a:cs typeface="Roboto"/>
              </a:rPr>
              <a:t>Γ_in</a:t>
            </a:r>
          </a:p>
        </p:txBody>
      </p:sp>
      <p:sp>
        <p:nvSpPr>
          <p:cNvPr id="15" name="s14-gamma-out">
            <a:extLst>
              <a:ext uri="{FF2B5EF4-FFF2-40B4-BE49-F238E27FC236}">
                <a16:creationId xmlns:a16="http://schemas.microsoft.com/office/drawing/2014/main" id="{FB413F87-56DF-42A9-93B1-E403BDCFA592}"/>
              </a:ext>
            </a:extLst>
          </p:cNvPr>
          <p:cNvSpPr>
            <a:spLocks noGrp="1"/>
          </p:cNvSpPr>
          <p:nvPr/>
        </p:nvSpPr>
        <p:spPr>
          <a:xfrm>
            <a:off x="4667250" y="4048125"/>
            <a:ext cx="714375" cy="333375"/>
          </a:xfrm>
          <a:prstGeom prst="rect">
            <a:avLst/>
          </a:prstGeom>
          <a:noFill/>
          <a:ln w="0">
            <a:noFill/>
            <a:prstDash val="solid"/>
          </a:ln>
        </p:spPr>
        <p:txBody>
          <a:bodyPr lIns="38100" tIns="38100" rIns="38100" bIns="38100" anchor="t">
            <a:normAutofit/>
          </a:bodyPr>
          <a:lstStyle/>
          <a:p>
            <a:pPr>
              <a:buNone/>
              <a:defRPr sz="1350" b="1">
                <a:solidFill>
                  <a:srgbClr val="2374AB"/>
                </a:solidFill>
                <a:latin typeface="Roboto"/>
                <a:ea typeface="Roboto"/>
                <a:cs typeface="Roboto"/>
              </a:defRPr>
            </a:pPr>
            <a:r>
              <a:rPr sz="1350" b="1">
                <a:solidFill>
                  <a:srgbClr val="2374AB"/>
                </a:solidFill>
                <a:latin typeface="Roboto"/>
                <a:ea typeface="Roboto"/>
                <a:cs typeface="Roboto"/>
              </a:rPr>
              <a:t>Γ_out</a:t>
            </a:r>
          </a:p>
        </p:txBody>
      </p:sp>
      <p:sp>
        <p:nvSpPr>
          <p:cNvPr id="16" name="s14-caption">
            <a:extLst>
              <a:ext uri="{FF2B5EF4-FFF2-40B4-BE49-F238E27FC236}">
                <a16:creationId xmlns:a16="http://schemas.microsoft.com/office/drawing/2014/main" id="{9795393F-4F7F-455B-AA23-EC10ABA0FC47}"/>
              </a:ext>
            </a:extLst>
          </p:cNvPr>
          <p:cNvSpPr>
            <a:spLocks noGrp="1"/>
          </p:cNvSpPr>
          <p:nvPr/>
        </p:nvSpPr>
        <p:spPr>
          <a:xfrm>
            <a:off x="714375" y="5095875"/>
            <a:ext cx="4857750" cy="552450"/>
          </a:xfrm>
          <a:prstGeom prst="rect">
            <a:avLst/>
          </a:prstGeom>
          <a:noFill/>
          <a:ln w="0">
            <a:noFill/>
            <a:prstDash val="solid"/>
          </a:ln>
        </p:spPr>
        <p:txBody>
          <a:bodyPr lIns="19050" tIns="19050" rIns="19050" bIns="19050" anchor="ctr">
            <a:normAutofit/>
          </a:bodyPr>
          <a:lstStyle/>
          <a:p>
            <a:pPr algn="ctr">
              <a:buNone/>
              <a:defRPr sz="1350" b="1">
                <a:solidFill>
                  <a:srgbClr val="5A5A5A"/>
                </a:solidFill>
                <a:latin typeface="Roboto"/>
                <a:ea typeface="Roboto"/>
                <a:cs typeface="Roboto"/>
              </a:defRPr>
            </a:pPr>
            <a:r>
              <a:rPr sz="1350" b="1">
                <a:solidFill>
                  <a:srgbClr val="5A5A5A"/>
                </a:solidFill>
                <a:latin typeface="Roboto"/>
                <a:ea typeface="Roboto"/>
                <a:cs typeface="Roboto"/>
              </a:rPr>
              <a:t>Frequency-dependent round trips modulate—and can suppress—the smooth gain envelope.</a:t>
            </a:r>
          </a:p>
        </p:txBody>
      </p:sp>
      <p:sp>
        <p:nvSpPr>
          <p:cNvPr id="4" name="s4-meta">
            <a:extLst>
              <a:ext uri="{FF2B5EF4-FFF2-40B4-BE49-F238E27FC236}">
                <a16:creationId xmlns:a16="http://schemas.microsoft.com/office/drawing/2014/main" id="{4D7623DB-85DA-3FCB-EFB5-5C6950EB35E5}"/>
              </a:ext>
            </a:extLst>
          </p:cNvPr>
          <p:cNvSpPr>
            <a:spLocks noGrp="1"/>
          </p:cNvSpPr>
          <p:nvPr/>
        </p:nvSpPr>
        <p:spPr>
          <a:xfrm>
            <a:off x="9858375" y="323850"/>
            <a:ext cx="2095500" cy="304800"/>
          </a:xfrm>
          <a:prstGeom prst="rect">
            <a:avLst/>
          </a:prstGeom>
          <a:noFill/>
          <a:ln w="0">
            <a:noFill/>
            <a:prstDash val="solid"/>
          </a:ln>
        </p:spPr>
        <p:txBody>
          <a:bodyPr lIns="38100" tIns="38100" rIns="38100" bIns="38100" anchor="ctr">
            <a:normAutofit/>
          </a:bodyPr>
          <a:lstStyle/>
          <a:p>
            <a:pPr algn="r">
              <a:buNone/>
              <a:defRPr sz="750" b="1">
                <a:solidFill>
                  <a:srgbClr val="FF0000"/>
                </a:solidFill>
                <a:latin typeface="Roboto"/>
                <a:ea typeface="Roboto"/>
                <a:cs typeface="Roboto"/>
              </a:defRPr>
            </a:pPr>
            <a:r>
              <a:rPr sz="750" b="1">
                <a:solidFill>
                  <a:srgbClr val="FF0000"/>
                </a:solidFill>
                <a:latin typeface="Roboto"/>
                <a:ea typeface="Roboto"/>
                <a:cs typeface="Roboto"/>
              </a:rPr>
              <a:t>KI-TWPA • 3WM • VALIDATION</a:t>
            </a:r>
          </a:p>
          <a:p>
            <a:pPr algn="r">
              <a:buNone/>
              <a:defRPr sz="750" b="1">
                <a:solidFill>
                  <a:srgbClr val="FF0000"/>
                </a:solidFill>
                <a:latin typeface="Roboto"/>
                <a:ea typeface="Roboto"/>
                <a:cs typeface="Roboto"/>
              </a:defRPr>
            </a:pPr>
            <a:r>
              <a:rPr sz="750" b="1">
                <a:solidFill>
                  <a:srgbClr val="FF0000"/>
                </a:solidFill>
                <a:latin typeface="Roboto"/>
                <a:ea typeface="Roboto"/>
                <a:cs typeface="Roboto"/>
              </a:rPr>
              <a:t>Jesus Urbaneja</a:t>
            </a:r>
          </a:p>
        </p:txBody>
      </p:sp>
      <p:sp>
        <p:nvSpPr>
          <p:cNvPr id="6" name="s4-page">
            <a:extLst>
              <a:ext uri="{FF2B5EF4-FFF2-40B4-BE49-F238E27FC236}">
                <a16:creationId xmlns:a16="http://schemas.microsoft.com/office/drawing/2014/main" id="{7DB46730-D262-E7F4-C90B-EE984B55FE45}"/>
              </a:ext>
            </a:extLst>
          </p:cNvPr>
          <p:cNvSpPr>
            <a:spLocks noGrp="1"/>
          </p:cNvSpPr>
          <p:nvPr/>
        </p:nvSpPr>
        <p:spPr>
          <a:xfrm>
            <a:off x="11681656" y="-4762"/>
            <a:ext cx="381000" cy="381000"/>
          </a:xfrm>
          <a:prstGeom prst="rect">
            <a:avLst/>
          </a:prstGeom>
          <a:noFill/>
          <a:ln w="0">
            <a:noFill/>
            <a:prstDash val="solid"/>
          </a:ln>
        </p:spPr>
        <p:txBody>
          <a:bodyPr lIns="38100" tIns="38100" rIns="38100" bIns="38100" anchor="ctr">
            <a:normAutofit/>
          </a:bodyPr>
          <a:lstStyle/>
          <a:p>
            <a:pPr algn="ctr">
              <a:buNone/>
              <a:defRPr sz="900" b="1">
                <a:solidFill>
                  <a:srgbClr val="FF0000"/>
                </a:solidFill>
                <a:latin typeface="Roboto"/>
                <a:ea typeface="Roboto"/>
                <a:cs typeface="Roboto"/>
              </a:defRPr>
            </a:pPr>
            <a:r>
              <a:rPr sz="900" b="1">
                <a:solidFill>
                  <a:srgbClr val="FF0000"/>
                </a:solidFill>
                <a:latin typeface="Roboto"/>
                <a:ea typeface="Roboto"/>
                <a:cs typeface="Roboto"/>
              </a:rPr>
              <a:t>19</a:t>
            </a:r>
          </a:p>
        </p:txBody>
      </p:sp>
    </p:spTree>
    <p:extLst>
      <p:ext uri="{BB962C8B-B14F-4D97-AF65-F5344CB8AC3E}">
        <p14:creationId xmlns:p14="http://schemas.microsoft.com/office/powerpoint/2010/main" val="599766269"/>
      </p:ext>
    </p:extLst>
  </p:cSld>
  <p:clrMapOvr>
    <a:masterClrMapping/>
  </p:clrMapOvr>
</p:sld>
</file>

<file path=ppt/theme/theme1.xml><?xml version="1.0" encoding="utf-8"?>
<a:theme xmlns:a="http://schemas.openxmlformats.org/drawingml/2006/main" name="Thème Office">
  <a:themeElements>
    <a:clrScheme name="EPFL 2025">
      <a:dk1>
        <a:srgbClr val="413C3A"/>
      </a:dk1>
      <a:lt1>
        <a:srgbClr val="FFFFFF"/>
      </a:lt1>
      <a:dk2>
        <a:srgbClr val="FF0000"/>
      </a:dk2>
      <a:lt2>
        <a:srgbClr val="CAC7C7"/>
      </a:lt2>
      <a:accent1>
        <a:srgbClr val="00A79F"/>
      </a:accent1>
      <a:accent2>
        <a:srgbClr val="24737F"/>
      </a:accent2>
      <a:accent3>
        <a:srgbClr val="512880"/>
      </a:accent3>
      <a:accent4>
        <a:srgbClr val="4F8FCC"/>
      </a:accent4>
      <a:accent5>
        <a:srgbClr val="D0661C"/>
      </a:accent5>
      <a:accent6>
        <a:srgbClr val="B51F1F"/>
      </a:accent6>
      <a:hlink>
        <a:srgbClr val="ED6E9C"/>
      </a:hlink>
      <a:folHlink>
        <a:srgbClr val="4F8FC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FL 2025">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EPFL 2025">
      <a:dk1>
        <a:srgbClr val="413C3A"/>
      </a:dk1>
      <a:lt1>
        <a:srgbClr val="FFFFFF"/>
      </a:lt1>
      <a:dk2>
        <a:srgbClr val="FF0000"/>
      </a:dk2>
      <a:lt2>
        <a:srgbClr val="CAC7C7"/>
      </a:lt2>
      <a:accent1>
        <a:srgbClr val="00A79F"/>
      </a:accent1>
      <a:accent2>
        <a:srgbClr val="24737F"/>
      </a:accent2>
      <a:accent3>
        <a:srgbClr val="512880"/>
      </a:accent3>
      <a:accent4>
        <a:srgbClr val="4F8FCC"/>
      </a:accent4>
      <a:accent5>
        <a:srgbClr val="D0661C"/>
      </a:accent5>
      <a:accent6>
        <a:srgbClr val="B51F1F"/>
      </a:accent6>
      <a:hlink>
        <a:srgbClr val="ED6E9C"/>
      </a:hlink>
      <a:folHlink>
        <a:srgbClr val="4F8FC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FL 2025">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TotalTime>
  <Words>4487</Words>
  <Application>Microsoft Macintosh PowerPoint</Application>
  <DocSecurity>0</DocSecurity>
  <PresentationFormat>Widescreen</PresentationFormat>
  <Paragraphs>471</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Roboto</vt:lpstr>
      <vt:lpstr>Wingdings</vt:lpstr>
      <vt:lpstr>Thème Office</vt:lpstr>
      <vt:lpstr>​</vt:lpstr>
      <vt:lpstr>OUTLINE</vt:lpstr>
      <vt:lpstr>The KI-TWPA turns a weak signal into one we can measure</vt:lpstr>
      <vt:lpstr>Many readout tones need one wide, low-noise amplifier</vt:lpstr>
      <vt:lpstr>Nonlinear coupling lets pump energy amplify the signal</vt:lpstr>
      <vt:lpstr>Pump–signal multiplication creates the idler</vt:lpstr>
      <vt:lpstr>A DC bias activates three-wave mixing in the kinetic inductance</vt:lpstr>
      <vt:lpstr>3WM separates the pump from the amplified signal band</vt:lpstr>
      <vt:lpstr>Phase matching keeps every small contribution adding to the signal</vt:lpstr>
      <vt:lpstr>Periodic loading supplies the dispersion required for phase matching</vt:lpstr>
      <vt:lpstr>HFSS captures field coupling and the superconducting surface impedance</vt:lpstr>
      <vt:lpstr>Capacitance and Impedance Extraction</vt:lpstr>
      <vt:lpstr>HFSS cell simulations link loading geometry to effective impedance</vt:lpstr>
      <vt:lpstr>HFSS turns the device geometry into a microwave response</vt:lpstr>
      <vt:lpstr>TWPAlab combines the HFSS data with the operating point to predict gain</vt:lpstr>
      <vt:lpstr>The HFSS supercell places the engineered stopband near 12 GHz</vt:lpstr>
      <vt:lpstr>High predicted gain follows a U-shaped phase-matched region</vt:lpstr>
      <vt:lpstr>Pump tuning brings our model to a 3.16 GHz 3 dB bandwidth</vt:lpstr>
      <vt:lpstr>Our model matches the bandwidth, but overestimates the gain</vt:lpstr>
      <vt:lpstr>Several modelling uncertainties may explain the remaining offsets</vt:lpstr>
      <vt:lpstr>Thank you for your attention!  Do you have any questions? </vt:lpstr>
      <vt:lpstr>Appendix: the single-cell S-matrix gives L, C and Lf</vt:lpstr>
      <vt:lpstr>Appendix: the supercell eigenmode gives the Bloch quantities</vt:lpstr>
      <vt:lpstr>Appendix: the exact HFSS-to-TWPAlab handoff</vt:lpstr>
      <vt:lpstr>The reflection study shows that lower ripple does not guarantee better gain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Jesus Antonio Rafael Urbaneja Devera</cp:lastModifiedBy>
  <cp:revision>8</cp:revision>
  <dcterms:created xsi:type="dcterms:W3CDTF">2026-08-27T06:28:53Z</dcterms:created>
  <dcterms:modified xsi:type="dcterms:W3CDTF">2026-08-30T15:02:00Z</dcterms:modified>
</cp:coreProperties>
</file>